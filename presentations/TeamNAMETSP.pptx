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 b="def" i="def"/>
      <a:tcStyle>
        <a:tcBdr/>
        <a:fill>
          <a:solidFill>
            <a:srgbClr val="FBFAF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 b="def" i="def"/>
      <a:tcStyle>
        <a:tcBdr/>
        <a:fill>
          <a:solidFill>
            <a:srgbClr val="FBFAF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hape 144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5" name="Shape 145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lick to add title"/>
          <p:cNvSpPr txBox="1"/>
          <p:nvPr>
            <p:ph type="title" hasCustomPrompt="1"/>
          </p:nvPr>
        </p:nvSpPr>
        <p:spPr>
          <a:xfrm>
            <a:off x="6096000" y="2773681"/>
            <a:ext cx="5674360" cy="3200403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pic>
        <p:nvPicPr>
          <p:cNvPr id="13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rcRect l="18454" t="1727" r="0" b="0"/>
          <a:stretch>
            <a:fillRect/>
          </a:stretch>
        </p:blipFill>
        <p:spPr>
          <a:xfrm>
            <a:off x="-8" y="0"/>
            <a:ext cx="8265005" cy="5320146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 Titl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rcRect l="13300" t="13815" r="0" b="0"/>
          <a:stretch>
            <a:fillRect/>
          </a:stretch>
        </p:blipFill>
        <p:spPr>
          <a:xfrm>
            <a:off x="0" y="-1"/>
            <a:ext cx="4239206" cy="3776194"/>
          </a:xfrm>
          <a:prstGeom prst="rect">
            <a:avLst/>
          </a:prstGeom>
          <a:ln w="12700">
            <a:miter lim="400000"/>
          </a:ln>
        </p:spPr>
      </p:pic>
      <p:sp>
        <p:nvSpPr>
          <p:cNvPr id="29" name="Click to add title"/>
          <p:cNvSpPr txBox="1"/>
          <p:nvPr>
            <p:ph type="title" hasCustomPrompt="1"/>
          </p:nvPr>
        </p:nvSpPr>
        <p:spPr>
          <a:xfrm>
            <a:off x="914400" y="2580638"/>
            <a:ext cx="5181600" cy="3368824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sp>
        <p:nvSpPr>
          <p:cNvPr id="30" name="Picture Placeholder 8"/>
          <p:cNvSpPr/>
          <p:nvPr>
            <p:ph type="pic" idx="21"/>
          </p:nvPr>
        </p:nvSpPr>
        <p:spPr>
          <a:xfrm>
            <a:off x="6085840" y="-10165"/>
            <a:ext cx="6116327" cy="686816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xfrm>
            <a:off x="8506329" y="6240782"/>
            <a:ext cx="231274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verview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5158" t="0" r="0" b="78533"/>
          <a:stretch>
            <a:fillRect/>
          </a:stretch>
        </p:blipFill>
        <p:spPr>
          <a:xfrm rot="10800000">
            <a:off x="8553448" y="-39570"/>
            <a:ext cx="5867404" cy="1317510"/>
          </a:xfrm>
          <a:prstGeom prst="rect">
            <a:avLst/>
          </a:prstGeom>
          <a:ln w="12700">
            <a:miter lim="400000"/>
          </a:ln>
        </p:spPr>
      </p:pic>
      <p:sp>
        <p:nvSpPr>
          <p:cNvPr id="39" name="Click to add title"/>
          <p:cNvSpPr txBox="1"/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pPr/>
            <a:r>
              <a:t>Click to add title</a:t>
            </a:r>
          </a:p>
        </p:txBody>
      </p:sp>
      <p:sp>
        <p:nvSpPr>
          <p:cNvPr id="40" name="Picture Placeholder 11"/>
          <p:cNvSpPr/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1" name="Body Level One…"/>
          <p:cNvSpPr txBox="1"/>
          <p:nvPr>
            <p:ph type="body" sz="quarter" idx="1" hasCustomPrompt="1"/>
          </p:nvPr>
        </p:nvSpPr>
        <p:spPr>
          <a:xfrm>
            <a:off x="6126162" y="4172989"/>
            <a:ext cx="4806001" cy="2389743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2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45239" t="0" r="0" b="0"/>
          <a:stretch>
            <a:fillRect/>
          </a:stretch>
        </p:blipFill>
        <p:spPr>
          <a:xfrm flipH="1">
            <a:off x="9135412" y="0"/>
            <a:ext cx="3056591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50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0" t="0" r="0" b="2330"/>
          <a:stretch>
            <a:fillRect/>
          </a:stretch>
        </p:blipFill>
        <p:spPr>
          <a:xfrm>
            <a:off x="7810500" y="3025140"/>
            <a:ext cx="4381500" cy="383286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Click to add title"/>
          <p:cNvSpPr txBox="1"/>
          <p:nvPr>
            <p:ph type="title" hasCustomPrompt="1"/>
          </p:nvPr>
        </p:nvSpPr>
        <p:spPr>
          <a:xfrm>
            <a:off x="914399" y="365125"/>
            <a:ext cx="7273637" cy="1646555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52" name="Body Level One…"/>
          <p:cNvSpPr txBox="1"/>
          <p:nvPr>
            <p:ph type="body" sz="half" idx="1" hasCustomPrompt="1"/>
          </p:nvPr>
        </p:nvSpPr>
        <p:spPr>
          <a:xfrm>
            <a:off x="914399" y="2011363"/>
            <a:ext cx="7273640" cy="415576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Slide Number"/>
          <p:cNvSpPr txBox="1"/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left Imag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 rot="16200000">
            <a:off x="8039100" y="228599"/>
            <a:ext cx="4381500" cy="3924302"/>
          </a:xfrm>
          <a:prstGeom prst="rect">
            <a:avLst/>
          </a:prstGeom>
          <a:ln w="12700">
            <a:miter lim="400000"/>
          </a:ln>
        </p:spPr>
      </p:pic>
      <p:sp>
        <p:nvSpPr>
          <p:cNvPr id="61" name="Title Text"/>
          <p:cNvSpPr txBox="1"/>
          <p:nvPr>
            <p:ph type="title"/>
          </p:nvPr>
        </p:nvSpPr>
        <p:spPr>
          <a:xfrm>
            <a:off x="6096000" y="375283"/>
            <a:ext cx="4896678" cy="3624989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62" name="Picture Placeholder 10"/>
          <p:cNvSpPr/>
          <p:nvPr>
            <p:ph type="pic" idx="21"/>
          </p:nvPr>
        </p:nvSpPr>
        <p:spPr>
          <a:xfrm>
            <a:off x="0" y="0"/>
            <a:ext cx="6096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Body Level One…"/>
          <p:cNvSpPr txBox="1"/>
          <p:nvPr>
            <p:ph type="body" sz="quarter" idx="1" hasCustomPrompt="1"/>
          </p:nvPr>
        </p:nvSpPr>
        <p:spPr>
          <a:xfrm>
            <a:off x="6096000" y="4172989"/>
            <a:ext cx="4896678" cy="230973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2370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4" name="Slide Number"/>
          <p:cNvSpPr txBox="1"/>
          <p:nvPr>
            <p:ph type="sldNum" sz="quarter" idx="2"/>
          </p:nvPr>
        </p:nvSpPr>
        <p:spPr>
          <a:xfrm>
            <a:off x="8506329" y="6240782"/>
            <a:ext cx="231274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two Content 1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954" t="41988" r="53993" b="33420"/>
          <a:stretch>
            <a:fillRect/>
          </a:stretch>
        </p:blipFill>
        <p:spPr>
          <a:xfrm rot="10800000">
            <a:off x="9198863" y="-9"/>
            <a:ext cx="2993143" cy="1517914"/>
          </a:xfrm>
          <a:prstGeom prst="rect">
            <a:avLst/>
          </a:prstGeom>
          <a:ln w="12700">
            <a:miter lim="400000"/>
          </a:ln>
        </p:spPr>
      </p:pic>
      <p:pic>
        <p:nvPicPr>
          <p:cNvPr id="72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25445" t="24818" r="46503" b="0"/>
          <a:stretch>
            <a:fillRect/>
          </a:stretch>
        </p:blipFill>
        <p:spPr>
          <a:xfrm rot="16200000">
            <a:off x="961219" y="4525175"/>
            <a:ext cx="1371604" cy="3294051"/>
          </a:xfrm>
          <a:prstGeom prst="rect">
            <a:avLst/>
          </a:prstGeom>
          <a:ln w="12700">
            <a:miter lim="400000"/>
          </a:ln>
        </p:spPr>
      </p:pic>
      <p:sp>
        <p:nvSpPr>
          <p:cNvPr id="73" name="Click to add title"/>
          <p:cNvSpPr txBox="1"/>
          <p:nvPr>
            <p:ph type="title" hasCustomPrompt="1"/>
          </p:nvPr>
        </p:nvSpPr>
        <p:spPr>
          <a:xfrm>
            <a:off x="914399" y="365125"/>
            <a:ext cx="10363201" cy="1629601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74" name="Body Level One…"/>
          <p:cNvSpPr txBox="1"/>
          <p:nvPr>
            <p:ph type="body" sz="half" idx="1" hasCustomPrompt="1"/>
          </p:nvPr>
        </p:nvSpPr>
        <p:spPr>
          <a:xfrm>
            <a:off x="914399" y="2022250"/>
            <a:ext cx="4992709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981" t="40714" r="61027" b="44471"/>
          <a:stretch>
            <a:fillRect/>
          </a:stretch>
        </p:blipFill>
        <p:spPr>
          <a:xfrm flipH="1">
            <a:off x="-26833" y="5950039"/>
            <a:ext cx="2513530" cy="914407"/>
          </a:xfrm>
          <a:prstGeom prst="rect">
            <a:avLst/>
          </a:prstGeom>
          <a:ln w="12700">
            <a:miter lim="400000"/>
          </a:ln>
        </p:spPr>
      </p:pic>
      <p:pic>
        <p:nvPicPr>
          <p:cNvPr id="83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18883" t="18052" r="46634" b="0"/>
          <a:stretch>
            <a:fillRect/>
          </a:stretch>
        </p:blipFill>
        <p:spPr>
          <a:xfrm rot="5400000">
            <a:off x="9553763" y="-952311"/>
            <a:ext cx="1685935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84" name="Click to add title"/>
          <p:cNvSpPr txBox="1"/>
          <p:nvPr>
            <p:ph type="title" hasCustomPrompt="1"/>
          </p:nvPr>
        </p:nvSpPr>
        <p:spPr>
          <a:xfrm>
            <a:off x="914396" y="365125"/>
            <a:ext cx="10439404" cy="1617017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85" name="Body Level One…"/>
          <p:cNvSpPr txBox="1"/>
          <p:nvPr>
            <p:ph type="body" sz="quarter" idx="1" hasCustomPrompt="1"/>
          </p:nvPr>
        </p:nvSpPr>
        <p:spPr>
          <a:xfrm>
            <a:off x="914399" y="2022250"/>
            <a:ext cx="3310129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b="1" sz="2000"/>
            </a:lvl1pPr>
            <a:lvl2pPr marL="711200" indent="-254000">
              <a:spcBef>
                <a:spcPts val="1200"/>
              </a:spcBef>
              <a:defRPr b="1" sz="2000"/>
            </a:lvl2pPr>
            <a:lvl3pPr marL="1200150" indent="-285750">
              <a:spcBef>
                <a:spcPts val="1200"/>
              </a:spcBef>
              <a:defRPr b="1" sz="2000"/>
            </a:lvl3pPr>
            <a:lvl4pPr marL="1698169" indent="-326569">
              <a:spcBef>
                <a:spcPts val="1200"/>
              </a:spcBef>
              <a:defRPr b="1" sz="2000"/>
            </a:lvl4pPr>
            <a:lvl5pPr marL="2155369" indent="-326569">
              <a:spcBef>
                <a:spcPts val="1200"/>
              </a:spcBef>
              <a:defRPr b="1"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right Imag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67703" t="485" r="0" b="67540"/>
          <a:stretch>
            <a:fillRect/>
          </a:stretch>
        </p:blipFill>
        <p:spPr>
          <a:xfrm rot="5400000">
            <a:off x="-115165" y="115161"/>
            <a:ext cx="1895064" cy="1664743"/>
          </a:xfrm>
          <a:prstGeom prst="rect">
            <a:avLst/>
          </a:prstGeom>
          <a:ln w="12700">
            <a:miter lim="400000"/>
          </a:ln>
        </p:spPr>
      </p:pic>
      <p:sp>
        <p:nvSpPr>
          <p:cNvPr id="94" name="Click to add title"/>
          <p:cNvSpPr txBox="1"/>
          <p:nvPr>
            <p:ph type="title" hasCustomPrompt="1"/>
          </p:nvPr>
        </p:nvSpPr>
        <p:spPr>
          <a:xfrm>
            <a:off x="916383" y="446313"/>
            <a:ext cx="5179618" cy="1448749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95" name="Body Level One…"/>
          <p:cNvSpPr txBox="1"/>
          <p:nvPr>
            <p:ph type="body" sz="half" idx="1" hasCustomPrompt="1"/>
          </p:nvPr>
        </p:nvSpPr>
        <p:spPr>
          <a:xfrm>
            <a:off x="914399" y="2022250"/>
            <a:ext cx="5181602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6" name="Picture Placeholder 11"/>
          <p:cNvSpPr/>
          <p:nvPr>
            <p:ph type="pic" idx="21"/>
          </p:nvPr>
        </p:nvSpPr>
        <p:spPr>
          <a:xfrm>
            <a:off x="6076950" y="-3"/>
            <a:ext cx="6115050" cy="686889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97" name="Slide Number"/>
          <p:cNvSpPr txBox="1"/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raphic 1" descr="Graphic 1"/>
          <p:cNvPicPr>
            <a:picLocks noChangeAspect="1"/>
          </p:cNvPicPr>
          <p:nvPr/>
        </p:nvPicPr>
        <p:blipFill>
          <a:blip r:embed="rId2">
            <a:extLst/>
          </a:blip>
          <a:srcRect l="0" t="0" r="55824" b="26760"/>
          <a:stretch>
            <a:fillRect/>
          </a:stretch>
        </p:blipFill>
        <p:spPr>
          <a:xfrm>
            <a:off x="9229725" y="1835239"/>
            <a:ext cx="2962276" cy="5022761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Rectangle 13"/>
          <p:cNvSpPr/>
          <p:nvPr/>
        </p:nvSpPr>
        <p:spPr>
          <a:xfrm>
            <a:off x="4443412" y="1835236"/>
            <a:ext cx="7000876" cy="427981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Tenorite"/>
                <a:ea typeface="Tenorite"/>
                <a:cs typeface="Tenorite"/>
                <a:sym typeface="Tenorite"/>
              </a:defRPr>
            </a:pPr>
          </a:p>
        </p:txBody>
      </p:sp>
      <p:pic>
        <p:nvPicPr>
          <p:cNvPr id="106" name="Graphic 8" descr="Graphic 8"/>
          <p:cNvPicPr>
            <a:picLocks noChangeAspect="1"/>
          </p:cNvPicPr>
          <p:nvPr/>
        </p:nvPicPr>
        <p:blipFill>
          <a:blip r:embed="rId2">
            <a:extLst/>
          </a:blip>
          <a:srcRect l="0" t="60903" r="75060" b="10346"/>
          <a:stretch>
            <a:fillRect/>
          </a:stretch>
        </p:blipFill>
        <p:spPr>
          <a:xfrm rot="16200000">
            <a:off x="149648" y="-149657"/>
            <a:ext cx="1672378" cy="1971679"/>
          </a:xfrm>
          <a:prstGeom prst="rect">
            <a:avLst/>
          </a:prstGeom>
          <a:ln w="12700">
            <a:miter lim="400000"/>
          </a:ln>
        </p:spPr>
      </p:pic>
      <p:sp>
        <p:nvSpPr>
          <p:cNvPr id="107" name="Click to add title"/>
          <p:cNvSpPr txBox="1"/>
          <p:nvPr>
            <p:ph type="title" hasCustomPrompt="1"/>
          </p:nvPr>
        </p:nvSpPr>
        <p:spPr>
          <a:xfrm>
            <a:off x="914399" y="365125"/>
            <a:ext cx="10363204" cy="1603463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108" name="Body Level One…"/>
          <p:cNvSpPr txBox="1"/>
          <p:nvPr>
            <p:ph type="body" sz="quarter" idx="1" hasCustomPrompt="1"/>
          </p:nvPr>
        </p:nvSpPr>
        <p:spPr>
          <a:xfrm>
            <a:off x="914399" y="2022250"/>
            <a:ext cx="3299015" cy="391491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two Content 3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8883" t="34408" r="46634" b="1"/>
          <a:stretch>
            <a:fillRect/>
          </a:stretch>
        </p:blipFill>
        <p:spPr>
          <a:xfrm rot="10800000">
            <a:off x="10506071" y="3984078"/>
            <a:ext cx="1685935" cy="28739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29718" t="47145" r="39388" b="8754"/>
          <a:stretch>
            <a:fillRect/>
          </a:stretch>
        </p:blipFill>
        <p:spPr>
          <a:xfrm flipH="1" rot="16200000">
            <a:off x="9781526" y="-311515"/>
            <a:ext cx="2098971" cy="2721992"/>
          </a:xfrm>
          <a:prstGeom prst="rect">
            <a:avLst/>
          </a:prstGeom>
          <a:ln w="12700">
            <a:miter lim="400000"/>
          </a:ln>
        </p:spPr>
      </p:pic>
      <p:sp>
        <p:nvSpPr>
          <p:cNvPr id="118" name="Click to add title"/>
          <p:cNvSpPr txBox="1"/>
          <p:nvPr>
            <p:ph type="title" hasCustomPrompt="1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119" name="Body Level One…"/>
          <p:cNvSpPr txBox="1"/>
          <p:nvPr>
            <p:ph type="body" sz="half" idx="1" hasCustomPrompt="1"/>
          </p:nvPr>
        </p:nvSpPr>
        <p:spPr>
          <a:xfrm>
            <a:off x="914399" y="2022250"/>
            <a:ext cx="6257367" cy="391491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/>
            </a:lvl1pPr>
            <a:lvl2pPr marL="228600" indent="-228600">
              <a:spcBef>
                <a:spcPts val="1200"/>
              </a:spcBef>
              <a:buFontTx/>
              <a:defRPr sz="2000"/>
            </a:lvl2pPr>
            <a:lvl3pPr marL="711200" indent="-254000">
              <a:spcBef>
                <a:spcPts val="1200"/>
              </a:spcBef>
              <a:buFontTx/>
              <a:defRPr sz="2000"/>
            </a:lvl3pPr>
            <a:lvl4pPr marL="971550" indent="-285750">
              <a:spcBef>
                <a:spcPts val="1200"/>
              </a:spcBef>
              <a:buFontTx/>
              <a:defRPr sz="2000"/>
            </a:lvl4pPr>
            <a:lvl5pPr marL="1200150" indent="-285750">
              <a:spcBef>
                <a:spcPts val="1200"/>
              </a:spcBef>
              <a:buFontTx/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Click to add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12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losing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Click to add title"/>
          <p:cNvSpPr txBox="1"/>
          <p:nvPr>
            <p:ph type="title" hasCustomPrompt="1"/>
          </p:nvPr>
        </p:nvSpPr>
        <p:spPr>
          <a:xfrm>
            <a:off x="6091515" y="374090"/>
            <a:ext cx="5057105" cy="3624985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sp>
        <p:nvSpPr>
          <p:cNvPr id="136" name="Body Level One…"/>
          <p:cNvSpPr txBox="1"/>
          <p:nvPr>
            <p:ph type="body" sz="quarter" idx="1" hasCustomPrompt="1"/>
          </p:nvPr>
        </p:nvSpPr>
        <p:spPr>
          <a:xfrm>
            <a:off x="6091513" y="4172989"/>
            <a:ext cx="5057105" cy="251937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114550" indent="-28575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pPr/>
            <a:r>
              <a:t>Click to add content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pic>
        <p:nvPicPr>
          <p:cNvPr id="137" name="Graphic 1" descr="Graphic 1"/>
          <p:cNvPicPr>
            <a:picLocks noChangeAspect="1"/>
          </p:cNvPicPr>
          <p:nvPr/>
        </p:nvPicPr>
        <p:blipFill>
          <a:blip r:embed="rId2">
            <a:extLst/>
          </a:blip>
          <a:srcRect l="4151" t="0" r="18576" b="0"/>
          <a:stretch>
            <a:fillRect/>
          </a:stretch>
        </p:blipFill>
        <p:spPr>
          <a:xfrm flipH="1">
            <a:off x="-5" y="0"/>
            <a:ext cx="5181608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Slide Number"/>
          <p:cNvSpPr txBox="1"/>
          <p:nvPr>
            <p:ph type="sldNum" sz="quarter" idx="2"/>
          </p:nvPr>
        </p:nvSpPr>
        <p:spPr>
          <a:xfrm>
            <a:off x="8506329" y="6240782"/>
            <a:ext cx="231274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3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18883" t="18052" r="46634" b="0"/>
          <a:stretch>
            <a:fillRect/>
          </a:stretch>
        </p:blipFill>
        <p:spPr>
          <a:xfrm rot="5400000">
            <a:off x="9553763" y="-952311"/>
            <a:ext cx="1685935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Click to add title"/>
          <p:cNvSpPr txBox="1"/>
          <p:nvPr>
            <p:ph type="title" hasCustomPrompt="1"/>
          </p:nvPr>
        </p:nvSpPr>
        <p:spPr>
          <a:xfrm>
            <a:off x="923544" y="584477"/>
            <a:ext cx="10354055" cy="1209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Click to add title</a:t>
            </a:r>
          </a:p>
        </p:txBody>
      </p:sp>
      <p:sp>
        <p:nvSpPr>
          <p:cNvPr id="4" name="Body Level One…"/>
          <p:cNvSpPr txBox="1"/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/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defRPr sz="12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5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e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e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3.jpe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itle 1"/>
          <p:cNvSpPr txBox="1"/>
          <p:nvPr>
            <p:ph type="title"/>
          </p:nvPr>
        </p:nvSpPr>
        <p:spPr>
          <a:xfrm>
            <a:off x="6095998" y="2773681"/>
            <a:ext cx="5674367" cy="3200407"/>
          </a:xfrm>
          <a:prstGeom prst="rect">
            <a:avLst/>
          </a:prstGeom>
        </p:spPr>
        <p:txBody>
          <a:bodyPr/>
          <a:lstStyle/>
          <a:p>
            <a:pPr/>
            <a:r>
              <a:t>Pitch deck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itle 1"/>
          <p:cNvSpPr txBox="1"/>
          <p:nvPr>
            <p:ph type="title"/>
          </p:nvPr>
        </p:nvSpPr>
        <p:spPr>
          <a:xfrm>
            <a:off x="914398" y="365125"/>
            <a:ext cx="10363204" cy="1603463"/>
          </a:xfrm>
          <a:prstGeom prst="rect">
            <a:avLst/>
          </a:prstGeom>
        </p:spPr>
        <p:txBody>
          <a:bodyPr/>
          <a:lstStyle/>
          <a:p>
            <a:pPr/>
            <a:r>
              <a:t>TODO</a:t>
            </a:r>
          </a:p>
        </p:txBody>
      </p:sp>
      <p:sp>
        <p:nvSpPr>
          <p:cNvPr id="150" name="Content Placeholder 2"/>
          <p:cNvSpPr txBox="1"/>
          <p:nvPr>
            <p:ph type="body" sz="half" idx="1"/>
          </p:nvPr>
        </p:nvSpPr>
        <p:spPr>
          <a:xfrm>
            <a:off x="187720" y="1968587"/>
            <a:ext cx="3995417" cy="4470626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b="1" sz="1200"/>
            </a:pPr>
            <a:r>
              <a:t>Exact Part:</a:t>
            </a:r>
          </a:p>
          <a:p>
            <a:pPr>
              <a:defRPr sz="1200"/>
            </a:pPr>
            <a:r>
              <a:t>a description of the problem being solved. Show the difference between the decision and optimization version of the problem. An example of inputs and outputs is a good idea. (1.5 mins)</a:t>
            </a:r>
          </a:p>
          <a:p>
            <a:pPr>
              <a:defRPr sz="1200"/>
            </a:pPr>
            <a:r>
              <a:t>an explanation of the certifier process being polynomial. Including pseudo-code here is a good idea but make sure its clear that the </a:t>
            </a:r>
            <a:r>
              <a:rPr i="1"/>
              <a:t>certificate</a:t>
            </a:r>
            <a:r>
              <a:t> can be verified in polynomial time.</a:t>
            </a:r>
          </a:p>
          <a:p>
            <a:pPr>
              <a:defRPr sz="1200"/>
            </a:pPr>
            <a:r>
              <a:t>a reduction from a known/accepted NP-hard problem (with examples graphically shown). It must be clear that the reduction takes place in a polynomial number of steps with respect to the problem’s input size.</a:t>
            </a:r>
          </a:p>
          <a:p>
            <a:pPr>
              <a:defRPr sz="1200"/>
            </a:pPr>
            <a:r>
              <a:t>an analytical (big </a:t>
            </a:r>
            <a14:m>
              <m:oMath>
                <m:r>
                  <a:rPr xmlns:a="http://schemas.openxmlformats.org/drawingml/2006/main" sz="12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𝒪</m:t>
                </m:r>
              </m:oMath>
            </a14:m>
            <a:r>
              <a:t>) runtime analysis of your coded solution and showcase the code that is the dominant term (the code that drives the highest order term).</a:t>
            </a:r>
          </a:p>
          <a:p>
            <a:pPr>
              <a:defRPr sz="1200"/>
            </a:pPr>
            <a:r>
              <a:t>a wallclock (empirical) runtime analysis of your code on your test cases. This analysis must show input size on the X axis and runtime on the Y axis</a:t>
            </a:r>
          </a:p>
        </p:txBody>
      </p:sp>
      <p:sp>
        <p:nvSpPr>
          <p:cNvPr id="151" name="Slide Number Placeholder 4"/>
          <p:cNvSpPr txBox="1"/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52" name="Content Placeholder 2"/>
          <p:cNvSpPr txBox="1"/>
          <p:nvPr/>
        </p:nvSpPr>
        <p:spPr>
          <a:xfrm>
            <a:off x="4334114" y="2022248"/>
            <a:ext cx="3903970" cy="4470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lnSpc>
                <a:spcPct val="90000"/>
              </a:lnSpc>
              <a:spcBef>
                <a:spcPts val="1200"/>
              </a:spcBef>
              <a:defRPr b="1" sz="1200">
                <a:latin typeface="Tenorite"/>
                <a:ea typeface="Tenorite"/>
                <a:cs typeface="Tenorite"/>
                <a:sym typeface="Tenorite"/>
              </a:defRPr>
            </a:pPr>
            <a:r>
              <a:t>Approximation Part: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pseudocode for the approximation and a discussion of the strategy used (greedy, random, etc.)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analytical run time analysis (the worse case </a:t>
            </a:r>
            <a14:m>
              <m:oMath>
                <m:r>
                  <a:rPr xmlns:a="http://schemas.openxmlformats.org/drawingml/2006/main" sz="12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𝒪</m:t>
                </m:r>
              </m:oMath>
            </a14:m>
            <a:r>
              <a:t> time) of your approximation algorithm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plots that illustrate the run-time (wall clock) performance of your exact solution versus the approximation solution on your test cases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plots that compare the result/solution of your exact solution versus the approximation on your test cases. This is where you show the </a:t>
            </a:r>
            <a:r>
              <a:rPr b="1"/>
              <a:t>value</a:t>
            </a:r>
            <a:r>
              <a:t> achieved by both and see how well your approximation did versus the optimal solution.</a:t>
            </a:r>
          </a:p>
        </p:txBody>
      </p:sp>
      <p:sp>
        <p:nvSpPr>
          <p:cNvPr id="153" name="Content Placeholder 2"/>
          <p:cNvSpPr txBox="1"/>
          <p:nvPr/>
        </p:nvSpPr>
        <p:spPr>
          <a:xfrm>
            <a:off x="8242310" y="2022248"/>
            <a:ext cx="3903970" cy="4470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lnSpc>
                <a:spcPct val="90000"/>
              </a:lnSpc>
              <a:spcBef>
                <a:spcPts val="1200"/>
              </a:spcBef>
              <a:defRPr b="1" sz="1200">
                <a:latin typeface="Tenorite"/>
                <a:ea typeface="Tenorite"/>
                <a:cs typeface="Tenorite"/>
                <a:sym typeface="Tenorite"/>
              </a:defRPr>
            </a:pPr>
            <a:r>
              <a:t>Part E: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Talk about how you broke things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Talk about how you fixed things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What is your approximation weak on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How does adding more time improve things?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Conclude everything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Slide Number Placeholder 1"/>
          <p:cNvSpPr txBox="1"/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158" name="LAX"/>
          <p:cNvGrpSpPr/>
          <p:nvPr/>
        </p:nvGrpSpPr>
        <p:grpSpPr>
          <a:xfrm>
            <a:off x="7178090" y="3081902"/>
            <a:ext cx="694195" cy="694195"/>
            <a:chOff x="-1" y="-1"/>
            <a:chExt cx="694194" cy="694194"/>
          </a:xfrm>
        </p:grpSpPr>
        <p:sp>
          <p:nvSpPr>
            <p:cNvPr id="156" name="Circle"/>
            <p:cNvSpPr/>
            <p:nvPr/>
          </p:nvSpPr>
          <p:spPr>
            <a:xfrm>
              <a:off x="-2" y="-2"/>
              <a:ext cx="694195" cy="694195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57" name="LAX"/>
            <p:cNvSpPr txBox="1"/>
            <p:nvPr/>
          </p:nvSpPr>
          <p:spPr>
            <a:xfrm>
              <a:off x="106423" y="208095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LA</a:t>
              </a:r>
            </a:p>
          </p:txBody>
        </p:sp>
      </p:grpSp>
      <p:grpSp>
        <p:nvGrpSpPr>
          <p:cNvPr id="161" name="JFK"/>
          <p:cNvGrpSpPr/>
          <p:nvPr/>
        </p:nvGrpSpPr>
        <p:grpSpPr>
          <a:xfrm>
            <a:off x="8592781" y="1614044"/>
            <a:ext cx="694195" cy="694195"/>
            <a:chOff x="-1" y="-1"/>
            <a:chExt cx="694194" cy="694194"/>
          </a:xfrm>
        </p:grpSpPr>
        <p:sp>
          <p:nvSpPr>
            <p:cNvPr id="159" name="Circle"/>
            <p:cNvSpPr/>
            <p:nvPr/>
          </p:nvSpPr>
          <p:spPr>
            <a:xfrm>
              <a:off x="-2" y="-2"/>
              <a:ext cx="694195" cy="694195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60" name="JFK"/>
            <p:cNvSpPr txBox="1"/>
            <p:nvPr/>
          </p:nvSpPr>
          <p:spPr>
            <a:xfrm>
              <a:off x="106423" y="208095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NYC</a:t>
              </a:r>
            </a:p>
          </p:txBody>
        </p:sp>
      </p:grpSp>
      <p:grpSp>
        <p:nvGrpSpPr>
          <p:cNvPr id="164" name="MIA"/>
          <p:cNvGrpSpPr/>
          <p:nvPr/>
        </p:nvGrpSpPr>
        <p:grpSpPr>
          <a:xfrm>
            <a:off x="10007469" y="3081902"/>
            <a:ext cx="694195" cy="694195"/>
            <a:chOff x="-1" y="-1"/>
            <a:chExt cx="694194" cy="694194"/>
          </a:xfrm>
        </p:grpSpPr>
        <p:sp>
          <p:nvSpPr>
            <p:cNvPr id="162" name="Circle"/>
            <p:cNvSpPr/>
            <p:nvPr/>
          </p:nvSpPr>
          <p:spPr>
            <a:xfrm>
              <a:off x="-2" y="-2"/>
              <a:ext cx="694195" cy="694195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63" name="MIA"/>
            <p:cNvSpPr txBox="1"/>
            <p:nvPr/>
          </p:nvSpPr>
          <p:spPr>
            <a:xfrm>
              <a:off x="106423" y="208095"/>
              <a:ext cx="481343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MIA</a:t>
              </a:r>
            </a:p>
          </p:txBody>
        </p:sp>
      </p:grpSp>
      <p:grpSp>
        <p:nvGrpSpPr>
          <p:cNvPr id="167" name="HOU"/>
          <p:cNvGrpSpPr/>
          <p:nvPr/>
        </p:nvGrpSpPr>
        <p:grpSpPr>
          <a:xfrm>
            <a:off x="8592781" y="4549761"/>
            <a:ext cx="694195" cy="694195"/>
            <a:chOff x="-1" y="-1"/>
            <a:chExt cx="694194" cy="694194"/>
          </a:xfrm>
        </p:grpSpPr>
        <p:sp>
          <p:nvSpPr>
            <p:cNvPr id="165" name="Circle"/>
            <p:cNvSpPr/>
            <p:nvPr/>
          </p:nvSpPr>
          <p:spPr>
            <a:xfrm>
              <a:off x="-2" y="-2"/>
              <a:ext cx="694195" cy="694195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66" name="HOU"/>
            <p:cNvSpPr txBox="1"/>
            <p:nvPr/>
          </p:nvSpPr>
          <p:spPr>
            <a:xfrm>
              <a:off x="106423" y="208095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HOU</a:t>
              </a:r>
            </a:p>
          </p:txBody>
        </p:sp>
      </p:grpSp>
      <p:sp>
        <p:nvSpPr>
          <p:cNvPr id="168" name="Line"/>
          <p:cNvSpPr/>
          <p:nvPr/>
        </p:nvSpPr>
        <p:spPr>
          <a:xfrm flipV="1">
            <a:off x="9170193" y="3671711"/>
            <a:ext cx="942986" cy="96709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9" name="Line"/>
          <p:cNvSpPr/>
          <p:nvPr/>
        </p:nvSpPr>
        <p:spPr>
          <a:xfrm flipV="1">
            <a:off x="7725040" y="2180992"/>
            <a:ext cx="945353" cy="9453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0" name="Line"/>
          <p:cNvSpPr/>
          <p:nvPr/>
        </p:nvSpPr>
        <p:spPr>
          <a:xfrm flipH="1" flipV="1">
            <a:off x="7784588" y="3661617"/>
            <a:ext cx="894032" cy="100009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1" name="Line"/>
          <p:cNvSpPr/>
          <p:nvPr/>
        </p:nvSpPr>
        <p:spPr>
          <a:xfrm flipH="1" flipV="1">
            <a:off x="9210843" y="2181820"/>
            <a:ext cx="893839" cy="9992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2" name="Line"/>
          <p:cNvSpPr/>
          <p:nvPr/>
        </p:nvSpPr>
        <p:spPr>
          <a:xfrm flipH="1" flipV="1">
            <a:off x="8954888" y="2308044"/>
            <a:ext cx="104" cy="223788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3" name="Line"/>
          <p:cNvSpPr/>
          <p:nvPr/>
        </p:nvSpPr>
        <p:spPr>
          <a:xfrm flipH="1">
            <a:off x="7876310" y="3415165"/>
            <a:ext cx="2127135" cy="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4" name="2.475"/>
          <p:cNvSpPr txBox="1"/>
          <p:nvPr/>
        </p:nvSpPr>
        <p:spPr>
          <a:xfrm>
            <a:off x="7638495" y="2348333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2.475</a:t>
            </a:r>
          </a:p>
        </p:txBody>
      </p:sp>
      <p:sp>
        <p:nvSpPr>
          <p:cNvPr id="175" name="1.09"/>
          <p:cNvSpPr txBox="1"/>
          <p:nvPr/>
        </p:nvSpPr>
        <p:spPr>
          <a:xfrm>
            <a:off x="9761946" y="2348333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1.09</a:t>
            </a:r>
          </a:p>
        </p:txBody>
      </p:sp>
      <p:sp>
        <p:nvSpPr>
          <p:cNvPr id="176" name="1.39"/>
          <p:cNvSpPr txBox="1"/>
          <p:nvPr/>
        </p:nvSpPr>
        <p:spPr>
          <a:xfrm>
            <a:off x="7696424" y="4176576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1.39</a:t>
            </a:r>
          </a:p>
        </p:txBody>
      </p:sp>
      <p:sp>
        <p:nvSpPr>
          <p:cNvPr id="177" name="1.1"/>
          <p:cNvSpPr txBox="1"/>
          <p:nvPr/>
        </p:nvSpPr>
        <p:spPr>
          <a:xfrm>
            <a:off x="9761946" y="4155256"/>
            <a:ext cx="393570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1.1</a:t>
            </a:r>
          </a:p>
        </p:txBody>
      </p:sp>
      <p:sp>
        <p:nvSpPr>
          <p:cNvPr id="178" name="1.74"/>
          <p:cNvSpPr txBox="1"/>
          <p:nvPr/>
        </p:nvSpPr>
        <p:spPr>
          <a:xfrm>
            <a:off x="8935908" y="2691187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1.74</a:t>
            </a:r>
          </a:p>
        </p:txBody>
      </p:sp>
      <p:sp>
        <p:nvSpPr>
          <p:cNvPr id="179" name="2.342"/>
          <p:cNvSpPr txBox="1"/>
          <p:nvPr/>
        </p:nvSpPr>
        <p:spPr>
          <a:xfrm>
            <a:off x="8123473" y="3402465"/>
            <a:ext cx="625296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2.342</a:t>
            </a:r>
          </a:p>
        </p:txBody>
      </p:sp>
      <p:sp>
        <p:nvSpPr>
          <p:cNvPr id="180" name="Weights in 1K air miles"/>
          <p:cNvSpPr txBox="1"/>
          <p:nvPr/>
        </p:nvSpPr>
        <p:spPr>
          <a:xfrm>
            <a:off x="5141083" y="6096678"/>
            <a:ext cx="1909832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Weights in 1K miles</a:t>
            </a:r>
          </a:p>
        </p:txBody>
      </p:sp>
      <p:pic>
        <p:nvPicPr>
          <p:cNvPr id="181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65232" y="2110905"/>
            <a:ext cx="4686557" cy="2636190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TSP"/>
          <p:cNvSpPr txBox="1"/>
          <p:nvPr>
            <p:ph type="title" idx="4294967295"/>
          </p:nvPr>
        </p:nvSpPr>
        <p:spPr>
          <a:xfrm>
            <a:off x="151728" y="113541"/>
            <a:ext cx="5602753" cy="647781"/>
          </a:xfrm>
          <a:prstGeom prst="rect">
            <a:avLst/>
          </a:prstGeom>
        </p:spPr>
        <p:txBody>
          <a:bodyPr/>
          <a:lstStyle/>
          <a:p>
            <a:pPr/>
            <a:r>
              <a:t>TSP</a:t>
            </a:r>
          </a:p>
        </p:txBody>
      </p:sp>
      <p:sp>
        <p:nvSpPr>
          <p:cNvPr id="183" name="Decision vs. Optimization"/>
          <p:cNvSpPr txBox="1"/>
          <p:nvPr/>
        </p:nvSpPr>
        <p:spPr>
          <a:xfrm>
            <a:off x="7734421" y="902767"/>
            <a:ext cx="2441037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Decision vs. Optimization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Slide Number Placeholder 1"/>
          <p:cNvSpPr txBox="1"/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6" name="LAX"/>
          <p:cNvSpPr/>
          <p:nvPr/>
        </p:nvSpPr>
        <p:spPr>
          <a:xfrm>
            <a:off x="1772219" y="3076313"/>
            <a:ext cx="694195" cy="694195"/>
          </a:xfrm>
          <a:prstGeom prst="ellipse">
            <a:avLst/>
          </a:prstGeom>
          <a:gradFill>
            <a:gsLst>
              <a:gs pos="0">
                <a:srgbClr val="1287F6"/>
              </a:gs>
              <a:gs pos="100000">
                <a:schemeClr val="accent5">
                  <a:hueOff val="329330"/>
                  <a:satOff val="40776"/>
                  <a:lumOff val="24655"/>
                </a:schemeClr>
              </a:gs>
            </a:gsLst>
            <a:lin ang="16976440"/>
          </a:gradFill>
          <a:ln>
            <a:solidFill>
              <a:srgbClr val="4F80EF"/>
            </a:solidFill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G</a:t>
            </a:r>
          </a:p>
        </p:txBody>
      </p:sp>
      <p:sp>
        <p:nvSpPr>
          <p:cNvPr id="187" name="JFK"/>
          <p:cNvSpPr/>
          <p:nvPr/>
        </p:nvSpPr>
        <p:spPr>
          <a:xfrm>
            <a:off x="3972244" y="1130409"/>
            <a:ext cx="694195" cy="694195"/>
          </a:xfrm>
          <a:prstGeom prst="ellipse">
            <a:avLst/>
          </a:prstGeom>
          <a:gradFill>
            <a:gsLst>
              <a:gs pos="0">
                <a:srgbClr val="1287F6"/>
              </a:gs>
              <a:gs pos="100000">
                <a:schemeClr val="accent5">
                  <a:hueOff val="329330"/>
                  <a:satOff val="40776"/>
                  <a:lumOff val="24655"/>
                </a:schemeClr>
              </a:gs>
            </a:gsLst>
            <a:lin ang="16976440"/>
          </a:gradFill>
          <a:ln>
            <a:solidFill>
              <a:srgbClr val="4F80EF"/>
            </a:solidFill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A</a:t>
            </a:r>
          </a:p>
        </p:txBody>
      </p:sp>
      <p:sp>
        <p:nvSpPr>
          <p:cNvPr id="188" name="MIA"/>
          <p:cNvSpPr/>
          <p:nvPr/>
        </p:nvSpPr>
        <p:spPr>
          <a:xfrm>
            <a:off x="6159394" y="3076313"/>
            <a:ext cx="694195" cy="694195"/>
          </a:xfrm>
          <a:prstGeom prst="ellipse">
            <a:avLst/>
          </a:prstGeom>
          <a:gradFill>
            <a:gsLst>
              <a:gs pos="0">
                <a:srgbClr val="1287F6"/>
              </a:gs>
              <a:gs pos="100000">
                <a:schemeClr val="accent5">
                  <a:hueOff val="329330"/>
                  <a:satOff val="40776"/>
                  <a:lumOff val="24655"/>
                </a:schemeClr>
              </a:gs>
            </a:gsLst>
            <a:lin ang="16976440"/>
          </a:gradFill>
          <a:ln>
            <a:solidFill>
              <a:srgbClr val="4F80EF"/>
            </a:solidFill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C</a:t>
            </a:r>
          </a:p>
        </p:txBody>
      </p:sp>
      <p:sp>
        <p:nvSpPr>
          <p:cNvPr id="189" name="HOU"/>
          <p:cNvSpPr/>
          <p:nvPr/>
        </p:nvSpPr>
        <p:spPr>
          <a:xfrm>
            <a:off x="3972244" y="5033396"/>
            <a:ext cx="694195" cy="694195"/>
          </a:xfrm>
          <a:prstGeom prst="ellipse">
            <a:avLst/>
          </a:prstGeom>
          <a:gradFill>
            <a:gsLst>
              <a:gs pos="0">
                <a:srgbClr val="1287F6"/>
              </a:gs>
              <a:gs pos="100000">
                <a:schemeClr val="accent5">
                  <a:hueOff val="329330"/>
                  <a:satOff val="40776"/>
                  <a:lumOff val="24655"/>
                </a:schemeClr>
              </a:gs>
            </a:gsLst>
            <a:lin ang="16976440"/>
          </a:gradFill>
          <a:ln>
            <a:solidFill>
              <a:srgbClr val="4F80EF"/>
            </a:solidFill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E</a:t>
            </a:r>
          </a:p>
        </p:txBody>
      </p:sp>
      <p:sp>
        <p:nvSpPr>
          <p:cNvPr id="190" name="Weights in 1K air miles"/>
          <p:cNvSpPr txBox="1"/>
          <p:nvPr/>
        </p:nvSpPr>
        <p:spPr>
          <a:xfrm>
            <a:off x="5154702" y="6227815"/>
            <a:ext cx="1882595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“Can’t do it boss…”</a:t>
            </a:r>
          </a:p>
        </p:txBody>
      </p:sp>
      <p:sp>
        <p:nvSpPr>
          <p:cNvPr id="191" name="JFK"/>
          <p:cNvSpPr/>
          <p:nvPr/>
        </p:nvSpPr>
        <p:spPr>
          <a:xfrm>
            <a:off x="2518930" y="1774126"/>
            <a:ext cx="694195" cy="694195"/>
          </a:xfrm>
          <a:prstGeom prst="ellipse">
            <a:avLst/>
          </a:prstGeom>
          <a:gradFill>
            <a:gsLst>
              <a:gs pos="0">
                <a:srgbClr val="1287F6"/>
              </a:gs>
              <a:gs pos="100000">
                <a:schemeClr val="accent5">
                  <a:hueOff val="329330"/>
                  <a:satOff val="40776"/>
                  <a:lumOff val="24655"/>
                </a:schemeClr>
              </a:gs>
            </a:gsLst>
            <a:lin ang="16976440"/>
          </a:gradFill>
          <a:ln>
            <a:solidFill>
              <a:srgbClr val="4F80EF"/>
            </a:solidFill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H</a:t>
            </a:r>
          </a:p>
        </p:txBody>
      </p:sp>
      <p:sp>
        <p:nvSpPr>
          <p:cNvPr id="192" name="JFK"/>
          <p:cNvSpPr/>
          <p:nvPr/>
        </p:nvSpPr>
        <p:spPr>
          <a:xfrm>
            <a:off x="5425556" y="1774126"/>
            <a:ext cx="694195" cy="694195"/>
          </a:xfrm>
          <a:prstGeom prst="ellipse">
            <a:avLst/>
          </a:prstGeom>
          <a:gradFill>
            <a:gsLst>
              <a:gs pos="0">
                <a:srgbClr val="1287F6"/>
              </a:gs>
              <a:gs pos="100000">
                <a:schemeClr val="accent5">
                  <a:hueOff val="329330"/>
                  <a:satOff val="40776"/>
                  <a:lumOff val="24655"/>
                </a:schemeClr>
              </a:gs>
            </a:gsLst>
            <a:lin ang="16976440"/>
          </a:gradFill>
          <a:ln>
            <a:solidFill>
              <a:srgbClr val="4F80EF"/>
            </a:solidFill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B</a:t>
            </a:r>
          </a:p>
        </p:txBody>
      </p:sp>
      <p:sp>
        <p:nvSpPr>
          <p:cNvPr id="193" name="JFK"/>
          <p:cNvSpPr/>
          <p:nvPr/>
        </p:nvSpPr>
        <p:spPr>
          <a:xfrm>
            <a:off x="5425556" y="4389679"/>
            <a:ext cx="694195" cy="694195"/>
          </a:xfrm>
          <a:prstGeom prst="ellipse">
            <a:avLst/>
          </a:prstGeom>
          <a:gradFill>
            <a:gsLst>
              <a:gs pos="0">
                <a:srgbClr val="1287F6"/>
              </a:gs>
              <a:gs pos="100000">
                <a:schemeClr val="accent5">
                  <a:hueOff val="329330"/>
                  <a:satOff val="40776"/>
                  <a:lumOff val="24655"/>
                </a:schemeClr>
              </a:gs>
            </a:gsLst>
            <a:lin ang="16976440"/>
          </a:gradFill>
          <a:ln>
            <a:solidFill>
              <a:srgbClr val="4F80EF"/>
            </a:solidFill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D</a:t>
            </a:r>
          </a:p>
        </p:txBody>
      </p:sp>
      <p:sp>
        <p:nvSpPr>
          <p:cNvPr id="194" name="JFK"/>
          <p:cNvSpPr/>
          <p:nvPr/>
        </p:nvSpPr>
        <p:spPr>
          <a:xfrm>
            <a:off x="2518930" y="4389679"/>
            <a:ext cx="694195" cy="694195"/>
          </a:xfrm>
          <a:prstGeom prst="ellipse">
            <a:avLst/>
          </a:prstGeom>
          <a:gradFill>
            <a:gsLst>
              <a:gs pos="0">
                <a:srgbClr val="1287F6"/>
              </a:gs>
              <a:gs pos="100000">
                <a:schemeClr val="accent5">
                  <a:hueOff val="329330"/>
                  <a:satOff val="40776"/>
                  <a:lumOff val="24655"/>
                </a:schemeClr>
              </a:gs>
            </a:gsLst>
            <a:lin ang="16976440"/>
          </a:gradFill>
          <a:ln>
            <a:solidFill>
              <a:srgbClr val="4F80EF"/>
            </a:solidFill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F</a:t>
            </a:r>
          </a:p>
        </p:txBody>
      </p:sp>
      <p:sp>
        <p:nvSpPr>
          <p:cNvPr id="195" name="Text"/>
          <p:cNvSpPr txBox="1"/>
          <p:nvPr/>
        </p:nvSpPr>
        <p:spPr>
          <a:xfrm>
            <a:off x="8951881" y="1893863"/>
            <a:ext cx="1244961" cy="476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700"/>
            </a:lvl1pPr>
          </a:lstStyle>
          <a:p>
            <a:pPr/>
            <a14:m>
              <m:oMathPara>
                <m:oMathParaPr>
                  <m:jc m:val="left"/>
                </m:oMathParaPr>
                <m:oMath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C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V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!</m:t>
                  </m:r>
                </m:oMath>
              </m:oMathPara>
            </a14:m>
          </a:p>
        </p:txBody>
      </p:sp>
      <p:sp>
        <p:nvSpPr>
          <p:cNvPr id="196" name="Text"/>
          <p:cNvSpPr txBox="1"/>
          <p:nvPr/>
        </p:nvSpPr>
        <p:spPr>
          <a:xfrm>
            <a:off x="8919067" y="2961441"/>
            <a:ext cx="1338626" cy="37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14:m>
              <m:oMathPara>
                <m:oMathParaPr>
                  <m:jc m:val="left"/>
                </m:oMathParaPr>
                <m:oMath>
                  <m:sSub>
                    <m:e>
                      <m:r>
                        <a:rPr xmlns:a="http://schemas.openxmlformats.org/drawingml/2006/main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</m:e>
                    <m:sub>
                      <m:r>
                        <a:rPr xmlns:a="http://schemas.openxmlformats.org/drawingml/2006/main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</m:sub>
                  </m:sSub>
                  <m:r>
                    <a:rPr xmlns:a="http://schemas.openxmlformats.org/drawingml/2006/main" sz="19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19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40,320</m:t>
                  </m:r>
                </m:oMath>
              </m:oMathPara>
            </a14:m>
          </a:p>
        </p:txBody>
      </p:sp>
      <p:sp>
        <p:nvSpPr>
          <p:cNvPr id="197" name="Text"/>
          <p:cNvSpPr txBox="1"/>
          <p:nvPr/>
        </p:nvSpPr>
        <p:spPr>
          <a:xfrm>
            <a:off x="8919067" y="3439179"/>
            <a:ext cx="1462635" cy="3816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14:m>
              <m:oMathPara>
                <m:oMathParaPr>
                  <m:jc m:val="left"/>
                </m:oMathParaPr>
                <m:oMath>
                  <m:sSub>
                    <m:e>
                      <m:r>
                        <a:rPr xmlns:a="http://schemas.openxmlformats.org/drawingml/2006/main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</m:e>
                    <m:sub>
                      <m:r>
                        <a:rPr xmlns:a="http://schemas.openxmlformats.org/drawingml/2006/main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</m:sub>
                  </m:sSub>
                  <m:r>
                    <a:rPr xmlns:a="http://schemas.openxmlformats.org/drawingml/2006/main" sz="19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19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362,880</m:t>
                  </m:r>
                </m:oMath>
              </m:oMathPara>
            </a14:m>
          </a:p>
        </p:txBody>
      </p:sp>
      <p:sp>
        <p:nvSpPr>
          <p:cNvPr id="198" name="Line"/>
          <p:cNvSpPr/>
          <p:nvPr/>
        </p:nvSpPr>
        <p:spPr>
          <a:xfrm>
            <a:off x="2281717" y="3731140"/>
            <a:ext cx="392068" cy="71830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99" name="Line"/>
          <p:cNvSpPr/>
          <p:nvPr/>
        </p:nvSpPr>
        <p:spPr>
          <a:xfrm flipH="1">
            <a:off x="5991915" y="3751554"/>
            <a:ext cx="392875" cy="71445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0" name="Line"/>
          <p:cNvSpPr/>
          <p:nvPr/>
        </p:nvSpPr>
        <p:spPr>
          <a:xfrm>
            <a:off x="3170717" y="4912240"/>
            <a:ext cx="802462" cy="39835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1" name="Line"/>
          <p:cNvSpPr/>
          <p:nvPr/>
        </p:nvSpPr>
        <p:spPr>
          <a:xfrm flipH="1">
            <a:off x="4654732" y="4912240"/>
            <a:ext cx="812061" cy="37394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2" name="Hamiltonian Cycles"/>
          <p:cNvSpPr txBox="1"/>
          <p:nvPr/>
        </p:nvSpPr>
        <p:spPr>
          <a:xfrm>
            <a:off x="8074741" y="1328078"/>
            <a:ext cx="2999241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90000"/>
              </a:lnSpc>
              <a:spcBef>
                <a:spcPts val="1200"/>
              </a:spcBef>
              <a:defRPr b="1" sz="20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Hamiltonian Cycles</a:t>
            </a:r>
          </a:p>
        </p:txBody>
      </p:sp>
      <p:sp>
        <p:nvSpPr>
          <p:cNvPr id="203" name="Line"/>
          <p:cNvSpPr/>
          <p:nvPr/>
        </p:nvSpPr>
        <p:spPr>
          <a:xfrm flipH="1" flipV="1">
            <a:off x="2465612" y="3423410"/>
            <a:ext cx="3693503" cy="1118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4" name="Line"/>
          <p:cNvSpPr/>
          <p:nvPr/>
        </p:nvSpPr>
        <p:spPr>
          <a:xfrm flipH="1">
            <a:off x="2285851" y="2409291"/>
            <a:ext cx="387918" cy="71074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5" name="Line"/>
          <p:cNvSpPr/>
          <p:nvPr/>
        </p:nvSpPr>
        <p:spPr>
          <a:xfrm>
            <a:off x="5991915" y="2391994"/>
            <a:ext cx="402672" cy="69904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6" name="Line"/>
          <p:cNvSpPr/>
          <p:nvPr/>
        </p:nvSpPr>
        <p:spPr>
          <a:xfrm flipV="1">
            <a:off x="3170717" y="1540552"/>
            <a:ext cx="803777" cy="40170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7" name="Line"/>
          <p:cNvSpPr/>
          <p:nvPr/>
        </p:nvSpPr>
        <p:spPr>
          <a:xfrm flipH="1" flipV="1">
            <a:off x="4656617" y="1550888"/>
            <a:ext cx="806902" cy="40931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8" name="Line"/>
          <p:cNvSpPr/>
          <p:nvPr/>
        </p:nvSpPr>
        <p:spPr>
          <a:xfrm flipV="1">
            <a:off x="4317818" y="1819125"/>
            <a:ext cx="19448" cy="320891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9" name="Line"/>
          <p:cNvSpPr/>
          <p:nvPr/>
        </p:nvSpPr>
        <p:spPr>
          <a:xfrm flipH="1" flipV="1">
            <a:off x="3108238" y="2371494"/>
            <a:ext cx="2420550" cy="21196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0" name="Line"/>
          <p:cNvSpPr/>
          <p:nvPr/>
        </p:nvSpPr>
        <p:spPr>
          <a:xfrm flipH="1">
            <a:off x="3113884" y="2356531"/>
            <a:ext cx="2405154" cy="213458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1" name="Line"/>
          <p:cNvSpPr/>
          <p:nvPr/>
        </p:nvSpPr>
        <p:spPr>
          <a:xfrm>
            <a:off x="4522230" y="1756578"/>
            <a:ext cx="1717286" cy="144455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2" name="Line"/>
          <p:cNvSpPr/>
          <p:nvPr/>
        </p:nvSpPr>
        <p:spPr>
          <a:xfrm>
            <a:off x="4423342" y="1813926"/>
            <a:ext cx="1206971" cy="260684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3" name="Line"/>
          <p:cNvSpPr/>
          <p:nvPr/>
        </p:nvSpPr>
        <p:spPr>
          <a:xfrm flipH="1">
            <a:off x="3023815" y="1811099"/>
            <a:ext cx="1209150" cy="261845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4" name="Line"/>
          <p:cNvSpPr/>
          <p:nvPr/>
        </p:nvSpPr>
        <p:spPr>
          <a:xfrm flipH="1">
            <a:off x="2410390" y="1742949"/>
            <a:ext cx="1675106" cy="148358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5" name="Line"/>
          <p:cNvSpPr/>
          <p:nvPr/>
        </p:nvSpPr>
        <p:spPr>
          <a:xfrm flipH="1">
            <a:off x="5766999" y="2465080"/>
            <a:ext cx="4366" cy="192653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6" name="Line"/>
          <p:cNvSpPr/>
          <p:nvPr/>
        </p:nvSpPr>
        <p:spPr>
          <a:xfrm flipH="1">
            <a:off x="2863845" y="2471284"/>
            <a:ext cx="1" cy="191539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7" name="Line"/>
          <p:cNvSpPr/>
          <p:nvPr/>
        </p:nvSpPr>
        <p:spPr>
          <a:xfrm flipH="1">
            <a:off x="4523620" y="2455752"/>
            <a:ext cx="1153208" cy="263973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8" name="Line"/>
          <p:cNvSpPr/>
          <p:nvPr/>
        </p:nvSpPr>
        <p:spPr>
          <a:xfrm>
            <a:off x="2994214" y="2443598"/>
            <a:ext cx="1121858" cy="265529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9" name="Line"/>
          <p:cNvSpPr/>
          <p:nvPr/>
        </p:nvSpPr>
        <p:spPr>
          <a:xfrm flipH="1">
            <a:off x="2458296" y="2265877"/>
            <a:ext cx="3002935" cy="107266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0" name="Line"/>
          <p:cNvSpPr/>
          <p:nvPr/>
        </p:nvSpPr>
        <p:spPr>
          <a:xfrm>
            <a:off x="3192053" y="2253177"/>
            <a:ext cx="2976882" cy="107101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1" name="Line"/>
          <p:cNvSpPr/>
          <p:nvPr/>
        </p:nvSpPr>
        <p:spPr>
          <a:xfrm flipH="1" flipV="1">
            <a:off x="3211642" y="2109341"/>
            <a:ext cx="2215399" cy="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2" name="Line"/>
          <p:cNvSpPr/>
          <p:nvPr/>
        </p:nvSpPr>
        <p:spPr>
          <a:xfrm flipH="1" flipV="1">
            <a:off x="3210081" y="4724715"/>
            <a:ext cx="2216980" cy="214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3" name="Line"/>
          <p:cNvSpPr/>
          <p:nvPr/>
        </p:nvSpPr>
        <p:spPr>
          <a:xfrm flipH="1">
            <a:off x="3185754" y="3591900"/>
            <a:ext cx="3017762" cy="101295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4" name="Line"/>
          <p:cNvSpPr/>
          <p:nvPr/>
        </p:nvSpPr>
        <p:spPr>
          <a:xfrm>
            <a:off x="2429099" y="3581428"/>
            <a:ext cx="3026704" cy="101295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5" name="Line"/>
          <p:cNvSpPr/>
          <p:nvPr/>
        </p:nvSpPr>
        <p:spPr>
          <a:xfrm flipV="1">
            <a:off x="4616853" y="3693279"/>
            <a:ext cx="1665531" cy="149880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6" name="Line"/>
          <p:cNvSpPr/>
          <p:nvPr/>
        </p:nvSpPr>
        <p:spPr>
          <a:xfrm flipH="1" flipV="1">
            <a:off x="2373765" y="3660270"/>
            <a:ext cx="1672390" cy="150604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7" name="Text"/>
          <p:cNvSpPr txBox="1"/>
          <p:nvPr/>
        </p:nvSpPr>
        <p:spPr>
          <a:xfrm>
            <a:off x="8919067" y="3909888"/>
            <a:ext cx="1736695" cy="380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14:m>
              <m:oMathPara>
                <m:oMathParaPr>
                  <m:jc m:val="left"/>
                </m:oMathParaPr>
                <m:oMath>
                  <m:sSub>
                    <m:e>
                      <m:r>
                        <a:rPr xmlns:a="http://schemas.openxmlformats.org/drawingml/2006/main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</m:e>
                    <m:sub>
                      <m:r>
                        <a:rPr xmlns:a="http://schemas.openxmlformats.org/drawingml/2006/main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10</m:t>
                      </m:r>
                    </m:sub>
                  </m:sSub>
                  <m:r>
                    <a:rPr xmlns:a="http://schemas.openxmlformats.org/drawingml/2006/main" sz="19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19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3,628,800</m:t>
                  </m:r>
                </m:oMath>
              </m:oMathPara>
            </a14:m>
          </a:p>
        </p:txBody>
      </p:sp>
      <p:sp>
        <p:nvSpPr>
          <p:cNvPr id="228" name="Text"/>
          <p:cNvSpPr txBox="1"/>
          <p:nvPr/>
        </p:nvSpPr>
        <p:spPr>
          <a:xfrm>
            <a:off x="8947471" y="4379188"/>
            <a:ext cx="1872857" cy="3812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14:m>
              <m:oMathPara>
                <m:oMathParaPr>
                  <m:jc m:val="left"/>
                </m:oMathParaPr>
                <m:oMath>
                  <m:sSub>
                    <m:e>
                      <m:r>
                        <a:rPr xmlns:a="http://schemas.openxmlformats.org/drawingml/2006/main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</m:e>
                    <m:sub>
                      <m:r>
                        <a:rPr xmlns:a="http://schemas.openxmlformats.org/drawingml/2006/main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sub>
                  </m:sSub>
                  <m:r>
                    <a:rPr xmlns:a="http://schemas.openxmlformats.org/drawingml/2006/main" sz="19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≈</m:t>
                  </m:r>
                  <m:r>
                    <a:rPr xmlns:a="http://schemas.openxmlformats.org/drawingml/2006/main" sz="19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9.332</m:t>
                  </m:r>
                  <m:r>
                    <a:rPr xmlns:a="http://schemas.openxmlformats.org/drawingml/2006/main" sz="19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e</m:t>
                  </m:r>
                  <m:r>
                    <a:rPr xmlns:a="http://schemas.openxmlformats.org/drawingml/2006/main" sz="19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157</m:t>
                  </m:r>
                </m:oMath>
              </m:oMathPara>
            </a14:m>
          </a:p>
        </p:txBody>
      </p:sp>
      <p:sp>
        <p:nvSpPr>
          <p:cNvPr id="229" name="Tsp"/>
          <p:cNvSpPr txBox="1"/>
          <p:nvPr>
            <p:ph type="title" idx="4294967295"/>
          </p:nvPr>
        </p:nvSpPr>
        <p:spPr>
          <a:xfrm>
            <a:off x="151728" y="113541"/>
            <a:ext cx="5602753" cy="647781"/>
          </a:xfrm>
          <a:prstGeom prst="rect">
            <a:avLst/>
          </a:prstGeom>
        </p:spPr>
        <p:txBody>
          <a:bodyPr/>
          <a:lstStyle/>
          <a:p>
            <a:pPr/>
            <a:r>
              <a:t>Tsp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LAX"/>
          <p:cNvGrpSpPr/>
          <p:nvPr/>
        </p:nvGrpSpPr>
        <p:grpSpPr>
          <a:xfrm>
            <a:off x="4334213" y="3081902"/>
            <a:ext cx="694195" cy="694195"/>
            <a:chOff x="-1" y="-1"/>
            <a:chExt cx="694194" cy="694194"/>
          </a:xfrm>
        </p:grpSpPr>
        <p:sp>
          <p:nvSpPr>
            <p:cNvPr id="231" name="Circle"/>
            <p:cNvSpPr/>
            <p:nvPr/>
          </p:nvSpPr>
          <p:spPr>
            <a:xfrm>
              <a:off x="-2" y="-2"/>
              <a:ext cx="694195" cy="694195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32" name="LAX"/>
            <p:cNvSpPr txBox="1"/>
            <p:nvPr/>
          </p:nvSpPr>
          <p:spPr>
            <a:xfrm>
              <a:off x="106423" y="208095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LA</a:t>
              </a:r>
            </a:p>
          </p:txBody>
        </p:sp>
      </p:grpSp>
      <p:grpSp>
        <p:nvGrpSpPr>
          <p:cNvPr id="236" name="JFK"/>
          <p:cNvGrpSpPr/>
          <p:nvPr/>
        </p:nvGrpSpPr>
        <p:grpSpPr>
          <a:xfrm>
            <a:off x="5748903" y="1614044"/>
            <a:ext cx="694195" cy="694195"/>
            <a:chOff x="-1" y="-1"/>
            <a:chExt cx="694194" cy="694194"/>
          </a:xfrm>
        </p:grpSpPr>
        <p:sp>
          <p:nvSpPr>
            <p:cNvPr id="234" name="Circle"/>
            <p:cNvSpPr/>
            <p:nvPr/>
          </p:nvSpPr>
          <p:spPr>
            <a:xfrm>
              <a:off x="-2" y="-2"/>
              <a:ext cx="694195" cy="694195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35" name="JFK"/>
            <p:cNvSpPr txBox="1"/>
            <p:nvPr/>
          </p:nvSpPr>
          <p:spPr>
            <a:xfrm>
              <a:off x="106423" y="208095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NYC</a:t>
              </a:r>
            </a:p>
          </p:txBody>
        </p:sp>
      </p:grpSp>
      <p:grpSp>
        <p:nvGrpSpPr>
          <p:cNvPr id="239" name="MIA"/>
          <p:cNvGrpSpPr/>
          <p:nvPr/>
        </p:nvGrpSpPr>
        <p:grpSpPr>
          <a:xfrm>
            <a:off x="7163592" y="3081902"/>
            <a:ext cx="694195" cy="694195"/>
            <a:chOff x="-1" y="-1"/>
            <a:chExt cx="694194" cy="694194"/>
          </a:xfrm>
        </p:grpSpPr>
        <p:sp>
          <p:nvSpPr>
            <p:cNvPr id="237" name="Circle"/>
            <p:cNvSpPr/>
            <p:nvPr/>
          </p:nvSpPr>
          <p:spPr>
            <a:xfrm>
              <a:off x="-2" y="-2"/>
              <a:ext cx="694195" cy="694195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38" name="MIA"/>
            <p:cNvSpPr txBox="1"/>
            <p:nvPr/>
          </p:nvSpPr>
          <p:spPr>
            <a:xfrm>
              <a:off x="106423" y="208095"/>
              <a:ext cx="481343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MIA</a:t>
              </a:r>
            </a:p>
          </p:txBody>
        </p:sp>
      </p:grpSp>
      <p:grpSp>
        <p:nvGrpSpPr>
          <p:cNvPr id="242" name="HOU"/>
          <p:cNvGrpSpPr/>
          <p:nvPr/>
        </p:nvGrpSpPr>
        <p:grpSpPr>
          <a:xfrm>
            <a:off x="5748903" y="4549761"/>
            <a:ext cx="694195" cy="694195"/>
            <a:chOff x="-1" y="-1"/>
            <a:chExt cx="694194" cy="694194"/>
          </a:xfrm>
        </p:grpSpPr>
        <p:sp>
          <p:nvSpPr>
            <p:cNvPr id="240" name="Circle"/>
            <p:cNvSpPr/>
            <p:nvPr/>
          </p:nvSpPr>
          <p:spPr>
            <a:xfrm>
              <a:off x="-2" y="-2"/>
              <a:ext cx="694195" cy="694195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41" name="HOU"/>
            <p:cNvSpPr txBox="1"/>
            <p:nvPr/>
          </p:nvSpPr>
          <p:spPr>
            <a:xfrm>
              <a:off x="106423" y="208095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HOU</a:t>
              </a:r>
            </a:p>
          </p:txBody>
        </p:sp>
      </p:grpSp>
      <p:sp>
        <p:nvSpPr>
          <p:cNvPr id="243" name="Line"/>
          <p:cNvSpPr/>
          <p:nvPr/>
        </p:nvSpPr>
        <p:spPr>
          <a:xfrm flipV="1">
            <a:off x="6326315" y="3671711"/>
            <a:ext cx="942986" cy="96709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44" name="Line"/>
          <p:cNvSpPr/>
          <p:nvPr/>
        </p:nvSpPr>
        <p:spPr>
          <a:xfrm flipV="1">
            <a:off x="4881162" y="2180992"/>
            <a:ext cx="945353" cy="9453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45" name="Line"/>
          <p:cNvSpPr/>
          <p:nvPr/>
        </p:nvSpPr>
        <p:spPr>
          <a:xfrm flipH="1" flipV="1">
            <a:off x="4940710" y="3661617"/>
            <a:ext cx="894032" cy="100009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46" name="Line"/>
          <p:cNvSpPr/>
          <p:nvPr/>
        </p:nvSpPr>
        <p:spPr>
          <a:xfrm flipH="1" flipV="1">
            <a:off x="6366966" y="2181820"/>
            <a:ext cx="893839" cy="9992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47" name="Line"/>
          <p:cNvSpPr/>
          <p:nvPr/>
        </p:nvSpPr>
        <p:spPr>
          <a:xfrm flipH="1" flipV="1">
            <a:off x="6111010" y="2308044"/>
            <a:ext cx="105" cy="223788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48" name="Line"/>
          <p:cNvSpPr/>
          <p:nvPr/>
        </p:nvSpPr>
        <p:spPr>
          <a:xfrm flipH="1">
            <a:off x="5032433" y="3415165"/>
            <a:ext cx="2127134" cy="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49" name="2.475"/>
          <p:cNvSpPr txBox="1"/>
          <p:nvPr/>
        </p:nvSpPr>
        <p:spPr>
          <a:xfrm>
            <a:off x="4794618" y="2348333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2.475</a:t>
            </a:r>
          </a:p>
        </p:txBody>
      </p:sp>
      <p:sp>
        <p:nvSpPr>
          <p:cNvPr id="250" name="1.09"/>
          <p:cNvSpPr txBox="1"/>
          <p:nvPr/>
        </p:nvSpPr>
        <p:spPr>
          <a:xfrm>
            <a:off x="6918069" y="2348333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1.09</a:t>
            </a:r>
          </a:p>
        </p:txBody>
      </p:sp>
      <p:sp>
        <p:nvSpPr>
          <p:cNvPr id="251" name="1.39"/>
          <p:cNvSpPr txBox="1"/>
          <p:nvPr/>
        </p:nvSpPr>
        <p:spPr>
          <a:xfrm>
            <a:off x="4852547" y="4176576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1.39</a:t>
            </a:r>
          </a:p>
        </p:txBody>
      </p:sp>
      <p:sp>
        <p:nvSpPr>
          <p:cNvPr id="252" name="1.1"/>
          <p:cNvSpPr txBox="1"/>
          <p:nvPr/>
        </p:nvSpPr>
        <p:spPr>
          <a:xfrm>
            <a:off x="6918069" y="4155256"/>
            <a:ext cx="393570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1.1</a:t>
            </a:r>
          </a:p>
        </p:txBody>
      </p:sp>
      <p:sp>
        <p:nvSpPr>
          <p:cNvPr id="253" name="1.74"/>
          <p:cNvSpPr txBox="1"/>
          <p:nvPr/>
        </p:nvSpPr>
        <p:spPr>
          <a:xfrm>
            <a:off x="6092031" y="2691187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1.74</a:t>
            </a:r>
          </a:p>
        </p:txBody>
      </p:sp>
      <p:sp>
        <p:nvSpPr>
          <p:cNvPr id="254" name="2.342"/>
          <p:cNvSpPr txBox="1"/>
          <p:nvPr/>
        </p:nvSpPr>
        <p:spPr>
          <a:xfrm>
            <a:off x="5279596" y="3402465"/>
            <a:ext cx="625296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2.342</a:t>
            </a:r>
          </a:p>
        </p:txBody>
      </p:sp>
      <p:sp>
        <p:nvSpPr>
          <p:cNvPr id="255" name="✅ “MIA HOU NYC LA MIA“…"/>
          <p:cNvSpPr txBox="1"/>
          <p:nvPr/>
        </p:nvSpPr>
        <p:spPr>
          <a:xfrm>
            <a:off x="337740" y="2793649"/>
            <a:ext cx="3683156" cy="1270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/>
            </a:pPr>
            <a:r>
              <a:t>✅ “MIA HOU NYC LA MIA“</a:t>
            </a:r>
          </a:p>
          <a:p>
            <a:pPr>
              <a:defRPr sz="2200"/>
            </a:pPr>
          </a:p>
          <a:p>
            <a:pPr>
              <a:defRPr sz="2200"/>
            </a:pPr>
            <a:r>
              <a:t>❌ “MIA NYC LA NYC HOU MIA”</a:t>
            </a:r>
          </a:p>
        </p:txBody>
      </p:sp>
      <p:sp>
        <p:nvSpPr>
          <p:cNvPr id="256" name="Title 6"/>
          <p:cNvSpPr txBox="1"/>
          <p:nvPr>
            <p:ph type="title"/>
          </p:nvPr>
        </p:nvSpPr>
        <p:spPr>
          <a:xfrm>
            <a:off x="151728" y="113541"/>
            <a:ext cx="5602753" cy="647781"/>
          </a:xfrm>
          <a:prstGeom prst="rect">
            <a:avLst/>
          </a:prstGeom>
        </p:spPr>
        <p:txBody>
          <a:bodyPr anchor="ctr"/>
          <a:lstStyle>
            <a:lvl1pPr defTabSz="786384">
              <a:defRPr sz="3182"/>
            </a:lvl1pPr>
          </a:lstStyle>
          <a:p>
            <a:pPr/>
            <a:r>
              <a:t>Polynomial verification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itle 1"/>
          <p:cNvSpPr txBox="1"/>
          <p:nvPr>
            <p:ph type="title"/>
          </p:nvPr>
        </p:nvSpPr>
        <p:spPr>
          <a:xfrm>
            <a:off x="151728" y="113541"/>
            <a:ext cx="5602753" cy="647781"/>
          </a:xfrm>
          <a:prstGeom prst="rect">
            <a:avLst/>
          </a:prstGeom>
        </p:spPr>
        <p:txBody>
          <a:bodyPr/>
          <a:lstStyle/>
          <a:p>
            <a:pPr/>
            <a:r>
              <a:t>NP-HARD Reduction</a:t>
            </a:r>
          </a:p>
        </p:txBody>
      </p:sp>
      <p:sp>
        <p:nvSpPr>
          <p:cNvPr id="259" name="Slide Number Placeholder 3"/>
          <p:cNvSpPr txBox="1"/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60" name="Hamiltonian Cycle"/>
          <p:cNvSpPr/>
          <p:nvPr/>
        </p:nvSpPr>
        <p:spPr>
          <a:xfrm>
            <a:off x="2284994" y="5029550"/>
            <a:ext cx="1654578" cy="903718"/>
          </a:xfrm>
          <a:prstGeom prst="rect">
            <a:avLst/>
          </a:prstGeom>
          <a:solidFill>
            <a:schemeClr val="accent5">
              <a:lumOff val="10098"/>
            </a:schemeClr>
          </a:solidFill>
          <a:ln>
            <a:solidFill>
              <a:srgbClr val="4B5AB6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Hamiltonian Cycle</a:t>
            </a:r>
          </a:p>
        </p:txBody>
      </p:sp>
      <p:grpSp>
        <p:nvGrpSpPr>
          <p:cNvPr id="263" name="LAX"/>
          <p:cNvGrpSpPr/>
          <p:nvPr/>
        </p:nvGrpSpPr>
        <p:grpSpPr>
          <a:xfrm>
            <a:off x="1668933" y="2683313"/>
            <a:ext cx="694195" cy="694195"/>
            <a:chOff x="-1" y="-1"/>
            <a:chExt cx="694194" cy="694194"/>
          </a:xfrm>
        </p:grpSpPr>
        <p:sp>
          <p:nvSpPr>
            <p:cNvPr id="261" name="Circle"/>
            <p:cNvSpPr/>
            <p:nvPr/>
          </p:nvSpPr>
          <p:spPr>
            <a:xfrm>
              <a:off x="-2" y="-2"/>
              <a:ext cx="694195" cy="694195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2" name="LAX"/>
            <p:cNvSpPr txBox="1"/>
            <p:nvPr/>
          </p:nvSpPr>
          <p:spPr>
            <a:xfrm>
              <a:off x="106423" y="208095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LA</a:t>
              </a:r>
            </a:p>
          </p:txBody>
        </p:sp>
      </p:grpSp>
      <p:grpSp>
        <p:nvGrpSpPr>
          <p:cNvPr id="266" name="JFK"/>
          <p:cNvGrpSpPr/>
          <p:nvPr/>
        </p:nvGrpSpPr>
        <p:grpSpPr>
          <a:xfrm>
            <a:off x="2765186" y="1578619"/>
            <a:ext cx="694195" cy="694195"/>
            <a:chOff x="-1" y="-1"/>
            <a:chExt cx="694194" cy="694194"/>
          </a:xfrm>
        </p:grpSpPr>
        <p:sp>
          <p:nvSpPr>
            <p:cNvPr id="264" name="Circle"/>
            <p:cNvSpPr/>
            <p:nvPr/>
          </p:nvSpPr>
          <p:spPr>
            <a:xfrm>
              <a:off x="-2" y="-2"/>
              <a:ext cx="694195" cy="694195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JFK"/>
            <p:cNvSpPr txBox="1"/>
            <p:nvPr/>
          </p:nvSpPr>
          <p:spPr>
            <a:xfrm>
              <a:off x="106423" y="208095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NYC</a:t>
              </a:r>
            </a:p>
          </p:txBody>
        </p:sp>
      </p:grpSp>
      <p:grpSp>
        <p:nvGrpSpPr>
          <p:cNvPr id="269" name="MIA"/>
          <p:cNvGrpSpPr/>
          <p:nvPr/>
        </p:nvGrpSpPr>
        <p:grpSpPr>
          <a:xfrm>
            <a:off x="3870708" y="2683313"/>
            <a:ext cx="694195" cy="694195"/>
            <a:chOff x="-1" y="-1"/>
            <a:chExt cx="694194" cy="694194"/>
          </a:xfrm>
        </p:grpSpPr>
        <p:sp>
          <p:nvSpPr>
            <p:cNvPr id="267" name="Circle"/>
            <p:cNvSpPr/>
            <p:nvPr/>
          </p:nvSpPr>
          <p:spPr>
            <a:xfrm>
              <a:off x="-2" y="-2"/>
              <a:ext cx="694195" cy="694195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8" name="MIA"/>
            <p:cNvSpPr txBox="1"/>
            <p:nvPr/>
          </p:nvSpPr>
          <p:spPr>
            <a:xfrm>
              <a:off x="106423" y="208095"/>
              <a:ext cx="481343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MIA</a:t>
              </a:r>
            </a:p>
          </p:txBody>
        </p:sp>
      </p:grpSp>
      <p:grpSp>
        <p:nvGrpSpPr>
          <p:cNvPr id="272" name="HOU"/>
          <p:cNvGrpSpPr/>
          <p:nvPr/>
        </p:nvGrpSpPr>
        <p:grpSpPr>
          <a:xfrm>
            <a:off x="2765186" y="3778438"/>
            <a:ext cx="694195" cy="694195"/>
            <a:chOff x="-1" y="-1"/>
            <a:chExt cx="694194" cy="694194"/>
          </a:xfrm>
        </p:grpSpPr>
        <p:sp>
          <p:nvSpPr>
            <p:cNvPr id="270" name="Circle"/>
            <p:cNvSpPr/>
            <p:nvPr/>
          </p:nvSpPr>
          <p:spPr>
            <a:xfrm>
              <a:off x="-2" y="-2"/>
              <a:ext cx="694195" cy="694195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71" name="HOU"/>
            <p:cNvSpPr txBox="1"/>
            <p:nvPr/>
          </p:nvSpPr>
          <p:spPr>
            <a:xfrm>
              <a:off x="106423" y="208095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HOU</a:t>
              </a:r>
            </a:p>
          </p:txBody>
        </p:sp>
      </p:grpSp>
      <p:sp>
        <p:nvSpPr>
          <p:cNvPr id="273" name="Line"/>
          <p:cNvSpPr/>
          <p:nvPr/>
        </p:nvSpPr>
        <p:spPr>
          <a:xfrm flipV="1">
            <a:off x="2241621" y="2145981"/>
            <a:ext cx="587100" cy="61335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4" name="Line"/>
          <p:cNvSpPr/>
          <p:nvPr/>
        </p:nvSpPr>
        <p:spPr>
          <a:xfrm flipV="1">
            <a:off x="3100750" y="2278135"/>
            <a:ext cx="20525" cy="150004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5" name="Line"/>
          <p:cNvSpPr/>
          <p:nvPr/>
        </p:nvSpPr>
        <p:spPr>
          <a:xfrm flipV="1">
            <a:off x="3366162" y="3283159"/>
            <a:ext cx="610068" cy="61335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6" name="Line"/>
          <p:cNvSpPr/>
          <p:nvPr/>
        </p:nvSpPr>
        <p:spPr>
          <a:xfrm flipH="1" flipV="1">
            <a:off x="2362192" y="3030410"/>
            <a:ext cx="1500183" cy="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7" name="2.475"/>
          <p:cNvSpPr txBox="1"/>
          <p:nvPr/>
        </p:nvSpPr>
        <p:spPr>
          <a:xfrm>
            <a:off x="1888865" y="2130123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2.475</a:t>
            </a:r>
          </a:p>
        </p:txBody>
      </p:sp>
      <p:sp>
        <p:nvSpPr>
          <p:cNvPr id="278" name="1.74"/>
          <p:cNvSpPr txBox="1"/>
          <p:nvPr/>
        </p:nvSpPr>
        <p:spPr>
          <a:xfrm>
            <a:off x="3094431" y="2306430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1.74</a:t>
            </a:r>
          </a:p>
        </p:txBody>
      </p:sp>
      <p:sp>
        <p:nvSpPr>
          <p:cNvPr id="279" name="2.342"/>
          <p:cNvSpPr txBox="1"/>
          <p:nvPr/>
        </p:nvSpPr>
        <p:spPr>
          <a:xfrm>
            <a:off x="2412941" y="3045185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2.342</a:t>
            </a:r>
          </a:p>
        </p:txBody>
      </p:sp>
      <p:sp>
        <p:nvSpPr>
          <p:cNvPr id="280" name="1.1"/>
          <p:cNvSpPr txBox="1"/>
          <p:nvPr/>
        </p:nvSpPr>
        <p:spPr>
          <a:xfrm>
            <a:off x="3707864" y="3603959"/>
            <a:ext cx="39357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1.1</a:t>
            </a:r>
          </a:p>
        </p:txBody>
      </p:sp>
      <p:grpSp>
        <p:nvGrpSpPr>
          <p:cNvPr id="283" name="LAX"/>
          <p:cNvGrpSpPr/>
          <p:nvPr/>
        </p:nvGrpSpPr>
        <p:grpSpPr>
          <a:xfrm>
            <a:off x="7627097" y="2688097"/>
            <a:ext cx="694195" cy="694195"/>
            <a:chOff x="-1" y="-1"/>
            <a:chExt cx="694194" cy="694194"/>
          </a:xfrm>
        </p:grpSpPr>
        <p:sp>
          <p:nvSpPr>
            <p:cNvPr id="281" name="Circle"/>
            <p:cNvSpPr/>
            <p:nvPr/>
          </p:nvSpPr>
          <p:spPr>
            <a:xfrm>
              <a:off x="-2" y="-2"/>
              <a:ext cx="694195" cy="694195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82" name="LAX"/>
            <p:cNvSpPr txBox="1"/>
            <p:nvPr/>
          </p:nvSpPr>
          <p:spPr>
            <a:xfrm>
              <a:off x="106423" y="208095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LA</a:t>
              </a:r>
            </a:p>
          </p:txBody>
        </p:sp>
      </p:grpSp>
      <p:grpSp>
        <p:nvGrpSpPr>
          <p:cNvPr id="286" name="JFK"/>
          <p:cNvGrpSpPr/>
          <p:nvPr/>
        </p:nvGrpSpPr>
        <p:grpSpPr>
          <a:xfrm>
            <a:off x="8723350" y="1583403"/>
            <a:ext cx="694195" cy="694195"/>
            <a:chOff x="-1" y="-1"/>
            <a:chExt cx="694194" cy="694194"/>
          </a:xfrm>
        </p:grpSpPr>
        <p:sp>
          <p:nvSpPr>
            <p:cNvPr id="284" name="Circle"/>
            <p:cNvSpPr/>
            <p:nvPr/>
          </p:nvSpPr>
          <p:spPr>
            <a:xfrm>
              <a:off x="-2" y="-2"/>
              <a:ext cx="694195" cy="694195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85" name="JFK"/>
            <p:cNvSpPr txBox="1"/>
            <p:nvPr/>
          </p:nvSpPr>
          <p:spPr>
            <a:xfrm>
              <a:off x="106423" y="208095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NYC</a:t>
              </a:r>
            </a:p>
          </p:txBody>
        </p:sp>
      </p:grpSp>
      <p:grpSp>
        <p:nvGrpSpPr>
          <p:cNvPr id="289" name="MIA"/>
          <p:cNvGrpSpPr/>
          <p:nvPr/>
        </p:nvGrpSpPr>
        <p:grpSpPr>
          <a:xfrm>
            <a:off x="9828872" y="2688098"/>
            <a:ext cx="694195" cy="694195"/>
            <a:chOff x="-1" y="-1"/>
            <a:chExt cx="694194" cy="694194"/>
          </a:xfrm>
        </p:grpSpPr>
        <p:sp>
          <p:nvSpPr>
            <p:cNvPr id="287" name="Circle"/>
            <p:cNvSpPr/>
            <p:nvPr/>
          </p:nvSpPr>
          <p:spPr>
            <a:xfrm>
              <a:off x="-2" y="-2"/>
              <a:ext cx="694195" cy="694195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88" name="MIA"/>
            <p:cNvSpPr txBox="1"/>
            <p:nvPr/>
          </p:nvSpPr>
          <p:spPr>
            <a:xfrm>
              <a:off x="106423" y="208095"/>
              <a:ext cx="481343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MIA</a:t>
              </a:r>
            </a:p>
          </p:txBody>
        </p:sp>
      </p:grpSp>
      <p:grpSp>
        <p:nvGrpSpPr>
          <p:cNvPr id="292" name="HOU"/>
          <p:cNvGrpSpPr/>
          <p:nvPr/>
        </p:nvGrpSpPr>
        <p:grpSpPr>
          <a:xfrm>
            <a:off x="8723350" y="3783223"/>
            <a:ext cx="694195" cy="694195"/>
            <a:chOff x="-1" y="-1"/>
            <a:chExt cx="694194" cy="694194"/>
          </a:xfrm>
        </p:grpSpPr>
        <p:sp>
          <p:nvSpPr>
            <p:cNvPr id="290" name="Circle"/>
            <p:cNvSpPr/>
            <p:nvPr/>
          </p:nvSpPr>
          <p:spPr>
            <a:xfrm>
              <a:off x="-2" y="-2"/>
              <a:ext cx="694195" cy="694195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91" name="HOU"/>
            <p:cNvSpPr txBox="1"/>
            <p:nvPr/>
          </p:nvSpPr>
          <p:spPr>
            <a:xfrm>
              <a:off x="106423" y="208095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HOU</a:t>
              </a:r>
            </a:p>
          </p:txBody>
        </p:sp>
      </p:grpSp>
      <p:sp>
        <p:nvSpPr>
          <p:cNvPr id="293" name="Line"/>
          <p:cNvSpPr/>
          <p:nvPr/>
        </p:nvSpPr>
        <p:spPr>
          <a:xfrm flipV="1">
            <a:off x="8199785" y="2150766"/>
            <a:ext cx="587100" cy="61335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94" name="Line"/>
          <p:cNvSpPr/>
          <p:nvPr/>
        </p:nvSpPr>
        <p:spPr>
          <a:xfrm flipV="1">
            <a:off x="9058914" y="2282919"/>
            <a:ext cx="20525" cy="150004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95" name="Line"/>
          <p:cNvSpPr/>
          <p:nvPr/>
        </p:nvSpPr>
        <p:spPr>
          <a:xfrm flipV="1">
            <a:off x="9324326" y="3287943"/>
            <a:ext cx="610068" cy="61335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96" name="Line"/>
          <p:cNvSpPr/>
          <p:nvPr/>
        </p:nvSpPr>
        <p:spPr>
          <a:xfrm flipH="1" flipV="1">
            <a:off x="8320356" y="3035195"/>
            <a:ext cx="1500183" cy="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97" name="2.475"/>
          <p:cNvSpPr txBox="1"/>
          <p:nvPr/>
        </p:nvSpPr>
        <p:spPr>
          <a:xfrm>
            <a:off x="7847028" y="2134907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2.475</a:t>
            </a:r>
          </a:p>
        </p:txBody>
      </p:sp>
      <p:sp>
        <p:nvSpPr>
          <p:cNvPr id="298" name="1.74"/>
          <p:cNvSpPr txBox="1"/>
          <p:nvPr/>
        </p:nvSpPr>
        <p:spPr>
          <a:xfrm>
            <a:off x="9052595" y="2311214"/>
            <a:ext cx="50943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1.74</a:t>
            </a:r>
          </a:p>
        </p:txBody>
      </p:sp>
      <p:sp>
        <p:nvSpPr>
          <p:cNvPr id="299" name="2.342"/>
          <p:cNvSpPr txBox="1"/>
          <p:nvPr/>
        </p:nvSpPr>
        <p:spPr>
          <a:xfrm>
            <a:off x="8371105" y="3049970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2.342</a:t>
            </a:r>
          </a:p>
        </p:txBody>
      </p:sp>
      <p:sp>
        <p:nvSpPr>
          <p:cNvPr id="300" name="1.1"/>
          <p:cNvSpPr txBox="1"/>
          <p:nvPr/>
        </p:nvSpPr>
        <p:spPr>
          <a:xfrm>
            <a:off x="9666028" y="3608744"/>
            <a:ext cx="39357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1.1</a:t>
            </a:r>
          </a:p>
        </p:txBody>
      </p:sp>
      <p:sp>
        <p:nvSpPr>
          <p:cNvPr id="301" name="Line"/>
          <p:cNvSpPr/>
          <p:nvPr/>
        </p:nvSpPr>
        <p:spPr>
          <a:xfrm flipH="1" flipV="1">
            <a:off x="9352338" y="2145981"/>
            <a:ext cx="604901" cy="61260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02" name="1.74"/>
          <p:cNvSpPr txBox="1"/>
          <p:nvPr/>
        </p:nvSpPr>
        <p:spPr>
          <a:xfrm>
            <a:off x="9666028" y="2135639"/>
            <a:ext cx="333802" cy="3394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14:m>
              <m:oMathPara>
                <m:oMathParaPr>
                  <m:jc m:val="left"/>
                </m:oMathParaPr>
                <m:oMath>
                  <m:r>
                    <m:rPr>
                      <m:sty m:val="p"/>
                    </m:rPr>
                    <a:rPr xmlns:a="http://schemas.openxmlformats.org/drawingml/2006/main" sz="19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∞</m:t>
                  </m:r>
                </m:oMath>
              </m:oMathPara>
            </a14:m>
          </a:p>
        </p:txBody>
      </p:sp>
      <p:sp>
        <p:nvSpPr>
          <p:cNvPr id="303" name="Line"/>
          <p:cNvSpPr/>
          <p:nvPr/>
        </p:nvSpPr>
        <p:spPr>
          <a:xfrm flipH="1" flipV="1">
            <a:off x="8182122" y="3305662"/>
            <a:ext cx="604901" cy="61260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04" name="1.74"/>
          <p:cNvSpPr txBox="1"/>
          <p:nvPr/>
        </p:nvSpPr>
        <p:spPr>
          <a:xfrm>
            <a:off x="8138523" y="3660122"/>
            <a:ext cx="333802" cy="3394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14:m>
              <m:oMathPara>
                <m:oMathParaPr>
                  <m:jc m:val="left"/>
                </m:oMathParaPr>
                <m:oMath>
                  <m:r>
                    <m:rPr>
                      <m:sty m:val="p"/>
                    </m:rPr>
                    <a:rPr xmlns:a="http://schemas.openxmlformats.org/drawingml/2006/main" sz="19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∞</m:t>
                  </m:r>
                </m:oMath>
              </m:oMathPara>
            </a14:m>
          </a:p>
        </p:txBody>
      </p:sp>
      <p:sp>
        <p:nvSpPr>
          <p:cNvPr id="305" name="Line"/>
          <p:cNvSpPr/>
          <p:nvPr/>
        </p:nvSpPr>
        <p:spPr>
          <a:xfrm>
            <a:off x="5168212" y="3030410"/>
            <a:ext cx="1846307" cy="1"/>
          </a:xfrm>
          <a:prstGeom prst="line">
            <a:avLst/>
          </a:prstGeom>
          <a:ln w="152400">
            <a:solidFill>
              <a:srgbClr val="0000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06" name="Traveling Salesman"/>
          <p:cNvSpPr/>
          <p:nvPr/>
        </p:nvSpPr>
        <p:spPr>
          <a:xfrm>
            <a:off x="8243158" y="5029550"/>
            <a:ext cx="1654578" cy="903718"/>
          </a:xfrm>
          <a:prstGeom prst="rect">
            <a:avLst/>
          </a:prstGeom>
          <a:solidFill>
            <a:schemeClr val="accent5">
              <a:lumOff val="10098"/>
            </a:schemeClr>
          </a:solidFill>
          <a:ln>
            <a:solidFill>
              <a:srgbClr val="4B5AB6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Traveling Salesman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Title 1"/>
          <p:cNvSpPr txBox="1"/>
          <p:nvPr>
            <p:ph type="title"/>
          </p:nvPr>
        </p:nvSpPr>
        <p:spPr>
          <a:xfrm>
            <a:off x="151728" y="113541"/>
            <a:ext cx="5602753" cy="647781"/>
          </a:xfrm>
          <a:prstGeom prst="rect">
            <a:avLst/>
          </a:prstGeom>
        </p:spPr>
        <p:txBody>
          <a:bodyPr/>
          <a:lstStyle/>
          <a:p>
            <a:pPr/>
            <a:r>
              <a:t>NP-HARD Reduction</a:t>
            </a:r>
          </a:p>
        </p:txBody>
      </p:sp>
      <p:sp>
        <p:nvSpPr>
          <p:cNvPr id="309" name="Slide Number Placeholder 3"/>
          <p:cNvSpPr txBox="1"/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310" name="Screenshot 2025-11-26 at 4.34.41 PM.png" descr="Screenshot 2025-11-26 at 4.34.41 PM.png"/>
          <p:cNvPicPr>
            <a:picLocks noChangeAspect="1"/>
          </p:cNvPicPr>
          <p:nvPr/>
        </p:nvPicPr>
        <p:blipFill>
          <a:blip r:embed="rId2">
            <a:extLst/>
          </a:blip>
          <a:srcRect l="0" t="5399" r="0" b="19332"/>
          <a:stretch>
            <a:fillRect/>
          </a:stretch>
        </p:blipFill>
        <p:spPr>
          <a:xfrm>
            <a:off x="2548929" y="2202412"/>
            <a:ext cx="7094332" cy="2161852"/>
          </a:xfrm>
          <a:prstGeom prst="rect">
            <a:avLst/>
          </a:prstGeom>
          <a:ln w="12700">
            <a:miter lim="400000"/>
          </a:ln>
        </p:spPr>
      </p:pic>
      <p:sp>
        <p:nvSpPr>
          <p:cNvPr id="311" name="Equation"/>
          <p:cNvSpPr txBox="1"/>
          <p:nvPr/>
        </p:nvSpPr>
        <p:spPr>
          <a:xfrm>
            <a:off x="5597723" y="4880681"/>
            <a:ext cx="996554" cy="443442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O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sSup>
                    <m:e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</m:e>
                    <m:sup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 sz="3400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3" name="Screenshot 2025-11-26 at 5.28.10 PM.png" descr="Screenshot 2025-11-26 at 5.28.10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820446" y="1519393"/>
            <a:ext cx="6551108" cy="3819214"/>
          </a:xfrm>
          <a:prstGeom prst="rect">
            <a:avLst/>
          </a:prstGeom>
          <a:ln w="12700">
            <a:miter lim="400000"/>
          </a:ln>
        </p:spPr>
      </p:pic>
      <p:sp>
        <p:nvSpPr>
          <p:cNvPr id="314" name="Equation"/>
          <p:cNvSpPr txBox="1"/>
          <p:nvPr/>
        </p:nvSpPr>
        <p:spPr>
          <a:xfrm>
            <a:off x="5276911" y="5792587"/>
            <a:ext cx="1638178" cy="36832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O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V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!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∙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V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 sz="3400"/>
          </a:p>
        </p:txBody>
      </p:sp>
      <p:sp>
        <p:nvSpPr>
          <p:cNvPr id="315" name="Title 1"/>
          <p:cNvSpPr txBox="1"/>
          <p:nvPr/>
        </p:nvSpPr>
        <p:spPr>
          <a:xfrm>
            <a:off x="151728" y="113541"/>
            <a:ext cx="5602753" cy="6477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>
            <a:lvl1pPr>
              <a:lnSpc>
                <a:spcPct val="90000"/>
              </a:lnSpc>
              <a:defRPr cap="all" sz="32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Analytical runtime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CDC4B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Slide Number Placeholder 4"/>
          <p:cNvSpPr txBox="1"/>
          <p:nvPr>
            <p:ph type="sldNum" sz="quarter" idx="4294967295"/>
          </p:nvPr>
        </p:nvSpPr>
        <p:spPr>
          <a:xfrm>
            <a:off x="914399" y="6259738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18" name="Title 1"/>
          <p:cNvSpPr txBox="1"/>
          <p:nvPr>
            <p:ph type="title"/>
          </p:nvPr>
        </p:nvSpPr>
        <p:spPr>
          <a:xfrm>
            <a:off x="151728" y="113541"/>
            <a:ext cx="6344745" cy="647781"/>
          </a:xfrm>
          <a:prstGeom prst="rect">
            <a:avLst/>
          </a:prstGeom>
        </p:spPr>
        <p:txBody>
          <a:bodyPr/>
          <a:lstStyle/>
          <a:p>
            <a:pPr/>
            <a:r>
              <a:t>Empirical runtime analysis</a:t>
            </a:r>
          </a:p>
        </p:txBody>
      </p:sp>
      <p:pic>
        <p:nvPicPr>
          <p:cNvPr id="319" name="emperial.png" descr="emperial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740513" y="912385"/>
            <a:ext cx="6710974" cy="503323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Title 1"/>
          <p:cNvSpPr txBox="1"/>
          <p:nvPr>
            <p:ph type="title"/>
          </p:nvPr>
        </p:nvSpPr>
        <p:spPr>
          <a:xfrm>
            <a:off x="914400" y="2580637"/>
            <a:ext cx="5181600" cy="3368829"/>
          </a:xfrm>
          <a:prstGeom prst="rect">
            <a:avLst/>
          </a:prstGeom>
        </p:spPr>
        <p:txBody>
          <a:bodyPr/>
          <a:lstStyle/>
          <a:p>
            <a:pPr/>
            <a:r>
              <a:t>Reduction</a:t>
            </a:r>
          </a:p>
        </p:txBody>
      </p:sp>
      <p:pic>
        <p:nvPicPr>
          <p:cNvPr id="322" name="Picture Placeholder 13" descr="Picture Placeholder 13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0" t="119" r="0" b="114"/>
          <a:stretch>
            <a:fillRect/>
          </a:stretch>
        </p:blipFill>
        <p:spPr>
          <a:xfrm>
            <a:off x="6085840" y="-10159"/>
            <a:ext cx="6116327" cy="686816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lide Number Placeholder 1"/>
          <p:cNvSpPr txBox="1"/>
          <p:nvPr>
            <p:ph type="sldNum" sz="quarter" idx="4294967295"/>
          </p:nvPr>
        </p:nvSpPr>
        <p:spPr>
          <a:xfrm>
            <a:off x="914399" y="6259740"/>
            <a:ext cx="262415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Title 1"/>
          <p:cNvSpPr txBox="1"/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pPr/>
            <a:r>
              <a:t>Problem </a:t>
            </a:r>
          </a:p>
        </p:txBody>
      </p:sp>
      <p:sp>
        <p:nvSpPr>
          <p:cNvPr id="327" name="Content Placeholder 2"/>
          <p:cNvSpPr txBox="1"/>
          <p:nvPr>
            <p:ph type="body" sz="half" idx="1"/>
          </p:nvPr>
        </p:nvSpPr>
        <p:spPr>
          <a:xfrm>
            <a:off x="914396" y="2011363"/>
            <a:ext cx="7273639" cy="4155762"/>
          </a:xfrm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t>Market gap</a:t>
            </a:r>
            <a:r>
              <a:rPr b="0"/>
              <a:t>: few, if any, products on the market help customers like we do</a:t>
            </a:r>
            <a:endParaRPr b="0"/>
          </a:p>
          <a:p>
            <a:pPr>
              <a:defRPr b="1"/>
            </a:pPr>
            <a:r>
              <a:t>Customers</a:t>
            </a:r>
            <a:r>
              <a:rPr b="0"/>
              <a:t>: 66% of US consumers spend money on multiple products that only partially resolves their issue</a:t>
            </a:r>
            <a:endParaRPr b="0"/>
          </a:p>
          <a:p>
            <a:pPr>
              <a:defRPr b="1"/>
            </a:pPr>
            <a:r>
              <a:t>Financials</a:t>
            </a:r>
            <a:r>
              <a:rPr b="0"/>
              <a:t>: millennials account for about a quarter of the $48 billion spent on other products in 2018</a:t>
            </a:r>
            <a:endParaRPr b="0"/>
          </a:p>
          <a:p>
            <a:pPr>
              <a:defRPr b="1"/>
            </a:pPr>
            <a:r>
              <a:t>Costs</a:t>
            </a:r>
            <a:r>
              <a:rPr b="0"/>
              <a:t>: loss of productivity costing consumers thousands of dollars </a:t>
            </a:r>
            <a:endParaRPr b="0"/>
          </a:p>
          <a:p>
            <a:pPr>
              <a:defRPr b="1"/>
            </a:pPr>
            <a:r>
              <a:t>Usability</a:t>
            </a:r>
            <a:r>
              <a:rPr b="0"/>
              <a:t>: customers want something easy to use that helps make their life easier </a:t>
            </a:r>
          </a:p>
        </p:txBody>
      </p:sp>
      <p:sp>
        <p:nvSpPr>
          <p:cNvPr id="328" name="Slide Number Placeholder 3"/>
          <p:cNvSpPr txBox="1"/>
          <p:nvPr>
            <p:ph type="sldNum" sz="quarter" idx="4294967295"/>
          </p:nvPr>
        </p:nvSpPr>
        <p:spPr>
          <a:xfrm>
            <a:off x="914399" y="6259740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itle 1"/>
          <p:cNvSpPr txBox="1"/>
          <p:nvPr>
            <p:ph type="title"/>
          </p:nvPr>
        </p:nvSpPr>
        <p:spPr>
          <a:xfrm>
            <a:off x="6095998" y="375280"/>
            <a:ext cx="4896685" cy="3624995"/>
          </a:xfrm>
          <a:prstGeom prst="rect">
            <a:avLst/>
          </a:prstGeom>
        </p:spPr>
        <p:txBody>
          <a:bodyPr/>
          <a:lstStyle/>
          <a:p>
            <a:pPr/>
            <a:r>
              <a:t>Product benefits</a:t>
            </a:r>
          </a:p>
        </p:txBody>
      </p:sp>
      <p:pic>
        <p:nvPicPr>
          <p:cNvPr id="331" name="Picture Placeholder 4" descr="Picture Placeholder 4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0" t="12487" r="0" b="12487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332" name="Content Placeholder 2"/>
          <p:cNvSpPr txBox="1"/>
          <p:nvPr>
            <p:ph type="body" sz="quarter" idx="1"/>
          </p:nvPr>
        </p:nvSpPr>
        <p:spPr>
          <a:xfrm>
            <a:off x="6095998" y="4172989"/>
            <a:ext cx="4896685" cy="2309733"/>
          </a:xfrm>
          <a:prstGeom prst="rect">
            <a:avLst/>
          </a:prstGeom>
        </p:spPr>
        <p:txBody>
          <a:bodyPr/>
          <a:lstStyle/>
          <a:p>
            <a:pPr/>
            <a:r>
              <a:t>Online store and market swap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Title 1"/>
          <p:cNvSpPr txBox="1"/>
          <p:nvPr>
            <p:ph type="title"/>
          </p:nvPr>
        </p:nvSpPr>
        <p:spPr>
          <a:xfrm>
            <a:off x="914399" y="365125"/>
            <a:ext cx="10363201" cy="1629600"/>
          </a:xfrm>
          <a:prstGeom prst="rect">
            <a:avLst/>
          </a:prstGeom>
        </p:spPr>
        <p:txBody>
          <a:bodyPr/>
          <a:lstStyle/>
          <a:p>
            <a:pPr/>
            <a:r>
              <a:t>Our competition</a:t>
            </a:r>
          </a:p>
        </p:txBody>
      </p:sp>
      <p:sp>
        <p:nvSpPr>
          <p:cNvPr id="335" name="Content Placeholder 2"/>
          <p:cNvSpPr txBox="1"/>
          <p:nvPr>
            <p:ph type="body" sz="half" idx="1"/>
          </p:nvPr>
        </p:nvSpPr>
        <p:spPr>
          <a:xfrm>
            <a:off x="914399" y="2022250"/>
            <a:ext cx="4992709" cy="3747181"/>
          </a:xfrm>
          <a:prstGeom prst="rect">
            <a:avLst/>
          </a:prstGeom>
        </p:spPr>
        <p:txBody>
          <a:bodyPr/>
          <a:lstStyle/>
          <a:p>
            <a:pPr/>
            <a:r>
              <a:t>Our product is priced below that of other companies on the market</a:t>
            </a:r>
          </a:p>
          <a:p>
            <a:pPr/>
            <a:r>
              <a:t>Design is simple and easy to use, compared to the complex designs of the competitors</a:t>
            </a:r>
          </a:p>
          <a:p>
            <a:pPr/>
            <a:r>
              <a:t>Affordability is the main draw for our consumers to our product</a:t>
            </a:r>
          </a:p>
        </p:txBody>
      </p:sp>
      <p:sp>
        <p:nvSpPr>
          <p:cNvPr id="336" name="Content Placeholder 3"/>
          <p:cNvSpPr txBox="1"/>
          <p:nvPr/>
        </p:nvSpPr>
        <p:spPr>
          <a:xfrm>
            <a:off x="6330610" y="2022249"/>
            <a:ext cx="4901270" cy="3747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Company A product is more expensive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Companies B &amp; C product is expensive and inconvenient to use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Companies D &amp; E product is affordable, but inconvenient to use</a:t>
            </a:r>
          </a:p>
        </p:txBody>
      </p:sp>
      <p:sp>
        <p:nvSpPr>
          <p:cNvPr id="337" name="Slide Number Placeholder 4"/>
          <p:cNvSpPr txBox="1"/>
          <p:nvPr>
            <p:ph type="sldNum" sz="quarter" idx="4294967295"/>
          </p:nvPr>
        </p:nvSpPr>
        <p:spPr>
          <a:xfrm>
            <a:off x="914399" y="6259740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Title 1"/>
          <p:cNvSpPr txBox="1"/>
          <p:nvPr>
            <p:ph type="title"/>
          </p:nvPr>
        </p:nvSpPr>
        <p:spPr>
          <a:xfrm>
            <a:off x="916381" y="446312"/>
            <a:ext cx="5179622" cy="1448752"/>
          </a:xfrm>
          <a:prstGeom prst="rect">
            <a:avLst/>
          </a:prstGeom>
        </p:spPr>
        <p:txBody>
          <a:bodyPr/>
          <a:lstStyle/>
          <a:p>
            <a:pPr/>
            <a:r>
              <a:t>Growth strategy</a:t>
            </a:r>
          </a:p>
        </p:txBody>
      </p:sp>
      <p:sp>
        <p:nvSpPr>
          <p:cNvPr id="340" name="Content Placeholder 2"/>
          <p:cNvSpPr txBox="1"/>
          <p:nvPr>
            <p:ph type="body" sz="half" idx="1"/>
          </p:nvPr>
        </p:nvSpPr>
        <p:spPr>
          <a:xfrm>
            <a:off x="914394" y="2022250"/>
            <a:ext cx="5181612" cy="3747181"/>
          </a:xfrm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t>Feb 20XX: </a:t>
            </a:r>
            <a:r>
              <a:rPr b="0"/>
              <a:t>roll out product to high profile or top-level participants to help establish the product</a:t>
            </a:r>
            <a:endParaRPr b="0"/>
          </a:p>
          <a:p>
            <a:pPr>
              <a:defRPr b="1"/>
            </a:pPr>
            <a:r>
              <a:t>May 20XX: </a:t>
            </a:r>
            <a:r>
              <a:rPr b="0"/>
              <a:t>release the product to the public and monitor press release and social media accounts</a:t>
            </a:r>
            <a:endParaRPr b="0"/>
          </a:p>
          <a:p>
            <a:pPr>
              <a:defRPr b="1"/>
            </a:pPr>
            <a:r>
              <a:t>Oct 20XX: </a:t>
            </a:r>
            <a:r>
              <a:rPr b="0"/>
              <a:t>gather feedback and adjust product design as necessary</a:t>
            </a:r>
          </a:p>
        </p:txBody>
      </p:sp>
      <p:sp>
        <p:nvSpPr>
          <p:cNvPr id="341" name="Slide Number Placeholder 4"/>
          <p:cNvSpPr txBox="1"/>
          <p:nvPr>
            <p:ph type="sldNum" sz="quarter" idx="4294967295"/>
          </p:nvPr>
        </p:nvSpPr>
        <p:spPr>
          <a:xfrm>
            <a:off x="914399" y="6259740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342" name="Picture Placeholder 17" descr="Picture Placeholder 17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81" t="0" r="79" b="0"/>
          <a:stretch>
            <a:fillRect/>
          </a:stretch>
        </p:blipFill>
        <p:spPr>
          <a:xfrm>
            <a:off x="6076945" y="0"/>
            <a:ext cx="6115057" cy="6868887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Title 1"/>
          <p:cNvSpPr txBox="1"/>
          <p:nvPr>
            <p:ph type="title"/>
          </p:nvPr>
        </p:nvSpPr>
        <p:spPr>
          <a:xfrm>
            <a:off x="914398" y="365125"/>
            <a:ext cx="10363204" cy="1603463"/>
          </a:xfrm>
          <a:prstGeom prst="rect">
            <a:avLst/>
          </a:prstGeom>
        </p:spPr>
        <p:txBody>
          <a:bodyPr/>
          <a:lstStyle/>
          <a:p>
            <a:pPr/>
            <a:r>
              <a:t>Market overview</a:t>
            </a:r>
          </a:p>
        </p:txBody>
      </p:sp>
      <p:sp>
        <p:nvSpPr>
          <p:cNvPr id="345" name="Content Placeholder 2"/>
          <p:cNvSpPr txBox="1"/>
          <p:nvPr>
            <p:ph type="body" sz="quarter" idx="1"/>
          </p:nvPr>
        </p:nvSpPr>
        <p:spPr>
          <a:xfrm>
            <a:off x="914399" y="2022250"/>
            <a:ext cx="3299014" cy="3914910"/>
          </a:xfrm>
          <a:prstGeom prst="rect">
            <a:avLst/>
          </a:prstGeom>
        </p:spPr>
        <p:txBody>
          <a:bodyPr/>
          <a:lstStyle/>
          <a:p>
            <a:pPr/>
            <a:r>
              <a:t>Opportunity to build</a:t>
            </a:r>
          </a:p>
          <a:p>
            <a:pPr/>
            <a:r>
              <a:t>Fully inclusive market</a:t>
            </a:r>
          </a:p>
          <a:p>
            <a:pPr/>
            <a:r>
              <a:t>Total addressable market</a:t>
            </a:r>
          </a:p>
          <a:p>
            <a:pPr/>
            <a:r>
              <a:t>Freedom to invent</a:t>
            </a:r>
          </a:p>
          <a:p>
            <a:pPr/>
            <a:r>
              <a:t>Selectively inclusive market</a:t>
            </a:r>
          </a:p>
          <a:p>
            <a:pPr/>
            <a:r>
              <a:t>Serviceable available market</a:t>
            </a:r>
          </a:p>
        </p:txBody>
      </p:sp>
      <p:graphicFrame>
        <p:nvGraphicFramePr>
          <p:cNvPr id="346" name="Table 11"/>
          <p:cNvGraphicFramePr/>
          <p:nvPr/>
        </p:nvGraphicFramePr>
        <p:xfrm>
          <a:off x="4602162" y="2017713"/>
          <a:ext cx="6675295" cy="3925485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085272"/>
                <a:gridCol w="1085272"/>
                <a:gridCol w="1085272"/>
                <a:gridCol w="1709739"/>
                <a:gridCol w="1709739"/>
              </a:tblGrid>
              <a:tr h="785097">
                <a:tc>
                  <a:txBody>
                    <a:bodyPr/>
                    <a:lstStyle/>
                    <a:p>
                      <a:pPr>
                        <a:defRPr>
                          <a:sym typeface="Calibri"/>
                        </a:defRPr>
                      </a:pP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ym typeface="Calibri"/>
                        </a:rPr>
                        <a:t>Clients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ym typeface="Calibri"/>
                        </a:rPr>
                        <a:t>Orders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ym typeface="Calibri"/>
                        </a:rPr>
                        <a:t>Gross revenue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ym typeface="Calibri"/>
                        </a:rPr>
                        <a:t>Net revenue</a:t>
                      </a:r>
                    </a:p>
                  </a:txBody>
                  <a:tcPr marL="47593" marR="47593" marT="47593" marB="47593" anchor="ctr" anchorCtr="0" horzOverflow="overflow"/>
                </a:tc>
              </a:tr>
              <a:tr h="785097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20XX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10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1100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$10,000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$7,000</a:t>
                      </a:r>
                    </a:p>
                  </a:txBody>
                  <a:tcPr marL="47593" marR="47593" marT="47593" marB="47593" anchor="ctr" anchorCtr="0" horzOverflow="overflow"/>
                </a:tc>
              </a:tr>
              <a:tr h="785097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20XX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20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200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$20,000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$16,000</a:t>
                      </a:r>
                    </a:p>
                  </a:txBody>
                  <a:tcPr marL="47593" marR="47593" marT="47593" marB="47593" anchor="ctr" anchorCtr="0" horzOverflow="overflow"/>
                </a:tc>
              </a:tr>
              <a:tr h="785097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20XX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30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300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$30,000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$25,000</a:t>
                      </a:r>
                    </a:p>
                  </a:txBody>
                  <a:tcPr marL="47593" marR="47593" marT="47593" marB="47593" anchor="ctr" anchorCtr="0" horzOverflow="overflow"/>
                </a:tc>
              </a:tr>
              <a:tr h="785097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20XX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40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400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$40,000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$30,000</a:t>
                      </a:r>
                    </a:p>
                  </a:txBody>
                  <a:tcPr marL="47593" marR="47593" marT="47593" marB="47593" anchor="ctr" anchorCtr="0" horzOverflow="overflow"/>
                </a:tc>
              </a:tr>
            </a:tbl>
          </a:graphicData>
        </a:graphic>
      </p:graphicFrame>
      <p:sp>
        <p:nvSpPr>
          <p:cNvPr id="347" name="Slide Number Placeholder 4"/>
          <p:cNvSpPr txBox="1"/>
          <p:nvPr>
            <p:ph type="sldNum" sz="quarter" idx="4294967295"/>
          </p:nvPr>
        </p:nvSpPr>
        <p:spPr>
          <a:xfrm>
            <a:off x="914399" y="6259740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Title 1"/>
          <p:cNvSpPr txBox="1"/>
          <p:nvPr>
            <p:ph type="title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pPr/>
            <a:r>
              <a:t>Solution</a:t>
            </a:r>
          </a:p>
        </p:txBody>
      </p:sp>
      <p:sp>
        <p:nvSpPr>
          <p:cNvPr id="350" name="Content Placeholder 2"/>
          <p:cNvSpPr txBox="1"/>
          <p:nvPr>
            <p:ph type="body" sz="half" idx="1"/>
          </p:nvPr>
        </p:nvSpPr>
        <p:spPr>
          <a:xfrm>
            <a:off x="914393" y="2022250"/>
            <a:ext cx="6257377" cy="3914910"/>
          </a:xfrm>
          <a:prstGeom prst="rect">
            <a:avLst/>
          </a:prstGeom>
        </p:spPr>
        <p:txBody>
          <a:bodyPr/>
          <a:lstStyle/>
          <a:p>
            <a:pPr/>
            <a:r>
              <a:t>Our product makes consumer lives easier, and no other product on the market offers the same features</a:t>
            </a:r>
          </a:p>
          <a:p>
            <a:pPr lvl="1">
              <a:buFont typeface="Arial"/>
            </a:pPr>
            <a:r>
              <a:t>Gen Z (18-25 years old)</a:t>
            </a:r>
          </a:p>
          <a:p>
            <a:pPr lvl="1">
              <a:buFont typeface="Arial"/>
            </a:pPr>
            <a:r>
              <a:t>Reduce expenses for replacement products </a:t>
            </a:r>
          </a:p>
          <a:p>
            <a:pPr lvl="1">
              <a:buFont typeface="Arial"/>
            </a:pPr>
            <a:r>
              <a:t>Simple design that gives customers the targeted information they need</a:t>
            </a:r>
          </a:p>
        </p:txBody>
      </p:sp>
      <p:sp>
        <p:nvSpPr>
          <p:cNvPr id="351" name="Content Placeholder 3"/>
          <p:cNvSpPr txBox="1"/>
          <p:nvPr/>
        </p:nvSpPr>
        <p:spPr>
          <a:xfrm>
            <a:off x="8013192" y="2018119"/>
            <a:ext cx="2358082" cy="39319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000">
                <a:latin typeface="Tenorite"/>
                <a:ea typeface="Tenorite"/>
                <a:cs typeface="Tenorite"/>
                <a:sym typeface="Tenorite"/>
              </a:defRPr>
            </a:pPr>
            <a:r>
              <a:t>Close the gap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000">
                <a:latin typeface="Tenorite"/>
                <a:ea typeface="Tenorite"/>
                <a:cs typeface="Tenorite"/>
                <a:sym typeface="Tenorite"/>
              </a:defRPr>
            </a:pPr>
            <a:r>
              <a:t>Target audience 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000">
                <a:latin typeface="Tenorite"/>
                <a:ea typeface="Tenorite"/>
                <a:cs typeface="Tenorite"/>
                <a:sym typeface="Tenorite"/>
              </a:defRPr>
            </a:pPr>
            <a:r>
              <a:t>Cost savings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000">
                <a:latin typeface="Tenorite"/>
                <a:ea typeface="Tenorite"/>
                <a:cs typeface="Tenorite"/>
                <a:sym typeface="Tenorite"/>
              </a:defRPr>
            </a:pPr>
            <a:r>
              <a:t>Easy to use</a:t>
            </a:r>
          </a:p>
        </p:txBody>
      </p:sp>
      <p:sp>
        <p:nvSpPr>
          <p:cNvPr id="352" name="Slide Number Placeholder 4"/>
          <p:cNvSpPr txBox="1"/>
          <p:nvPr>
            <p:ph type="sldNum" sz="quarter" idx="4294967295"/>
          </p:nvPr>
        </p:nvSpPr>
        <p:spPr>
          <a:xfrm>
            <a:off x="914399" y="6259740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4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4151" t="0" r="18576" b="0"/>
          <a:stretch>
            <a:fillRect/>
          </a:stretch>
        </p:blipFill>
        <p:spPr>
          <a:xfrm flipH="1">
            <a:off x="-5" y="0"/>
            <a:ext cx="5181608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55" name="Title 6"/>
          <p:cNvSpPr txBox="1"/>
          <p:nvPr>
            <p:ph type="title"/>
          </p:nvPr>
        </p:nvSpPr>
        <p:spPr>
          <a:xfrm>
            <a:off x="6091515" y="374085"/>
            <a:ext cx="5057105" cy="3624995"/>
          </a:xfrm>
          <a:prstGeom prst="rect">
            <a:avLst/>
          </a:prstGeom>
        </p:spPr>
        <p:txBody>
          <a:bodyPr/>
          <a:lstStyle/>
          <a:p>
            <a:pPr/>
            <a:r>
              <a:t>Thank you</a:t>
            </a:r>
          </a:p>
        </p:txBody>
      </p:sp>
      <p:sp>
        <p:nvSpPr>
          <p:cNvPr id="356" name="Content Placeholder 9"/>
          <p:cNvSpPr txBox="1"/>
          <p:nvPr>
            <p:ph type="body" sz="quarter" idx="1"/>
          </p:nvPr>
        </p:nvSpPr>
        <p:spPr>
          <a:xfrm>
            <a:off x="6091513" y="4172989"/>
            <a:ext cx="5057107" cy="2519370"/>
          </a:xfrm>
          <a:prstGeom prst="rect">
            <a:avLst/>
          </a:prstGeom>
        </p:spPr>
        <p:txBody>
          <a:bodyPr/>
          <a:lstStyle/>
          <a:p>
            <a:pPr/>
            <a:r>
              <a:t>Brita Tamm</a:t>
            </a:r>
          </a:p>
          <a:p>
            <a:pPr/>
            <a:r>
              <a:t>502-555-0152</a:t>
            </a:r>
          </a:p>
          <a:p>
            <a:pPr/>
            <a:r>
              <a:t>brita@firstupconsultants.com</a:t>
            </a:r>
          </a:p>
          <a:p>
            <a:pPr/>
            <a:r>
              <a:t>www.firstupconsultants.com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
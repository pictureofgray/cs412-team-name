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Tenorite"/>
        <a:ea typeface="Tenorite"/>
        <a:cs typeface="Tenorite"/>
        <a:sym typeface="Tenorit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 b="def" i="def"/>
      <a:tcStyle>
        <a:tcBdr/>
        <a:fill>
          <a:solidFill>
            <a:srgbClr val="FBFAF9"/>
          </a:solidFill>
        </a:fill>
      </a:tcStyle>
    </a:band2H>
    <a:firstCol>
      <a:tcTxStyle b="on" i="off">
        <a:font>
          <a:latin typeface="Tenorite"/>
          <a:ea typeface="Tenorite"/>
          <a:cs typeface="Tenorit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enorite"/>
          <a:ea typeface="Tenorite"/>
          <a:cs typeface="Tenorit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Tenorite"/>
          <a:ea typeface="Tenorite"/>
          <a:cs typeface="Tenorit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Tenorite"/>
          <a:ea typeface="Tenorite"/>
          <a:cs typeface="Tenorit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Tenorite"/>
          <a:ea typeface="Tenorite"/>
          <a:cs typeface="Tenorit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Tenorite"/>
          <a:ea typeface="Tenorite"/>
          <a:cs typeface="Tenorit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Tenorite"/>
          <a:ea typeface="Tenorite"/>
          <a:cs typeface="Tenorit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Tenorite"/>
          <a:ea typeface="Tenorite"/>
          <a:cs typeface="Tenorit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Tenorite"/>
          <a:ea typeface="Tenorite"/>
          <a:cs typeface="Tenorit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enorite"/>
          <a:ea typeface="Tenorite"/>
          <a:cs typeface="Tenorit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Tenorite"/>
          <a:ea typeface="Tenorite"/>
          <a:cs typeface="Tenorit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Tenorite"/>
          <a:ea typeface="Tenorite"/>
          <a:cs typeface="Tenorit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Tenorite"/>
          <a:ea typeface="Tenorite"/>
          <a:cs typeface="Tenorit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Tenorite"/>
          <a:ea typeface="Tenorite"/>
          <a:cs typeface="Tenorit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Tenorite"/>
          <a:ea typeface="Tenorite"/>
          <a:cs typeface="Tenorit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9" name="Shape 14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/>
          <p:nvPr>
            <p:ph type="title" hasCustomPrompt="1"/>
          </p:nvPr>
        </p:nvSpPr>
        <p:spPr>
          <a:xfrm>
            <a:off x="6096000" y="2773681"/>
            <a:ext cx="5674360" cy="3200401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8454" t="1727" r="0" b="0"/>
          <a:stretch>
            <a:fillRect/>
          </a:stretch>
        </p:blipFill>
        <p:spPr>
          <a:xfrm>
            <a:off x="-2" y="0"/>
            <a:ext cx="8264996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rcRect l="44533" t="18691" r="1" b="0"/>
          <a:stretch>
            <a:fillRect/>
          </a:stretch>
        </p:blipFill>
        <p:spPr>
          <a:xfrm rot="5400000">
            <a:off x="7855911" y="-1240061"/>
            <a:ext cx="3096030" cy="5576154"/>
          </a:xfrm>
          <a:prstGeom prst="rect">
            <a:avLst/>
          </a:prstGeom>
          <a:ln w="12700">
            <a:miter lim="400000"/>
          </a:ln>
        </p:spPr>
      </p:pic>
      <p:pic>
        <p:nvPicPr>
          <p:cNvPr id="22" name="Graphic 9" descr="Graphic 9"/>
          <p:cNvPicPr>
            <a:picLocks noChangeAspect="1"/>
          </p:cNvPicPr>
          <p:nvPr/>
        </p:nvPicPr>
        <p:blipFill>
          <a:blip r:embed="rId3">
            <a:extLst/>
          </a:blip>
          <a:srcRect l="4151" t="0" r="18576" b="0"/>
          <a:stretch>
            <a:fillRect/>
          </a:stretch>
        </p:blipFill>
        <p:spPr>
          <a:xfrm>
            <a:off x="7010400" y="0"/>
            <a:ext cx="5181601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Click to add title"/>
          <p:cNvSpPr txBox="1"/>
          <p:nvPr>
            <p:ph type="title" hasCustomPrompt="1"/>
          </p:nvPr>
        </p:nvSpPr>
        <p:spPr>
          <a:xfrm>
            <a:off x="914400" y="315532"/>
            <a:ext cx="5181600" cy="2376869"/>
          </a:xfrm>
          <a:prstGeom prst="rect">
            <a:avLst/>
          </a:prstGeom>
        </p:spPr>
        <p:txBody>
          <a:bodyPr anchor="b"/>
          <a:lstStyle/>
          <a:p>
            <a:pPr/>
            <a:r>
              <a:t>Click to add title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914400" y="2844800"/>
            <a:ext cx="5181600" cy="312896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SzTx/>
              <a:buFontTx/>
              <a:buNone/>
              <a:defRPr sz="2000"/>
            </a:lvl1pPr>
            <a:lvl2pPr marL="711200" indent="-254000">
              <a:lnSpc>
                <a:spcPct val="120000"/>
              </a:lnSpc>
              <a:buFontTx/>
              <a:defRPr sz="2000"/>
            </a:lvl2pPr>
            <a:lvl3pPr marL="1200150" indent="-285750">
              <a:lnSpc>
                <a:spcPct val="120000"/>
              </a:lnSpc>
              <a:buFontTx/>
              <a:defRPr sz="2000"/>
            </a:lvl3pPr>
            <a:lvl4pPr marL="1698171" indent="-326571">
              <a:lnSpc>
                <a:spcPct val="120000"/>
              </a:lnSpc>
              <a:buFontTx/>
              <a:defRPr sz="2000"/>
            </a:lvl4pPr>
            <a:lvl5pPr marL="2155371" indent="-326571">
              <a:lnSpc>
                <a:spcPct val="120000"/>
              </a:lnSpc>
              <a:buFontTx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Titl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3300" t="13815" r="0" b="0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33" name="Click to add title"/>
          <p:cNvSpPr txBox="1"/>
          <p:nvPr>
            <p:ph type="title" hasCustomPrompt="1"/>
          </p:nvPr>
        </p:nvSpPr>
        <p:spPr>
          <a:xfrm>
            <a:off x="914400" y="2580639"/>
            <a:ext cx="5181600" cy="3368821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34" name="Picture Placeholder 8"/>
          <p:cNvSpPr/>
          <p:nvPr>
            <p:ph type="pic" idx="21"/>
          </p:nvPr>
        </p:nvSpPr>
        <p:spPr>
          <a:xfrm>
            <a:off x="6085840" y="-10160"/>
            <a:ext cx="6116321" cy="686816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verview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5158" t="0" r="0" b="78533"/>
          <a:stretch>
            <a:fillRect/>
          </a:stretch>
        </p:blipFill>
        <p:spPr>
          <a:xfrm rot="10800000">
            <a:off x="6324600" y="-1"/>
            <a:ext cx="5867400" cy="1317505"/>
          </a:xfrm>
          <a:prstGeom prst="rect">
            <a:avLst/>
          </a:prstGeom>
          <a:ln w="12700">
            <a:miter lim="400000"/>
          </a:ln>
        </p:spPr>
      </p:pic>
      <p:sp>
        <p:nvSpPr>
          <p:cNvPr id="43" name="Click to add title"/>
          <p:cNvSpPr txBox="1"/>
          <p:nvPr>
            <p:ph type="title" hasCustomPrompt="1"/>
          </p:nvPr>
        </p:nvSpPr>
        <p:spPr>
          <a:xfrm>
            <a:off x="6126479" y="1310638"/>
            <a:ext cx="4805998" cy="2689631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Click to add title</a:t>
            </a:r>
          </a:p>
        </p:txBody>
      </p:sp>
      <p:sp>
        <p:nvSpPr>
          <p:cNvPr id="44" name="Picture Placeholder 11"/>
          <p:cNvSpPr/>
          <p:nvPr>
            <p:ph type="pic" idx="21"/>
          </p:nvPr>
        </p:nvSpPr>
        <p:spPr>
          <a:xfrm>
            <a:off x="0" y="-10161"/>
            <a:ext cx="6096000" cy="6858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45" name="Body Level One…"/>
          <p:cNvSpPr txBox="1"/>
          <p:nvPr>
            <p:ph type="body" sz="quarter" idx="1" hasCustomPrompt="1"/>
          </p:nvPr>
        </p:nvSpPr>
        <p:spPr>
          <a:xfrm>
            <a:off x="6126162" y="4172989"/>
            <a:ext cx="4805998" cy="2389737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457200">
              <a:buSzTx/>
              <a:buFontTx/>
              <a:buNone/>
              <a:defRPr sz="2000"/>
            </a:lvl2pPr>
            <a:lvl3pPr marL="0" indent="914400">
              <a:buSzTx/>
              <a:buFontTx/>
              <a:buNone/>
              <a:defRPr sz="2000"/>
            </a:lvl3pPr>
            <a:lvl4pPr marL="0" indent="1371600">
              <a:buSzTx/>
              <a:buFontTx/>
              <a:buNone/>
              <a:defRPr sz="2000"/>
            </a:lvl4pPr>
            <a:lvl5pPr marL="0" indent="1828800">
              <a:buSzTx/>
              <a:buFontTx/>
              <a:buNone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6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5239" t="0" r="0" b="0"/>
          <a:stretch>
            <a:fillRect/>
          </a:stretch>
        </p:blipFill>
        <p:spPr>
          <a:xfrm flipH="1">
            <a:off x="9135413" y="0"/>
            <a:ext cx="3056587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54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0" t="0" r="0"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55" name="Click to add title"/>
          <p:cNvSpPr txBox="1"/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56" name="Body Level One…"/>
          <p:cNvSpPr txBox="1"/>
          <p:nvPr>
            <p:ph type="body" sz="half" idx="1" hasCustomPrompt="1"/>
          </p:nvPr>
        </p:nvSpPr>
        <p:spPr>
          <a:xfrm>
            <a:off x="914399" y="2011363"/>
            <a:ext cx="7273639" cy="4155758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71" indent="-326571">
              <a:spcBef>
                <a:spcPts val="1200"/>
              </a:spcBef>
              <a:defRPr sz="2000"/>
            </a:lvl4pPr>
            <a:lvl5pPr marL="2155371" indent="-326571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left Imag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rot="16200000">
            <a:off x="8039100" y="228600"/>
            <a:ext cx="4381500" cy="3924300"/>
          </a:xfrm>
          <a:prstGeom prst="rect">
            <a:avLst/>
          </a:prstGeom>
          <a:ln w="12700">
            <a:miter lim="400000"/>
          </a:ln>
        </p:spPr>
      </p:pic>
      <p:sp>
        <p:nvSpPr>
          <p:cNvPr id="65" name="Title Text"/>
          <p:cNvSpPr txBox="1"/>
          <p:nvPr>
            <p:ph type="title"/>
          </p:nvPr>
        </p:nvSpPr>
        <p:spPr>
          <a:xfrm>
            <a:off x="6096000" y="375284"/>
            <a:ext cx="4896678" cy="362498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66" name="Picture Placeholder 10"/>
          <p:cNvSpPr/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67" name="Body Level One…"/>
          <p:cNvSpPr txBox="1"/>
          <p:nvPr>
            <p:ph type="body" sz="quarter" idx="1" hasCustomPrompt="1"/>
          </p:nvPr>
        </p:nvSpPr>
        <p:spPr>
          <a:xfrm>
            <a:off x="6096000" y="4172989"/>
            <a:ext cx="4896678" cy="230972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8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1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954" t="41988" r="53993" b="33420"/>
          <a:stretch>
            <a:fillRect/>
          </a:stretch>
        </p:blipFill>
        <p:spPr>
          <a:xfrm rot="10800000">
            <a:off x="9198863" y="-6"/>
            <a:ext cx="2993137" cy="1517908"/>
          </a:xfrm>
          <a:prstGeom prst="rect">
            <a:avLst/>
          </a:prstGeom>
          <a:ln w="12700">
            <a:miter lim="400000"/>
          </a:ln>
        </p:spPr>
      </p:pic>
      <p:pic>
        <p:nvPicPr>
          <p:cNvPr id="76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25445" t="24818" r="46503" b="0"/>
          <a:stretch>
            <a:fillRect/>
          </a:stretch>
        </p:blipFill>
        <p:spPr>
          <a:xfrm rot="16200000">
            <a:off x="961220" y="4525178"/>
            <a:ext cx="1371601" cy="3294043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Click to add title"/>
          <p:cNvSpPr txBox="1"/>
          <p:nvPr>
            <p:ph type="title" hasCustomPrompt="1"/>
          </p:nvPr>
        </p:nvSpPr>
        <p:spPr>
          <a:xfrm>
            <a:off x="914399" y="365125"/>
            <a:ext cx="10363201" cy="1629601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78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499270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71" indent="-326571">
              <a:spcBef>
                <a:spcPts val="1200"/>
              </a:spcBef>
              <a:defRPr sz="2000"/>
            </a:lvl4pPr>
            <a:lvl5pPr marL="2155371" indent="-326571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981" t="40714" r="61027" b="44471"/>
          <a:stretch>
            <a:fillRect/>
          </a:stretch>
        </p:blipFill>
        <p:spPr>
          <a:xfrm flipH="1">
            <a:off x="-26830" y="5950039"/>
            <a:ext cx="2513522" cy="914401"/>
          </a:xfrm>
          <a:prstGeom prst="rect">
            <a:avLst/>
          </a:prstGeom>
          <a:ln w="12700">
            <a:miter lim="400000"/>
          </a:ln>
        </p:spPr>
      </p:pic>
      <p:pic>
        <p:nvPicPr>
          <p:cNvPr id="87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18883" t="18052" r="46636" b="0"/>
          <a:stretch>
            <a:fillRect/>
          </a:stretch>
        </p:blipFill>
        <p:spPr>
          <a:xfrm rot="5400000">
            <a:off x="9553763" y="-952311"/>
            <a:ext cx="1685929" cy="3590549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Click to add title"/>
          <p:cNvSpPr txBox="1"/>
          <p:nvPr>
            <p:ph type="title" hasCustomPrompt="1"/>
          </p:nvPr>
        </p:nvSpPr>
        <p:spPr>
          <a:xfrm>
            <a:off x="914397" y="365125"/>
            <a:ext cx="10439402" cy="1617017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89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b="1" sz="2000"/>
            </a:lvl1pPr>
            <a:lvl2pPr marL="711200" indent="-254000">
              <a:spcBef>
                <a:spcPts val="1200"/>
              </a:spcBef>
              <a:defRPr b="1" sz="2000"/>
            </a:lvl2pPr>
            <a:lvl3pPr marL="1200150" indent="-285750">
              <a:spcBef>
                <a:spcPts val="1200"/>
              </a:spcBef>
              <a:defRPr b="1" sz="2000"/>
            </a:lvl3pPr>
            <a:lvl4pPr marL="1698171" indent="-326571">
              <a:spcBef>
                <a:spcPts val="1200"/>
              </a:spcBef>
              <a:defRPr b="1" sz="2000"/>
            </a:lvl4pPr>
            <a:lvl5pPr marL="2155371" indent="-326571">
              <a:spcBef>
                <a:spcPts val="1200"/>
              </a:spcBef>
              <a:defRPr b="1"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right Imag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67703" t="485" r="0" b="67542"/>
          <a:stretch>
            <a:fillRect/>
          </a:stretch>
        </p:blipFill>
        <p:spPr>
          <a:xfrm rot="5400000">
            <a:off x="-115163" y="115164"/>
            <a:ext cx="1895059" cy="1664736"/>
          </a:xfrm>
          <a:prstGeom prst="rect">
            <a:avLst/>
          </a:prstGeom>
          <a:ln w="12700">
            <a:miter lim="400000"/>
          </a:ln>
        </p:spPr>
      </p:pic>
      <p:sp>
        <p:nvSpPr>
          <p:cNvPr id="98" name="Click to add title"/>
          <p:cNvSpPr txBox="1"/>
          <p:nvPr>
            <p:ph type="title" hasCustomPrompt="1"/>
          </p:nvPr>
        </p:nvSpPr>
        <p:spPr>
          <a:xfrm>
            <a:off x="916384" y="446313"/>
            <a:ext cx="5179616" cy="1448748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99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5181601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71" indent="-326571">
              <a:spcBef>
                <a:spcPts val="1200"/>
              </a:spcBef>
              <a:defRPr sz="2000"/>
            </a:lvl4pPr>
            <a:lvl5pPr marL="2155371" indent="-326571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01" name="Picture Placeholder 11"/>
          <p:cNvSpPr/>
          <p:nvPr>
            <p:ph type="pic" idx="21"/>
          </p:nvPr>
        </p:nvSpPr>
        <p:spPr>
          <a:xfrm>
            <a:off x="6076950" y="-1"/>
            <a:ext cx="6115050" cy="68688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0" t="0"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Rectangle 13"/>
          <p:cNvSpPr/>
          <p:nvPr/>
        </p:nvSpPr>
        <p:spPr>
          <a:xfrm>
            <a:off x="4443412" y="1835239"/>
            <a:ext cx="7000876" cy="427981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10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rcRect l="0" t="60903" r="75060" b="10346"/>
          <a:stretch>
            <a:fillRect/>
          </a:stretch>
        </p:blipFill>
        <p:spPr>
          <a:xfrm rot="16200000">
            <a:off x="149649" y="-149654"/>
            <a:ext cx="1672377" cy="1971676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Click to add title"/>
          <p:cNvSpPr txBox="1"/>
          <p:nvPr>
            <p:ph type="title" hasCustomPrompt="1"/>
          </p:nvPr>
        </p:nvSpPr>
        <p:spPr>
          <a:xfrm>
            <a:off x="914399" y="365125"/>
            <a:ext cx="10363203" cy="1603463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112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299014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71" indent="-326571">
              <a:spcBef>
                <a:spcPts val="1200"/>
              </a:spcBef>
              <a:defRPr sz="2000"/>
            </a:lvl4pPr>
            <a:lvl5pPr marL="2155371" indent="-326571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3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8883" t="34408" r="46636" b="1"/>
          <a:stretch>
            <a:fillRect/>
          </a:stretch>
        </p:blipFill>
        <p:spPr>
          <a:xfrm rot="10800000">
            <a:off x="10506072" y="3984078"/>
            <a:ext cx="1685929" cy="2873922"/>
          </a:xfrm>
          <a:prstGeom prst="rect">
            <a:avLst/>
          </a:prstGeom>
          <a:ln w="12700">
            <a:miter lim="400000"/>
          </a:ln>
        </p:spPr>
      </p:pic>
      <p:pic>
        <p:nvPicPr>
          <p:cNvPr id="121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29718" t="47145" r="39388" b="8754"/>
          <a:stretch>
            <a:fillRect/>
          </a:stretch>
        </p:blipFill>
        <p:spPr>
          <a:xfrm flipH="1" rot="16200000">
            <a:off x="9781526" y="-311512"/>
            <a:ext cx="2098965" cy="2721986"/>
          </a:xfrm>
          <a:prstGeom prst="rect">
            <a:avLst/>
          </a:prstGeom>
          <a:ln w="12700">
            <a:miter lim="400000"/>
          </a:ln>
        </p:spPr>
      </p:pic>
      <p:sp>
        <p:nvSpPr>
          <p:cNvPr id="122" name="Click to add title"/>
          <p:cNvSpPr txBox="1"/>
          <p:nvPr>
            <p:ph type="title" hasCustomPrompt="1"/>
          </p:nvPr>
        </p:nvSpPr>
        <p:spPr>
          <a:xfrm>
            <a:off x="891990" y="434224"/>
            <a:ext cx="9524998" cy="1499628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123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Click to add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13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losing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Click to add title"/>
          <p:cNvSpPr txBox="1"/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140" name="Body Level One…"/>
          <p:cNvSpPr txBox="1"/>
          <p:nvPr>
            <p:ph type="body" sz="quarter" idx="1" hasCustomPrompt="1"/>
          </p:nvPr>
        </p:nvSpPr>
        <p:spPr>
          <a:xfrm>
            <a:off x="6091513" y="4172989"/>
            <a:ext cx="5057104" cy="251936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content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pic>
        <p:nvPicPr>
          <p:cNvPr id="141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1" y="0"/>
            <a:ext cx="5181602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18883" t="18052" r="46636" b="0"/>
          <a:stretch>
            <a:fillRect/>
          </a:stretch>
        </p:blipFill>
        <p:spPr>
          <a:xfrm rot="5400000">
            <a:off x="9553763" y="-952311"/>
            <a:ext cx="1685929" cy="359054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/>
          <p:nvPr>
            <p:ph type="title" hasCustomPrompt="1"/>
          </p:nvPr>
        </p:nvSpPr>
        <p:spPr>
          <a:xfrm>
            <a:off x="923544" y="584477"/>
            <a:ext cx="10354053" cy="12097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Click to add title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914400" y="6259740"/>
            <a:ext cx="273656" cy="2692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>
              <a:defRPr sz="1200"/>
            </a:lvl1pPr>
          </a:lstStyle>
          <a:p>
            <a:pPr/>
            <a:fld id="{86CB4B4D-7CA3-9044-876B-883B54F8677D}" type="slidenum"/>
          </a:p>
        </p:txBody>
      </p:sp>
      <p:sp>
        <p:nvSpPr>
          <p:cNvPr id="5" name="Body Level One…"/>
          <p:cNvSpPr txBox="1"/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457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914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1371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18288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22860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2743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3200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3657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e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e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jpe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2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itle 1"/>
          <p:cNvSpPr txBox="1"/>
          <p:nvPr>
            <p:ph type="title"/>
          </p:nvPr>
        </p:nvSpPr>
        <p:spPr>
          <a:xfrm>
            <a:off x="6096000" y="2773681"/>
            <a:ext cx="5674361" cy="3200401"/>
          </a:xfrm>
          <a:prstGeom prst="rect">
            <a:avLst/>
          </a:prstGeom>
        </p:spPr>
        <p:txBody>
          <a:bodyPr/>
          <a:lstStyle/>
          <a:p>
            <a:pPr/>
            <a:r>
              <a:t>Pitch deck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itle 2"/>
          <p:cNvSpPr txBox="1"/>
          <p:nvPr>
            <p:ph type="title"/>
          </p:nvPr>
        </p:nvSpPr>
        <p:spPr>
          <a:xfrm>
            <a:off x="914400" y="315533"/>
            <a:ext cx="5181600" cy="2376868"/>
          </a:xfrm>
          <a:prstGeom prst="rect">
            <a:avLst/>
          </a:prstGeom>
        </p:spPr>
        <p:txBody>
          <a:bodyPr/>
          <a:lstStyle/>
          <a:p>
            <a:pPr/>
            <a:r>
              <a:t>Problem Description</a:t>
            </a:r>
          </a:p>
        </p:txBody>
      </p:sp>
      <p:sp>
        <p:nvSpPr>
          <p:cNvPr id="154" name="Content Placeholder 3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At Contoso, we empower organizations to foster collaborative thinking to further drive workplace innovation. By closing the loop and leveraging agile frameworks, we help business grow organically and foster a consumer first mindset.</a:t>
            </a:r>
          </a:p>
        </p:txBody>
      </p:sp>
      <p:sp>
        <p:nvSpPr>
          <p:cNvPr id="155" name="Slide Number Placeholder 1"/>
          <p:cNvSpPr txBox="1"/>
          <p:nvPr>
            <p:ph type="sldNum" sz="quarter" idx="2"/>
          </p:nvPr>
        </p:nvSpPr>
        <p:spPr>
          <a:xfrm>
            <a:off x="914400" y="6259740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itle 6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Certifier verification is polynomial</a:t>
            </a:r>
          </a:p>
        </p:txBody>
      </p:sp>
      <p:pic>
        <p:nvPicPr>
          <p:cNvPr id="158" name="Picture Placeholder 4" descr="Picture Placeholder 4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0394" t="0" r="20394" b="0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159" name="Content Placeholder 7"/>
          <p:cNvSpPr txBox="1"/>
          <p:nvPr>
            <p:ph type="body" sz="quarter" idx="1"/>
          </p:nvPr>
        </p:nvSpPr>
        <p:spPr>
          <a:xfrm>
            <a:off x="6126162" y="4172989"/>
            <a:ext cx="4805998" cy="2389737"/>
          </a:xfrm>
          <a:prstGeom prst="rect">
            <a:avLst/>
          </a:prstGeom>
        </p:spPr>
        <p:txBody>
          <a:bodyPr/>
          <a:lstStyle/>
          <a:p>
            <a:pPr/>
            <a:r>
              <a:t>First beautifully designed product that's both stylish and functional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itle 1"/>
          <p:cNvSpPr txBox="1"/>
          <p:nvPr>
            <p:ph type="title"/>
          </p:nvPr>
        </p:nvSpPr>
        <p:spPr>
          <a:xfrm>
            <a:off x="923544" y="584477"/>
            <a:ext cx="10354054" cy="1209766"/>
          </a:xfrm>
          <a:prstGeom prst="rect">
            <a:avLst/>
          </a:prstGeom>
        </p:spPr>
        <p:txBody>
          <a:bodyPr/>
          <a:lstStyle/>
          <a:p>
            <a:pPr/>
            <a:r>
              <a:t>REDUCTION FROM KNOWN NP-hard SOLtn</a:t>
            </a:r>
          </a:p>
        </p:txBody>
      </p:sp>
      <p:graphicFrame>
        <p:nvGraphicFramePr>
          <p:cNvPr id="162" name="Table 9"/>
          <p:cNvGraphicFramePr/>
          <p:nvPr/>
        </p:nvGraphicFramePr>
        <p:xfrm>
          <a:off x="923925" y="2009775"/>
          <a:ext cx="10363201" cy="393407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4324555"/>
                <a:gridCol w="2012882"/>
                <a:gridCol w="2012882"/>
                <a:gridCol w="2012882"/>
              </a:tblGrid>
              <a:tr h="562010"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/>
                        <a:t>Year 1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/>
                        <a:t>Year 2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/>
                        <a:t>Year 3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5620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Income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</a:tr>
              <a:tr h="562010">
                <a:tc>
                  <a:txBody>
                    <a:bodyPr/>
                    <a:lstStyle/>
                    <a:p>
                      <a:pPr lvl="1">
                        <a:defRPr sz="1800"/>
                      </a:pPr>
                      <a:r>
                        <a:t>Users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50,000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400,000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1,600,000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562010">
                <a:tc>
                  <a:txBody>
                    <a:bodyPr/>
                    <a:lstStyle/>
                    <a:p>
                      <a:pPr lvl="1">
                        <a:defRPr sz="1800"/>
                      </a:pPr>
                      <a:r>
                        <a:t>Sales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500,000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4,000,000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16,000,000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562010">
                <a:tc>
                  <a:txBody>
                    <a:bodyPr/>
                    <a:lstStyle/>
                    <a:p>
                      <a:pPr lvl="1">
                        <a:defRPr sz="1800"/>
                      </a:pPr>
                      <a:r>
                        <a:t>Average price per sale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75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80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90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562010">
                <a:tc>
                  <a:txBody>
                    <a:bodyPr/>
                    <a:lstStyle/>
                    <a:p>
                      <a:pPr lvl="1">
                        <a:defRPr sz="1800"/>
                      </a:pPr>
                      <a:r>
                        <a:t>Revenue @ 15%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5,625,000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48,000,000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216,000,000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56201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/>
                        <a:t>Gross profit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/>
                        <a:t>5,625,000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/>
                        <a:t>48,000,000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/>
                        <a:t>216,000,000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</a:tbl>
          </a:graphicData>
        </a:graphic>
      </p:graphicFrame>
      <p:sp>
        <p:nvSpPr>
          <p:cNvPr id="163" name="Slide Number Placeholder 3"/>
          <p:cNvSpPr txBox="1"/>
          <p:nvPr>
            <p:ph type="sldNum" sz="quarter" idx="2"/>
          </p:nvPr>
        </p:nvSpPr>
        <p:spPr>
          <a:xfrm>
            <a:off x="914400" y="6259740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itle 6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Analytical runtime Analysis</a:t>
            </a:r>
          </a:p>
        </p:txBody>
      </p:sp>
      <p:pic>
        <p:nvPicPr>
          <p:cNvPr id="166" name="Picture Placeholder 4" descr="Picture Placeholder 4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0394" t="0" r="20394" b="0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167" name="Content Placeholder 7"/>
          <p:cNvSpPr txBox="1"/>
          <p:nvPr>
            <p:ph type="body" sz="quarter" idx="1"/>
          </p:nvPr>
        </p:nvSpPr>
        <p:spPr>
          <a:xfrm>
            <a:off x="6126162" y="4172989"/>
            <a:ext cx="4805998" cy="2389737"/>
          </a:xfrm>
          <a:prstGeom prst="rect">
            <a:avLst/>
          </a:prstGeom>
        </p:spPr>
        <p:txBody>
          <a:bodyPr/>
          <a:lstStyle/>
          <a:p>
            <a:pPr/>
            <a:r>
              <a:t>First beautifully designed product that's both stylish and functional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itle 1"/>
          <p:cNvSpPr txBox="1"/>
          <p:nvPr>
            <p:ph type="title"/>
          </p:nvPr>
        </p:nvSpPr>
        <p:spPr>
          <a:xfrm>
            <a:off x="914398" y="365125"/>
            <a:ext cx="10439401" cy="1617017"/>
          </a:xfrm>
          <a:prstGeom prst="rect">
            <a:avLst/>
          </a:prstGeom>
        </p:spPr>
        <p:txBody>
          <a:bodyPr/>
          <a:lstStyle/>
          <a:p>
            <a:pPr/>
            <a:r>
              <a:t>EMpyrical runtime analysis</a:t>
            </a:r>
          </a:p>
        </p:txBody>
      </p:sp>
      <p:sp>
        <p:nvSpPr>
          <p:cNvPr id="170" name="Content Placeholder 2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Unique</a:t>
            </a:r>
          </a:p>
          <a:p>
            <a:pPr/>
            <a:r>
              <a:t>First to market</a:t>
            </a:r>
          </a:p>
          <a:p>
            <a:pPr/>
            <a:r>
              <a:t>Tested</a:t>
            </a:r>
          </a:p>
          <a:p>
            <a:pPr/>
            <a:r>
              <a:t>Authentic</a:t>
            </a:r>
          </a:p>
        </p:txBody>
      </p:sp>
      <p:sp>
        <p:nvSpPr>
          <p:cNvPr id="171" name="Content Placeholder 3"/>
          <p:cNvSpPr txBox="1"/>
          <p:nvPr/>
        </p:nvSpPr>
        <p:spPr>
          <a:xfrm>
            <a:off x="4648030" y="2018120"/>
            <a:ext cx="6660048" cy="37471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/>
            </a:pPr>
            <a:r>
              <a:t>Only product specifically dedicated to this niche market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/>
            </a:pPr>
            <a:r>
              <a:t>First beautifully designed product that's both stylish and functional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/>
            </a:pPr>
            <a:r>
              <a:t>Conducted testing with college students in the area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/>
            </a:pPr>
            <a:r>
              <a:t>Designed with the help and input of experts in the field </a:t>
            </a:r>
          </a:p>
        </p:txBody>
      </p:sp>
      <p:sp>
        <p:nvSpPr>
          <p:cNvPr id="172" name="Slide Number Placeholder 4"/>
          <p:cNvSpPr txBox="1"/>
          <p:nvPr>
            <p:ph type="sldNum" sz="quarter" idx="2"/>
          </p:nvPr>
        </p:nvSpPr>
        <p:spPr>
          <a:xfrm>
            <a:off x="914400" y="6259740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itle 1"/>
          <p:cNvSpPr txBox="1"/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TODO</a:t>
            </a:r>
          </a:p>
        </p:txBody>
      </p:sp>
      <p:sp>
        <p:nvSpPr>
          <p:cNvPr id="175" name="Content Placeholder 2"/>
          <p:cNvSpPr txBox="1"/>
          <p:nvPr>
            <p:ph type="body" sz="half" idx="1"/>
          </p:nvPr>
        </p:nvSpPr>
        <p:spPr>
          <a:xfrm>
            <a:off x="187724" y="1968587"/>
            <a:ext cx="3995410" cy="4470626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 sz="1200"/>
            </a:pPr>
            <a:r>
              <a:t>Exact Part:</a:t>
            </a:r>
          </a:p>
          <a:p>
            <a:pPr>
              <a:defRPr sz="1200"/>
            </a:pPr>
            <a:r>
              <a:t>a description of the problem being solved. Show the difference between the decision and optimization version of the problem. An example of inputs and outputs is a good idea. (1.5 mins)</a:t>
            </a:r>
          </a:p>
          <a:p>
            <a:pPr>
              <a:defRPr sz="1200"/>
            </a:pPr>
            <a:r>
              <a:t>an explanation of the certifier process being polynomial. Including pseudo-code here is a good idea but make sure its clear that the </a:t>
            </a:r>
            <a:r>
              <a:rPr i="1"/>
              <a:t>certificate</a:t>
            </a:r>
            <a:r>
              <a:t> can be verified in polynomial time.</a:t>
            </a:r>
          </a:p>
          <a:p>
            <a:pPr>
              <a:defRPr sz="1200"/>
            </a:pPr>
            <a:r>
              <a:t>a reduction from a known/accepted NP-hard problem (with examples graphically shown). It must be clear that the reduction takes place in a polynomial number of steps with respect to the problem’s input size.</a:t>
            </a:r>
          </a:p>
          <a:p>
            <a:pPr>
              <a:defRPr sz="1200"/>
            </a:pPr>
            <a:r>
              <a:t>an analytical (big </a:t>
            </a:r>
            <a14:m>
              <m:oMath>
                <m:r>
                  <a:rPr xmlns:a="http://schemas.openxmlformats.org/drawingml/2006/main" sz="12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𝒪</m:t>
                </m:r>
              </m:oMath>
            </a14:m>
            <a:r>
              <a:t>) runtime analysis of your coded solution and showcase the code that is the dominant term (the code that drives the highest order term).</a:t>
            </a:r>
          </a:p>
          <a:p>
            <a:pPr>
              <a:defRPr sz="1200"/>
            </a:pPr>
            <a:r>
              <a:t>a wallclock (empirical) runtime analysis of your code on your test cases. This analysis must show input size on the X axis and runtime on the Y axis</a:t>
            </a:r>
          </a:p>
        </p:txBody>
      </p:sp>
      <p:sp>
        <p:nvSpPr>
          <p:cNvPr id="176" name="Slide Number Placeholder 4"/>
          <p:cNvSpPr txBox="1"/>
          <p:nvPr>
            <p:ph type="sldNum" sz="quarter" idx="2"/>
          </p:nvPr>
        </p:nvSpPr>
        <p:spPr>
          <a:xfrm>
            <a:off x="914400" y="6259740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77" name="Content Placeholder 2"/>
          <p:cNvSpPr txBox="1"/>
          <p:nvPr/>
        </p:nvSpPr>
        <p:spPr>
          <a:xfrm>
            <a:off x="4334114" y="2022249"/>
            <a:ext cx="3903969" cy="44706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b="1" sz="1200"/>
            </a:pPr>
            <a:r>
              <a:t>Approximation Part: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/>
            </a:pPr>
            <a:r>
              <a:t>pseudocode for the approximation and a discussion of the strategy used (greedy, random, etc.)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/>
            </a:pPr>
            <a:r>
              <a:t>analytical run time analysis (the worse case </a:t>
            </a:r>
            <a14:m>
              <m:oMath>
                <m:r>
                  <a:rPr xmlns:a="http://schemas.openxmlformats.org/drawingml/2006/main" sz="12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𝒪</m:t>
                </m:r>
              </m:oMath>
            </a14:m>
            <a:r>
              <a:t> time) of your approximation algorithm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/>
            </a:pPr>
            <a:r>
              <a:t>plots that illustrate the run-time (wall clock) performance of your exact solution versus the approximation solution on your test cases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/>
            </a:pPr>
            <a:r>
              <a:t>plots that compare the result/solution of your exact solution versus the approximation on your test cases. This is where you show the </a:t>
            </a:r>
            <a:r>
              <a:rPr b="1"/>
              <a:t>value</a:t>
            </a:r>
            <a:r>
              <a:t> achieved by both and see how well your approximation did versus the optimal solution.</a:t>
            </a:r>
          </a:p>
        </p:txBody>
      </p:sp>
      <p:sp>
        <p:nvSpPr>
          <p:cNvPr id="178" name="Content Placeholder 2"/>
          <p:cNvSpPr txBox="1"/>
          <p:nvPr/>
        </p:nvSpPr>
        <p:spPr>
          <a:xfrm>
            <a:off x="8242310" y="2022249"/>
            <a:ext cx="3903969" cy="44706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b="1" sz="1200"/>
            </a:pPr>
            <a:r>
              <a:t>Part E: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/>
            </a:pPr>
            <a:r>
              <a:t>Talk about how you broke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/>
            </a:pPr>
            <a:r>
              <a:t>Talk about how you fixed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/>
            </a:pPr>
            <a:r>
              <a:t>What is your approximation weak on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/>
            </a:pPr>
            <a:r>
              <a:t>How does adding more time improve things?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/>
            </a:pPr>
            <a:r>
              <a:t>Conclude everything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Reduction</a:t>
            </a:r>
          </a:p>
        </p:txBody>
      </p:sp>
      <p:pic>
        <p:nvPicPr>
          <p:cNvPr id="181" name="Picture Placeholder 13" descr="Picture Placeholder 13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0" t="119" r="0" b="118"/>
          <a:stretch>
            <a:fillRect/>
          </a:stretch>
        </p:blipFill>
        <p:spPr>
          <a:xfrm>
            <a:off x="6085840" y="-10159"/>
            <a:ext cx="6116321" cy="686816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itle 2"/>
          <p:cNvSpPr txBox="1"/>
          <p:nvPr>
            <p:ph type="title"/>
          </p:nvPr>
        </p:nvSpPr>
        <p:spPr>
          <a:xfrm>
            <a:off x="914400" y="315533"/>
            <a:ext cx="5181600" cy="2376868"/>
          </a:xfrm>
          <a:prstGeom prst="rect">
            <a:avLst/>
          </a:prstGeom>
        </p:spPr>
        <p:txBody>
          <a:bodyPr/>
          <a:lstStyle/>
          <a:p>
            <a:pPr/>
            <a:r>
              <a:t>About us</a:t>
            </a:r>
          </a:p>
        </p:txBody>
      </p:sp>
      <p:sp>
        <p:nvSpPr>
          <p:cNvPr id="184" name="Content Placeholder 3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At Contoso, we empower organizations to foster collaborative thinking to further drive workplace innovation. By closing the loop and leveraging agile frameworks, we help business grow organically and foster a consumer first mindset.</a:t>
            </a:r>
          </a:p>
        </p:txBody>
      </p:sp>
      <p:sp>
        <p:nvSpPr>
          <p:cNvPr id="185" name="Slide Number Placeholder 1"/>
          <p:cNvSpPr txBox="1"/>
          <p:nvPr>
            <p:ph type="sldNum" sz="quarter" idx="2"/>
          </p:nvPr>
        </p:nvSpPr>
        <p:spPr>
          <a:xfrm>
            <a:off x="914400" y="6259740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itle 1"/>
          <p:cNvSpPr txBox="1"/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pPr/>
            <a:r>
              <a:t>Problem </a:t>
            </a:r>
          </a:p>
        </p:txBody>
      </p:sp>
      <p:sp>
        <p:nvSpPr>
          <p:cNvPr id="188" name="Content Placeholder 2"/>
          <p:cNvSpPr txBox="1"/>
          <p:nvPr>
            <p:ph type="body" sz="half" idx="1"/>
          </p:nvPr>
        </p:nvSpPr>
        <p:spPr>
          <a:xfrm>
            <a:off x="914398" y="2011363"/>
            <a:ext cx="7273640" cy="4155758"/>
          </a:xfrm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Market gap</a:t>
            </a:r>
            <a:r>
              <a:rPr b="0"/>
              <a:t>: few, if any, products on the market help customers like we do</a:t>
            </a:r>
            <a:endParaRPr b="0"/>
          </a:p>
          <a:p>
            <a:pPr>
              <a:defRPr b="1"/>
            </a:pPr>
            <a:r>
              <a:t>Customers</a:t>
            </a:r>
            <a:r>
              <a:rPr b="0"/>
              <a:t>: 66% of US consumers spend money on multiple products that only partially resolves their issue</a:t>
            </a:r>
            <a:endParaRPr b="0"/>
          </a:p>
          <a:p>
            <a:pPr>
              <a:defRPr b="1"/>
            </a:pPr>
            <a:r>
              <a:t>Financials</a:t>
            </a:r>
            <a:r>
              <a:rPr b="0"/>
              <a:t>: millennials account for about a quarter of the $48 billion spent on other products in 2018</a:t>
            </a:r>
            <a:endParaRPr b="0"/>
          </a:p>
          <a:p>
            <a:pPr>
              <a:defRPr b="1"/>
            </a:pPr>
            <a:r>
              <a:t>Costs</a:t>
            </a:r>
            <a:r>
              <a:rPr b="0"/>
              <a:t>: loss of productivity costing consumers thousands of dollars </a:t>
            </a:r>
            <a:endParaRPr b="0"/>
          </a:p>
          <a:p>
            <a:pPr>
              <a:defRPr b="1"/>
            </a:pPr>
            <a:r>
              <a:t>Usability</a:t>
            </a:r>
            <a:r>
              <a:rPr b="0"/>
              <a:t>: customers want something easy to use that helps make their life easier </a:t>
            </a:r>
          </a:p>
        </p:txBody>
      </p:sp>
      <p:sp>
        <p:nvSpPr>
          <p:cNvPr id="189" name="Slide Number Placeholder 3"/>
          <p:cNvSpPr txBox="1"/>
          <p:nvPr>
            <p:ph type="sldNum" sz="quarter" idx="2"/>
          </p:nvPr>
        </p:nvSpPr>
        <p:spPr>
          <a:xfrm>
            <a:off x="914400" y="6259740"/>
            <a:ext cx="273656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itle 1"/>
          <p:cNvSpPr txBox="1"/>
          <p:nvPr>
            <p:ph type="title"/>
          </p:nvPr>
        </p:nvSpPr>
        <p:spPr>
          <a:xfrm>
            <a:off x="6096000" y="375284"/>
            <a:ext cx="4896679" cy="3624986"/>
          </a:xfrm>
          <a:prstGeom prst="rect">
            <a:avLst/>
          </a:prstGeom>
        </p:spPr>
        <p:txBody>
          <a:bodyPr/>
          <a:lstStyle/>
          <a:p>
            <a:pPr/>
            <a:r>
              <a:t>Product benefits</a:t>
            </a:r>
          </a:p>
        </p:txBody>
      </p:sp>
      <p:pic>
        <p:nvPicPr>
          <p:cNvPr id="192" name="Picture Placeholder 4" descr="Picture Placeholder 4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0" t="12487" r="0" b="12487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193" name="Content Placeholder 2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Online store and market swap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itle 1"/>
          <p:cNvSpPr txBox="1"/>
          <p:nvPr>
            <p:ph type="title"/>
          </p:nvPr>
        </p:nvSpPr>
        <p:spPr>
          <a:xfrm>
            <a:off x="914399" y="365125"/>
            <a:ext cx="10363201" cy="1629600"/>
          </a:xfrm>
          <a:prstGeom prst="rect">
            <a:avLst/>
          </a:prstGeom>
        </p:spPr>
        <p:txBody>
          <a:bodyPr/>
          <a:lstStyle/>
          <a:p>
            <a:pPr/>
            <a:r>
              <a:t>Our competition</a:t>
            </a:r>
          </a:p>
        </p:txBody>
      </p:sp>
      <p:sp>
        <p:nvSpPr>
          <p:cNvPr id="196" name="Content Placeholder 2"/>
          <p:cNvSpPr txBox="1"/>
          <p:nvPr>
            <p:ph type="body" sz="half" idx="1"/>
          </p:nvPr>
        </p:nvSpPr>
        <p:spPr>
          <a:xfrm>
            <a:off x="914399" y="2022250"/>
            <a:ext cx="4992709" cy="3747181"/>
          </a:xfrm>
          <a:prstGeom prst="rect">
            <a:avLst/>
          </a:prstGeom>
        </p:spPr>
        <p:txBody>
          <a:bodyPr/>
          <a:lstStyle/>
          <a:p>
            <a:pPr/>
            <a:r>
              <a:t>Our product is priced below that of other companies on the market</a:t>
            </a:r>
          </a:p>
          <a:p>
            <a:pPr/>
            <a:r>
              <a:t>Design is simple and easy to use, compared to the complex designs of the competitors</a:t>
            </a:r>
          </a:p>
          <a:p>
            <a:pPr/>
            <a:r>
              <a:t>Affordability is the main draw for our consumers to our product</a:t>
            </a:r>
          </a:p>
        </p:txBody>
      </p:sp>
      <p:sp>
        <p:nvSpPr>
          <p:cNvPr id="197" name="Content Placeholder 3"/>
          <p:cNvSpPr txBox="1"/>
          <p:nvPr/>
        </p:nvSpPr>
        <p:spPr>
          <a:xfrm>
            <a:off x="6330611" y="2022250"/>
            <a:ext cx="4901269" cy="37471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/>
            </a:pPr>
            <a:r>
              <a:t>Company A product is more expensive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/>
            </a:pPr>
            <a:r>
              <a:t>Companies B &amp; C product is expensive and inconvenient to use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/>
            </a:pPr>
            <a:r>
              <a:t>Companies D &amp; E product is affordable, but inconvenient to use</a:t>
            </a:r>
          </a:p>
        </p:txBody>
      </p:sp>
      <p:sp>
        <p:nvSpPr>
          <p:cNvPr id="198" name="Slide Number Placeholder 4"/>
          <p:cNvSpPr txBox="1"/>
          <p:nvPr>
            <p:ph type="sldNum" sz="quarter" idx="2"/>
          </p:nvPr>
        </p:nvSpPr>
        <p:spPr>
          <a:xfrm>
            <a:off x="914400" y="6259740"/>
            <a:ext cx="273656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itle 1"/>
          <p:cNvSpPr txBox="1"/>
          <p:nvPr>
            <p:ph type="title"/>
          </p:nvPr>
        </p:nvSpPr>
        <p:spPr>
          <a:xfrm>
            <a:off x="916384" y="446313"/>
            <a:ext cx="5179617" cy="1448748"/>
          </a:xfrm>
          <a:prstGeom prst="rect">
            <a:avLst/>
          </a:prstGeom>
        </p:spPr>
        <p:txBody>
          <a:bodyPr/>
          <a:lstStyle/>
          <a:p>
            <a:pPr/>
            <a:r>
              <a:t>Growth strategy</a:t>
            </a:r>
          </a:p>
        </p:txBody>
      </p:sp>
      <p:sp>
        <p:nvSpPr>
          <p:cNvPr id="201" name="Content Placeholder 2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Feb 20XX: </a:t>
            </a:r>
            <a:r>
              <a:rPr b="0"/>
              <a:t>roll out product to high profile or top-level participants to help establish the product</a:t>
            </a:r>
            <a:endParaRPr b="0"/>
          </a:p>
          <a:p>
            <a:pPr>
              <a:defRPr b="1"/>
            </a:pPr>
            <a:r>
              <a:t>May 20XX: </a:t>
            </a:r>
            <a:r>
              <a:rPr b="0"/>
              <a:t>release the product to the public and monitor press release and social media accounts</a:t>
            </a:r>
            <a:endParaRPr b="0"/>
          </a:p>
          <a:p>
            <a:pPr>
              <a:defRPr b="1"/>
            </a:pPr>
            <a:r>
              <a:t>Oct 20XX: </a:t>
            </a:r>
            <a:r>
              <a:rPr b="0"/>
              <a:t>gather feedback and adjust product design as necessary</a:t>
            </a:r>
          </a:p>
        </p:txBody>
      </p:sp>
      <p:sp>
        <p:nvSpPr>
          <p:cNvPr id="202" name="Slide Number Placeholder 4"/>
          <p:cNvSpPr txBox="1"/>
          <p:nvPr>
            <p:ph type="sldNum" sz="quarter" idx="2"/>
          </p:nvPr>
        </p:nvSpPr>
        <p:spPr>
          <a:xfrm>
            <a:off x="914400" y="6259740"/>
            <a:ext cx="273656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203" name="Picture Placeholder 17" descr="Picture Placeholder 17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81" t="0" r="80" b="0"/>
          <a:stretch>
            <a:fillRect/>
          </a:stretch>
        </p:blipFill>
        <p:spPr>
          <a:xfrm>
            <a:off x="6076950" y="0"/>
            <a:ext cx="6115051" cy="6868887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itle 1"/>
          <p:cNvSpPr txBox="1"/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Market overview</a:t>
            </a:r>
          </a:p>
        </p:txBody>
      </p:sp>
      <p:sp>
        <p:nvSpPr>
          <p:cNvPr id="206" name="Content Placeholder 2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Opportunity to build</a:t>
            </a:r>
          </a:p>
          <a:p>
            <a:pPr/>
            <a:r>
              <a:t>Fully inclusive market</a:t>
            </a:r>
          </a:p>
          <a:p>
            <a:pPr/>
            <a:r>
              <a:t>Total addressable market</a:t>
            </a:r>
          </a:p>
          <a:p>
            <a:pPr/>
            <a:r>
              <a:t>Freedom to invent</a:t>
            </a:r>
          </a:p>
          <a:p>
            <a:pPr/>
            <a:r>
              <a:t>Selectively inclusive market</a:t>
            </a:r>
          </a:p>
          <a:p>
            <a:pPr/>
            <a:r>
              <a:t>Serviceable available market</a:t>
            </a:r>
          </a:p>
        </p:txBody>
      </p:sp>
      <p:graphicFrame>
        <p:nvGraphicFramePr>
          <p:cNvPr id="207" name="Table 11"/>
          <p:cNvGraphicFramePr/>
          <p:nvPr/>
        </p:nvGraphicFramePr>
        <p:xfrm>
          <a:off x="4602162" y="2017713"/>
          <a:ext cx="6675295" cy="3925485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085272"/>
                <a:gridCol w="1085272"/>
                <a:gridCol w="1085272"/>
                <a:gridCol w="1709739"/>
                <a:gridCol w="1709739"/>
              </a:tblGrid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/>
                        <a:t>Clients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/>
                        <a:t>Orders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/>
                        <a:t>Gross revenue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/>
                        <a:t>Net revenue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10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1100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$10,000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$7,000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20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200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$20,000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$16,000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30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300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$30,000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$25,000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40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400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$40,000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$30,000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</a:tbl>
          </a:graphicData>
        </a:graphic>
      </p:graphicFrame>
      <p:sp>
        <p:nvSpPr>
          <p:cNvPr id="208" name="Slide Number Placeholder 4"/>
          <p:cNvSpPr txBox="1"/>
          <p:nvPr>
            <p:ph type="sldNum" sz="quarter" idx="2"/>
          </p:nvPr>
        </p:nvSpPr>
        <p:spPr>
          <a:xfrm>
            <a:off x="914400" y="6259740"/>
            <a:ext cx="273656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itle 1"/>
          <p:cNvSpPr txBox="1"/>
          <p:nvPr>
            <p:ph type="title"/>
          </p:nvPr>
        </p:nvSpPr>
        <p:spPr>
          <a:xfrm>
            <a:off x="891990" y="434224"/>
            <a:ext cx="9524998" cy="1499629"/>
          </a:xfrm>
          <a:prstGeom prst="rect">
            <a:avLst/>
          </a:prstGeom>
        </p:spPr>
        <p:txBody>
          <a:bodyPr/>
          <a:lstStyle/>
          <a:p>
            <a:pPr/>
            <a:r>
              <a:t>Solution</a:t>
            </a:r>
          </a:p>
        </p:txBody>
      </p:sp>
      <p:sp>
        <p:nvSpPr>
          <p:cNvPr id="211" name="Content Placeholder 2"/>
          <p:cNvSpPr txBox="1"/>
          <p:nvPr>
            <p:ph type="body" sz="half" idx="1"/>
          </p:nvPr>
        </p:nvSpPr>
        <p:spPr>
          <a:xfrm>
            <a:off x="914398" y="2022250"/>
            <a:ext cx="6257368" cy="3914910"/>
          </a:xfrm>
          <a:prstGeom prst="rect">
            <a:avLst/>
          </a:prstGeom>
        </p:spPr>
        <p:txBody>
          <a:bodyPr/>
          <a:lstStyle/>
          <a:p>
            <a:pPr/>
            <a:r>
              <a:t>Our product makes consumer lives easier, and no other product on the market offers the same features</a:t>
            </a:r>
          </a:p>
          <a:p>
            <a:pPr lvl="1">
              <a:buFont typeface="Arial"/>
            </a:pPr>
            <a:r>
              <a:t>Gen Z (18-25 years old)</a:t>
            </a:r>
          </a:p>
          <a:p>
            <a:pPr lvl="1">
              <a:buFont typeface="Arial"/>
            </a:pPr>
            <a:r>
              <a:t>Reduce expenses for replacement products </a:t>
            </a:r>
          </a:p>
          <a:p>
            <a:pPr lvl="1">
              <a:buFont typeface="Arial"/>
            </a:pPr>
            <a:r>
              <a:t>Simple design that gives customers the targeted information they need</a:t>
            </a:r>
          </a:p>
        </p:txBody>
      </p:sp>
      <p:sp>
        <p:nvSpPr>
          <p:cNvPr id="212" name="Content Placeholder 3"/>
          <p:cNvSpPr txBox="1"/>
          <p:nvPr/>
        </p:nvSpPr>
        <p:spPr>
          <a:xfrm>
            <a:off x="8013194" y="2018119"/>
            <a:ext cx="2358075" cy="39319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/>
            </a:pPr>
            <a:r>
              <a:t>Close the gap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/>
            </a:pPr>
            <a:r>
              <a:t>Target audience 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/>
            </a:pPr>
            <a:r>
              <a:t>Cost savings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/>
            </a:pPr>
            <a:r>
              <a:t>Easy to use</a:t>
            </a:r>
          </a:p>
        </p:txBody>
      </p:sp>
      <p:sp>
        <p:nvSpPr>
          <p:cNvPr id="213" name="Slide Number Placeholder 4"/>
          <p:cNvSpPr txBox="1"/>
          <p:nvPr>
            <p:ph type="sldNum" sz="quarter" idx="2"/>
          </p:nvPr>
        </p:nvSpPr>
        <p:spPr>
          <a:xfrm>
            <a:off x="914400" y="6259740"/>
            <a:ext cx="273656" cy="26924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1" y="0"/>
            <a:ext cx="5181602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16" name="Title 6"/>
          <p:cNvSpPr txBox="1"/>
          <p:nvPr>
            <p:ph type="title"/>
          </p:nvPr>
        </p:nvSpPr>
        <p:spPr>
          <a:xfrm>
            <a:off x="6091515" y="374089"/>
            <a:ext cx="5057105" cy="3624986"/>
          </a:xfrm>
          <a:prstGeom prst="rect">
            <a:avLst/>
          </a:prstGeom>
        </p:spPr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217" name="Content Placeholder 9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Brita Tamm</a:t>
            </a:r>
          </a:p>
          <a:p>
            <a:pPr/>
            <a:r>
              <a:t>502-555-0152</a:t>
            </a:r>
          </a:p>
          <a:p>
            <a:pPr/>
            <a:r>
              <a:t>brita@firstupconsultants.com</a:t>
            </a:r>
          </a:p>
          <a:p>
            <a:pPr/>
            <a:r>
              <a:t>www.firstupconsultants.com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Tenorite"/>
            <a:ea typeface="Tenorite"/>
            <a:cs typeface="Tenorite"/>
            <a:sym typeface="Tenorit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Tenorite"/>
            <a:ea typeface="Tenorite"/>
            <a:cs typeface="Tenorite"/>
            <a:sym typeface="Tenorit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Tenorite"/>
            <a:ea typeface="Tenorite"/>
            <a:cs typeface="Tenorite"/>
            <a:sym typeface="Tenorit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Tenorite"/>
            <a:ea typeface="Tenorite"/>
            <a:cs typeface="Tenorite"/>
            <a:sym typeface="Tenorit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
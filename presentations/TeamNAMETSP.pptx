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Col>
    <a:lastRow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F6F5F3"/>
          </a:solidFill>
        </a:fill>
      </a:tcStyle>
    </a:wholeTbl>
    <a:band2H>
      <a:tcTxStyle b="def" i="def"/>
      <a:tcStyle>
        <a:tcBdr/>
        <a:fill>
          <a:solidFill>
            <a:srgbClr val="FBFAF9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381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381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381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381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381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381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000000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381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381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
</file>

<file path=ppt/charts/_rels/chart1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1.xlsx"/></Relationships>

</file>

<file path=ppt/charts/_rels/chart2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2.xlsx"/></Relationships>

</file>

<file path=ppt/charts/_rels/chart3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3.xlsx"/></Relationships>
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title>
      <c:tx>
        <c:rich>
          <a:bodyPr rot="0"/>
          <a:lstStyle/>
          <a:p>
            <a:pPr>
              <a:defRPr b="0" i="0" strike="noStrike" sz="1400" u="none">
                <a:solidFill>
                  <a:srgbClr val="000000"/>
                </a:solidFill>
                <a:latin typeface="Helvetica"/>
              </a:defRPr>
            </a:pPr>
            <a:r>
              <a:rPr b="0" i="0" strike="noStrike" sz="1400" u="none">
                <a:solidFill>
                  <a:srgbClr val="000000"/>
                </a:solidFill>
                <a:latin typeface="Helvetica"/>
              </a:rPr>
              <a:t>Approximate Solution vs. Exact Solution Wall Clock</a:t>
            </a:r>
          </a:p>
        </c:rich>
      </c:tx>
      <c:layout>
        <c:manualLayout>
          <c:xMode val="edge"/>
          <c:yMode val="edge"/>
          <c:x val="0.209116"/>
          <c:y val="0"/>
          <c:w val="0.581769"/>
          <c:h val="0.0805342"/>
        </c:manualLayout>
      </c:layout>
      <c:overlay val="1"/>
      <c:spPr>
        <a:noFill/>
        <a:effectLst/>
      </c:spPr>
    </c:title>
    <c:autoTitleDeleted val="1"/>
    <c:plotArea>
      <c:layout>
        <c:manualLayout>
          <c:layoutTarget val="inner"/>
          <c:xMode val="edge"/>
          <c:yMode val="edge"/>
          <c:x val="0.115235"/>
          <c:y val="0.0805342"/>
          <c:w val="0.879765"/>
          <c:h val="0.746089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Approximate Solution</c:v>
                </c:pt>
              </c:strCache>
            </c:strRef>
          </c:tx>
          <c:spPr>
            <a:solidFill>
              <a:srgbClr val="156082"/>
            </a:solidFill>
            <a:ln w="28575" cap="rnd">
              <a:solidFill>
                <a:srgbClr val="156082"/>
              </a:solidFill>
              <a:prstDash val="solid"/>
              <a:round/>
            </a:ln>
            <a:effectLst/>
          </c:spPr>
          <c:marker>
            <c:symbol val="circle"/>
            <c:size val="2"/>
            <c:spPr>
              <a:solidFill>
                <a:srgbClr val="156082"/>
              </a:solidFill>
              <a:ln w="9525" cap="flat">
                <a:solidFill>
                  <a:srgbClr val="156082"/>
                </a:solidFill>
                <a:prstDash val="solid"/>
                <a:round/>
              </a:ln>
              <a:effectLst/>
            </c:spPr>
          </c:marker>
          <c:dLbls>
            <c:numFmt formatCode="0.####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Helvetica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Sheet1!$A$2:$A$18</c:f>
              <c:strCache>
                <c:ptCount val="17"/>
                <c:pt idx="0">
                  <c:v>3</c:v>
                </c:pt>
                <c:pt idx="1">
                  <c:v>4</c:v>
                </c:pt>
                <c:pt idx="2">
                  <c:v>5</c:v>
                </c:pt>
                <c:pt idx="3">
                  <c:v>6</c:v>
                </c:pt>
                <c:pt idx="4">
                  <c:v>7</c:v>
                </c:pt>
                <c:pt idx="5">
                  <c:v>8</c:v>
                </c:pt>
                <c:pt idx="6">
                  <c:v>9</c:v>
                </c:pt>
                <c:pt idx="7">
                  <c:v>10</c:v>
                </c:pt>
                <c:pt idx="8">
                  <c:v>11</c:v>
                </c:pt>
                <c:pt idx="9">
                  <c:v>12</c:v>
                </c:pt>
                <c:pt idx="10">
                  <c:v>13</c:v>
                </c:pt>
                <c:pt idx="11">
                  <c:v>14</c:v>
                </c:pt>
                <c:pt idx="12">
                  <c:v>15</c:v>
                </c:pt>
                <c:pt idx="13">
                  <c:v>25</c:v>
                </c:pt>
                <c:pt idx="14">
                  <c:v>50</c:v>
                </c:pt>
                <c:pt idx="15">
                  <c:v>100</c:v>
                </c:pt>
                <c:pt idx="16">
                  <c:v>1000</c:v>
                </c:pt>
              </c:strCache>
            </c:strRef>
          </c:cat>
          <c:val>
            <c:numRef>
              <c:f>Sheet1!$B$2:$B$18</c:f>
              <c:numCache>
                <c:ptCount val="17"/>
                <c:pt idx="0">
                  <c:v>0.000009</c:v>
                </c:pt>
                <c:pt idx="1">
                  <c:v>0.000012</c:v>
                </c:pt>
                <c:pt idx="2">
                  <c:v>0.000013</c:v>
                </c:pt>
                <c:pt idx="3">
                  <c:v>0.000016</c:v>
                </c:pt>
                <c:pt idx="4">
                  <c:v>0.000017</c:v>
                </c:pt>
                <c:pt idx="5">
                  <c:v>0.000017</c:v>
                </c:pt>
                <c:pt idx="6">
                  <c:v>0.000037</c:v>
                </c:pt>
                <c:pt idx="7">
                  <c:v>0.000022</c:v>
                </c:pt>
                <c:pt idx="8">
                  <c:v>0.000026</c:v>
                </c:pt>
                <c:pt idx="9">
                  <c:v>0.000029</c:v>
                </c:pt>
                <c:pt idx="10">
                  <c:v>0.000030</c:v>
                </c:pt>
                <c:pt idx="11">
                  <c:v>0.000033</c:v>
                </c:pt>
                <c:pt idx="12">
                  <c:v>0.000058</c:v>
                </c:pt>
                <c:pt idx="13">
                  <c:v>0.000088</c:v>
                </c:pt>
                <c:pt idx="14">
                  <c:v>0.000304</c:v>
                </c:pt>
                <c:pt idx="15">
                  <c:v>0.001417</c:v>
                </c:pt>
                <c:pt idx="16">
                  <c:v>0.263018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Exact Solution</c:v>
                </c:pt>
              </c:strCache>
            </c:strRef>
          </c:tx>
          <c:spPr>
            <a:solidFill>
              <a:srgbClr val="E97132"/>
            </a:solidFill>
            <a:ln w="28575" cap="rnd">
              <a:solidFill>
                <a:srgbClr val="E97132"/>
              </a:solidFill>
              <a:prstDash val="solid"/>
              <a:round/>
            </a:ln>
            <a:effectLst/>
          </c:spPr>
          <c:marker>
            <c:symbol val="circle"/>
            <c:size val="2"/>
            <c:spPr>
              <a:solidFill>
                <a:srgbClr val="E97132"/>
              </a:solidFill>
              <a:ln w="9525" cap="flat">
                <a:solidFill>
                  <a:srgbClr val="E97132"/>
                </a:solidFill>
                <a:prstDash val="solid"/>
                <a:round/>
              </a:ln>
              <a:effectLst/>
            </c:spPr>
          </c:marker>
          <c:dLbls>
            <c:numFmt formatCode="0.####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Helvetica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Sheet1!$A$2:$A$18</c:f>
              <c:strCache>
                <c:ptCount val="17"/>
                <c:pt idx="0">
                  <c:v>3</c:v>
                </c:pt>
                <c:pt idx="1">
                  <c:v>4</c:v>
                </c:pt>
                <c:pt idx="2">
                  <c:v>5</c:v>
                </c:pt>
                <c:pt idx="3">
                  <c:v>6</c:v>
                </c:pt>
                <c:pt idx="4">
                  <c:v>7</c:v>
                </c:pt>
                <c:pt idx="5">
                  <c:v>8</c:v>
                </c:pt>
                <c:pt idx="6">
                  <c:v>9</c:v>
                </c:pt>
                <c:pt idx="7">
                  <c:v>10</c:v>
                </c:pt>
                <c:pt idx="8">
                  <c:v>11</c:v>
                </c:pt>
                <c:pt idx="9">
                  <c:v>12</c:v>
                </c:pt>
                <c:pt idx="10">
                  <c:v>13</c:v>
                </c:pt>
                <c:pt idx="11">
                  <c:v>14</c:v>
                </c:pt>
                <c:pt idx="12">
                  <c:v>15</c:v>
                </c:pt>
                <c:pt idx="13">
                  <c:v>25</c:v>
                </c:pt>
                <c:pt idx="14">
                  <c:v>50</c:v>
                </c:pt>
                <c:pt idx="15">
                  <c:v>100</c:v>
                </c:pt>
                <c:pt idx="16">
                  <c:v>1000</c:v>
                </c:pt>
              </c:strCache>
            </c:strRef>
          </c:cat>
          <c:val>
            <c:numRef>
              <c:f>Sheet1!$C$2:$C$18</c:f>
              <c:numCache>
                <c:ptCount val="17"/>
                <c:pt idx="0">
                  <c:v>0.000008</c:v>
                </c:pt>
                <c:pt idx="1">
                  <c:v>0.000015</c:v>
                </c:pt>
                <c:pt idx="2">
                  <c:v>0.000052</c:v>
                </c:pt>
                <c:pt idx="3">
                  <c:v>0.000311</c:v>
                </c:pt>
                <c:pt idx="4">
                  <c:v>0.002489</c:v>
                </c:pt>
                <c:pt idx="5">
                  <c:v>0.023088</c:v>
                </c:pt>
                <c:pt idx="6">
                  <c:v>0.228790</c:v>
                </c:pt>
                <c:pt idx="7">
                  <c:v>2.428438</c:v>
                </c:pt>
                <c:pt idx="8">
                  <c:v>27.651017</c:v>
                </c:pt>
                <c:pt idx="9">
                  <c:v>410.112470</c:v>
                </c:pt>
                <c:pt idx="10">
                  <c:v>9600.488107</c:v>
                </c:pt>
                <c:pt idx="11">
                  <c:v>244000.000000</c:v>
                </c:pt>
                <c:pt idx="12">
                  <c:v>3920000.000000</c:v>
                </c:pt>
                <c:pt idx="13">
                  <c:v>77600000000000000000.000000</c:v>
                </c:pt>
                <c:pt idx="14">
                  <c:v>303999999999999989609056054781361319260948976421309639557120.000000</c:v>
                </c:pt>
                <c:pt idx="15">
                  <c:v>1869999999999999856227014284560267237797148954868022791564736132921435258019584371840743477472741940230881821703859644400625891928832292253308066625224704.000000</c:v>
                </c:pt>
                <c:pt idx="16">
                  <c:v>803999999999999985975892185874412822256733610163508949102110152033352402612664627773644086569745890760572702819993896698809357325618538479624349544215329347765417247861820924938823413459180038872898797460283142093834213906313537150520040041325484854244321704477749936128.000000</c:v>
                </c:pt>
              </c:numCache>
            </c:numRef>
          </c:val>
          <c:smooth val="0"/>
        </c:ser>
        <c:marker val="1"/>
        <c:axId val="2094734552"/>
        <c:axId val="2094734553"/>
      </c:line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Helvetica"/>
                  </a:defRPr>
                </a:pPr>
                <a:r>
                  <a:rPr b="0" i="0" strike="noStrike" sz="1000" u="none">
                    <a:solidFill>
                      <a:srgbClr val="000000"/>
                    </a:solidFill>
                    <a:latin typeface="Helvetica"/>
                  </a:rPr>
                  <a:t>Test Cases
 (# nodes per test case)</a:t>
                </a:r>
              </a:p>
            </c:rich>
          </c:tx>
          <c:layout/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 rot="0"/>
          <a:lstStyle/>
          <a:p>
            <a:pPr>
              <a:defRPr b="0" i="0" strike="noStrike" sz="900" u="none">
                <a:solidFill>
                  <a:srgbClr val="000000"/>
                </a:solidFill>
                <a:latin typeface="Helvetica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  <c:max val="5e+06"/>
        </c:scaling>
        <c:delete val="0"/>
        <c:axPos val="l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Helvetica"/>
                  </a:defRPr>
                </a:pPr>
                <a:r>
                  <a:rPr b="0" i="0" strike="noStrike" sz="1000" u="none">
                    <a:solidFill>
                      <a:srgbClr val="000000"/>
                    </a:solidFill>
                    <a:latin typeface="Helvetica"/>
                  </a:rPr>
                  <a:t>Time (seconds)</a:t>
                </a:r>
              </a:p>
            </c:rich>
          </c:tx>
          <c:layout/>
          <c:overlay val="1"/>
        </c:title>
        <c:numFmt formatCode="0.####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900" u="none">
                <a:solidFill>
                  <a:srgbClr val="000000"/>
                </a:solidFill>
                <a:latin typeface="Helvetica"/>
              </a:defRPr>
            </a:pPr>
          </a:p>
        </c:txPr>
        <c:crossAx val="2094734552"/>
        <c:crosses val="autoZero"/>
        <c:crossBetween val="between"/>
        <c:majorUnit val="1.25e+06"/>
        <c:minorUnit val="625000"/>
      </c:valAx>
      <c:spPr>
        <a:noFill/>
        <a:ln w="12700" cap="flat">
          <a:noFill/>
          <a:miter lim="400000"/>
        </a:ln>
        <a:effectLst/>
      </c:spPr>
    </c:plotArea>
    <c:legend>
      <c:legendPos val="b"/>
      <c:layout>
        <c:manualLayout>
          <c:xMode val="edge"/>
          <c:yMode val="edge"/>
          <c:x val="0.310705"/>
          <c:y val="0.955862"/>
          <c:w val="0.434613"/>
          <c:h val="0.0441384"/>
        </c:manualLayout>
      </c:layout>
      <c:overlay val="1"/>
      <c:spPr>
        <a:noFill/>
        <a:ln w="12700" cap="flat">
          <a:noFill/>
          <a:miter lim="400000"/>
        </a:ln>
        <a:effectLst/>
      </c:spPr>
      <c:txPr>
        <a:bodyPr rot="0"/>
        <a:lstStyle/>
        <a:p>
          <a:pPr>
            <a:defRPr b="0" i="0" strike="noStrike" sz="900" u="none">
              <a:solidFill>
                <a:srgbClr val="000000"/>
              </a:solidFill>
              <a:latin typeface="Helvetica"/>
            </a:defRPr>
          </a:pPr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title>
      <c:tx>
        <c:rich>
          <a:bodyPr rot="0"/>
          <a:lstStyle/>
          <a:p>
            <a:pPr>
              <a:defRPr b="0" i="0" strike="noStrike" sz="2000" u="none">
                <a:solidFill>
                  <a:srgbClr val="000000"/>
                </a:solidFill>
                <a:latin typeface="Helvetica"/>
              </a:defRPr>
            </a:pPr>
            <a:r>
              <a:rPr b="0" i="0" strike="noStrike" sz="2000" u="none">
                <a:solidFill>
                  <a:srgbClr val="000000"/>
                </a:solidFill>
                <a:latin typeface="Helvetica"/>
              </a:rPr>
              <a:t>Lengths Produced from Approx. Solution</a:t>
            </a:r>
          </a:p>
        </c:rich>
      </c:tx>
      <c:layout>
        <c:manualLayout>
          <c:xMode val="edge"/>
          <c:yMode val="edge"/>
          <c:x val="0.150123"/>
          <c:y val="0"/>
          <c:w val="0.699753"/>
          <c:h val="0.111089"/>
        </c:manualLayout>
      </c:layout>
      <c:overlay val="1"/>
      <c:spPr>
        <a:noFill/>
        <a:effectLst/>
      </c:spPr>
    </c:title>
    <c:autoTitleDeleted val="1"/>
    <c:plotArea>
      <c:layout>
        <c:manualLayout>
          <c:layoutTarget val="inner"/>
          <c:xMode val="edge"/>
          <c:yMode val="edge"/>
          <c:x val="0.0835527"/>
          <c:y val="0.111089"/>
          <c:w val="0.911447"/>
          <c:h val="0.76056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Lengths Produced</c:v>
                </c:pt>
              </c:strCache>
            </c:strRef>
          </c:tx>
          <c:spPr>
            <a:solidFill>
              <a:srgbClr val="BF9000"/>
            </a:solidFill>
            <a:ln w="9525" cap="flat">
              <a:solidFill>
                <a:srgbClr val="806000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Helvetica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Sheet1!$B$1:$I$1</c:f>
              <c:strCache>
                <c:ptCount val="8"/>
                <c:pt idx="0">
                  <c:v>12.6</c:v>
                </c:pt>
                <c:pt idx="1">
                  <c:v>13.6</c:v>
                </c:pt>
                <c:pt idx="2">
                  <c:v>14.6</c:v>
                </c:pt>
                <c:pt idx="3">
                  <c:v>60.7</c:v>
                </c:pt>
                <c:pt idx="4">
                  <c:v>61.7</c:v>
                </c:pt>
                <c:pt idx="5">
                  <c:v>62.7</c:v>
                </c:pt>
                <c:pt idx="6">
                  <c:v>1011.7</c:v>
                </c:pt>
                <c:pt idx="7">
                  <c:v>1012.7</c:v>
                </c:pt>
              </c:strCache>
            </c:strRef>
          </c:cat>
          <c:val>
            <c:numRef>
              <c:f>Sheet1!$B$2:$I$2</c:f>
              <c:numCache>
                <c:ptCount val="8"/>
                <c:pt idx="0">
                  <c:v>18.000000</c:v>
                </c:pt>
                <c:pt idx="1">
                  <c:v>15.000000</c:v>
                </c:pt>
                <c:pt idx="2">
                  <c:v>1.000000</c:v>
                </c:pt>
                <c:pt idx="3">
                  <c:v>7.000000</c:v>
                </c:pt>
                <c:pt idx="4">
                  <c:v>34.000000</c:v>
                </c:pt>
                <c:pt idx="5">
                  <c:v>11.000000</c:v>
                </c:pt>
                <c:pt idx="6">
                  <c:v>12.000000</c:v>
                </c:pt>
                <c:pt idx="7">
                  <c:v>2.000000</c:v>
                </c:pt>
              </c:numCache>
            </c:numRef>
          </c:val>
        </c:ser>
        <c:gapWidth val="219"/>
        <c:overlap val="-27"/>
        <c:axId val="2094734552"/>
        <c:axId val="2094734553"/>
      </c:bar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i="0" strike="noStrike" sz="1400" u="none">
                    <a:solidFill>
                      <a:srgbClr val="000000"/>
                    </a:solidFill>
                    <a:latin typeface="Helvetica"/>
                  </a:defRPr>
                </a:pPr>
                <a:r>
                  <a:rPr b="0" i="0" strike="noStrike" sz="1400" u="none">
                    <a:solidFill>
                      <a:srgbClr val="000000"/>
                    </a:solidFill>
                    <a:latin typeface="Helvetica"/>
                  </a:rPr>
                  <a:t>Lengths Produced</a:t>
                </a:r>
              </a:p>
            </c:rich>
          </c:tx>
          <c:layout/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 rot="0"/>
          <a:lstStyle/>
          <a:p>
            <a:pPr>
              <a:defRPr b="0" i="0" strike="noStrike" sz="900" u="none">
                <a:solidFill>
                  <a:srgbClr val="000000"/>
                </a:solidFill>
                <a:latin typeface="Helvetica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b="0" i="0" strike="noStrike" sz="1400" u="none">
                    <a:solidFill>
                      <a:srgbClr val="000000"/>
                    </a:solidFill>
                    <a:latin typeface="Helvetica"/>
                  </a:defRPr>
                </a:pPr>
                <a:r>
                  <a:rPr b="0" i="0" strike="noStrike" sz="1400" u="none">
                    <a:solidFill>
                      <a:srgbClr val="000000"/>
                    </a:solidFill>
                    <a:latin typeface="Helvetica"/>
                  </a:rPr>
                  <a:t>Frequency</a:t>
                </a:r>
              </a:p>
            </c:rich>
          </c:tx>
          <c:layout/>
          <c:overlay val="1"/>
        </c:title>
        <c:numFmt formatCode="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900" u="none">
                <a:solidFill>
                  <a:srgbClr val="000000"/>
                </a:solidFill>
                <a:latin typeface="Helvetica"/>
              </a:defRPr>
            </a:pPr>
          </a:p>
        </c:txPr>
        <c:crossAx val="2094734552"/>
        <c:crosses val="autoZero"/>
        <c:crossBetween val="between"/>
        <c:majorUnit val="10"/>
        <c:minorUnit val="5"/>
      </c:valAx>
      <c:spPr>
        <a:noFill/>
        <a:ln w="12700" cap="flat">
          <a:noFill/>
          <a:miter lim="400000"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title>
      <c:tx>
        <c:rich>
          <a:bodyPr rot="0"/>
          <a:lstStyle/>
          <a:p>
            <a:pPr>
              <a:defRPr b="0" i="0" strike="noStrike" sz="2000" u="none">
                <a:solidFill>
                  <a:srgbClr val="0D0D0D"/>
                </a:solidFill>
                <a:latin typeface="Helvetica"/>
              </a:defRPr>
            </a:pPr>
            <a:r>
              <a:rPr b="0" i="0" strike="noStrike" sz="2000" u="none">
                <a:solidFill>
                  <a:srgbClr val="0D0D0D"/>
                </a:solidFill>
                <a:latin typeface="Helvetica"/>
              </a:rPr>
              <a:t>Lengths Produced from Zenith</a:t>
            </a:r>
          </a:p>
        </c:rich>
      </c:tx>
      <c:layout>
        <c:manualLayout>
          <c:xMode val="edge"/>
          <c:yMode val="edge"/>
          <c:x val="0.0763848"/>
          <c:y val="0"/>
          <c:w val="0.84723"/>
          <c:h val="0.123671"/>
        </c:manualLayout>
      </c:layout>
      <c:overlay val="1"/>
      <c:spPr>
        <a:noFill/>
        <a:effectLst/>
      </c:spPr>
    </c:title>
    <c:autoTitleDeleted val="1"/>
    <c:plotArea>
      <c:layout>
        <c:manualLayout>
          <c:layoutTarget val="inner"/>
          <c:xMode val="edge"/>
          <c:yMode val="edge"/>
          <c:x val="0.151205"/>
          <c:y val="0.123671"/>
          <c:w val="0.843795"/>
          <c:h val="0.74955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Frequency</c:v>
                </c:pt>
              </c:strCache>
            </c:strRef>
          </c:tx>
          <c:spPr>
            <a:solidFill>
              <a:srgbClr val="BF9000"/>
            </a:solidFill>
            <a:ln w="9525" cap="flat">
              <a:solidFill>
                <a:srgbClr val="806000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D0D0D"/>
                    </a:solidFill>
                    <a:latin typeface="Helvetica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Sheet1!$B$1:$B$1</c:f>
              <c:strCache>
                <c:ptCount val="1"/>
                <c:pt idx="0">
                  <c:v>12.6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100.000000</c:v>
                </c:pt>
              </c:numCache>
            </c:numRef>
          </c:val>
        </c:ser>
        <c:gapWidth val="219"/>
        <c:overlap val="-27"/>
        <c:axId val="2094734552"/>
        <c:axId val="2094734553"/>
      </c:bar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i="0" strike="noStrike" sz="1400" u="none">
                    <a:solidFill>
                      <a:srgbClr val="0D0D0D"/>
                    </a:solidFill>
                    <a:latin typeface="Helvetica"/>
                  </a:defRPr>
                </a:pPr>
                <a:r>
                  <a:rPr b="0" i="0" strike="noStrike" sz="1400" u="none">
                    <a:solidFill>
                      <a:srgbClr val="0D0D0D"/>
                    </a:solidFill>
                    <a:latin typeface="Helvetica"/>
                  </a:rPr>
                  <a:t>Lengths Produced</a:t>
                </a:r>
              </a:p>
            </c:rich>
          </c:tx>
          <c:layout/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 rot="0"/>
          <a:lstStyle/>
          <a:p>
            <a:pPr>
              <a:defRPr b="0" i="0" strike="noStrike" sz="900" u="none">
                <a:solidFill>
                  <a:srgbClr val="0D0D0D"/>
                </a:solidFill>
                <a:latin typeface="Helvetica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b="0" i="0" strike="noStrike" sz="1400" u="none">
                    <a:solidFill>
                      <a:srgbClr val="0D0D0D"/>
                    </a:solidFill>
                    <a:latin typeface="Helvetica"/>
                  </a:defRPr>
                </a:pPr>
                <a:r>
                  <a:rPr b="0" i="0" strike="noStrike" sz="1400" u="none">
                    <a:solidFill>
                      <a:srgbClr val="0D0D0D"/>
                    </a:solidFill>
                    <a:latin typeface="Helvetica"/>
                  </a:rPr>
                  <a:t>Frequency</a:t>
                </a:r>
              </a:p>
            </c:rich>
          </c:tx>
          <c:layout/>
          <c:overlay val="1"/>
        </c:title>
        <c:numFmt formatCode="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900" u="none">
                <a:solidFill>
                  <a:srgbClr val="0D0D0D"/>
                </a:solidFill>
                <a:latin typeface="Helvetica"/>
              </a:defRPr>
            </a:pPr>
          </a:p>
        </c:txPr>
        <c:crossAx val="2094734552"/>
        <c:crosses val="autoZero"/>
        <c:crossBetween val="between"/>
        <c:majorUnit val="25"/>
        <c:minorUnit val="12.5"/>
      </c:valAx>
      <c:spPr>
        <a:noFill/>
        <a:ln w="12700" cap="flat">
          <a:noFill/>
          <a:miter lim="400000"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3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34" name="Shape 134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.png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lick to add title"/>
          <p:cNvSpPr txBox="1"/>
          <p:nvPr>
            <p:ph type="title" hasCustomPrompt="1"/>
          </p:nvPr>
        </p:nvSpPr>
        <p:spPr>
          <a:xfrm>
            <a:off x="6096000" y="2773681"/>
            <a:ext cx="5674360" cy="3200403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Click to add title</a:t>
            </a:r>
          </a:p>
        </p:txBody>
      </p:sp>
      <p:pic>
        <p:nvPicPr>
          <p:cNvPr id="13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rcRect l="18454" t="1727" r="0" b="0"/>
          <a:stretch>
            <a:fillRect/>
          </a:stretch>
        </p:blipFill>
        <p:spPr>
          <a:xfrm>
            <a:off x="-12" y="0"/>
            <a:ext cx="8265012" cy="5320146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Slide Number"/>
          <p:cNvSpPr txBox="1"/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ection Titl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rcRect l="13300" t="13815" r="0" b="0"/>
          <a:stretch>
            <a:fillRect/>
          </a:stretch>
        </p:blipFill>
        <p:spPr>
          <a:xfrm>
            <a:off x="0" y="-1"/>
            <a:ext cx="4239206" cy="3776194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Click to add title"/>
          <p:cNvSpPr txBox="1"/>
          <p:nvPr>
            <p:ph type="title" hasCustomPrompt="1"/>
          </p:nvPr>
        </p:nvSpPr>
        <p:spPr>
          <a:xfrm>
            <a:off x="914400" y="2580638"/>
            <a:ext cx="5181600" cy="3368824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Click to add title</a:t>
            </a:r>
          </a:p>
        </p:txBody>
      </p:sp>
      <p:sp>
        <p:nvSpPr>
          <p:cNvPr id="23" name="Picture Placeholder 8"/>
          <p:cNvSpPr/>
          <p:nvPr>
            <p:ph type="pic" idx="21"/>
          </p:nvPr>
        </p:nvSpPr>
        <p:spPr>
          <a:xfrm>
            <a:off x="6085840" y="-10165"/>
            <a:ext cx="6116328" cy="686817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4" name="Slide Number"/>
          <p:cNvSpPr txBox="1"/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Overview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5158" t="0" r="0" b="78533"/>
          <a:stretch>
            <a:fillRect/>
          </a:stretch>
        </p:blipFill>
        <p:spPr>
          <a:xfrm rot="10800000">
            <a:off x="6324598" y="-8"/>
            <a:ext cx="5867405" cy="1317517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Click to add title"/>
          <p:cNvSpPr txBox="1"/>
          <p:nvPr>
            <p:ph type="title" hasCustomPrompt="1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pPr/>
            <a:r>
              <a:t>Click to add title</a:t>
            </a:r>
          </a:p>
        </p:txBody>
      </p:sp>
      <p:sp>
        <p:nvSpPr>
          <p:cNvPr id="33" name="Picture Placeholder 11"/>
          <p:cNvSpPr/>
          <p:nvPr>
            <p:ph type="pic" idx="21"/>
          </p:nvPr>
        </p:nvSpPr>
        <p:spPr>
          <a:xfrm>
            <a:off x="0" y="-10165"/>
            <a:ext cx="6096000" cy="68580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4" name="Body Level One…"/>
          <p:cNvSpPr txBox="1"/>
          <p:nvPr>
            <p:ph type="body" sz="quarter" idx="1" hasCustomPrompt="1"/>
          </p:nvPr>
        </p:nvSpPr>
        <p:spPr>
          <a:xfrm>
            <a:off x="6126162" y="4172989"/>
            <a:ext cx="4806001" cy="2389747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000"/>
            </a:lvl1pPr>
            <a:lvl2pPr marL="0" indent="0">
              <a:buSzTx/>
              <a:buFontTx/>
              <a:buNone/>
              <a:defRPr sz="2000"/>
            </a:lvl2pPr>
            <a:lvl3pPr marL="0" indent="0">
              <a:buSzTx/>
              <a:buFontTx/>
              <a:buNone/>
              <a:defRPr sz="2000"/>
            </a:lvl3pPr>
            <a:lvl4pPr marL="0" indent="0">
              <a:buSzTx/>
              <a:buFontTx/>
              <a:buNone/>
              <a:defRPr sz="2000"/>
            </a:lvl4pPr>
            <a:lvl5pPr marL="0" indent="0">
              <a:buSzTx/>
              <a:buFontTx/>
              <a:buNone/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Slide Number"/>
          <p:cNvSpPr txBox="1"/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raphic 2" descr="Graphic 2"/>
          <p:cNvPicPr>
            <a:picLocks noChangeAspect="1"/>
          </p:cNvPicPr>
          <p:nvPr/>
        </p:nvPicPr>
        <p:blipFill>
          <a:blip r:embed="rId2">
            <a:extLst/>
          </a:blip>
          <a:srcRect l="45239" t="0" r="0" b="0"/>
          <a:stretch>
            <a:fillRect/>
          </a:stretch>
        </p:blipFill>
        <p:spPr>
          <a:xfrm flipH="1">
            <a:off x="9135412" y="0"/>
            <a:ext cx="3056596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Graphic 8" descr="Graphic 8"/>
          <p:cNvPicPr>
            <a:picLocks noChangeAspect="1"/>
          </p:cNvPicPr>
          <p:nvPr/>
        </p:nvPicPr>
        <p:blipFill>
          <a:blip r:embed="rId3">
            <a:extLst/>
          </a:blip>
          <a:srcRect l="0" t="0" r="0" b="2330"/>
          <a:stretch>
            <a:fillRect/>
          </a:stretch>
        </p:blipFill>
        <p:spPr>
          <a:xfrm>
            <a:off x="7810500" y="3025140"/>
            <a:ext cx="4381500" cy="3832860"/>
          </a:xfrm>
          <a:prstGeom prst="rect">
            <a:avLst/>
          </a:prstGeom>
          <a:ln w="12700">
            <a:miter lim="400000"/>
          </a:ln>
        </p:spPr>
      </p:pic>
      <p:sp>
        <p:nvSpPr>
          <p:cNvPr id="44" name="Click to add title"/>
          <p:cNvSpPr txBox="1"/>
          <p:nvPr>
            <p:ph type="title" hasCustomPrompt="1"/>
          </p:nvPr>
        </p:nvSpPr>
        <p:spPr>
          <a:xfrm>
            <a:off x="914399" y="365125"/>
            <a:ext cx="7273637" cy="1646555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45" name="Body Level One…"/>
          <p:cNvSpPr txBox="1"/>
          <p:nvPr>
            <p:ph type="body" sz="half" idx="1" hasCustomPrompt="1"/>
          </p:nvPr>
        </p:nvSpPr>
        <p:spPr>
          <a:xfrm>
            <a:off x="914399" y="2011363"/>
            <a:ext cx="7273640" cy="415576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Content and left Imag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 rot="16200000">
            <a:off x="8039100" y="228599"/>
            <a:ext cx="4381500" cy="3924302"/>
          </a:xfrm>
          <a:prstGeom prst="rect">
            <a:avLst/>
          </a:prstGeom>
          <a:ln w="12700">
            <a:miter lim="400000"/>
          </a:ln>
        </p:spPr>
      </p:pic>
      <p:sp>
        <p:nvSpPr>
          <p:cNvPr id="54" name="Title Text"/>
          <p:cNvSpPr txBox="1"/>
          <p:nvPr>
            <p:ph type="title"/>
          </p:nvPr>
        </p:nvSpPr>
        <p:spPr>
          <a:xfrm>
            <a:off x="6096000" y="375283"/>
            <a:ext cx="4896678" cy="3624989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55" name="Picture Placeholder 10"/>
          <p:cNvSpPr/>
          <p:nvPr>
            <p:ph type="pic" idx="21"/>
          </p:nvPr>
        </p:nvSpPr>
        <p:spPr>
          <a:xfrm>
            <a:off x="0" y="0"/>
            <a:ext cx="6096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56" name="Body Level One…"/>
          <p:cNvSpPr txBox="1"/>
          <p:nvPr>
            <p:ph type="body" sz="quarter" idx="1" hasCustomPrompt="1"/>
          </p:nvPr>
        </p:nvSpPr>
        <p:spPr>
          <a:xfrm>
            <a:off x="6096000" y="4172989"/>
            <a:ext cx="4896678" cy="230973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2370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7" name="Slide Number"/>
          <p:cNvSpPr txBox="1"/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981" t="40714" r="61027" b="44471"/>
          <a:stretch>
            <a:fillRect/>
          </a:stretch>
        </p:blipFill>
        <p:spPr>
          <a:xfrm flipH="1">
            <a:off x="-26836" y="5950036"/>
            <a:ext cx="2513536" cy="914412"/>
          </a:xfrm>
          <a:prstGeom prst="rect">
            <a:avLst/>
          </a:prstGeom>
          <a:ln w="12700">
            <a:miter lim="400000"/>
          </a:ln>
        </p:spPr>
      </p:pic>
      <p:pic>
        <p:nvPicPr>
          <p:cNvPr id="65" name="Graphic 8" descr="Graphic 8"/>
          <p:cNvPicPr>
            <a:picLocks noChangeAspect="1"/>
          </p:cNvPicPr>
          <p:nvPr/>
        </p:nvPicPr>
        <p:blipFill>
          <a:blip r:embed="rId3">
            <a:extLst/>
          </a:blip>
          <a:srcRect l="18883" t="18052" r="46634" b="0"/>
          <a:stretch>
            <a:fillRect/>
          </a:stretch>
        </p:blipFill>
        <p:spPr>
          <a:xfrm rot="5400000">
            <a:off x="9553763" y="-952311"/>
            <a:ext cx="1685939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66" name="Click to add title"/>
          <p:cNvSpPr txBox="1"/>
          <p:nvPr>
            <p:ph type="title" hasCustomPrompt="1"/>
          </p:nvPr>
        </p:nvSpPr>
        <p:spPr>
          <a:xfrm>
            <a:off x="914396" y="365125"/>
            <a:ext cx="10439404" cy="1617017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67" name="Body Level One…"/>
          <p:cNvSpPr txBox="1"/>
          <p:nvPr>
            <p:ph type="body" sz="quarter" idx="1" hasCustomPrompt="1"/>
          </p:nvPr>
        </p:nvSpPr>
        <p:spPr>
          <a:xfrm>
            <a:off x="914399" y="2022250"/>
            <a:ext cx="3310129" cy="3747181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b="1" sz="2000"/>
            </a:lvl1pPr>
            <a:lvl2pPr marL="711200" indent="-254000">
              <a:spcBef>
                <a:spcPts val="1200"/>
              </a:spcBef>
              <a:defRPr b="1" sz="2000"/>
            </a:lvl2pPr>
            <a:lvl3pPr marL="1200150" indent="-285750">
              <a:spcBef>
                <a:spcPts val="1200"/>
              </a:spcBef>
              <a:defRPr b="1" sz="2000"/>
            </a:lvl3pPr>
            <a:lvl4pPr marL="1698169" indent="-326569">
              <a:spcBef>
                <a:spcPts val="1200"/>
              </a:spcBef>
              <a:defRPr b="1" sz="2000"/>
            </a:lvl4pPr>
            <a:lvl5pPr marL="2155369" indent="-326569">
              <a:spcBef>
                <a:spcPts val="1200"/>
              </a:spcBef>
              <a:defRPr b="1"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Content and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raphic 1" descr="Graphic 1"/>
          <p:cNvPicPr>
            <a:picLocks noChangeAspect="1"/>
          </p:cNvPicPr>
          <p:nvPr/>
        </p:nvPicPr>
        <p:blipFill>
          <a:blip r:embed="rId2">
            <a:extLst/>
          </a:blip>
          <a:srcRect l="0" t="0" r="55824" b="26760"/>
          <a:stretch>
            <a:fillRect/>
          </a:stretch>
        </p:blipFill>
        <p:spPr>
          <a:xfrm>
            <a:off x="9229725" y="1835239"/>
            <a:ext cx="2962276" cy="5022761"/>
          </a:xfrm>
          <a:prstGeom prst="rect">
            <a:avLst/>
          </a:prstGeom>
          <a:ln w="12700">
            <a:miter lim="400000"/>
          </a:ln>
        </p:spPr>
      </p:pic>
      <p:sp>
        <p:nvSpPr>
          <p:cNvPr id="76" name="Rectangle 13"/>
          <p:cNvSpPr/>
          <p:nvPr/>
        </p:nvSpPr>
        <p:spPr>
          <a:xfrm>
            <a:off x="4443412" y="1835236"/>
            <a:ext cx="7000876" cy="427981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Tenorite"/>
                <a:ea typeface="Tenorite"/>
                <a:cs typeface="Tenorite"/>
                <a:sym typeface="Tenorite"/>
              </a:defRPr>
            </a:pPr>
          </a:p>
        </p:txBody>
      </p:sp>
      <p:pic>
        <p:nvPicPr>
          <p:cNvPr id="77" name="Graphic 8" descr="Graphic 8"/>
          <p:cNvPicPr>
            <a:picLocks noChangeAspect="1"/>
          </p:cNvPicPr>
          <p:nvPr/>
        </p:nvPicPr>
        <p:blipFill>
          <a:blip r:embed="rId2">
            <a:extLst/>
          </a:blip>
          <a:srcRect l="0" t="60903" r="75060" b="10346"/>
          <a:stretch>
            <a:fillRect/>
          </a:stretch>
        </p:blipFill>
        <p:spPr>
          <a:xfrm rot="16200000">
            <a:off x="149647" y="-149658"/>
            <a:ext cx="1672379" cy="1971682"/>
          </a:xfrm>
          <a:prstGeom prst="rect">
            <a:avLst/>
          </a:prstGeom>
          <a:ln w="12700">
            <a:miter lim="400000"/>
          </a:ln>
        </p:spPr>
      </p:pic>
      <p:sp>
        <p:nvSpPr>
          <p:cNvPr id="78" name="Click to add title"/>
          <p:cNvSpPr txBox="1"/>
          <p:nvPr>
            <p:ph type="title" hasCustomPrompt="1"/>
          </p:nvPr>
        </p:nvSpPr>
        <p:spPr>
          <a:xfrm>
            <a:off x="914399" y="365125"/>
            <a:ext cx="10363204" cy="1603463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79" name="Body Level One…"/>
          <p:cNvSpPr txBox="1"/>
          <p:nvPr>
            <p:ph type="body" sz="quarter" idx="1" hasCustomPrompt="1"/>
          </p:nvPr>
        </p:nvSpPr>
        <p:spPr>
          <a:xfrm>
            <a:off x="914399" y="2022250"/>
            <a:ext cx="3299015" cy="391491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8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two Content 3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8883" t="34408" r="46634" b="1"/>
          <a:stretch>
            <a:fillRect/>
          </a:stretch>
        </p:blipFill>
        <p:spPr>
          <a:xfrm rot="10800000">
            <a:off x="10506071" y="3984078"/>
            <a:ext cx="1685939" cy="2873926"/>
          </a:xfrm>
          <a:prstGeom prst="rect">
            <a:avLst/>
          </a:prstGeom>
          <a:ln w="12700">
            <a:miter lim="400000"/>
          </a:ln>
        </p:spPr>
      </p:pic>
      <p:pic>
        <p:nvPicPr>
          <p:cNvPr id="88" name="Graphic 8" descr="Graphic 8"/>
          <p:cNvPicPr>
            <a:picLocks noChangeAspect="1"/>
          </p:cNvPicPr>
          <p:nvPr/>
        </p:nvPicPr>
        <p:blipFill>
          <a:blip r:embed="rId3">
            <a:extLst/>
          </a:blip>
          <a:srcRect l="29718" t="47145" r="39388" b="8751"/>
          <a:stretch>
            <a:fillRect/>
          </a:stretch>
        </p:blipFill>
        <p:spPr>
          <a:xfrm flipH="1" rot="16200000">
            <a:off x="9781526" y="-311517"/>
            <a:ext cx="2098975" cy="2721995"/>
          </a:xfrm>
          <a:prstGeom prst="rect">
            <a:avLst/>
          </a:prstGeom>
          <a:ln w="12700">
            <a:miter lim="400000"/>
          </a:ln>
        </p:spPr>
      </p:pic>
      <p:sp>
        <p:nvSpPr>
          <p:cNvPr id="89" name="Click to add title"/>
          <p:cNvSpPr txBox="1"/>
          <p:nvPr>
            <p:ph type="title" hasCustomPrompt="1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90" name="Body Level One…"/>
          <p:cNvSpPr txBox="1"/>
          <p:nvPr>
            <p:ph type="body" sz="half" idx="1" hasCustomPrompt="1"/>
          </p:nvPr>
        </p:nvSpPr>
        <p:spPr>
          <a:xfrm>
            <a:off x="914399" y="2022250"/>
            <a:ext cx="6257367" cy="391491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/>
            </a:lvl1pPr>
            <a:lvl2pPr marL="228600" indent="-228600">
              <a:spcBef>
                <a:spcPts val="1200"/>
              </a:spcBef>
              <a:buFontTx/>
              <a:defRPr sz="2000"/>
            </a:lvl2pPr>
            <a:lvl3pPr marL="711200" indent="-254000">
              <a:spcBef>
                <a:spcPts val="1200"/>
              </a:spcBef>
              <a:buFontTx/>
              <a:defRPr sz="2000"/>
            </a:lvl3pPr>
            <a:lvl4pPr marL="971550" indent="-285750">
              <a:spcBef>
                <a:spcPts val="1200"/>
              </a:spcBef>
              <a:buFontTx/>
              <a:defRPr sz="2000"/>
            </a:lvl4pPr>
            <a:lvl5pPr marL="1200150" indent="-285750">
              <a:spcBef>
                <a:spcPts val="1200"/>
              </a:spcBef>
              <a:buFontTx/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Click to add title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9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losing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lick to add title"/>
          <p:cNvSpPr txBox="1"/>
          <p:nvPr>
            <p:ph type="title" hasCustomPrompt="1"/>
          </p:nvPr>
        </p:nvSpPr>
        <p:spPr>
          <a:xfrm>
            <a:off x="6091515" y="374090"/>
            <a:ext cx="5057105" cy="3624985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Click to add title</a:t>
            </a:r>
          </a:p>
        </p:txBody>
      </p:sp>
      <p:sp>
        <p:nvSpPr>
          <p:cNvPr id="107" name="Body Level One…"/>
          <p:cNvSpPr txBox="1"/>
          <p:nvPr>
            <p:ph type="body" sz="quarter" idx="1" hasCustomPrompt="1"/>
          </p:nvPr>
        </p:nvSpPr>
        <p:spPr>
          <a:xfrm>
            <a:off x="6091513" y="4172989"/>
            <a:ext cx="5057105" cy="2519374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114550" indent="-28575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pPr/>
            <a:r>
              <a:t>Click to add content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pic>
        <p:nvPicPr>
          <p:cNvPr id="108" name="Graphic 1" descr="Graphic 1"/>
          <p:cNvPicPr>
            <a:picLocks noChangeAspect="1"/>
          </p:cNvPicPr>
          <p:nvPr/>
        </p:nvPicPr>
        <p:blipFill>
          <a:blip r:embed="rId2">
            <a:extLst/>
          </a:blip>
          <a:srcRect l="4151" t="0" r="18576" b="0"/>
          <a:stretch>
            <a:fillRect/>
          </a:stretch>
        </p:blipFill>
        <p:spPr>
          <a:xfrm flipH="1">
            <a:off x="-5" y="0"/>
            <a:ext cx="5181609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09" name="Slide Number"/>
          <p:cNvSpPr txBox="1"/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Overview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5158" t="0" r="0" b="78533"/>
          <a:stretch>
            <a:fillRect/>
          </a:stretch>
        </p:blipFill>
        <p:spPr>
          <a:xfrm rot="10800000">
            <a:off x="8553446" y="-39575"/>
            <a:ext cx="5867406" cy="1317517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Click to add title"/>
          <p:cNvSpPr txBox="1"/>
          <p:nvPr>
            <p:ph type="title" hasCustomPrompt="1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pPr/>
            <a:r>
              <a:t>Click to add title</a:t>
            </a:r>
          </a:p>
        </p:txBody>
      </p:sp>
      <p:sp>
        <p:nvSpPr>
          <p:cNvPr id="125" name="Picture Placeholder 11"/>
          <p:cNvSpPr/>
          <p:nvPr>
            <p:ph type="pic" idx="21"/>
          </p:nvPr>
        </p:nvSpPr>
        <p:spPr>
          <a:xfrm>
            <a:off x="0" y="-10165"/>
            <a:ext cx="6096000" cy="68580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6" name="Body Level One…"/>
          <p:cNvSpPr txBox="1"/>
          <p:nvPr>
            <p:ph type="body" sz="quarter" idx="1" hasCustomPrompt="1"/>
          </p:nvPr>
        </p:nvSpPr>
        <p:spPr>
          <a:xfrm>
            <a:off x="6126162" y="4172989"/>
            <a:ext cx="4806001" cy="238974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000"/>
            </a:lvl1pPr>
            <a:lvl2pPr marL="0" indent="0">
              <a:buSzTx/>
              <a:buFontTx/>
              <a:buNone/>
              <a:defRPr sz="2000"/>
            </a:lvl2pPr>
            <a:lvl3pPr marL="0" indent="0">
              <a:buSzTx/>
              <a:buFontTx/>
              <a:buNone/>
              <a:defRPr sz="2000"/>
            </a:lvl3pPr>
            <a:lvl4pPr marL="0" indent="0">
              <a:buSzTx/>
              <a:buFontTx/>
              <a:buNone/>
              <a:defRPr sz="2000"/>
            </a:lvl4pPr>
            <a:lvl5pPr marL="0" indent="0">
              <a:buSzTx/>
              <a:buFontTx/>
              <a:buNone/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7" name="Slide Number"/>
          <p:cNvSpPr txBox="1"/>
          <p:nvPr>
            <p:ph type="sldNum" sz="quarter" idx="2"/>
          </p:nvPr>
        </p:nvSpPr>
        <p:spPr>
          <a:xfrm>
            <a:off x="8506332" y="6240782"/>
            <a:ext cx="231274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2" descr="Graphic 2"/>
          <p:cNvPicPr>
            <a:picLocks noChangeAspect="1"/>
          </p:cNvPicPr>
          <p:nvPr/>
        </p:nvPicPr>
        <p:blipFill>
          <a:blip r:embed="rId2">
            <a:extLst/>
          </a:blip>
          <a:srcRect l="18883" t="18052" r="46634" b="0"/>
          <a:stretch>
            <a:fillRect/>
          </a:stretch>
        </p:blipFill>
        <p:spPr>
          <a:xfrm rot="5400000">
            <a:off x="9553763" y="-952311"/>
            <a:ext cx="1685939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Click to add title"/>
          <p:cNvSpPr txBox="1"/>
          <p:nvPr>
            <p:ph type="title" hasCustomPrompt="1"/>
          </p:nvPr>
        </p:nvSpPr>
        <p:spPr>
          <a:xfrm>
            <a:off x="923544" y="584477"/>
            <a:ext cx="10354055" cy="1209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Click to add title</a:t>
            </a:r>
          </a:p>
        </p:txBody>
      </p:sp>
      <p:sp>
        <p:nvSpPr>
          <p:cNvPr id="4" name="Body Level One…"/>
          <p:cNvSpPr txBox="1"/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" name="Slide Number"/>
          <p:cNvSpPr txBox="1"/>
          <p:nvPr>
            <p:ph type="sldNum" sz="quarter" idx="2"/>
          </p:nvPr>
        </p:nvSpPr>
        <p:spPr>
          <a:xfrm>
            <a:off x="914400" y="6259742"/>
            <a:ext cx="273652" cy="2692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>
              <a:defRPr sz="12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1234438" marR="0" indent="-320038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1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2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3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8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png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itle 1"/>
          <p:cNvSpPr txBox="1"/>
          <p:nvPr>
            <p:ph type="title"/>
          </p:nvPr>
        </p:nvSpPr>
        <p:spPr>
          <a:xfrm>
            <a:off x="6095998" y="2773681"/>
            <a:ext cx="5674367" cy="320041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Traveling salesman problem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" name="LAX"/>
          <p:cNvGrpSpPr/>
          <p:nvPr/>
        </p:nvGrpSpPr>
        <p:grpSpPr>
          <a:xfrm>
            <a:off x="1191310" y="3073272"/>
            <a:ext cx="694209" cy="694209"/>
            <a:chOff x="-1" y="-1"/>
            <a:chExt cx="694208" cy="694208"/>
          </a:xfrm>
        </p:grpSpPr>
        <p:sp>
          <p:nvSpPr>
            <p:cNvPr id="138" name="Circle"/>
            <p:cNvSpPr/>
            <p:nvPr/>
          </p:nvSpPr>
          <p:spPr>
            <a:xfrm>
              <a:off x="-2" y="-2"/>
              <a:ext cx="694210" cy="694210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39" name="LAX"/>
            <p:cNvSpPr txBox="1"/>
            <p:nvPr/>
          </p:nvSpPr>
          <p:spPr>
            <a:xfrm>
              <a:off x="106425" y="208097"/>
              <a:ext cx="481351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LA</a:t>
              </a:r>
            </a:p>
          </p:txBody>
        </p:sp>
      </p:grpSp>
      <p:grpSp>
        <p:nvGrpSpPr>
          <p:cNvPr id="143" name="JFK"/>
          <p:cNvGrpSpPr/>
          <p:nvPr/>
        </p:nvGrpSpPr>
        <p:grpSpPr>
          <a:xfrm>
            <a:off x="2606000" y="1605413"/>
            <a:ext cx="694210" cy="694209"/>
            <a:chOff x="0" y="0"/>
            <a:chExt cx="694208" cy="694208"/>
          </a:xfrm>
        </p:grpSpPr>
        <p:sp>
          <p:nvSpPr>
            <p:cNvPr id="141" name="Circle"/>
            <p:cNvSpPr/>
            <p:nvPr/>
          </p:nvSpPr>
          <p:spPr>
            <a:xfrm>
              <a:off x="-1" y="-1"/>
              <a:ext cx="694209" cy="694209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42" name="JFK"/>
            <p:cNvSpPr txBox="1"/>
            <p:nvPr/>
          </p:nvSpPr>
          <p:spPr>
            <a:xfrm>
              <a:off x="106425" y="208097"/>
              <a:ext cx="481351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NYC</a:t>
              </a:r>
            </a:p>
          </p:txBody>
        </p:sp>
      </p:grpSp>
      <p:grpSp>
        <p:nvGrpSpPr>
          <p:cNvPr id="146" name="MIA"/>
          <p:cNvGrpSpPr/>
          <p:nvPr/>
        </p:nvGrpSpPr>
        <p:grpSpPr>
          <a:xfrm>
            <a:off x="4020690" y="3073272"/>
            <a:ext cx="694209" cy="694209"/>
            <a:chOff x="0" y="-1"/>
            <a:chExt cx="694208" cy="694208"/>
          </a:xfrm>
        </p:grpSpPr>
        <p:sp>
          <p:nvSpPr>
            <p:cNvPr id="144" name="Circle"/>
            <p:cNvSpPr/>
            <p:nvPr/>
          </p:nvSpPr>
          <p:spPr>
            <a:xfrm>
              <a:off x="-1" y="-2"/>
              <a:ext cx="694209" cy="694210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45" name="MIA"/>
            <p:cNvSpPr txBox="1"/>
            <p:nvPr/>
          </p:nvSpPr>
          <p:spPr>
            <a:xfrm>
              <a:off x="106425" y="208097"/>
              <a:ext cx="481350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MIA</a:t>
              </a:r>
            </a:p>
          </p:txBody>
        </p:sp>
      </p:grpSp>
      <p:grpSp>
        <p:nvGrpSpPr>
          <p:cNvPr id="149" name="HOU"/>
          <p:cNvGrpSpPr/>
          <p:nvPr/>
        </p:nvGrpSpPr>
        <p:grpSpPr>
          <a:xfrm>
            <a:off x="2606000" y="4541129"/>
            <a:ext cx="694210" cy="694209"/>
            <a:chOff x="0" y="0"/>
            <a:chExt cx="694208" cy="694208"/>
          </a:xfrm>
        </p:grpSpPr>
        <p:sp>
          <p:nvSpPr>
            <p:cNvPr id="147" name="Circle"/>
            <p:cNvSpPr/>
            <p:nvPr/>
          </p:nvSpPr>
          <p:spPr>
            <a:xfrm>
              <a:off x="-1" y="-1"/>
              <a:ext cx="694209" cy="694209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48" name="HOU"/>
            <p:cNvSpPr txBox="1"/>
            <p:nvPr/>
          </p:nvSpPr>
          <p:spPr>
            <a:xfrm>
              <a:off x="106425" y="208097"/>
              <a:ext cx="481351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HOU</a:t>
              </a:r>
            </a:p>
          </p:txBody>
        </p:sp>
      </p:grpSp>
      <p:sp>
        <p:nvSpPr>
          <p:cNvPr id="150" name="Line"/>
          <p:cNvSpPr/>
          <p:nvPr/>
        </p:nvSpPr>
        <p:spPr>
          <a:xfrm flipV="1">
            <a:off x="3183420" y="3663086"/>
            <a:ext cx="942989" cy="96710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1" name="Line"/>
          <p:cNvSpPr/>
          <p:nvPr/>
        </p:nvSpPr>
        <p:spPr>
          <a:xfrm flipV="1">
            <a:off x="1738265" y="2172368"/>
            <a:ext cx="945356" cy="94535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2" name="Line"/>
          <p:cNvSpPr/>
          <p:nvPr/>
        </p:nvSpPr>
        <p:spPr>
          <a:xfrm flipH="1" flipV="1">
            <a:off x="1797816" y="3652993"/>
            <a:ext cx="894032" cy="100009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3" name="Line"/>
          <p:cNvSpPr/>
          <p:nvPr/>
        </p:nvSpPr>
        <p:spPr>
          <a:xfrm flipH="1" flipV="1">
            <a:off x="3224068" y="2173196"/>
            <a:ext cx="893842" cy="99920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4" name="Line"/>
          <p:cNvSpPr/>
          <p:nvPr/>
        </p:nvSpPr>
        <p:spPr>
          <a:xfrm flipH="1" flipV="1">
            <a:off x="2968113" y="2299416"/>
            <a:ext cx="108" cy="223788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5" name="Line"/>
          <p:cNvSpPr/>
          <p:nvPr/>
        </p:nvSpPr>
        <p:spPr>
          <a:xfrm flipH="1">
            <a:off x="1889535" y="3406540"/>
            <a:ext cx="2127140" cy="1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6" name="2.475"/>
          <p:cNvSpPr txBox="1"/>
          <p:nvPr/>
        </p:nvSpPr>
        <p:spPr>
          <a:xfrm>
            <a:off x="1651721" y="2339706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2.776</a:t>
            </a:r>
          </a:p>
        </p:txBody>
      </p:sp>
      <p:sp>
        <p:nvSpPr>
          <p:cNvPr id="157" name="1.09"/>
          <p:cNvSpPr txBox="1"/>
          <p:nvPr/>
        </p:nvSpPr>
        <p:spPr>
          <a:xfrm>
            <a:off x="3775173" y="2339706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1.288</a:t>
            </a:r>
          </a:p>
        </p:txBody>
      </p:sp>
      <p:sp>
        <p:nvSpPr>
          <p:cNvPr id="158" name="1.39"/>
          <p:cNvSpPr txBox="1"/>
          <p:nvPr/>
        </p:nvSpPr>
        <p:spPr>
          <a:xfrm>
            <a:off x="1709651" y="4167951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1.546</a:t>
            </a:r>
          </a:p>
        </p:txBody>
      </p:sp>
      <p:sp>
        <p:nvSpPr>
          <p:cNvPr id="159" name="1.1"/>
          <p:cNvSpPr txBox="1"/>
          <p:nvPr/>
        </p:nvSpPr>
        <p:spPr>
          <a:xfrm>
            <a:off x="3775173" y="4146631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1.189</a:t>
            </a:r>
          </a:p>
        </p:txBody>
      </p:sp>
      <p:sp>
        <p:nvSpPr>
          <p:cNvPr id="160" name="1.74"/>
          <p:cNvSpPr txBox="1"/>
          <p:nvPr/>
        </p:nvSpPr>
        <p:spPr>
          <a:xfrm>
            <a:off x="2949132" y="2682563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1.629</a:t>
            </a:r>
          </a:p>
        </p:txBody>
      </p:sp>
      <p:sp>
        <p:nvSpPr>
          <p:cNvPr id="161" name="2.342"/>
          <p:cNvSpPr txBox="1"/>
          <p:nvPr/>
        </p:nvSpPr>
        <p:spPr>
          <a:xfrm>
            <a:off x="2136699" y="3393840"/>
            <a:ext cx="67697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 2.735</a:t>
            </a:r>
          </a:p>
        </p:txBody>
      </p:sp>
      <p:sp>
        <p:nvSpPr>
          <p:cNvPr id="162" name="Weights in 1K air miles"/>
          <p:cNvSpPr txBox="1"/>
          <p:nvPr/>
        </p:nvSpPr>
        <p:spPr>
          <a:xfrm>
            <a:off x="5141083" y="6096677"/>
            <a:ext cx="1909831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Weights in 1K miles</a:t>
            </a:r>
          </a:p>
        </p:txBody>
      </p:sp>
      <p:sp>
        <p:nvSpPr>
          <p:cNvPr id="163" name="TSP"/>
          <p:cNvSpPr txBox="1"/>
          <p:nvPr>
            <p:ph type="title" idx="4294967295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pPr/>
            <a:r>
              <a:t>TSP</a:t>
            </a:r>
          </a:p>
        </p:txBody>
      </p:sp>
      <p:sp>
        <p:nvSpPr>
          <p:cNvPr id="164" name="Decision vs. Optimization"/>
          <p:cNvSpPr txBox="1"/>
          <p:nvPr/>
        </p:nvSpPr>
        <p:spPr>
          <a:xfrm>
            <a:off x="6541637" y="1314914"/>
            <a:ext cx="808001" cy="3825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2300"/>
            </a:lvl1pPr>
          </a:lstStyle>
          <a:p>
            <a:pPr/>
            <a:r>
              <a:t>TSP-D</a:t>
            </a:r>
          </a:p>
        </p:txBody>
      </p:sp>
      <p:sp>
        <p:nvSpPr>
          <p:cNvPr id="165" name="Text"/>
          <p:cNvSpPr txBox="1"/>
          <p:nvPr/>
        </p:nvSpPr>
        <p:spPr>
          <a:xfrm>
            <a:off x="2080072" y="5445116"/>
            <a:ext cx="1630004" cy="225807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O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t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G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6.799</m:t>
                  </m:r>
                </m:oMath>
              </m:oMathPara>
            </a14:m>
            <a:endParaRPr sz="2000"/>
          </a:p>
        </p:txBody>
      </p:sp>
      <p:sp>
        <p:nvSpPr>
          <p:cNvPr id="166" name="Decision vs. Optimization"/>
          <p:cNvSpPr txBox="1"/>
          <p:nvPr/>
        </p:nvSpPr>
        <p:spPr>
          <a:xfrm>
            <a:off x="9402680" y="1314914"/>
            <a:ext cx="821408" cy="3825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2300"/>
            </a:lvl1pPr>
          </a:lstStyle>
          <a:p>
            <a:pPr/>
            <a:r>
              <a:t>TSP-O</a:t>
            </a:r>
          </a:p>
        </p:txBody>
      </p:sp>
      <p:sp>
        <p:nvSpPr>
          <p:cNvPr id="167" name="?"/>
          <p:cNvSpPr txBox="1"/>
          <p:nvPr/>
        </p:nvSpPr>
        <p:spPr>
          <a:xfrm>
            <a:off x="6316112" y="1926693"/>
            <a:ext cx="1204421" cy="402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marL="151594" indent="-151594">
              <a:buSzPct val="100000"/>
              <a:buChar char="•"/>
              <a:defRPr sz="2100">
                <a:latin typeface="Cambria Math"/>
                <a:ea typeface="Cambria Math"/>
                <a:cs typeface="Cambria Math"/>
                <a:sym typeface="Cambria Math"/>
              </a:defRPr>
            </a:pPr>
            <a14:m>
              <m:oMath>
                <m:sSub>
                  <m:e>
                    <m:r>
                      <a:rPr xmlns:a="http://schemas.openxmlformats.org/drawingml/2006/main" sz="21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W</m:t>
                    </m:r>
                  </m:e>
                  <m:sub>
                    <m:r>
                      <a:rPr xmlns:a="http://schemas.openxmlformats.org/drawingml/2006/main" sz="21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c</m:t>
                    </m:r>
                  </m:sub>
                </m:sSub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&lt;</m:t>
                </m:r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x</m:t>
                </m:r>
              </m:oMath>
            </a14:m>
            <a:r>
              <a:rPr sz="1800">
                <a:latin typeface="+mj-lt"/>
                <a:ea typeface="+mj-ea"/>
                <a:cs typeface="+mj-cs"/>
                <a:sym typeface="Helvetica"/>
              </a:rPr>
              <a:t> ?</a:t>
            </a:r>
            <a:endParaRPr sz="1981"/>
          </a:p>
        </p:txBody>
      </p:sp>
      <p:pic>
        <p:nvPicPr>
          <p:cNvPr id="168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74135" y="3069525"/>
            <a:ext cx="3829721" cy="2154223"/>
          </a:xfrm>
          <a:prstGeom prst="rect">
            <a:avLst/>
          </a:prstGeom>
          <a:ln w="25400">
            <a:solidFill>
              <a:srgbClr val="DDDDDD"/>
            </a:solidFill>
            <a:miter lim="400000"/>
          </a:ln>
        </p:spPr>
      </p:pic>
      <p:sp>
        <p:nvSpPr>
          <p:cNvPr id="169" name="vs."/>
          <p:cNvSpPr txBox="1"/>
          <p:nvPr/>
        </p:nvSpPr>
        <p:spPr>
          <a:xfrm>
            <a:off x="8178034" y="1320781"/>
            <a:ext cx="421922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vs.</a:t>
            </a:r>
          </a:p>
        </p:txBody>
      </p:sp>
      <p:sp>
        <p:nvSpPr>
          <p:cNvPr id="170" name="Text"/>
          <p:cNvSpPr txBox="1"/>
          <p:nvPr/>
        </p:nvSpPr>
        <p:spPr>
          <a:xfrm>
            <a:off x="9071104" y="1948868"/>
            <a:ext cx="1484560" cy="3577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marL="180473" indent="-180473">
              <a:buSzPct val="100000"/>
              <a:buChar char="•"/>
            </a:lvl1pPr>
          </a:lstStyle>
          <a:p>
            <a:pPr/>
            <a14:m>
              <m:oMathPara>
                <m:oMathParaPr>
                  <m:jc m:val="left"/>
                </m:oMathParaPr>
                <m:oMath>
                  <m:r>
                    <a:rPr xmlns:a="http://schemas.openxmlformats.org/drawingml/2006/main" sz="19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C</m:t>
                  </m:r>
                  <m:r>
                    <a:rPr xmlns:a="http://schemas.openxmlformats.org/drawingml/2006/main" sz="19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19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m</m:t>
                  </m:r>
                  <m:r>
                    <a:rPr xmlns:a="http://schemas.openxmlformats.org/drawingml/2006/main" sz="19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i</m:t>
                  </m:r>
                  <m:r>
                    <a:rPr xmlns:a="http://schemas.openxmlformats.org/drawingml/2006/main" sz="19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n</m:t>
                  </m:r>
                  <m:r>
                    <a:rPr xmlns:a="http://schemas.openxmlformats.org/drawingml/2006/main" sz="19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19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w</m:t>
                  </m:r>
                  <m:r>
                    <a:rPr xmlns:a="http://schemas.openxmlformats.org/drawingml/2006/main" sz="19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</m:oMath>
              </m:oMathPara>
            </a14:m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4" name="LAX"/>
          <p:cNvGrpSpPr/>
          <p:nvPr/>
        </p:nvGrpSpPr>
        <p:grpSpPr>
          <a:xfrm>
            <a:off x="1772214" y="3076309"/>
            <a:ext cx="694209" cy="694209"/>
            <a:chOff x="-1" y="-1"/>
            <a:chExt cx="694208" cy="694208"/>
          </a:xfrm>
        </p:grpSpPr>
        <p:sp>
          <p:nvSpPr>
            <p:cNvPr id="172" name="Circle"/>
            <p:cNvSpPr/>
            <p:nvPr/>
          </p:nvSpPr>
          <p:spPr>
            <a:xfrm>
              <a:off x="-2" y="-2"/>
              <a:ext cx="694210" cy="694210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73" name="G"/>
            <p:cNvSpPr txBox="1"/>
            <p:nvPr/>
          </p:nvSpPr>
          <p:spPr>
            <a:xfrm>
              <a:off x="106426" y="180556"/>
              <a:ext cx="481352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G</a:t>
              </a:r>
            </a:p>
          </p:txBody>
        </p:sp>
      </p:grpSp>
      <p:grpSp>
        <p:nvGrpSpPr>
          <p:cNvPr id="177" name="JFK"/>
          <p:cNvGrpSpPr/>
          <p:nvPr/>
        </p:nvGrpSpPr>
        <p:grpSpPr>
          <a:xfrm>
            <a:off x="3972237" y="1130405"/>
            <a:ext cx="694209" cy="694209"/>
            <a:chOff x="-1" y="-1"/>
            <a:chExt cx="694208" cy="694208"/>
          </a:xfrm>
        </p:grpSpPr>
        <p:sp>
          <p:nvSpPr>
            <p:cNvPr id="175" name="Circle"/>
            <p:cNvSpPr/>
            <p:nvPr/>
          </p:nvSpPr>
          <p:spPr>
            <a:xfrm>
              <a:off x="-2" y="-2"/>
              <a:ext cx="694210" cy="694210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76" name="A"/>
            <p:cNvSpPr txBox="1"/>
            <p:nvPr/>
          </p:nvSpPr>
          <p:spPr>
            <a:xfrm>
              <a:off x="106426" y="180556"/>
              <a:ext cx="481351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A</a:t>
              </a:r>
            </a:p>
          </p:txBody>
        </p:sp>
      </p:grpSp>
      <p:grpSp>
        <p:nvGrpSpPr>
          <p:cNvPr id="180" name="MIA"/>
          <p:cNvGrpSpPr/>
          <p:nvPr/>
        </p:nvGrpSpPr>
        <p:grpSpPr>
          <a:xfrm>
            <a:off x="6159390" y="3076309"/>
            <a:ext cx="694209" cy="694209"/>
            <a:chOff x="-1" y="-1"/>
            <a:chExt cx="694208" cy="694208"/>
          </a:xfrm>
        </p:grpSpPr>
        <p:sp>
          <p:nvSpPr>
            <p:cNvPr id="178" name="Circle"/>
            <p:cNvSpPr/>
            <p:nvPr/>
          </p:nvSpPr>
          <p:spPr>
            <a:xfrm>
              <a:off x="-2" y="-2"/>
              <a:ext cx="694210" cy="694210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79" name="C"/>
            <p:cNvSpPr txBox="1"/>
            <p:nvPr/>
          </p:nvSpPr>
          <p:spPr>
            <a:xfrm>
              <a:off x="106426" y="180556"/>
              <a:ext cx="481351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C</a:t>
              </a:r>
            </a:p>
          </p:txBody>
        </p:sp>
      </p:grpSp>
      <p:grpSp>
        <p:nvGrpSpPr>
          <p:cNvPr id="183" name="HOU"/>
          <p:cNvGrpSpPr/>
          <p:nvPr/>
        </p:nvGrpSpPr>
        <p:grpSpPr>
          <a:xfrm>
            <a:off x="3972237" y="5033390"/>
            <a:ext cx="694209" cy="694210"/>
            <a:chOff x="-1" y="-1"/>
            <a:chExt cx="694208" cy="694208"/>
          </a:xfrm>
        </p:grpSpPr>
        <p:sp>
          <p:nvSpPr>
            <p:cNvPr id="181" name="Circle"/>
            <p:cNvSpPr/>
            <p:nvPr/>
          </p:nvSpPr>
          <p:spPr>
            <a:xfrm>
              <a:off x="-2" y="-2"/>
              <a:ext cx="694210" cy="694210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2" name="E"/>
            <p:cNvSpPr txBox="1"/>
            <p:nvPr/>
          </p:nvSpPr>
          <p:spPr>
            <a:xfrm>
              <a:off x="106426" y="180556"/>
              <a:ext cx="481351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E</a:t>
              </a:r>
            </a:p>
          </p:txBody>
        </p:sp>
      </p:grpSp>
      <p:grpSp>
        <p:nvGrpSpPr>
          <p:cNvPr id="186" name="JFK"/>
          <p:cNvGrpSpPr/>
          <p:nvPr/>
        </p:nvGrpSpPr>
        <p:grpSpPr>
          <a:xfrm>
            <a:off x="2518925" y="1774123"/>
            <a:ext cx="694209" cy="694209"/>
            <a:chOff x="-1" y="-1"/>
            <a:chExt cx="694208" cy="694208"/>
          </a:xfrm>
        </p:grpSpPr>
        <p:sp>
          <p:nvSpPr>
            <p:cNvPr id="184" name="Circle"/>
            <p:cNvSpPr/>
            <p:nvPr/>
          </p:nvSpPr>
          <p:spPr>
            <a:xfrm>
              <a:off x="-2" y="-2"/>
              <a:ext cx="694210" cy="694210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5" name="H"/>
            <p:cNvSpPr txBox="1"/>
            <p:nvPr/>
          </p:nvSpPr>
          <p:spPr>
            <a:xfrm>
              <a:off x="106426" y="180556"/>
              <a:ext cx="481352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H</a:t>
              </a:r>
            </a:p>
          </p:txBody>
        </p:sp>
      </p:grpSp>
      <p:grpSp>
        <p:nvGrpSpPr>
          <p:cNvPr id="189" name="JFK"/>
          <p:cNvGrpSpPr/>
          <p:nvPr/>
        </p:nvGrpSpPr>
        <p:grpSpPr>
          <a:xfrm>
            <a:off x="5425551" y="1774123"/>
            <a:ext cx="694209" cy="694209"/>
            <a:chOff x="-1" y="-1"/>
            <a:chExt cx="694208" cy="694208"/>
          </a:xfrm>
        </p:grpSpPr>
        <p:sp>
          <p:nvSpPr>
            <p:cNvPr id="187" name="Circle"/>
            <p:cNvSpPr/>
            <p:nvPr/>
          </p:nvSpPr>
          <p:spPr>
            <a:xfrm>
              <a:off x="-2" y="-2"/>
              <a:ext cx="694210" cy="694210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8" name="B"/>
            <p:cNvSpPr txBox="1"/>
            <p:nvPr/>
          </p:nvSpPr>
          <p:spPr>
            <a:xfrm>
              <a:off x="106426" y="180556"/>
              <a:ext cx="481351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B</a:t>
              </a:r>
            </a:p>
          </p:txBody>
        </p:sp>
      </p:grpSp>
      <p:grpSp>
        <p:nvGrpSpPr>
          <p:cNvPr id="192" name="JFK"/>
          <p:cNvGrpSpPr/>
          <p:nvPr/>
        </p:nvGrpSpPr>
        <p:grpSpPr>
          <a:xfrm>
            <a:off x="5425551" y="4389674"/>
            <a:ext cx="694209" cy="694209"/>
            <a:chOff x="-1" y="-1"/>
            <a:chExt cx="694208" cy="694208"/>
          </a:xfrm>
        </p:grpSpPr>
        <p:sp>
          <p:nvSpPr>
            <p:cNvPr id="190" name="Circle"/>
            <p:cNvSpPr/>
            <p:nvPr/>
          </p:nvSpPr>
          <p:spPr>
            <a:xfrm>
              <a:off x="-2" y="-2"/>
              <a:ext cx="694210" cy="694210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91" name="D"/>
            <p:cNvSpPr txBox="1"/>
            <p:nvPr/>
          </p:nvSpPr>
          <p:spPr>
            <a:xfrm>
              <a:off x="106426" y="180556"/>
              <a:ext cx="481351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D</a:t>
              </a:r>
            </a:p>
          </p:txBody>
        </p:sp>
      </p:grpSp>
      <p:grpSp>
        <p:nvGrpSpPr>
          <p:cNvPr id="195" name="JFK"/>
          <p:cNvGrpSpPr/>
          <p:nvPr/>
        </p:nvGrpSpPr>
        <p:grpSpPr>
          <a:xfrm>
            <a:off x="2518925" y="4389674"/>
            <a:ext cx="694209" cy="694209"/>
            <a:chOff x="-1" y="-1"/>
            <a:chExt cx="694208" cy="694208"/>
          </a:xfrm>
        </p:grpSpPr>
        <p:sp>
          <p:nvSpPr>
            <p:cNvPr id="193" name="Circle"/>
            <p:cNvSpPr/>
            <p:nvPr/>
          </p:nvSpPr>
          <p:spPr>
            <a:xfrm>
              <a:off x="-2" y="-2"/>
              <a:ext cx="694210" cy="694210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94" name="F"/>
            <p:cNvSpPr txBox="1"/>
            <p:nvPr/>
          </p:nvSpPr>
          <p:spPr>
            <a:xfrm>
              <a:off x="106426" y="180556"/>
              <a:ext cx="481352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F</a:t>
              </a:r>
            </a:p>
          </p:txBody>
        </p:sp>
      </p:grpSp>
      <p:sp>
        <p:nvSpPr>
          <p:cNvPr id="196" name="Text"/>
          <p:cNvSpPr txBox="1"/>
          <p:nvPr/>
        </p:nvSpPr>
        <p:spPr>
          <a:xfrm>
            <a:off x="8912952" y="2123972"/>
            <a:ext cx="1015350" cy="2556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C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V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!</m:t>
                  </m:r>
                </m:oMath>
              </m:oMathPara>
            </a14:m>
            <a:endParaRPr sz="2900"/>
          </a:p>
        </p:txBody>
      </p:sp>
      <p:sp>
        <p:nvSpPr>
          <p:cNvPr id="197" name="Text"/>
          <p:cNvSpPr txBox="1"/>
          <p:nvPr/>
        </p:nvSpPr>
        <p:spPr>
          <a:xfrm>
            <a:off x="8830959" y="3385150"/>
            <a:ext cx="1179336" cy="22584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</m:e>
                    <m:sub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</m:sub>
                  </m:sSub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40,320</m:t>
                  </m:r>
                </m:oMath>
              </m:oMathPara>
            </a14:m>
            <a:endParaRPr sz="1900"/>
          </a:p>
        </p:txBody>
      </p:sp>
      <p:sp>
        <p:nvSpPr>
          <p:cNvPr id="198" name="Line"/>
          <p:cNvSpPr/>
          <p:nvPr/>
        </p:nvSpPr>
        <p:spPr>
          <a:xfrm>
            <a:off x="2281714" y="3731138"/>
            <a:ext cx="392072" cy="71831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99" name="Line"/>
          <p:cNvSpPr/>
          <p:nvPr/>
        </p:nvSpPr>
        <p:spPr>
          <a:xfrm flipH="1">
            <a:off x="5991914" y="3751553"/>
            <a:ext cx="392880" cy="71445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0" name="Line"/>
          <p:cNvSpPr/>
          <p:nvPr/>
        </p:nvSpPr>
        <p:spPr>
          <a:xfrm>
            <a:off x="3170714" y="4912238"/>
            <a:ext cx="802468" cy="39835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1" name="Line"/>
          <p:cNvSpPr/>
          <p:nvPr/>
        </p:nvSpPr>
        <p:spPr>
          <a:xfrm flipH="1">
            <a:off x="4654729" y="4912240"/>
            <a:ext cx="812067" cy="37395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2" name="Hamiltonian Cycles"/>
          <p:cNvSpPr txBox="1"/>
          <p:nvPr/>
        </p:nvSpPr>
        <p:spPr>
          <a:xfrm>
            <a:off x="8432820" y="1592536"/>
            <a:ext cx="1975614" cy="396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ct val="90000"/>
              </a:lnSpc>
              <a:spcBef>
                <a:spcPts val="1200"/>
              </a:spcBef>
              <a:defRPr b="1" sz="20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Possible Tours</a:t>
            </a:r>
          </a:p>
        </p:txBody>
      </p:sp>
      <p:sp>
        <p:nvSpPr>
          <p:cNvPr id="203" name="Line"/>
          <p:cNvSpPr/>
          <p:nvPr/>
        </p:nvSpPr>
        <p:spPr>
          <a:xfrm flipH="1" flipV="1">
            <a:off x="2465610" y="3423408"/>
            <a:ext cx="3693508" cy="1118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4" name="Line"/>
          <p:cNvSpPr/>
          <p:nvPr/>
        </p:nvSpPr>
        <p:spPr>
          <a:xfrm flipH="1">
            <a:off x="2285849" y="2409288"/>
            <a:ext cx="387924" cy="71074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5" name="Line"/>
          <p:cNvSpPr/>
          <p:nvPr/>
        </p:nvSpPr>
        <p:spPr>
          <a:xfrm>
            <a:off x="5991914" y="2391991"/>
            <a:ext cx="402678" cy="69905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6" name="Line"/>
          <p:cNvSpPr/>
          <p:nvPr/>
        </p:nvSpPr>
        <p:spPr>
          <a:xfrm flipV="1">
            <a:off x="3170714" y="1540551"/>
            <a:ext cx="803783" cy="40171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7" name="Line"/>
          <p:cNvSpPr/>
          <p:nvPr/>
        </p:nvSpPr>
        <p:spPr>
          <a:xfrm flipH="1" flipV="1">
            <a:off x="4656616" y="1550884"/>
            <a:ext cx="806906" cy="40931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8" name="Line"/>
          <p:cNvSpPr/>
          <p:nvPr/>
        </p:nvSpPr>
        <p:spPr>
          <a:xfrm flipV="1">
            <a:off x="4317817" y="1819123"/>
            <a:ext cx="19453" cy="320891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9" name="Line"/>
          <p:cNvSpPr/>
          <p:nvPr/>
        </p:nvSpPr>
        <p:spPr>
          <a:xfrm flipH="1" flipV="1">
            <a:off x="3108236" y="2371492"/>
            <a:ext cx="2420557" cy="211965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0" name="Line"/>
          <p:cNvSpPr/>
          <p:nvPr/>
        </p:nvSpPr>
        <p:spPr>
          <a:xfrm flipH="1">
            <a:off x="3113881" y="2356531"/>
            <a:ext cx="2405161" cy="213458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1" name="Line"/>
          <p:cNvSpPr/>
          <p:nvPr/>
        </p:nvSpPr>
        <p:spPr>
          <a:xfrm>
            <a:off x="4522230" y="1756578"/>
            <a:ext cx="1717291" cy="144456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2" name="Line"/>
          <p:cNvSpPr/>
          <p:nvPr/>
        </p:nvSpPr>
        <p:spPr>
          <a:xfrm>
            <a:off x="4423340" y="1813922"/>
            <a:ext cx="1206975" cy="260685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3" name="Line"/>
          <p:cNvSpPr/>
          <p:nvPr/>
        </p:nvSpPr>
        <p:spPr>
          <a:xfrm flipH="1">
            <a:off x="3023814" y="1811095"/>
            <a:ext cx="1209154" cy="261845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4" name="Line"/>
          <p:cNvSpPr/>
          <p:nvPr/>
        </p:nvSpPr>
        <p:spPr>
          <a:xfrm flipH="1">
            <a:off x="2410390" y="1742948"/>
            <a:ext cx="1675111" cy="148358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5" name="Line"/>
          <p:cNvSpPr/>
          <p:nvPr/>
        </p:nvSpPr>
        <p:spPr>
          <a:xfrm flipH="1">
            <a:off x="5766999" y="2465079"/>
            <a:ext cx="4371" cy="192653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6" name="Line"/>
          <p:cNvSpPr/>
          <p:nvPr/>
        </p:nvSpPr>
        <p:spPr>
          <a:xfrm flipH="1">
            <a:off x="2863843" y="2471284"/>
            <a:ext cx="6" cy="191539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7" name="Line"/>
          <p:cNvSpPr/>
          <p:nvPr/>
        </p:nvSpPr>
        <p:spPr>
          <a:xfrm flipH="1">
            <a:off x="4523618" y="2455751"/>
            <a:ext cx="1153212" cy="263973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8" name="Line"/>
          <p:cNvSpPr/>
          <p:nvPr/>
        </p:nvSpPr>
        <p:spPr>
          <a:xfrm>
            <a:off x="2994211" y="2443595"/>
            <a:ext cx="1121865" cy="265530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9" name="Line"/>
          <p:cNvSpPr/>
          <p:nvPr/>
        </p:nvSpPr>
        <p:spPr>
          <a:xfrm flipH="1">
            <a:off x="2458296" y="2265876"/>
            <a:ext cx="3002940" cy="107267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0" name="Line"/>
          <p:cNvSpPr/>
          <p:nvPr/>
        </p:nvSpPr>
        <p:spPr>
          <a:xfrm>
            <a:off x="3192053" y="2253175"/>
            <a:ext cx="2976886" cy="107102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1" name="Line"/>
          <p:cNvSpPr/>
          <p:nvPr/>
        </p:nvSpPr>
        <p:spPr>
          <a:xfrm flipH="1" flipV="1">
            <a:off x="3211638" y="2109341"/>
            <a:ext cx="2215404" cy="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2" name="Line"/>
          <p:cNvSpPr/>
          <p:nvPr/>
        </p:nvSpPr>
        <p:spPr>
          <a:xfrm flipH="1" flipV="1">
            <a:off x="3210079" y="4724715"/>
            <a:ext cx="2216986" cy="215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3" name="Line"/>
          <p:cNvSpPr/>
          <p:nvPr/>
        </p:nvSpPr>
        <p:spPr>
          <a:xfrm flipH="1">
            <a:off x="3185752" y="3591900"/>
            <a:ext cx="3017768" cy="101296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4" name="Line"/>
          <p:cNvSpPr/>
          <p:nvPr/>
        </p:nvSpPr>
        <p:spPr>
          <a:xfrm>
            <a:off x="2429097" y="3581427"/>
            <a:ext cx="3026711" cy="101296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5" name="Line"/>
          <p:cNvSpPr/>
          <p:nvPr/>
        </p:nvSpPr>
        <p:spPr>
          <a:xfrm flipV="1">
            <a:off x="4616851" y="3693278"/>
            <a:ext cx="1665536" cy="149880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6" name="Line"/>
          <p:cNvSpPr/>
          <p:nvPr/>
        </p:nvSpPr>
        <p:spPr>
          <a:xfrm flipH="1" flipV="1">
            <a:off x="2373764" y="3660268"/>
            <a:ext cx="1672391" cy="150605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7" name="Text"/>
          <p:cNvSpPr txBox="1"/>
          <p:nvPr/>
        </p:nvSpPr>
        <p:spPr>
          <a:xfrm>
            <a:off x="8617208" y="3852520"/>
            <a:ext cx="1606838" cy="22777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</m:e>
                    <m:sub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10</m:t>
                      </m:r>
                    </m:sub>
                  </m:sSub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3,628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,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800</m:t>
                  </m:r>
                </m:oMath>
              </m:oMathPara>
            </a14:m>
            <a:endParaRPr sz="1900"/>
          </a:p>
        </p:txBody>
      </p:sp>
      <p:sp>
        <p:nvSpPr>
          <p:cNvPr id="228" name="Text"/>
          <p:cNvSpPr txBox="1"/>
          <p:nvPr/>
        </p:nvSpPr>
        <p:spPr>
          <a:xfrm>
            <a:off x="8574337" y="4321820"/>
            <a:ext cx="1692580" cy="228739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</m:e>
                    <m:sub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sub>
                  </m:sSub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≈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9.332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e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157</m:t>
                  </m:r>
                </m:oMath>
              </m:oMathPara>
            </a14:m>
            <a:endParaRPr sz="1900"/>
          </a:p>
        </p:txBody>
      </p:sp>
      <p:sp>
        <p:nvSpPr>
          <p:cNvPr id="229" name="Tsp"/>
          <p:cNvSpPr txBox="1"/>
          <p:nvPr>
            <p:ph type="title" idx="4294967295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pPr/>
            <a:r>
              <a:t>Tsp</a:t>
            </a:r>
          </a:p>
        </p:txBody>
      </p:sp>
      <p:sp>
        <p:nvSpPr>
          <p:cNvPr id="230" name="Equation"/>
          <p:cNvSpPr txBox="1"/>
          <p:nvPr/>
        </p:nvSpPr>
        <p:spPr>
          <a:xfrm>
            <a:off x="9042459" y="3005625"/>
            <a:ext cx="756336" cy="223444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</m:e>
                    <m:sub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</m:sub>
                  </m:sSub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24</m:t>
                  </m:r>
                </m:oMath>
              </m:oMathPara>
            </a14:m>
            <a:endParaRPr sz="1900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✅ “MIA HOU NYC LA MIA“…"/>
          <p:cNvSpPr txBox="1"/>
          <p:nvPr/>
        </p:nvSpPr>
        <p:spPr>
          <a:xfrm>
            <a:off x="6710497" y="2561882"/>
            <a:ext cx="3683156" cy="20689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/>
            </a:pPr>
            <a:r>
              <a:t>✅ “MIA HOU NYC LA MIA“</a:t>
            </a:r>
          </a:p>
          <a:p>
            <a:pPr>
              <a:defRPr sz="2200"/>
            </a:pPr>
          </a:p>
          <a:p>
            <a:pPr>
              <a:defRPr sz="2200"/>
            </a:pPr>
            <a:r>
              <a:t>❌ “MIA NYC LA NYC HOU MIA”</a:t>
            </a:r>
          </a:p>
          <a:p>
            <a:pPr>
              <a:defRPr sz="2200"/>
            </a:pPr>
          </a:p>
          <a:p>
            <a:pPr>
              <a:defRPr sz="2200"/>
            </a:pPr>
            <a:r>
              <a:t>❌ “MIA NYC LA MIA”</a:t>
            </a:r>
          </a:p>
        </p:txBody>
      </p:sp>
      <p:sp>
        <p:nvSpPr>
          <p:cNvPr id="233" name="Title 6"/>
          <p:cNvSpPr txBox="1"/>
          <p:nvPr>
            <p:ph type="title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 anchor="ctr"/>
          <a:lstStyle>
            <a:lvl1pPr defTabSz="786383">
              <a:defRPr sz="3100"/>
            </a:lvl1pPr>
          </a:lstStyle>
          <a:p>
            <a:pPr/>
            <a:r>
              <a:t>Certificate verification</a:t>
            </a:r>
          </a:p>
        </p:txBody>
      </p:sp>
      <p:graphicFrame>
        <p:nvGraphicFramePr>
          <p:cNvPr id="234" name="Table 1"/>
          <p:cNvGraphicFramePr/>
          <p:nvPr/>
        </p:nvGraphicFramePr>
        <p:xfrm>
          <a:off x="1736730" y="1591445"/>
          <a:ext cx="3022725" cy="400984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1" rtl="0">
                <a:tableStyleId>{4C3C2611-4C71-4FC5-86AE-919BDF0F9419}</a:tableStyleId>
              </a:tblPr>
              <a:tblGrid>
                <a:gridCol w="1511362"/>
                <a:gridCol w="1511362"/>
              </a:tblGrid>
              <a:tr h="1002460">
                <a:tc>
                  <a:txBody>
                    <a:bodyPr/>
                    <a:lstStyle/>
                    <a:p>
                      <a:pPr algn="ctr">
                        <a:defRPr sz="1800">
                          <a:sym typeface="Helvetica"/>
                        </a:defRPr>
                      </a:pPr>
                    </a:p>
                    <a:p>
                      <a:pPr algn="ctr">
                        <a:defRPr sz="1800">
                          <a:sym typeface="Helvetica"/>
                        </a:defRPr>
                      </a:pPr>
                      <a:r>
                        <a:t>MIA</a:t>
                      </a:r>
                    </a:p>
                  </a:txBody>
                  <a:tcPr marL="0" marR="0" marT="0" marB="0" anchor="t" anchorCtr="0" horzOverflow="overflow"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{NYC: 1.288},</a:t>
                      </a:r>
                    </a:p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{LA: 2.735},</a:t>
                      </a:r>
                    </a:p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{HOU: 1.189}</a:t>
                      </a:r>
                    </a:p>
                  </a:txBody>
                  <a:tcPr marL="0" marR="0" marT="0" marB="0" anchor="t" anchorCtr="0" horzOverflow="overflow">
                    <a:solidFill>
                      <a:srgbClr val="F6F5F3"/>
                    </a:solidFill>
                  </a:tcPr>
                </a:tc>
              </a:tr>
              <a:tr h="1002460">
                <a:tc>
                  <a:txBody>
                    <a:bodyPr/>
                    <a:lstStyle/>
                    <a:p>
                      <a:pPr algn="ctr">
                        <a:defRPr sz="1800">
                          <a:sym typeface="Helvetica"/>
                        </a:defRPr>
                      </a:pPr>
                    </a:p>
                    <a:p>
                      <a:pPr algn="ctr">
                        <a:defRPr sz="1800">
                          <a:sym typeface="Helvetica"/>
                        </a:defRPr>
                      </a:pPr>
                      <a:r>
                        <a:t>NYC</a:t>
                      </a:r>
                    </a:p>
                  </a:txBody>
                  <a:tcPr marL="0" marR="0" marT="0" marB="0" anchor="t" anchorCtr="0" horzOverflow="overflow">
                    <a:solidFill>
                      <a:srgbClr val="FBFA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{LA: 2.776},</a:t>
                      </a:r>
                    </a:p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{HOU: 1.629},</a:t>
                      </a:r>
                    </a:p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{MIA: 1.189}</a:t>
                      </a:r>
                    </a:p>
                  </a:txBody>
                  <a:tcPr marL="0" marR="0" marT="0" marB="0" anchor="t" anchorCtr="0" horzOverflow="overflow">
                    <a:solidFill>
                      <a:srgbClr val="FBFAF9"/>
                    </a:solidFill>
                  </a:tcPr>
                </a:tc>
              </a:tr>
              <a:tr h="1002460">
                <a:tc>
                  <a:txBody>
                    <a:bodyPr/>
                    <a:lstStyle/>
                    <a:p>
                      <a:pPr algn="ctr">
                        <a:defRPr sz="1800">
                          <a:sym typeface="Helvetica"/>
                        </a:defRPr>
                      </a:pPr>
                    </a:p>
                    <a:p>
                      <a:pPr algn="ctr">
                        <a:defRPr sz="1800">
                          <a:sym typeface="Helvetica"/>
                        </a:defRPr>
                      </a:pPr>
                      <a:r>
                        <a:t>LA</a:t>
                      </a:r>
                    </a:p>
                  </a:txBody>
                  <a:tcPr marL="0" marR="0" marT="0" marB="0" anchor="t" anchorCtr="0" horzOverflow="overflow"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{NYC: 2.776},</a:t>
                      </a:r>
                    </a:p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{MIA: 2.735},</a:t>
                      </a:r>
                    </a:p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{HOU: 1.546}</a:t>
                      </a:r>
                    </a:p>
                  </a:txBody>
                  <a:tcPr marL="0" marR="0" marT="0" marB="0" anchor="t" anchorCtr="0" horzOverflow="overflow">
                    <a:solidFill>
                      <a:srgbClr val="F6F5F3"/>
                    </a:solidFill>
                  </a:tcPr>
                </a:tc>
              </a:tr>
              <a:tr h="1002460">
                <a:tc>
                  <a:txBody>
                    <a:bodyPr/>
                    <a:lstStyle/>
                    <a:p>
                      <a:pPr algn="ctr">
                        <a:defRPr sz="1800">
                          <a:sym typeface="Helvetica"/>
                        </a:defRPr>
                      </a:pPr>
                    </a:p>
                    <a:p>
                      <a:pPr algn="ctr">
                        <a:defRPr sz="1800">
                          <a:sym typeface="Helvetica"/>
                        </a:defRPr>
                      </a:pPr>
                      <a:r>
                        <a:t>HOU</a:t>
                      </a:r>
                    </a:p>
                  </a:txBody>
                  <a:tcPr marL="0" marR="0" marT="0" marB="0" anchor="t" anchorCtr="0" horzOverflow="overflow">
                    <a:solidFill>
                      <a:srgbClr val="FBFA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{LA: 1.546},</a:t>
                      </a:r>
                      <a:br/>
                      <a:r>
                        <a:t>{NYC: 1.629},</a:t>
                      </a:r>
                    </a:p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{MIA: 1.189}</a:t>
                      </a:r>
                    </a:p>
                  </a:txBody>
                  <a:tcPr marL="0" marR="0" marT="0" marB="0" anchor="t" anchorCtr="0" horzOverflow="overflow">
                    <a:solidFill>
                      <a:srgbClr val="FBFA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Title 1"/>
          <p:cNvSpPr txBox="1"/>
          <p:nvPr>
            <p:ph type="title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pPr/>
            <a:r>
              <a:t>NP-HARD Reduction</a:t>
            </a:r>
          </a:p>
        </p:txBody>
      </p:sp>
      <p:grpSp>
        <p:nvGrpSpPr>
          <p:cNvPr id="239" name="Hamiltonian Cycle"/>
          <p:cNvGrpSpPr/>
          <p:nvPr/>
        </p:nvGrpSpPr>
        <p:grpSpPr>
          <a:xfrm>
            <a:off x="2284987" y="5029548"/>
            <a:ext cx="1654589" cy="903726"/>
            <a:chOff x="0" y="0"/>
            <a:chExt cx="1654587" cy="903724"/>
          </a:xfrm>
        </p:grpSpPr>
        <p:sp>
          <p:nvSpPr>
            <p:cNvPr id="237" name="Rectangle"/>
            <p:cNvSpPr/>
            <p:nvPr/>
          </p:nvSpPr>
          <p:spPr>
            <a:xfrm>
              <a:off x="-1" y="0"/>
              <a:ext cx="1654588" cy="903726"/>
            </a:xfrm>
            <a:prstGeom prst="rect">
              <a:avLst/>
            </a:prstGeom>
            <a:solidFill>
              <a:srgbClr val="84B4DF"/>
            </a:solidFill>
            <a:ln w="9525" cap="flat">
              <a:solidFill>
                <a:srgbClr val="4B5AB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38" name="Hamiltonian Cycle"/>
            <p:cNvSpPr txBox="1"/>
            <p:nvPr/>
          </p:nvSpPr>
          <p:spPr>
            <a:xfrm>
              <a:off x="4762" y="139267"/>
              <a:ext cx="1645063" cy="6251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Hamiltonian Cycle</a:t>
              </a:r>
            </a:p>
          </p:txBody>
        </p:sp>
      </p:grpSp>
      <p:grpSp>
        <p:nvGrpSpPr>
          <p:cNvPr id="242" name="LAX"/>
          <p:cNvGrpSpPr/>
          <p:nvPr/>
        </p:nvGrpSpPr>
        <p:grpSpPr>
          <a:xfrm>
            <a:off x="1668926" y="2683306"/>
            <a:ext cx="694209" cy="694209"/>
            <a:chOff x="0" y="0"/>
            <a:chExt cx="694208" cy="694208"/>
          </a:xfrm>
        </p:grpSpPr>
        <p:sp>
          <p:nvSpPr>
            <p:cNvPr id="240" name="Circle"/>
            <p:cNvSpPr/>
            <p:nvPr/>
          </p:nvSpPr>
          <p:spPr>
            <a:xfrm>
              <a:off x="-1" y="-1"/>
              <a:ext cx="694209" cy="694209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41" name="LAX"/>
            <p:cNvSpPr txBox="1"/>
            <p:nvPr/>
          </p:nvSpPr>
          <p:spPr>
            <a:xfrm>
              <a:off x="106425" y="208097"/>
              <a:ext cx="481351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LA</a:t>
              </a:r>
            </a:p>
          </p:txBody>
        </p:sp>
      </p:grpSp>
      <p:grpSp>
        <p:nvGrpSpPr>
          <p:cNvPr id="245" name="JFK"/>
          <p:cNvGrpSpPr/>
          <p:nvPr/>
        </p:nvGrpSpPr>
        <p:grpSpPr>
          <a:xfrm>
            <a:off x="2765179" y="1578612"/>
            <a:ext cx="694211" cy="694211"/>
            <a:chOff x="0" y="0"/>
            <a:chExt cx="694210" cy="694210"/>
          </a:xfrm>
        </p:grpSpPr>
        <p:sp>
          <p:nvSpPr>
            <p:cNvPr id="243" name="Circle"/>
            <p:cNvSpPr/>
            <p:nvPr/>
          </p:nvSpPr>
          <p:spPr>
            <a:xfrm>
              <a:off x="-1" y="-1"/>
              <a:ext cx="694211" cy="694211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44" name="JFK"/>
            <p:cNvSpPr txBox="1"/>
            <p:nvPr/>
          </p:nvSpPr>
          <p:spPr>
            <a:xfrm>
              <a:off x="106425" y="208097"/>
              <a:ext cx="48135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NYC</a:t>
              </a:r>
            </a:p>
          </p:txBody>
        </p:sp>
      </p:grpSp>
      <p:grpSp>
        <p:nvGrpSpPr>
          <p:cNvPr id="248" name="MIA"/>
          <p:cNvGrpSpPr/>
          <p:nvPr/>
        </p:nvGrpSpPr>
        <p:grpSpPr>
          <a:xfrm>
            <a:off x="3870699" y="2683306"/>
            <a:ext cx="694213" cy="694209"/>
            <a:chOff x="0" y="0"/>
            <a:chExt cx="694211" cy="694208"/>
          </a:xfrm>
        </p:grpSpPr>
        <p:sp>
          <p:nvSpPr>
            <p:cNvPr id="246" name="Circle"/>
            <p:cNvSpPr/>
            <p:nvPr/>
          </p:nvSpPr>
          <p:spPr>
            <a:xfrm>
              <a:off x="-1" y="-1"/>
              <a:ext cx="694212" cy="694209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47" name="MIA"/>
            <p:cNvSpPr txBox="1"/>
            <p:nvPr/>
          </p:nvSpPr>
          <p:spPr>
            <a:xfrm>
              <a:off x="106426" y="208097"/>
              <a:ext cx="481351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MIA</a:t>
              </a:r>
            </a:p>
          </p:txBody>
        </p:sp>
      </p:grpSp>
      <p:grpSp>
        <p:nvGrpSpPr>
          <p:cNvPr id="251" name="HOU"/>
          <p:cNvGrpSpPr/>
          <p:nvPr/>
        </p:nvGrpSpPr>
        <p:grpSpPr>
          <a:xfrm>
            <a:off x="2765179" y="3778430"/>
            <a:ext cx="694211" cy="694209"/>
            <a:chOff x="0" y="0"/>
            <a:chExt cx="694210" cy="694208"/>
          </a:xfrm>
        </p:grpSpPr>
        <p:sp>
          <p:nvSpPr>
            <p:cNvPr id="249" name="Circle"/>
            <p:cNvSpPr/>
            <p:nvPr/>
          </p:nvSpPr>
          <p:spPr>
            <a:xfrm>
              <a:off x="-1" y="-1"/>
              <a:ext cx="694211" cy="694209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50" name="HOU"/>
            <p:cNvSpPr txBox="1"/>
            <p:nvPr/>
          </p:nvSpPr>
          <p:spPr>
            <a:xfrm>
              <a:off x="106425" y="208097"/>
              <a:ext cx="48135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HOU</a:t>
              </a:r>
            </a:p>
          </p:txBody>
        </p:sp>
      </p:grpSp>
      <p:sp>
        <p:nvSpPr>
          <p:cNvPr id="252" name="Line"/>
          <p:cNvSpPr/>
          <p:nvPr/>
        </p:nvSpPr>
        <p:spPr>
          <a:xfrm flipV="1">
            <a:off x="2241618" y="2145980"/>
            <a:ext cx="587105" cy="61336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3" name="Line"/>
          <p:cNvSpPr/>
          <p:nvPr/>
        </p:nvSpPr>
        <p:spPr>
          <a:xfrm flipV="1">
            <a:off x="3100750" y="2278133"/>
            <a:ext cx="20530" cy="150004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4" name="Line"/>
          <p:cNvSpPr/>
          <p:nvPr/>
        </p:nvSpPr>
        <p:spPr>
          <a:xfrm flipV="1">
            <a:off x="3366160" y="3283158"/>
            <a:ext cx="610073" cy="61336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5" name="Line"/>
          <p:cNvSpPr/>
          <p:nvPr/>
        </p:nvSpPr>
        <p:spPr>
          <a:xfrm flipH="1" flipV="1">
            <a:off x="2362192" y="3030408"/>
            <a:ext cx="1500188" cy="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258" name="LAX"/>
          <p:cNvGrpSpPr/>
          <p:nvPr/>
        </p:nvGrpSpPr>
        <p:grpSpPr>
          <a:xfrm>
            <a:off x="7627090" y="2688090"/>
            <a:ext cx="694209" cy="694209"/>
            <a:chOff x="0" y="0"/>
            <a:chExt cx="694208" cy="694208"/>
          </a:xfrm>
        </p:grpSpPr>
        <p:sp>
          <p:nvSpPr>
            <p:cNvPr id="256" name="Circle"/>
            <p:cNvSpPr/>
            <p:nvPr/>
          </p:nvSpPr>
          <p:spPr>
            <a:xfrm>
              <a:off x="-1" y="-1"/>
              <a:ext cx="694209" cy="694209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57" name="LAX"/>
            <p:cNvSpPr txBox="1"/>
            <p:nvPr/>
          </p:nvSpPr>
          <p:spPr>
            <a:xfrm>
              <a:off x="106425" y="208097"/>
              <a:ext cx="481351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LA</a:t>
              </a:r>
            </a:p>
          </p:txBody>
        </p:sp>
      </p:grpSp>
      <p:grpSp>
        <p:nvGrpSpPr>
          <p:cNvPr id="261" name="JFK"/>
          <p:cNvGrpSpPr/>
          <p:nvPr/>
        </p:nvGrpSpPr>
        <p:grpSpPr>
          <a:xfrm>
            <a:off x="8723343" y="1583395"/>
            <a:ext cx="694209" cy="694209"/>
            <a:chOff x="0" y="0"/>
            <a:chExt cx="694208" cy="694208"/>
          </a:xfrm>
        </p:grpSpPr>
        <p:sp>
          <p:nvSpPr>
            <p:cNvPr id="259" name="Circle"/>
            <p:cNvSpPr/>
            <p:nvPr/>
          </p:nvSpPr>
          <p:spPr>
            <a:xfrm>
              <a:off x="-1" y="-1"/>
              <a:ext cx="694209" cy="694209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0" name="JFK"/>
            <p:cNvSpPr txBox="1"/>
            <p:nvPr/>
          </p:nvSpPr>
          <p:spPr>
            <a:xfrm>
              <a:off x="106425" y="208097"/>
              <a:ext cx="481351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NYC</a:t>
              </a:r>
            </a:p>
          </p:txBody>
        </p:sp>
      </p:grpSp>
      <p:grpSp>
        <p:nvGrpSpPr>
          <p:cNvPr id="264" name="MIA"/>
          <p:cNvGrpSpPr/>
          <p:nvPr/>
        </p:nvGrpSpPr>
        <p:grpSpPr>
          <a:xfrm>
            <a:off x="9828865" y="2688090"/>
            <a:ext cx="694209" cy="694213"/>
            <a:chOff x="0" y="0"/>
            <a:chExt cx="694208" cy="694211"/>
          </a:xfrm>
        </p:grpSpPr>
        <p:sp>
          <p:nvSpPr>
            <p:cNvPr id="262" name="Circle"/>
            <p:cNvSpPr/>
            <p:nvPr/>
          </p:nvSpPr>
          <p:spPr>
            <a:xfrm>
              <a:off x="-1" y="-1"/>
              <a:ext cx="694209" cy="69421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3" name="MIA"/>
            <p:cNvSpPr txBox="1"/>
            <p:nvPr/>
          </p:nvSpPr>
          <p:spPr>
            <a:xfrm>
              <a:off x="106425" y="208098"/>
              <a:ext cx="481350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MIA</a:t>
              </a:r>
            </a:p>
          </p:txBody>
        </p:sp>
      </p:grpSp>
      <p:grpSp>
        <p:nvGrpSpPr>
          <p:cNvPr id="267" name="HOU"/>
          <p:cNvGrpSpPr/>
          <p:nvPr/>
        </p:nvGrpSpPr>
        <p:grpSpPr>
          <a:xfrm>
            <a:off x="8723343" y="3783214"/>
            <a:ext cx="694209" cy="694209"/>
            <a:chOff x="0" y="0"/>
            <a:chExt cx="694208" cy="694208"/>
          </a:xfrm>
        </p:grpSpPr>
        <p:sp>
          <p:nvSpPr>
            <p:cNvPr id="265" name="Circle"/>
            <p:cNvSpPr/>
            <p:nvPr/>
          </p:nvSpPr>
          <p:spPr>
            <a:xfrm>
              <a:off x="-1" y="-1"/>
              <a:ext cx="694209" cy="694209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6" name="HOU"/>
            <p:cNvSpPr txBox="1"/>
            <p:nvPr/>
          </p:nvSpPr>
          <p:spPr>
            <a:xfrm>
              <a:off x="106425" y="208097"/>
              <a:ext cx="481351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HOU</a:t>
              </a:r>
            </a:p>
          </p:txBody>
        </p:sp>
      </p:grpSp>
      <p:sp>
        <p:nvSpPr>
          <p:cNvPr id="268" name="Line"/>
          <p:cNvSpPr/>
          <p:nvPr/>
        </p:nvSpPr>
        <p:spPr>
          <a:xfrm flipV="1">
            <a:off x="8199783" y="2150765"/>
            <a:ext cx="587105" cy="61336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69" name="Line"/>
          <p:cNvSpPr/>
          <p:nvPr/>
        </p:nvSpPr>
        <p:spPr>
          <a:xfrm flipV="1">
            <a:off x="9058912" y="2282917"/>
            <a:ext cx="20530" cy="150004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70" name="Line"/>
          <p:cNvSpPr/>
          <p:nvPr/>
        </p:nvSpPr>
        <p:spPr>
          <a:xfrm flipV="1">
            <a:off x="9324326" y="3287943"/>
            <a:ext cx="610073" cy="61336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71" name="Line"/>
          <p:cNvSpPr/>
          <p:nvPr/>
        </p:nvSpPr>
        <p:spPr>
          <a:xfrm flipH="1" flipV="1">
            <a:off x="8320354" y="3035193"/>
            <a:ext cx="1500188" cy="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72" name="Line"/>
          <p:cNvSpPr/>
          <p:nvPr/>
        </p:nvSpPr>
        <p:spPr>
          <a:xfrm flipH="1" flipV="1">
            <a:off x="9352336" y="2145980"/>
            <a:ext cx="604906" cy="61260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73" name="1.74"/>
          <p:cNvSpPr txBox="1"/>
          <p:nvPr/>
        </p:nvSpPr>
        <p:spPr>
          <a:xfrm>
            <a:off x="9666027" y="2135639"/>
            <a:ext cx="189181" cy="103760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m:rPr>
                      <m:sty m:val="p"/>
                    </m:rP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∞</m:t>
                  </m:r>
                </m:oMath>
              </m:oMathPara>
            </a14:m>
            <a:endParaRPr sz="1900"/>
          </a:p>
        </p:txBody>
      </p:sp>
      <p:sp>
        <p:nvSpPr>
          <p:cNvPr id="274" name="Line"/>
          <p:cNvSpPr/>
          <p:nvPr/>
        </p:nvSpPr>
        <p:spPr>
          <a:xfrm flipH="1" flipV="1">
            <a:off x="8182122" y="3305659"/>
            <a:ext cx="604906" cy="61261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75" name="1.74"/>
          <p:cNvSpPr txBox="1"/>
          <p:nvPr/>
        </p:nvSpPr>
        <p:spPr>
          <a:xfrm>
            <a:off x="8138522" y="3660121"/>
            <a:ext cx="189180" cy="103760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m:rPr>
                      <m:sty m:val="p"/>
                    </m:rP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∞</m:t>
                  </m:r>
                </m:oMath>
              </m:oMathPara>
            </a14:m>
            <a:endParaRPr sz="1900"/>
          </a:p>
        </p:txBody>
      </p:sp>
      <p:sp>
        <p:nvSpPr>
          <p:cNvPr id="276" name="Line"/>
          <p:cNvSpPr/>
          <p:nvPr/>
        </p:nvSpPr>
        <p:spPr>
          <a:xfrm>
            <a:off x="5168212" y="3030409"/>
            <a:ext cx="1846312" cy="6"/>
          </a:xfrm>
          <a:prstGeom prst="line">
            <a:avLst/>
          </a:prstGeom>
          <a:ln w="152400">
            <a:solidFill>
              <a:srgbClr val="00000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279" name="Traveling Salesman"/>
          <p:cNvGrpSpPr/>
          <p:nvPr/>
        </p:nvGrpSpPr>
        <p:grpSpPr>
          <a:xfrm>
            <a:off x="8243153" y="5029548"/>
            <a:ext cx="1654589" cy="903726"/>
            <a:chOff x="0" y="0"/>
            <a:chExt cx="1654587" cy="903724"/>
          </a:xfrm>
        </p:grpSpPr>
        <p:sp>
          <p:nvSpPr>
            <p:cNvPr id="277" name="Rectangle"/>
            <p:cNvSpPr/>
            <p:nvPr/>
          </p:nvSpPr>
          <p:spPr>
            <a:xfrm>
              <a:off x="-1" y="0"/>
              <a:ext cx="1654588" cy="903726"/>
            </a:xfrm>
            <a:prstGeom prst="rect">
              <a:avLst/>
            </a:prstGeom>
            <a:solidFill>
              <a:srgbClr val="84B4DF"/>
            </a:solidFill>
            <a:ln w="9525" cap="flat">
              <a:solidFill>
                <a:srgbClr val="4B5AB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78" name="Traveling Salesman"/>
            <p:cNvSpPr txBox="1"/>
            <p:nvPr/>
          </p:nvSpPr>
          <p:spPr>
            <a:xfrm>
              <a:off x="4762" y="139267"/>
              <a:ext cx="1645062" cy="6251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Traveling Salesman</a:t>
              </a:r>
            </a:p>
          </p:txBody>
        </p:sp>
      </p:grpSp>
      <p:sp>
        <p:nvSpPr>
          <p:cNvPr id="280" name="Text"/>
          <p:cNvSpPr txBox="1"/>
          <p:nvPr/>
        </p:nvSpPr>
        <p:spPr>
          <a:xfrm>
            <a:off x="5844517" y="3214627"/>
            <a:ext cx="254998" cy="267914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</m:sub>
                  </m:sSub>
                </m:oMath>
              </m:oMathPara>
            </a14:m>
            <a:endParaRPr sz="2100"/>
          </a:p>
        </p:txBody>
      </p:sp>
      <p:sp>
        <p:nvSpPr>
          <p:cNvPr id="281" name="2.475"/>
          <p:cNvSpPr txBox="1"/>
          <p:nvPr/>
        </p:nvSpPr>
        <p:spPr>
          <a:xfrm>
            <a:off x="1920810" y="2134907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2.776</a:t>
            </a:r>
          </a:p>
        </p:txBody>
      </p:sp>
      <p:sp>
        <p:nvSpPr>
          <p:cNvPr id="282" name="1.1"/>
          <p:cNvSpPr txBox="1"/>
          <p:nvPr/>
        </p:nvSpPr>
        <p:spPr>
          <a:xfrm>
            <a:off x="3671194" y="3589835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1.189</a:t>
            </a:r>
          </a:p>
        </p:txBody>
      </p:sp>
      <p:sp>
        <p:nvSpPr>
          <p:cNvPr id="283" name="1.74"/>
          <p:cNvSpPr txBox="1"/>
          <p:nvPr/>
        </p:nvSpPr>
        <p:spPr>
          <a:xfrm>
            <a:off x="3088051" y="2445210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1.629</a:t>
            </a:r>
          </a:p>
        </p:txBody>
      </p:sp>
      <p:sp>
        <p:nvSpPr>
          <p:cNvPr id="284" name="2.342"/>
          <p:cNvSpPr txBox="1"/>
          <p:nvPr/>
        </p:nvSpPr>
        <p:spPr>
          <a:xfrm>
            <a:off x="2362461" y="3028156"/>
            <a:ext cx="67697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 2.735</a:t>
            </a:r>
          </a:p>
        </p:txBody>
      </p:sp>
      <p:sp>
        <p:nvSpPr>
          <p:cNvPr id="285" name="2.475"/>
          <p:cNvSpPr txBox="1"/>
          <p:nvPr/>
        </p:nvSpPr>
        <p:spPr>
          <a:xfrm>
            <a:off x="7882607" y="2134148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2.776</a:t>
            </a:r>
          </a:p>
        </p:txBody>
      </p:sp>
      <p:sp>
        <p:nvSpPr>
          <p:cNvPr id="286" name="1.1"/>
          <p:cNvSpPr txBox="1"/>
          <p:nvPr/>
        </p:nvSpPr>
        <p:spPr>
          <a:xfrm>
            <a:off x="9632991" y="3589077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1.189</a:t>
            </a:r>
          </a:p>
        </p:txBody>
      </p:sp>
      <p:sp>
        <p:nvSpPr>
          <p:cNvPr id="287" name="1.74"/>
          <p:cNvSpPr txBox="1"/>
          <p:nvPr/>
        </p:nvSpPr>
        <p:spPr>
          <a:xfrm>
            <a:off x="9049846" y="2444450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1.629</a:t>
            </a:r>
          </a:p>
        </p:txBody>
      </p:sp>
      <p:sp>
        <p:nvSpPr>
          <p:cNvPr id="288" name="2.342"/>
          <p:cNvSpPr txBox="1"/>
          <p:nvPr/>
        </p:nvSpPr>
        <p:spPr>
          <a:xfrm>
            <a:off x="8324257" y="3027396"/>
            <a:ext cx="67697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 2.735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Title 1"/>
          <p:cNvSpPr txBox="1"/>
          <p:nvPr>
            <p:ph type="title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pPr/>
            <a:r>
              <a:t>NP-HARD Reduction</a:t>
            </a:r>
          </a:p>
        </p:txBody>
      </p:sp>
      <p:pic>
        <p:nvPicPr>
          <p:cNvPr id="291" name="Screenshot 2025-11-26 at 4.34.41 PM.png" descr="Screenshot 2025-11-26 at 4.34.41 PM.png"/>
          <p:cNvPicPr>
            <a:picLocks noChangeAspect="1"/>
          </p:cNvPicPr>
          <p:nvPr/>
        </p:nvPicPr>
        <p:blipFill>
          <a:blip r:embed="rId2">
            <a:extLst/>
          </a:blip>
          <a:srcRect l="0" t="5399" r="0" b="19332"/>
          <a:stretch>
            <a:fillRect/>
          </a:stretch>
        </p:blipFill>
        <p:spPr>
          <a:xfrm>
            <a:off x="2548926" y="2202407"/>
            <a:ext cx="7094336" cy="2161860"/>
          </a:xfrm>
          <a:prstGeom prst="rect">
            <a:avLst/>
          </a:prstGeom>
          <a:ln w="12700">
            <a:miter lim="400000"/>
          </a:ln>
        </p:spPr>
      </p:pic>
      <p:sp>
        <p:nvSpPr>
          <p:cNvPr id="292" name="Equation"/>
          <p:cNvSpPr txBox="1"/>
          <p:nvPr/>
        </p:nvSpPr>
        <p:spPr>
          <a:xfrm>
            <a:off x="5597723" y="4880681"/>
            <a:ext cx="1036279" cy="443442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𝑂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sSup>
                    <m:e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</m:e>
                    <m:sup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</m:oMath>
              </m:oMathPara>
            </a14:m>
            <a:endParaRPr sz="3400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4" name="Screenshot 2025-11-26 at 5.28.10 PM.png" descr="Screenshot 2025-11-26 at 5.28.10 P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820446" y="1519393"/>
            <a:ext cx="6551108" cy="3819215"/>
          </a:xfrm>
          <a:prstGeom prst="rect">
            <a:avLst/>
          </a:prstGeom>
          <a:ln w="12700">
            <a:miter lim="400000"/>
          </a:ln>
        </p:spPr>
      </p:pic>
      <p:sp>
        <p:nvSpPr>
          <p:cNvPr id="295" name="Equation"/>
          <p:cNvSpPr txBox="1"/>
          <p:nvPr/>
        </p:nvSpPr>
        <p:spPr>
          <a:xfrm>
            <a:off x="5276910" y="5792587"/>
            <a:ext cx="1707423" cy="36832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𝑂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𝑉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!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∙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𝑉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</m:oMath>
              </m:oMathPara>
            </a14:m>
            <a:endParaRPr sz="3400"/>
          </a:p>
        </p:txBody>
      </p:sp>
      <p:sp>
        <p:nvSpPr>
          <p:cNvPr id="296" name="Title 1"/>
          <p:cNvSpPr txBox="1"/>
          <p:nvPr/>
        </p:nvSpPr>
        <p:spPr>
          <a:xfrm>
            <a:off x="151728" y="113540"/>
            <a:ext cx="8831799" cy="6477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>
            <a:lvl1pPr>
              <a:lnSpc>
                <a:spcPct val="90000"/>
              </a:lnSpc>
              <a:defRPr cap="all" sz="32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Analytical runtime OF exact solution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CDC4B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Title 1"/>
          <p:cNvSpPr txBox="1"/>
          <p:nvPr>
            <p:ph type="title"/>
          </p:nvPr>
        </p:nvSpPr>
        <p:spPr>
          <a:xfrm>
            <a:off x="151723" y="113540"/>
            <a:ext cx="6344755" cy="647783"/>
          </a:xfrm>
          <a:prstGeom prst="rect">
            <a:avLst/>
          </a:prstGeom>
        </p:spPr>
        <p:txBody>
          <a:bodyPr/>
          <a:lstStyle/>
          <a:p>
            <a:pPr/>
            <a:r>
              <a:t>Test creation</a:t>
            </a:r>
          </a:p>
        </p:txBody>
      </p:sp>
      <p:pic>
        <p:nvPicPr>
          <p:cNvPr id="299" name="Screenshot 2025-12-02 at 9.44.47 PM.png" descr="Screenshot 2025-12-02 at 9.44.47 P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355873" y="1793064"/>
            <a:ext cx="7480256" cy="1462487"/>
          </a:xfrm>
          <a:prstGeom prst="rect">
            <a:avLst/>
          </a:prstGeom>
          <a:ln w="12700">
            <a:miter lim="400000"/>
          </a:ln>
        </p:spPr>
      </p:pic>
      <p:pic>
        <p:nvPicPr>
          <p:cNvPr id="300" name="Screenshot 2025-12-03 at 12.19.16 PM.png" descr="Screenshot 2025-12-03 at 12.19.16 PM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350247" y="4111273"/>
            <a:ext cx="7491508" cy="1462489"/>
          </a:xfrm>
          <a:prstGeom prst="rect">
            <a:avLst/>
          </a:prstGeom>
          <a:ln w="12700">
            <a:miter lim="400000"/>
          </a:ln>
        </p:spPr>
      </p:pic>
      <p:sp>
        <p:nvSpPr>
          <p:cNvPr id="301" name="generator.py"/>
          <p:cNvSpPr txBox="1"/>
          <p:nvPr/>
        </p:nvSpPr>
        <p:spPr>
          <a:xfrm>
            <a:off x="2354614" y="1390908"/>
            <a:ext cx="1375166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lvl="5">
              <a:defRPr>
                <a:latin typeface="+mj-lt"/>
                <a:ea typeface="+mj-ea"/>
                <a:cs typeface="+mj-cs"/>
                <a:sym typeface="Helvetica"/>
              </a:defRPr>
            </a:pPr>
            <a:r>
              <a:t>generator.py</a:t>
            </a:r>
          </a:p>
        </p:txBody>
      </p:sp>
      <p:sp>
        <p:nvSpPr>
          <p:cNvPr id="302" name="run_tests.sh"/>
          <p:cNvSpPr txBox="1"/>
          <p:nvPr/>
        </p:nvSpPr>
        <p:spPr>
          <a:xfrm>
            <a:off x="2354614" y="3670472"/>
            <a:ext cx="1349382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run_tests.sh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CDC4B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Title 1"/>
          <p:cNvSpPr txBox="1"/>
          <p:nvPr>
            <p:ph type="title"/>
          </p:nvPr>
        </p:nvSpPr>
        <p:spPr>
          <a:xfrm>
            <a:off x="151723" y="113540"/>
            <a:ext cx="6344755" cy="647783"/>
          </a:xfrm>
          <a:prstGeom prst="rect">
            <a:avLst/>
          </a:prstGeom>
        </p:spPr>
        <p:txBody>
          <a:bodyPr/>
          <a:lstStyle/>
          <a:p>
            <a:pPr/>
            <a:r>
              <a:t>Empirical analysis</a:t>
            </a:r>
          </a:p>
        </p:txBody>
      </p:sp>
      <p:pic>
        <p:nvPicPr>
          <p:cNvPr id="305" name="emperial.png" descr="emperial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12354" y="1293070"/>
            <a:ext cx="5983715" cy="4487785"/>
          </a:xfrm>
          <a:prstGeom prst="rect">
            <a:avLst/>
          </a:prstGeom>
          <a:ln w="12700">
            <a:miter lim="400000"/>
          </a:ln>
        </p:spPr>
      </p:pic>
      <p:sp>
        <p:nvSpPr>
          <p:cNvPr id="306" name="Text"/>
          <p:cNvSpPr txBox="1"/>
          <p:nvPr/>
        </p:nvSpPr>
        <p:spPr>
          <a:xfrm>
            <a:off x="7348217" y="3424859"/>
            <a:ext cx="1490231" cy="24961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[</m:t>
                  </m:r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:</m:t>
                  </m:r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]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≤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1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m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s</m:t>
                  </m:r>
                </m:oMath>
              </m:oMathPara>
            </a14:m>
            <a:endParaRPr sz="2100"/>
          </a:p>
        </p:txBody>
      </p:sp>
      <p:sp>
        <p:nvSpPr>
          <p:cNvPr id="307" name="Text"/>
          <p:cNvSpPr txBox="1"/>
          <p:nvPr/>
        </p:nvSpPr>
        <p:spPr>
          <a:xfrm>
            <a:off x="7348218" y="3886591"/>
            <a:ext cx="1292506" cy="25113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[</m:t>
                  </m:r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7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:</m:t>
                  </m:r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]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≤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1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s</m:t>
                  </m:r>
                </m:oMath>
              </m:oMathPara>
            </a14:m>
            <a:endParaRPr sz="2100"/>
          </a:p>
        </p:txBody>
      </p:sp>
      <p:sp>
        <p:nvSpPr>
          <p:cNvPr id="308" name="Text"/>
          <p:cNvSpPr txBox="1"/>
          <p:nvPr/>
        </p:nvSpPr>
        <p:spPr>
          <a:xfrm>
            <a:off x="7348217" y="4349913"/>
            <a:ext cx="1551382" cy="24961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[</m:t>
                  </m:r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10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:</m:t>
                  </m:r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11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]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≤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1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m</m:t>
                  </m:r>
                </m:oMath>
              </m:oMathPara>
            </a14:m>
            <a:endParaRPr sz="2100"/>
          </a:p>
        </p:txBody>
      </p:sp>
      <p:sp>
        <p:nvSpPr>
          <p:cNvPr id="309" name="Text"/>
          <p:cNvSpPr txBox="1"/>
          <p:nvPr/>
        </p:nvSpPr>
        <p:spPr>
          <a:xfrm>
            <a:off x="7348218" y="4817197"/>
            <a:ext cx="961566" cy="246965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12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≈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8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m</m:t>
                  </m:r>
                </m:oMath>
              </m:oMathPara>
            </a14:m>
            <a:endParaRPr sz="2100"/>
          </a:p>
        </p:txBody>
      </p:sp>
      <p:sp>
        <p:nvSpPr>
          <p:cNvPr id="310" name="Text"/>
          <p:cNvSpPr txBox="1"/>
          <p:nvPr/>
        </p:nvSpPr>
        <p:spPr>
          <a:xfrm>
            <a:off x="7348218" y="5267033"/>
            <a:ext cx="1101317" cy="251749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13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≈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2.6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h</m:t>
                  </m:r>
                </m:oMath>
              </m:oMathPara>
            </a14:m>
            <a:endParaRPr sz="2100"/>
          </a:p>
        </p:txBody>
      </p:sp>
      <p:sp>
        <p:nvSpPr>
          <p:cNvPr id="311" name="Text"/>
          <p:cNvSpPr txBox="1"/>
          <p:nvPr/>
        </p:nvSpPr>
        <p:spPr>
          <a:xfrm>
            <a:off x="9622833" y="3432045"/>
            <a:ext cx="1234667" cy="249098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≈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36.4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h</m:t>
                  </m:r>
                </m:oMath>
              </m:oMathPara>
            </a14:m>
            <a:endParaRPr sz="2100"/>
          </a:p>
        </p:txBody>
      </p:sp>
      <p:sp>
        <p:nvSpPr>
          <p:cNvPr id="312" name="Text"/>
          <p:cNvSpPr txBox="1"/>
          <p:nvPr/>
        </p:nvSpPr>
        <p:spPr>
          <a:xfrm>
            <a:off x="9622833" y="3919163"/>
            <a:ext cx="1206397" cy="25281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15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&gt;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1.5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M</m:t>
                  </m:r>
                </m:oMath>
              </m:oMathPara>
            </a14:m>
            <a:endParaRPr sz="2100"/>
          </a:p>
        </p:txBody>
      </p:sp>
      <p:sp>
        <p:nvSpPr>
          <p:cNvPr id="313" name="Text"/>
          <p:cNvSpPr txBox="1"/>
          <p:nvPr/>
        </p:nvSpPr>
        <p:spPr>
          <a:xfrm>
            <a:off x="9622833" y="4346388"/>
            <a:ext cx="1298014" cy="245882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[</m:t>
                  </m:r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16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:</m:t>
                  </m:r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]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Y</m:t>
                  </m:r>
                </m:oMath>
              </m:oMathPara>
            </a14:m>
            <a:endParaRPr sz="2100"/>
          </a:p>
        </p:txBody>
      </p:sp>
      <p:sp>
        <p:nvSpPr>
          <p:cNvPr id="314" name="Text"/>
          <p:cNvSpPr txBox="1"/>
          <p:nvPr/>
        </p:nvSpPr>
        <p:spPr>
          <a:xfrm>
            <a:off x="8556286" y="1588787"/>
            <a:ext cx="1247070" cy="633701"/>
          </a:xfrm>
          <a:prstGeom prst="rect">
            <a:avLst/>
          </a:prstGeom>
          <a:ln w="25400">
            <a:solidFill>
              <a:srgbClr val="000000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900">
                <a:latin typeface="Cambria Math"/>
                <a:ea typeface="Cambria Math"/>
                <a:cs typeface="Cambria Math"/>
                <a:sym typeface="Cambria Math"/>
              </a:defRPr>
            </a:lvl1pPr>
          </a:lstStyle>
          <a:p>
            <a:pPr/>
            <a14:m>
              <m:oMathPara>
                <m:oMathParaPr>
                  <m:jc m:val="left"/>
                </m:oMathParaPr>
                <m:oMath>
                  <m:sSub>
                    <m:e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</m:e>
                    <m:sub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</m:sub>
                  </m:sSub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f>
                    <m:fPr>
                      <m:ctrlP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!</m:t>
                      </m:r>
                    </m:num>
                    <m:den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!</m:t>
                      </m:r>
                    </m:den>
                  </m:f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*</m:t>
                  </m:r>
                  <m:sSub>
                    <m:e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</m:e>
                    <m:sub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</m:sub>
                  </m:sSub>
                </m:oMath>
              </m:oMathPara>
            </a14:m>
            <a:endParaRPr sz="1792"/>
          </a:p>
        </p:txBody>
      </p:sp>
      <p:sp>
        <p:nvSpPr>
          <p:cNvPr id="315" name="Line"/>
          <p:cNvSpPr/>
          <p:nvPr/>
        </p:nvSpPr>
        <p:spPr>
          <a:xfrm flipV="1">
            <a:off x="9232123" y="2526418"/>
            <a:ext cx="3" cy="303830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16" name="Text"/>
          <p:cNvSpPr txBox="1"/>
          <p:nvPr/>
        </p:nvSpPr>
        <p:spPr>
          <a:xfrm>
            <a:off x="7989126" y="2665813"/>
            <a:ext cx="290484" cy="374243"/>
          </a:xfrm>
          <a:prstGeom prst="rect">
            <a:avLst/>
          </a:prstGeom>
          <a:ln w="25400">
            <a:solidFill>
              <a:srgbClr val="000000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900">
                <a:latin typeface="Cambria Math"/>
                <a:ea typeface="Cambria Math"/>
                <a:cs typeface="Cambria Math"/>
                <a:sym typeface="Cambria Math"/>
              </a:defRPr>
            </a:lvl1pPr>
          </a:lstStyle>
          <a:p>
            <a:pPr/>
            <a14:m>
              <m:oMathPara>
                <m:oMathParaPr>
                  <m:jc m:val="left"/>
                </m:oMathParaPr>
                <m:oMath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K</m:t>
                  </m:r>
                </m:oMath>
              </m:oMathPara>
            </a14:m>
            <a:endParaRPr sz="1792"/>
          </a:p>
        </p:txBody>
      </p:sp>
      <p:sp>
        <p:nvSpPr>
          <p:cNvPr id="317" name="Text"/>
          <p:cNvSpPr txBox="1"/>
          <p:nvPr/>
        </p:nvSpPr>
        <p:spPr>
          <a:xfrm>
            <a:off x="10013543" y="2665813"/>
            <a:ext cx="303755" cy="374243"/>
          </a:xfrm>
          <a:prstGeom prst="rect">
            <a:avLst/>
          </a:prstGeom>
          <a:ln w="25400">
            <a:solidFill>
              <a:srgbClr val="000000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900">
                <a:latin typeface="Cambria Math"/>
                <a:ea typeface="Cambria Math"/>
                <a:cs typeface="Cambria Math"/>
                <a:sym typeface="Cambria Math"/>
              </a:defRPr>
            </a:lvl1pPr>
          </a:lstStyle>
          <a:p>
            <a:pPr/>
            <a14:m>
              <m:oMathPara>
                <m:oMathParaPr>
                  <m:jc m:val="left"/>
                </m:oMathParaPr>
                <m:oMath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U</m:t>
                  </m:r>
                </m:oMath>
              </m:oMathPara>
            </a14:m>
            <a:endParaRPr sz="1792"/>
          </a:p>
        </p:txBody>
      </p:sp>
      <p:sp>
        <p:nvSpPr>
          <p:cNvPr id="318" name="Line"/>
          <p:cNvSpPr/>
          <p:nvPr/>
        </p:nvSpPr>
        <p:spPr>
          <a:xfrm flipH="1" flipV="1">
            <a:off x="7393244" y="3173915"/>
            <a:ext cx="3677759" cy="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Title 1"/>
          <p:cNvSpPr txBox="1"/>
          <p:nvPr>
            <p:ph type="title"/>
          </p:nvPr>
        </p:nvSpPr>
        <p:spPr>
          <a:xfrm>
            <a:off x="895349" y="376638"/>
            <a:ext cx="7273636" cy="963932"/>
          </a:xfrm>
          <a:prstGeom prst="rect">
            <a:avLst/>
          </a:prstGeom>
        </p:spPr>
        <p:txBody>
          <a:bodyPr/>
          <a:lstStyle/>
          <a:p>
            <a:pPr/>
            <a:r>
              <a:t>Approximate Solution</a:t>
            </a:r>
          </a:p>
        </p:txBody>
      </p:sp>
      <p:sp>
        <p:nvSpPr>
          <p:cNvPr id="321" name="Text Placeholder 2"/>
          <p:cNvSpPr txBox="1"/>
          <p:nvPr>
            <p:ph type="body" idx="1"/>
          </p:nvPr>
        </p:nvSpPr>
        <p:spPr>
          <a:xfrm>
            <a:off x="222701" y="1158579"/>
            <a:ext cx="10701974" cy="5585124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b="1" sz="18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def main():</a:t>
            </a:r>
          </a:p>
          <a:p>
            <a:pPr lvl="1" marL="0" indent="482600">
              <a:buSzTx/>
              <a:buNone/>
              <a:defRPr b="1" sz="18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** Initialize graph and nodes **</a:t>
            </a:r>
          </a:p>
          <a:p>
            <a:pPr lvl="1" marL="0" indent="482600">
              <a:buSzTx/>
              <a:buNone/>
              <a:defRPr b="1" sz="18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for each edge in the graph:  </a:t>
            </a:r>
            <a:r>
              <a:rPr b="0">
                <a:solidFill>
                  <a:srgbClr val="002060"/>
                </a:solidFill>
                <a:latin typeface="Wingdings"/>
                <a:ea typeface="Wingdings"/>
                <a:cs typeface="Wingdings"/>
                <a:sym typeface="Wingdings"/>
              </a:rPr>
              <a:t></a:t>
            </a:r>
            <a:r>
              <a:t> </a:t>
            </a:r>
            <a:r>
              <a:rPr sz="2000">
                <a:solidFill>
                  <a:srgbClr val="002060"/>
                </a:solidFill>
              </a:rPr>
              <a:t>O(n)</a:t>
            </a:r>
          </a:p>
          <a:p>
            <a:pPr lvl="1" marL="0" indent="482600">
              <a:buSzTx/>
              <a:buNone/>
              <a:defRPr b="1" sz="18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	** build adjacency dictionary **</a:t>
            </a:r>
          </a:p>
          <a:p>
            <a:pPr lvl="1" marL="0" indent="482600">
              <a:buSzTx/>
              <a:buNone/>
              <a:defRPr b="1" sz="1800">
                <a:solidFill>
                  <a:srgbClr val="548235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Step 1: Build initial path using Nearest Neighbor heuristic</a:t>
            </a:r>
          </a:p>
          <a:p>
            <a:pPr lvl="1" marL="0" indent="482600">
              <a:buSzTx/>
              <a:buNone/>
              <a:defRPr b="1" sz="1800">
                <a:solidFill>
                  <a:srgbClr val="C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path_1</a:t>
            </a:r>
            <a:r>
              <a:rPr>
                <a:solidFill>
                  <a:srgbClr val="000000"/>
                </a:solidFill>
              </a:rPr>
              <a:t> = nearest_neighbor(graph, nodes)  </a:t>
            </a:r>
            <a:r>
              <a:rPr b="0">
                <a:solidFill>
                  <a:srgbClr val="002060"/>
                </a:solidFill>
                <a:latin typeface="Wingdings"/>
                <a:ea typeface="Wingdings"/>
                <a:cs typeface="Wingdings"/>
                <a:sym typeface="Wingdings"/>
              </a:rPr>
              <a:t></a:t>
            </a:r>
            <a:r>
              <a:rPr>
                <a:solidFill>
                  <a:srgbClr val="000000"/>
                </a:solidFill>
              </a:rPr>
              <a:t> </a:t>
            </a:r>
            <a:r>
              <a:rPr sz="2000">
                <a:solidFill>
                  <a:srgbClr val="002060"/>
                </a:solidFill>
              </a:rPr>
              <a:t>O(n²)</a:t>
            </a:r>
            <a:endParaRPr>
              <a:solidFill>
                <a:srgbClr val="002060"/>
              </a:solidFill>
              <a:latin typeface="Tenorite"/>
              <a:ea typeface="Tenorite"/>
              <a:cs typeface="Tenorite"/>
              <a:sym typeface="Tenorite"/>
            </a:endParaRPr>
          </a:p>
          <a:p>
            <a:pPr lvl="1" marL="0" indent="482600">
              <a:buSzTx/>
              <a:buNone/>
              <a:defRPr b="1" sz="1800"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 lvl="1" marL="0" indent="482600">
              <a:buSzTx/>
              <a:buNone/>
              <a:defRPr b="1" sz="1800">
                <a:solidFill>
                  <a:srgbClr val="548235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Step 2: Run 2-opt heuristic for local improvement</a:t>
            </a:r>
          </a:p>
          <a:p>
            <a:pPr lvl="1" marL="0" indent="482600">
              <a:buSzTx/>
              <a:buNone/>
              <a:defRPr b="1" sz="1800">
                <a:solidFill>
                  <a:srgbClr val="C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path_2</a:t>
            </a:r>
            <a:r>
              <a:rPr>
                <a:solidFill>
                  <a:srgbClr val="000000"/>
                </a:solidFill>
              </a:rPr>
              <a:t> = two_opt(graph, path_1) </a:t>
            </a:r>
            <a:r>
              <a:rPr b="0" sz="1600">
                <a:solidFill>
                  <a:srgbClr val="002060"/>
                </a:solidFill>
                <a:latin typeface="Wingdings"/>
                <a:ea typeface="Wingdings"/>
                <a:cs typeface="Wingdings"/>
                <a:sym typeface="Wingdings"/>
              </a:rPr>
              <a:t></a:t>
            </a:r>
            <a:r>
              <a:rPr sz="1600">
                <a:solidFill>
                  <a:srgbClr val="000000"/>
                </a:solidFill>
              </a:rPr>
              <a:t> </a:t>
            </a:r>
            <a:r>
              <a:rPr>
                <a:solidFill>
                  <a:srgbClr val="002060"/>
                </a:solidFill>
              </a:rPr>
              <a:t>O(n³) worst case</a:t>
            </a:r>
          </a:p>
          <a:p>
            <a:pPr lvl="1" marL="0" indent="482600">
              <a:buSzTx/>
              <a:buNone/>
              <a:defRPr b="1" sz="1800"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 lvl="1" marL="0" indent="482600">
              <a:buSzTx/>
              <a:buNone/>
              <a:defRPr b="1" sz="1800">
                <a:solidFill>
                  <a:srgbClr val="548235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Compute final path length and cycle</a:t>
            </a:r>
          </a:p>
          <a:p>
            <a:pPr lvl="1" marL="0" indent="482600">
              <a:buSzTx/>
              <a:buNone/>
              <a:defRPr b="1" sz="18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tour_length = tour_length(graph, path_2) </a:t>
            </a:r>
            <a:r>
              <a:rPr b="0" sz="1600">
                <a:solidFill>
                  <a:srgbClr val="002060"/>
                </a:solidFill>
                <a:latin typeface="Wingdings"/>
                <a:ea typeface="Wingdings"/>
                <a:cs typeface="Wingdings"/>
                <a:sym typeface="Wingdings"/>
              </a:rPr>
              <a:t></a:t>
            </a:r>
            <a:r>
              <a:rPr sz="1600"/>
              <a:t> </a:t>
            </a:r>
            <a:r>
              <a:rPr sz="2000">
                <a:solidFill>
                  <a:srgbClr val="002060"/>
                </a:solidFill>
              </a:rPr>
              <a:t>O(n)</a:t>
            </a:r>
          </a:p>
          <a:p>
            <a:pPr lvl="1" marL="0" indent="482600">
              <a:buSzTx/>
              <a:buNone/>
              <a:defRPr b="1" sz="1800">
                <a:solidFill>
                  <a:srgbClr val="C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path_3</a:t>
            </a:r>
            <a:r>
              <a:rPr>
                <a:solidFill>
                  <a:srgbClr val="000000"/>
                </a:solidFill>
              </a:rPr>
              <a:t> = path_2 + the first node of path_2 </a:t>
            </a:r>
            <a:r>
              <a:rPr b="0">
                <a:solidFill>
                  <a:srgbClr val="7030A0"/>
                </a:solidFill>
                <a:latin typeface="Wingdings"/>
                <a:ea typeface="Wingdings"/>
                <a:cs typeface="Wingdings"/>
                <a:sym typeface="Wingdings"/>
              </a:rPr>
              <a:t> </a:t>
            </a:r>
            <a:r>
              <a:rPr>
                <a:solidFill>
                  <a:srgbClr val="7030A0"/>
                </a:solidFill>
              </a:rPr>
              <a:t>turn into a cycle</a:t>
            </a:r>
          </a:p>
        </p:txBody>
      </p:sp>
      <p:sp>
        <p:nvSpPr>
          <p:cNvPr id="322" name="TextBox 9"/>
          <p:cNvSpPr txBox="1"/>
          <p:nvPr/>
        </p:nvSpPr>
        <p:spPr>
          <a:xfrm>
            <a:off x="7131049" y="1158580"/>
            <a:ext cx="3793629" cy="1501137"/>
          </a:xfrm>
          <a:prstGeom prst="rect">
            <a:avLst/>
          </a:prstGeom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Two heuristics used in combination: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>
              <a:defRPr b="1">
                <a:latin typeface="+mj-lt"/>
                <a:ea typeface="+mj-ea"/>
                <a:cs typeface="+mj-cs"/>
                <a:sym typeface="Helvetica"/>
              </a:defRPr>
            </a:pPr>
            <a:br/>
            <a:r>
              <a:rPr b="0">
                <a:latin typeface="Tenorite"/>
                <a:ea typeface="Tenorite"/>
                <a:cs typeface="Tenorite"/>
                <a:sym typeface="Tenorite"/>
              </a:rPr>
              <a:t>1. Nearest Neighbor (Greedy)</a:t>
            </a:r>
            <a:br>
              <a:rPr b="0">
                <a:latin typeface="Tenorite"/>
                <a:ea typeface="Tenorite"/>
                <a:cs typeface="Tenorite"/>
                <a:sym typeface="Tenorite"/>
              </a:rPr>
            </a:br>
            <a:r>
              <a:rPr b="0">
                <a:latin typeface="Tenorite"/>
                <a:ea typeface="Tenorite"/>
                <a:cs typeface="Tenorite"/>
                <a:sym typeface="Tenorite"/>
              </a:rPr>
              <a:t>2. Two-Opt (Local optimal swap)</a:t>
            </a:r>
          </a:p>
        </p:txBody>
      </p:sp>
      <p:sp>
        <p:nvSpPr>
          <p:cNvPr id="323" name="TextBox 1"/>
          <p:cNvSpPr txBox="1"/>
          <p:nvPr/>
        </p:nvSpPr>
        <p:spPr>
          <a:xfrm>
            <a:off x="7923044" y="3429000"/>
            <a:ext cx="3476960" cy="2449742"/>
          </a:xfrm>
          <a:prstGeom prst="rect">
            <a:avLst/>
          </a:prstGeom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solidFill>
                  <a:srgbClr val="002060"/>
                </a:solidFill>
                <a:latin typeface="Tenorite"/>
                <a:ea typeface="Tenorite"/>
                <a:cs typeface="Tenorite"/>
                <a:sym typeface="Tenorite"/>
              </a:defRPr>
            </a:pPr>
            <a:r>
              <a:t>Polynomial Time:</a:t>
            </a:r>
            <a:endParaRPr>
              <a:latin typeface="+mn-lt"/>
              <a:ea typeface="+mn-ea"/>
              <a:cs typeface="+mn-cs"/>
              <a:sym typeface="Calibri"/>
            </a:endParaRPr>
          </a:p>
          <a:p>
            <a:pPr>
              <a:defRPr>
                <a:solidFill>
                  <a:srgbClr val="002060"/>
                </a:solidFill>
                <a:latin typeface="Tenorite"/>
                <a:ea typeface="Tenorite"/>
                <a:cs typeface="Tenorite"/>
                <a:sym typeface="Tenorite"/>
              </a:defRPr>
            </a:pPr>
          </a:p>
          <a:p>
            <a:pPr>
              <a:defRPr>
                <a:solidFill>
                  <a:srgbClr val="002060"/>
                </a:solidFill>
              </a:defRPr>
            </a:pPr>
            <a:r>
              <a:t>O(n)</a:t>
            </a:r>
            <a:r>
              <a:rPr>
                <a:latin typeface="Tenorite"/>
                <a:ea typeface="Tenorite"/>
                <a:cs typeface="Tenorite"/>
                <a:sym typeface="Tenorite"/>
              </a:rPr>
              <a:t> (build adjacency dictionary)</a:t>
            </a:r>
          </a:p>
          <a:p>
            <a:pPr>
              <a:defRPr>
                <a:solidFill>
                  <a:srgbClr val="002060"/>
                </a:solidFill>
                <a:latin typeface="Tenorite"/>
                <a:ea typeface="Tenorite"/>
                <a:cs typeface="Tenorite"/>
                <a:sym typeface="Tenorite"/>
              </a:defRPr>
            </a:pPr>
            <a:r>
              <a:t>+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O(n²) (Nearest Neighbor)</a:t>
            </a:r>
          </a:p>
          <a:p>
            <a:pPr>
              <a:defRPr>
                <a:solidFill>
                  <a:srgbClr val="002060"/>
                </a:solidFill>
              </a:defRPr>
            </a:pPr>
            <a:r>
              <a:t>+ O(n²) (Two-Opt pair checks)</a:t>
            </a:r>
          </a:p>
          <a:p>
            <a:pPr>
              <a:defRPr>
                <a:solidFill>
                  <a:srgbClr val="002060"/>
                </a:solidFill>
              </a:defRPr>
            </a:pPr>
            <a:r>
              <a:t>+ O(n³) (Two-opt worst case switch)</a:t>
            </a:r>
          </a:p>
          <a:p>
            <a:pPr>
              <a:defRPr>
                <a:solidFill>
                  <a:srgbClr val="002060"/>
                </a:solidFill>
              </a:defRPr>
            </a:pPr>
            <a:r>
              <a:t>+ O(n) (Calculate tour length)</a:t>
            </a:r>
          </a:p>
          <a:p>
            <a:pPr>
              <a:defRPr>
                <a:solidFill>
                  <a:srgbClr val="002060"/>
                </a:solidFill>
              </a:defRPr>
            </a:pPr>
            <a:r>
              <a:t> = </a:t>
            </a:r>
            <a:r>
              <a:rPr b="1"/>
              <a:t>O(n³)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itle 1"/>
          <p:cNvSpPr txBox="1"/>
          <p:nvPr>
            <p:ph type="title"/>
          </p:nvPr>
        </p:nvSpPr>
        <p:spPr>
          <a:xfrm>
            <a:off x="361949" y="126361"/>
            <a:ext cx="7273636" cy="963931"/>
          </a:xfrm>
          <a:prstGeom prst="rect">
            <a:avLst/>
          </a:prstGeom>
        </p:spPr>
        <p:txBody>
          <a:bodyPr/>
          <a:lstStyle/>
          <a:p>
            <a:pPr/>
            <a:r>
              <a:t>Approximate Solution</a:t>
            </a:r>
          </a:p>
        </p:txBody>
      </p:sp>
      <p:sp>
        <p:nvSpPr>
          <p:cNvPr id="326" name="Text Placeholder 2"/>
          <p:cNvSpPr txBox="1"/>
          <p:nvPr>
            <p:ph type="body" sz="half" idx="1"/>
          </p:nvPr>
        </p:nvSpPr>
        <p:spPr>
          <a:xfrm>
            <a:off x="361946" y="1619247"/>
            <a:ext cx="5334007" cy="457962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</a:p>
        </p:txBody>
      </p:sp>
      <p:sp>
        <p:nvSpPr>
          <p:cNvPr id="327" name="TextBox 3"/>
          <p:cNvSpPr txBox="1"/>
          <p:nvPr/>
        </p:nvSpPr>
        <p:spPr>
          <a:xfrm>
            <a:off x="450850" y="990599"/>
            <a:ext cx="5397500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4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Heuristic #1: Nearest Neighbor</a:t>
            </a:r>
          </a:p>
        </p:txBody>
      </p:sp>
      <p:sp>
        <p:nvSpPr>
          <p:cNvPr id="328" name="TextBox 5"/>
          <p:cNvSpPr txBox="1"/>
          <p:nvPr/>
        </p:nvSpPr>
        <p:spPr>
          <a:xfrm>
            <a:off x="5692876" y="701773"/>
            <a:ext cx="6002557" cy="929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  <a:r>
              <a:t>The Nearest Neighbor heuristic </a:t>
            </a:r>
            <a:r>
              <a:rPr>
                <a:solidFill>
                  <a:srgbClr val="B4009A"/>
                </a:solidFill>
              </a:rPr>
              <a:t>picks the smallest cost edge first</a:t>
            </a:r>
            <a:r>
              <a:t>.</a:t>
            </a:r>
            <a:br/>
            <a:r>
              <a:t>This is considered a greedy approach.</a:t>
            </a:r>
          </a:p>
        </p:txBody>
      </p:sp>
      <p:sp>
        <p:nvSpPr>
          <p:cNvPr id="329" name="TextBox 6"/>
          <p:cNvSpPr txBox="1"/>
          <p:nvPr/>
        </p:nvSpPr>
        <p:spPr>
          <a:xfrm>
            <a:off x="5894068" y="1738851"/>
            <a:ext cx="5452114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Example of Nearest Neighbor: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Title 1"/>
          <p:cNvSpPr txBox="1"/>
          <p:nvPr>
            <p:ph type="title"/>
          </p:nvPr>
        </p:nvSpPr>
        <p:spPr>
          <a:xfrm>
            <a:off x="361949" y="126361"/>
            <a:ext cx="7273636" cy="963931"/>
          </a:xfrm>
          <a:prstGeom prst="rect">
            <a:avLst/>
          </a:prstGeom>
        </p:spPr>
        <p:txBody>
          <a:bodyPr/>
          <a:lstStyle/>
          <a:p>
            <a:pPr/>
            <a:r>
              <a:t>Approximate Solution</a:t>
            </a:r>
          </a:p>
        </p:txBody>
      </p:sp>
      <p:sp>
        <p:nvSpPr>
          <p:cNvPr id="332" name="Text Placeholder 2"/>
          <p:cNvSpPr txBox="1"/>
          <p:nvPr>
            <p:ph type="body" sz="half" idx="1"/>
          </p:nvPr>
        </p:nvSpPr>
        <p:spPr>
          <a:xfrm>
            <a:off x="361946" y="1619247"/>
            <a:ext cx="5334007" cy="457962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</a:p>
        </p:txBody>
      </p:sp>
      <p:sp>
        <p:nvSpPr>
          <p:cNvPr id="333" name="TextBox 3"/>
          <p:cNvSpPr txBox="1"/>
          <p:nvPr/>
        </p:nvSpPr>
        <p:spPr>
          <a:xfrm>
            <a:off x="450850" y="990599"/>
            <a:ext cx="5397500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4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Heuristic #2: Two-Opt</a:t>
            </a:r>
          </a:p>
        </p:txBody>
      </p:sp>
      <p:sp>
        <p:nvSpPr>
          <p:cNvPr id="334" name="TextBox 1"/>
          <p:cNvSpPr txBox="1"/>
          <p:nvPr/>
        </p:nvSpPr>
        <p:spPr>
          <a:xfrm>
            <a:off x="5692876" y="701773"/>
            <a:ext cx="6002557" cy="929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  <a:r>
              <a:t>The Two-opt heuristic </a:t>
            </a:r>
            <a:r>
              <a:rPr>
                <a:solidFill>
                  <a:srgbClr val="2E75B6"/>
                </a:solidFill>
              </a:rPr>
              <a:t>removes edge crossings</a:t>
            </a:r>
            <a:r>
              <a:t>.</a:t>
            </a:r>
            <a:br/>
            <a:r>
              <a:t>In TSP, crossed edges usually mean the path is suboptimal.</a:t>
            </a:r>
          </a:p>
        </p:txBody>
      </p:sp>
      <p:sp>
        <p:nvSpPr>
          <p:cNvPr id="335" name="TextBox 2"/>
          <p:cNvSpPr txBox="1"/>
          <p:nvPr/>
        </p:nvSpPr>
        <p:spPr>
          <a:xfrm>
            <a:off x="5894068" y="1738851"/>
            <a:ext cx="5452114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Example of a simple Two-opt: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Title 1"/>
          <p:cNvSpPr txBox="1"/>
          <p:nvPr>
            <p:ph type="title"/>
          </p:nvPr>
        </p:nvSpPr>
        <p:spPr>
          <a:xfrm>
            <a:off x="228596" y="280057"/>
            <a:ext cx="10439404" cy="1617024"/>
          </a:xfrm>
          <a:prstGeom prst="rect">
            <a:avLst/>
          </a:prstGeom>
        </p:spPr>
        <p:txBody>
          <a:bodyPr/>
          <a:lstStyle/>
          <a:p>
            <a:pPr/>
            <a:r>
              <a:t>Approximate Solution – non-Optimal test case</a:t>
            </a:r>
          </a:p>
        </p:txBody>
      </p:sp>
      <p:sp>
        <p:nvSpPr>
          <p:cNvPr id="338" name="TextBox 4"/>
          <p:cNvSpPr txBox="1"/>
          <p:nvPr/>
        </p:nvSpPr>
        <p:spPr>
          <a:xfrm>
            <a:off x="6333716" y="2235136"/>
            <a:ext cx="5148077" cy="1488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**Optimal cycle**: </a:t>
            </a:r>
            <a:br/>
            <a:r>
              <a:rPr b="0"/>
              <a:t>A → E (60.0) → F (1.0) → D (1.0) → C (40.0) → B (1.0) → A (1.0).</a:t>
            </a:r>
            <a:endParaRPr>
              <a:latin typeface="+mn-lt"/>
              <a:ea typeface="+mn-ea"/>
              <a:cs typeface="+mn-cs"/>
              <a:sym typeface="Calibri"/>
            </a:endParaRPr>
          </a:p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Tour: </a:t>
            </a:r>
            <a:r>
              <a:rPr b="0"/>
              <a:t>A E F D C B A</a:t>
            </a:r>
            <a:endParaRPr>
              <a:latin typeface="+mn-lt"/>
              <a:ea typeface="+mn-ea"/>
              <a:cs typeface="+mn-cs"/>
              <a:sym typeface="Calibri"/>
            </a:endParaRPr>
          </a:p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Length: </a:t>
            </a:r>
            <a:r>
              <a:rPr b="0"/>
              <a:t>60 + 1 + 1 + 40 + 1 + 1 = 104.0</a:t>
            </a:r>
          </a:p>
        </p:txBody>
      </p:sp>
      <p:sp>
        <p:nvSpPr>
          <p:cNvPr id="339" name="TextBox 5"/>
          <p:cNvSpPr txBox="1"/>
          <p:nvPr/>
        </p:nvSpPr>
        <p:spPr>
          <a:xfrm>
            <a:off x="6333716" y="4050522"/>
            <a:ext cx="5419393" cy="1488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**Nearest neighbor from A**:</a:t>
            </a:r>
            <a:endParaRPr>
              <a:latin typeface="+mn-lt"/>
              <a:ea typeface="+mn-ea"/>
              <a:cs typeface="+mn-cs"/>
              <a:sym typeface="Calibri"/>
            </a:endParaRPr>
          </a:p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  <a:r>
              <a:t>A → B (1.0) → C (1.0) → D (40.0) → E (1.0) → F (1.0) → A (100.0)</a:t>
            </a:r>
          </a:p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Tour: </a:t>
            </a:r>
            <a:r>
              <a:rPr b="0"/>
              <a:t>a b c d e f a</a:t>
            </a:r>
            <a:endParaRPr>
              <a:latin typeface="+mn-lt"/>
              <a:ea typeface="+mn-ea"/>
              <a:cs typeface="+mn-cs"/>
              <a:sym typeface="Calibri"/>
            </a:endParaRPr>
          </a:p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Length: </a:t>
            </a:r>
            <a:r>
              <a:rPr b="0"/>
              <a:t>1 + 1 + 40 + 1 + 1 + 100 = 143.0</a:t>
            </a:r>
          </a:p>
        </p:txBody>
      </p:sp>
      <p:pic>
        <p:nvPicPr>
          <p:cNvPr id="340" name="Picture 323" descr="Picture 32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84939" y="1646751"/>
            <a:ext cx="5811062" cy="464885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Title 1"/>
          <p:cNvSpPr txBox="1"/>
          <p:nvPr>
            <p:ph type="title"/>
          </p:nvPr>
        </p:nvSpPr>
        <p:spPr>
          <a:xfrm>
            <a:off x="228596" y="280057"/>
            <a:ext cx="10439404" cy="1617024"/>
          </a:xfrm>
          <a:prstGeom prst="rect">
            <a:avLst/>
          </a:prstGeom>
        </p:spPr>
        <p:txBody>
          <a:bodyPr/>
          <a:lstStyle/>
          <a:p>
            <a:pPr/>
            <a:r>
              <a:t>Approximate Solution – non-Optimal test case</a:t>
            </a:r>
          </a:p>
        </p:txBody>
      </p:sp>
      <p:sp>
        <p:nvSpPr>
          <p:cNvPr id="343" name="TextBox 4"/>
          <p:cNvSpPr txBox="1"/>
          <p:nvPr/>
        </p:nvSpPr>
        <p:spPr>
          <a:xfrm>
            <a:off x="6321509" y="1605142"/>
            <a:ext cx="5148077" cy="1488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**Optimal cycle**: </a:t>
            </a:r>
            <a:br/>
            <a:r>
              <a:rPr b="0"/>
              <a:t>A → E (60.0) → F (1.0) → D (1.0) → C (40.0) → B (1.0) → A (1.0).</a:t>
            </a:r>
            <a:endParaRPr>
              <a:latin typeface="+mn-lt"/>
              <a:ea typeface="+mn-ea"/>
              <a:cs typeface="+mn-cs"/>
              <a:sym typeface="Calibri"/>
            </a:endParaRPr>
          </a:p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Tour: </a:t>
            </a:r>
            <a:r>
              <a:rPr b="0"/>
              <a:t>A E F D C B A</a:t>
            </a:r>
            <a:endParaRPr>
              <a:latin typeface="+mn-lt"/>
              <a:ea typeface="+mn-ea"/>
              <a:cs typeface="+mn-cs"/>
              <a:sym typeface="Calibri"/>
            </a:endParaRPr>
          </a:p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Length: </a:t>
            </a:r>
            <a:r>
              <a:rPr b="0"/>
              <a:t>60 + 1 + 1 + 40 + 1 + 1 = 104.0</a:t>
            </a:r>
          </a:p>
        </p:txBody>
      </p:sp>
      <p:sp>
        <p:nvSpPr>
          <p:cNvPr id="344" name="TextBox 5"/>
          <p:cNvSpPr txBox="1"/>
          <p:nvPr/>
        </p:nvSpPr>
        <p:spPr>
          <a:xfrm>
            <a:off x="6357216" y="3370107"/>
            <a:ext cx="5419388" cy="1488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solidFill>
                  <a:srgbClr val="EDEDED"/>
                </a:solidFill>
                <a:latin typeface="Tenorite"/>
                <a:ea typeface="Tenorite"/>
                <a:cs typeface="Tenorite"/>
                <a:sym typeface="Tenorite"/>
              </a:defRPr>
            </a:pPr>
            <a:r>
              <a:t>**Nearest neighbor from a**:</a:t>
            </a:r>
            <a:endParaRPr>
              <a:latin typeface="+mn-lt"/>
              <a:ea typeface="+mn-ea"/>
              <a:cs typeface="+mn-cs"/>
              <a:sym typeface="Calibri"/>
            </a:endParaRPr>
          </a:p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  <a:r>
              <a:t>A → B (1.0) → C (1.0) → D (40.0) → E (1.0) → F (1.0) → A (100.0)</a:t>
            </a:r>
          </a:p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Tour: </a:t>
            </a:r>
            <a:r>
              <a:rPr b="0"/>
              <a:t>A B C D E F A</a:t>
            </a:r>
            <a:endParaRPr>
              <a:latin typeface="+mn-lt"/>
              <a:ea typeface="+mn-ea"/>
              <a:cs typeface="+mn-cs"/>
              <a:sym typeface="Calibri"/>
            </a:endParaRPr>
          </a:p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Length: </a:t>
            </a:r>
            <a:r>
              <a:rPr b="0"/>
              <a:t>1 + 1 + 40 + 1 + 1 + 100 = 143.0</a:t>
            </a:r>
          </a:p>
        </p:txBody>
      </p:sp>
      <p:pic>
        <p:nvPicPr>
          <p:cNvPr id="345" name="Picture 323" descr="Picture 32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84939" y="1646751"/>
            <a:ext cx="5811062" cy="4648850"/>
          </a:xfrm>
          <a:prstGeom prst="rect">
            <a:avLst/>
          </a:prstGeom>
          <a:ln w="12700">
            <a:miter lim="400000"/>
          </a:ln>
        </p:spPr>
      </p:pic>
      <p:sp>
        <p:nvSpPr>
          <p:cNvPr id="346" name="Arrow: Right 2"/>
          <p:cNvSpPr/>
          <p:nvPr/>
        </p:nvSpPr>
        <p:spPr>
          <a:xfrm rot="10186203">
            <a:off x="932045" y="5672332"/>
            <a:ext cx="1758652" cy="14089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25400">
            <a:solidFill>
              <a:srgbClr val="C0000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47" name="Arrow: Right 3"/>
          <p:cNvSpPr/>
          <p:nvPr/>
        </p:nvSpPr>
        <p:spPr>
          <a:xfrm rot="11215856">
            <a:off x="2955057" y="5672849"/>
            <a:ext cx="2411136" cy="1314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25400">
            <a:solidFill>
              <a:srgbClr val="C0000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48" name="Arrow: Right 6"/>
          <p:cNvSpPr/>
          <p:nvPr/>
        </p:nvSpPr>
        <p:spPr>
          <a:xfrm rot="5400000">
            <a:off x="4229298" y="4421113"/>
            <a:ext cx="2495390" cy="11068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25400">
            <a:solidFill>
              <a:srgbClr val="C0000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49" name="Arrow: Right 7"/>
          <p:cNvSpPr/>
          <p:nvPr/>
        </p:nvSpPr>
        <p:spPr>
          <a:xfrm rot="2336116">
            <a:off x="4303538" y="2518249"/>
            <a:ext cx="1165646" cy="106427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25400">
            <a:solidFill>
              <a:srgbClr val="C0000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50" name="Arrow: Right 8"/>
          <p:cNvSpPr/>
          <p:nvPr/>
        </p:nvSpPr>
        <p:spPr>
          <a:xfrm rot="21431375">
            <a:off x="732038" y="2095774"/>
            <a:ext cx="3418136" cy="98783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25400">
            <a:solidFill>
              <a:srgbClr val="C0000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51" name="Arrow: Right 9"/>
          <p:cNvSpPr/>
          <p:nvPr/>
        </p:nvSpPr>
        <p:spPr>
          <a:xfrm rot="15917001">
            <a:off x="-1010611" y="4059978"/>
            <a:ext cx="3398828" cy="9759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25400">
            <a:solidFill>
              <a:srgbClr val="C0000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52" name="TextBox 11"/>
          <p:cNvSpPr txBox="1"/>
          <p:nvPr/>
        </p:nvSpPr>
        <p:spPr>
          <a:xfrm>
            <a:off x="6227687" y="5327288"/>
            <a:ext cx="6016757" cy="819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1400"/>
              </a:lnSpc>
              <a:defRPr>
                <a:solidFill>
                  <a:srgbClr val="FF0000"/>
                </a:solidFill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** Any single 2‑edge swap in A B C D E F A increases cost (e.g., replacing (B,C) + (F,A) = 1 + 100 with (B,F) + (C,A) = 40 + 100), so the algorithm remains at 143.0 rather than reaching 104.0.</a:t>
            </a:r>
          </a:p>
        </p:txBody>
      </p:sp>
      <p:sp>
        <p:nvSpPr>
          <p:cNvPr id="353" name="TextBox 13"/>
          <p:cNvSpPr txBox="1"/>
          <p:nvPr/>
        </p:nvSpPr>
        <p:spPr>
          <a:xfrm>
            <a:off x="6213981" y="4991889"/>
            <a:ext cx="2807212" cy="464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1400"/>
              </a:lnSpc>
              <a:defRPr b="1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WHAT ABOUT TWO-OPT?</a:t>
            </a:r>
          </a:p>
        </p:txBody>
      </p:sp>
      <p:sp>
        <p:nvSpPr>
          <p:cNvPr id="354" name="TextBox 1"/>
          <p:cNvSpPr txBox="1"/>
          <p:nvPr/>
        </p:nvSpPr>
        <p:spPr>
          <a:xfrm>
            <a:off x="3994484" y="6295599"/>
            <a:ext cx="312821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/>
            </a:lvl1pPr>
          </a:lstStyle>
          <a:p>
            <a:pPr/>
            <a:r>
              <a:t>NOT BAD…..BUT NOT OPTIMAL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Title 1"/>
          <p:cNvSpPr txBox="1"/>
          <p:nvPr>
            <p:ph type="title"/>
          </p:nvPr>
        </p:nvSpPr>
        <p:spPr>
          <a:xfrm>
            <a:off x="228596" y="280057"/>
            <a:ext cx="10439404" cy="1617024"/>
          </a:xfrm>
          <a:prstGeom prst="rect">
            <a:avLst/>
          </a:prstGeom>
        </p:spPr>
        <p:txBody>
          <a:bodyPr/>
          <a:lstStyle/>
          <a:p>
            <a:pPr/>
            <a:r>
              <a:t>Approximate Solution – non-Optimal test case</a:t>
            </a:r>
          </a:p>
        </p:txBody>
      </p:sp>
      <p:sp>
        <p:nvSpPr>
          <p:cNvPr id="357" name="TextBox 4"/>
          <p:cNvSpPr txBox="1"/>
          <p:nvPr/>
        </p:nvSpPr>
        <p:spPr>
          <a:xfrm>
            <a:off x="6333716" y="2235136"/>
            <a:ext cx="5148077" cy="1488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**Optimal cycle**: </a:t>
            </a:r>
            <a:br/>
            <a:r>
              <a:rPr b="0"/>
              <a:t>A → E (60.0) → F (1.0) → D (1.0) → C (40.0) → B (1.0) → A (1.0).</a:t>
            </a:r>
            <a:endParaRPr>
              <a:latin typeface="+mn-lt"/>
              <a:ea typeface="+mn-ea"/>
              <a:cs typeface="+mn-cs"/>
              <a:sym typeface="Calibri"/>
            </a:endParaRPr>
          </a:p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Tour: </a:t>
            </a:r>
            <a:r>
              <a:rPr b="0"/>
              <a:t>A E F D C B A</a:t>
            </a:r>
            <a:endParaRPr>
              <a:latin typeface="+mn-lt"/>
              <a:ea typeface="+mn-ea"/>
              <a:cs typeface="+mn-cs"/>
              <a:sym typeface="Calibri"/>
            </a:endParaRPr>
          </a:p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Length: </a:t>
            </a:r>
            <a:r>
              <a:rPr b="0"/>
              <a:t>60 + 1 + 1 + 40 + 1 + 1 = 104.0</a:t>
            </a:r>
          </a:p>
        </p:txBody>
      </p:sp>
      <p:sp>
        <p:nvSpPr>
          <p:cNvPr id="358" name="TextBox 5"/>
          <p:cNvSpPr txBox="1"/>
          <p:nvPr/>
        </p:nvSpPr>
        <p:spPr>
          <a:xfrm>
            <a:off x="6333716" y="4050522"/>
            <a:ext cx="5419393" cy="1488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**Nearest neighbor from a**:</a:t>
            </a:r>
            <a:endParaRPr>
              <a:latin typeface="+mn-lt"/>
              <a:ea typeface="+mn-ea"/>
              <a:cs typeface="+mn-cs"/>
              <a:sym typeface="Calibri"/>
            </a:endParaRPr>
          </a:p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  <a:r>
              <a:t>A → B (1.0) → C (1.0) → D (40.0) → E (1.0) → F (1.0) → A (100.0)</a:t>
            </a:r>
          </a:p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Tour: </a:t>
            </a:r>
            <a:r>
              <a:rPr b="0"/>
              <a:t>a b c d e f a</a:t>
            </a:r>
            <a:endParaRPr>
              <a:latin typeface="+mn-lt"/>
              <a:ea typeface="+mn-ea"/>
              <a:cs typeface="+mn-cs"/>
              <a:sym typeface="Calibri"/>
            </a:endParaRPr>
          </a:p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Length: </a:t>
            </a:r>
            <a:r>
              <a:rPr b="0"/>
              <a:t>1 + 1 + 40 + 1 + 1 + 100 = 143.0</a:t>
            </a:r>
          </a:p>
        </p:txBody>
      </p:sp>
      <p:pic>
        <p:nvPicPr>
          <p:cNvPr id="359" name="Picture 323" descr="Picture 32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84939" y="1646751"/>
            <a:ext cx="5811062" cy="4648850"/>
          </a:xfrm>
          <a:prstGeom prst="rect">
            <a:avLst/>
          </a:prstGeom>
          <a:ln w="12700">
            <a:miter lim="400000"/>
          </a:ln>
        </p:spPr>
      </p:pic>
      <p:sp>
        <p:nvSpPr>
          <p:cNvPr id="360" name="Arrow: Right 2"/>
          <p:cNvSpPr/>
          <p:nvPr/>
        </p:nvSpPr>
        <p:spPr>
          <a:xfrm>
            <a:off x="996696" y="5900184"/>
            <a:ext cx="4361692" cy="9828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B050"/>
          </a:solidFill>
          <a:ln w="25400">
            <a:solidFill>
              <a:srgbClr val="92D05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61" name="Arrow: Right 3"/>
          <p:cNvSpPr/>
          <p:nvPr/>
        </p:nvSpPr>
        <p:spPr>
          <a:xfrm rot="11215856">
            <a:off x="2955057" y="5672849"/>
            <a:ext cx="2411136" cy="1314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B050"/>
          </a:solidFill>
          <a:ln w="25400">
            <a:solidFill>
              <a:srgbClr val="92D05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62" name="Arrow: Right 6"/>
          <p:cNvSpPr/>
          <p:nvPr/>
        </p:nvSpPr>
        <p:spPr>
          <a:xfrm rot="19024860">
            <a:off x="2520357" y="4265114"/>
            <a:ext cx="3349189" cy="11068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B050"/>
          </a:solidFill>
          <a:ln w="25400">
            <a:solidFill>
              <a:srgbClr val="92D05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63" name="Arrow: Right 7"/>
          <p:cNvSpPr/>
          <p:nvPr/>
        </p:nvSpPr>
        <p:spPr>
          <a:xfrm rot="13217629">
            <a:off x="4303538" y="2518249"/>
            <a:ext cx="1165646" cy="106427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B050"/>
          </a:solidFill>
          <a:ln w="25400">
            <a:solidFill>
              <a:srgbClr val="92D05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64" name="Arrow: Right 8"/>
          <p:cNvSpPr/>
          <p:nvPr/>
        </p:nvSpPr>
        <p:spPr>
          <a:xfrm rot="10648709">
            <a:off x="732038" y="2095774"/>
            <a:ext cx="3418136" cy="98783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B050"/>
          </a:solidFill>
          <a:ln w="25400">
            <a:solidFill>
              <a:srgbClr val="92D05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65" name="Arrow: Right 9"/>
          <p:cNvSpPr/>
          <p:nvPr/>
        </p:nvSpPr>
        <p:spPr>
          <a:xfrm rot="5097061">
            <a:off x="-1010611" y="4059978"/>
            <a:ext cx="3398828" cy="9759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B050"/>
          </a:solidFill>
          <a:ln w="25400">
            <a:solidFill>
              <a:srgbClr val="92D05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Title 1"/>
          <p:cNvSpPr txBox="1"/>
          <p:nvPr>
            <p:ph type="title"/>
          </p:nvPr>
        </p:nvSpPr>
        <p:spPr>
          <a:xfrm>
            <a:off x="553449" y="418785"/>
            <a:ext cx="10900617" cy="1603469"/>
          </a:xfrm>
          <a:prstGeom prst="rect">
            <a:avLst/>
          </a:prstGeom>
        </p:spPr>
        <p:txBody>
          <a:bodyPr/>
          <a:lstStyle/>
          <a:p>
            <a:pPr/>
            <a:r>
              <a:t>Approximate vs exact solution – compare results</a:t>
            </a:r>
          </a:p>
        </p:txBody>
      </p:sp>
      <p:sp>
        <p:nvSpPr>
          <p:cNvPr id="368" name="Text Placeholder 2"/>
          <p:cNvSpPr txBox="1"/>
          <p:nvPr>
            <p:ph type="body" sz="half" idx="1"/>
          </p:nvPr>
        </p:nvSpPr>
        <p:spPr>
          <a:xfrm>
            <a:off x="914396" y="2022250"/>
            <a:ext cx="6196272" cy="3914910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t>plots that compare the result/solution of your exact solution versus the approximation on your test cases. This is where you show the </a:t>
            </a:r>
            <a:r>
              <a:rPr b="1"/>
              <a:t>value</a:t>
            </a:r>
            <a:r>
              <a:t> achieved by both and see how well your approximation did versus the optimal solution.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Title 1"/>
          <p:cNvSpPr txBox="1"/>
          <p:nvPr>
            <p:ph type="title"/>
          </p:nvPr>
        </p:nvSpPr>
        <p:spPr>
          <a:xfrm>
            <a:off x="421104" y="418785"/>
            <a:ext cx="11947360" cy="1603469"/>
          </a:xfrm>
          <a:prstGeom prst="rect">
            <a:avLst/>
          </a:prstGeom>
        </p:spPr>
        <p:txBody>
          <a:bodyPr/>
          <a:lstStyle/>
          <a:p>
            <a:pPr/>
            <a:r>
              <a:t>Approximate vs exact solution – run time (wall clock)</a:t>
            </a:r>
          </a:p>
        </p:txBody>
      </p:sp>
      <p:graphicFrame>
        <p:nvGraphicFramePr>
          <p:cNvPr id="371" name="Chart 4"/>
          <p:cNvGraphicFramePr/>
          <p:nvPr/>
        </p:nvGraphicFramePr>
        <p:xfrm>
          <a:off x="10199" y="1782410"/>
          <a:ext cx="6947331" cy="4415519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72" name="Table 10"/>
          <p:cNvGraphicFramePr/>
          <p:nvPr/>
        </p:nvGraphicFramePr>
        <p:xfrm>
          <a:off x="7279105" y="1612232"/>
          <a:ext cx="3645573" cy="4211064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456012"/>
                <a:gridCol w="1152398"/>
                <a:gridCol w="1037159"/>
              </a:tblGrid>
              <a:tr h="23394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Approximate Solution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Exact Solution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# of nodes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solidFill>
                      <a:srgbClr val="000000"/>
                    </a:solidFill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0.0000088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0.0000077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0.0000115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0.0000153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4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0.0000128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0.000052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5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0.0000158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0.0003112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6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0.0000166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0.0024893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7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0.0000175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0.0230878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8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0.0000373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0.2287903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9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0.0000223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2.4284377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10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0.0000257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27.6510172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11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0.0000294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410.1124702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12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0.0000302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9600.488107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0.0000327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244000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14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0.0000576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3.92E+06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15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0.0000879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7.76E+19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25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0.0003045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3.04E+59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50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0.001417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1.87E+153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100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0.2630184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8.04E+269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0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1000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itle 1"/>
          <p:cNvSpPr txBox="1"/>
          <p:nvPr>
            <p:ph type="title"/>
          </p:nvPr>
        </p:nvSpPr>
        <p:spPr>
          <a:xfrm>
            <a:off x="421104" y="418785"/>
            <a:ext cx="11947360" cy="1603469"/>
          </a:xfrm>
          <a:prstGeom prst="rect">
            <a:avLst/>
          </a:prstGeom>
        </p:spPr>
        <p:txBody>
          <a:bodyPr/>
          <a:lstStyle/>
          <a:p>
            <a:pPr/>
            <a:r>
              <a:t>Approximate vs exact solution – Time Complexity</a:t>
            </a:r>
          </a:p>
        </p:txBody>
      </p:sp>
      <p:sp>
        <p:nvSpPr>
          <p:cNvPr id="375" name="TextBox 2"/>
          <p:cNvSpPr txBox="1"/>
          <p:nvPr/>
        </p:nvSpPr>
        <p:spPr>
          <a:xfrm>
            <a:off x="4320940" y="2468895"/>
            <a:ext cx="6910942" cy="40194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Every TSP tour </a:t>
            </a:r>
            <a:r>
              <a:rPr u="sng"/>
              <a:t>must connect all nodes</a:t>
            </a:r>
            <a:r>
              <a:t>, and MST is the minimal total edge weight connecting all nodes, so the MST’s length is our lower bound for TSP.</a:t>
            </a:r>
          </a:p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</a:p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</a:p>
          <a:p>
            <a:pPr>
              <a:defRPr sz="2400">
                <a:solidFill>
                  <a:srgbClr val="7030A0"/>
                </a:solidFill>
              </a:defRPr>
            </a:pPr>
            <a:r>
              <a:t>Δ = Tour length found by our algorithm – Lower Bound</a:t>
            </a:r>
          </a:p>
          <a:p>
            <a:pPr>
              <a:defRPr sz="2400">
                <a:solidFill>
                  <a:srgbClr val="7030A0"/>
                </a:solidFill>
                <a:latin typeface="Tenorite"/>
                <a:ea typeface="Tenorite"/>
                <a:cs typeface="Tenorite"/>
                <a:sym typeface="Tenorite"/>
              </a:defRPr>
            </a:pPr>
            <a:r>
              <a:t>                                           </a:t>
            </a:r>
          </a:p>
          <a:p>
            <a:pPr>
              <a:defRPr b="1" sz="2000">
                <a:latin typeface="Tenorite"/>
                <a:ea typeface="Tenorite"/>
                <a:cs typeface="Tenorite"/>
                <a:sym typeface="Tenorite"/>
              </a:defRPr>
            </a:pPr>
            <a:r>
              <a:t>Example (test case ’14.txt’):</a:t>
            </a:r>
            <a:endParaRPr>
              <a:latin typeface="+mn-lt"/>
              <a:ea typeface="+mn-ea"/>
              <a:cs typeface="+mn-cs"/>
              <a:sym typeface="Calibri"/>
            </a:endParaRPr>
          </a:p>
          <a:p>
            <a:pPr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MST Length calculation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≈ 2565.36</a:t>
            </a:r>
          </a:p>
          <a:p>
            <a:pPr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Tour length printed by our algorithm = 2727.8113</a:t>
            </a:r>
          </a:p>
          <a:p>
            <a:pPr>
              <a:defRPr sz="2400">
                <a:solidFill>
                  <a:srgbClr val="7030A0"/>
                </a:solidFill>
                <a:latin typeface="Tenorite"/>
                <a:ea typeface="Tenorite"/>
                <a:cs typeface="Tenorite"/>
                <a:sym typeface="Tenorite"/>
              </a:defRPr>
            </a:pPr>
          </a:p>
          <a:p>
            <a:pPr>
              <a:defRPr sz="2400">
                <a:solidFill>
                  <a:srgbClr val="7030A0"/>
                </a:solidFill>
              </a:defRPr>
            </a:pPr>
            <a:r>
              <a:t>Δ</a:t>
            </a:r>
            <a:r>
              <a:rPr>
                <a:latin typeface="Tenorite"/>
                <a:ea typeface="Tenorite"/>
                <a:cs typeface="Tenorite"/>
                <a:sym typeface="Tenorite"/>
              </a:rPr>
              <a:t> = 2727.8113 </a:t>
            </a:r>
            <a:r>
              <a:t>–</a:t>
            </a:r>
            <a:r>
              <a:rPr>
                <a:latin typeface="Tenorite"/>
                <a:ea typeface="Tenorite"/>
                <a:cs typeface="Tenorite"/>
                <a:sym typeface="Tenorite"/>
              </a:rPr>
              <a:t> 2565.36 </a:t>
            </a:r>
            <a:r>
              <a:t>≈ 144.4513</a:t>
            </a:r>
            <a:r>
              <a:rPr>
                <a:latin typeface="Tenorite"/>
                <a:ea typeface="Tenorite"/>
                <a:cs typeface="Tenorite"/>
                <a:sym typeface="Tenorite"/>
              </a:rPr>
              <a:t> </a:t>
            </a:r>
          </a:p>
        </p:txBody>
      </p:sp>
      <p:sp>
        <p:nvSpPr>
          <p:cNvPr id="376" name="TextBox 4"/>
          <p:cNvSpPr txBox="1"/>
          <p:nvPr/>
        </p:nvSpPr>
        <p:spPr>
          <a:xfrm>
            <a:off x="928035" y="1897469"/>
            <a:ext cx="2495352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4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Worst Case</a:t>
            </a:r>
          </a:p>
        </p:txBody>
      </p:sp>
      <p:sp>
        <p:nvSpPr>
          <p:cNvPr id="377" name="TextBox 5"/>
          <p:cNvSpPr txBox="1"/>
          <p:nvPr/>
        </p:nvSpPr>
        <p:spPr>
          <a:xfrm>
            <a:off x="6671108" y="1897464"/>
            <a:ext cx="2495354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4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Lower Bound</a:t>
            </a:r>
          </a:p>
        </p:txBody>
      </p:sp>
      <p:sp>
        <p:nvSpPr>
          <p:cNvPr id="378" name="TextBox 9"/>
          <p:cNvSpPr txBox="1"/>
          <p:nvPr/>
        </p:nvSpPr>
        <p:spPr>
          <a:xfrm>
            <a:off x="314424" y="2683653"/>
            <a:ext cx="3634341" cy="24370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Still Polynomial Time!</a:t>
            </a:r>
            <a:endParaRPr>
              <a:latin typeface="+mn-lt"/>
              <a:ea typeface="+mn-ea"/>
              <a:cs typeface="+mn-cs"/>
              <a:sym typeface="Calibri"/>
            </a:endParaRPr>
          </a:p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</a:p>
          <a:p>
            <a:pPr/>
            <a:r>
              <a:t>O(n)</a:t>
            </a:r>
            <a:r>
              <a:rPr>
                <a:latin typeface="Tenorite"/>
                <a:ea typeface="Tenorite"/>
                <a:cs typeface="Tenorite"/>
                <a:sym typeface="Tenorite"/>
              </a:rPr>
              <a:t> (build adjacency dictionary)</a:t>
            </a:r>
            <a:endParaRPr>
              <a:latin typeface="Tenorite"/>
              <a:ea typeface="Tenorite"/>
              <a:cs typeface="Tenorite"/>
              <a:sym typeface="Tenorite"/>
            </a:endParaRPr>
          </a:p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  <a:r>
              <a:t>+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O(n²) (Nearest Neighbor)</a:t>
            </a:r>
            <a:endParaRPr>
              <a:latin typeface="+mn-lt"/>
              <a:ea typeface="+mn-ea"/>
              <a:cs typeface="+mn-cs"/>
              <a:sym typeface="Calibri"/>
            </a:endParaRPr>
          </a:p>
          <a:p>
            <a:pPr/>
            <a:r>
              <a:t>+ O(n²) (Two-Opt pair checks)</a:t>
            </a:r>
          </a:p>
          <a:p>
            <a:pPr/>
            <a:r>
              <a:t>+ O(n³) (Two-opt worst case switch)</a:t>
            </a:r>
          </a:p>
          <a:p>
            <a:pPr/>
            <a:r>
              <a:t>+ O(n) (Calculate tour length)</a:t>
            </a:r>
          </a:p>
          <a:p>
            <a:pPr/>
            <a:r>
              <a:t> = </a:t>
            </a:r>
            <a:r>
              <a:rPr b="1"/>
              <a:t>O(n³)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Title 1"/>
          <p:cNvSpPr txBox="1"/>
          <p:nvPr>
            <p:ph type="title"/>
          </p:nvPr>
        </p:nvSpPr>
        <p:spPr>
          <a:xfrm>
            <a:off x="6095998" y="375277"/>
            <a:ext cx="4896685" cy="3625002"/>
          </a:xfrm>
          <a:prstGeom prst="rect">
            <a:avLst/>
          </a:prstGeom>
        </p:spPr>
        <p:txBody>
          <a:bodyPr/>
          <a:lstStyle/>
          <a:p>
            <a:pPr/>
            <a:r>
              <a:t>Enhancing the Approximate Solution</a:t>
            </a:r>
          </a:p>
        </p:txBody>
      </p:sp>
      <p:sp>
        <p:nvSpPr>
          <p:cNvPr id="381" name="Content Placeholder 2"/>
          <p:cNvSpPr txBox="1"/>
          <p:nvPr>
            <p:ph type="body" sz="quarter" idx="1"/>
          </p:nvPr>
        </p:nvSpPr>
        <p:spPr>
          <a:xfrm>
            <a:off x="6095998" y="4172989"/>
            <a:ext cx="4896685" cy="2309737"/>
          </a:xfrm>
          <a:prstGeom prst="rect">
            <a:avLst/>
          </a:prstGeom>
        </p:spPr>
        <p:txBody>
          <a:bodyPr/>
          <a:lstStyle/>
          <a:p>
            <a:pPr/>
            <a:r>
              <a:t>Featuring randomness</a:t>
            </a:r>
          </a:p>
        </p:txBody>
      </p:sp>
      <p:pic>
        <p:nvPicPr>
          <p:cNvPr id="382" name="Picture Placeholder 2" descr="Picture Placeholder 2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tretch>
            <a:fillRect/>
          </a:stretch>
        </p:blipFill>
        <p:spPr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Title 1"/>
          <p:cNvSpPr txBox="1"/>
          <p:nvPr>
            <p:ph type="title"/>
          </p:nvPr>
        </p:nvSpPr>
        <p:spPr>
          <a:xfrm>
            <a:off x="914399" y="365125"/>
            <a:ext cx="7273636" cy="1646554"/>
          </a:xfrm>
          <a:prstGeom prst="rect">
            <a:avLst/>
          </a:prstGeom>
        </p:spPr>
        <p:txBody>
          <a:bodyPr/>
          <a:lstStyle/>
          <a:p>
            <a:pPr/>
            <a:r>
              <a:t>Where DO We Fall Short?</a:t>
            </a:r>
          </a:p>
        </p:txBody>
      </p:sp>
      <p:sp>
        <p:nvSpPr>
          <p:cNvPr id="385" name="TextBox 1"/>
          <p:cNvSpPr txBox="1"/>
          <p:nvPr/>
        </p:nvSpPr>
        <p:spPr>
          <a:xfrm>
            <a:off x="914399" y="1822536"/>
            <a:ext cx="7496827" cy="2021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5750" indent="-285750">
              <a:buSzPct val="100000"/>
              <a:buFont typeface="Arial"/>
              <a:buChar char="•"/>
              <a:defRPr b="1" sz="3200">
                <a:latin typeface="Tenorite"/>
                <a:ea typeface="Tenorite"/>
                <a:cs typeface="Tenorite"/>
                <a:sym typeface="Tenorite"/>
              </a:defRPr>
            </a:pPr>
            <a:r>
              <a:t>No randomness </a:t>
            </a:r>
            <a:r>
              <a:rPr b="0"/>
              <a:t>limits graph exploration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 marL="285750" indent="-285750">
              <a:buSzPct val="100000"/>
              <a:buFont typeface="Arial"/>
              <a:buChar char="•"/>
              <a:defRPr b="1" sz="3200">
                <a:latin typeface="Tenorite"/>
                <a:ea typeface="Tenorite"/>
                <a:cs typeface="Tenorite"/>
                <a:sym typeface="Tenorite"/>
              </a:defRPr>
            </a:pPr>
            <a:r>
              <a:t>Dependent </a:t>
            </a:r>
            <a:r>
              <a:rPr b="0"/>
              <a:t>on </a:t>
            </a:r>
            <a:r>
              <a:t>starting node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 marL="285750" indent="-285750">
              <a:buSzPct val="100000"/>
              <a:buFont typeface="Arial"/>
              <a:buChar char="•"/>
              <a:defRPr b="1" sz="3200">
                <a:latin typeface="Tenorite"/>
                <a:ea typeface="Tenorite"/>
                <a:cs typeface="Tenorite"/>
                <a:sym typeface="Tenorite"/>
              </a:defRPr>
            </a:pPr>
            <a:r>
              <a:t>Mutates a list</a:t>
            </a:r>
            <a:r>
              <a:rPr b="0"/>
              <a:t> while iterating through it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Title 1"/>
          <p:cNvSpPr txBox="1"/>
          <p:nvPr>
            <p:ph type="title"/>
          </p:nvPr>
        </p:nvSpPr>
        <p:spPr>
          <a:xfrm>
            <a:off x="914396" y="365125"/>
            <a:ext cx="10439404" cy="1617017"/>
          </a:xfrm>
          <a:prstGeom prst="rect">
            <a:avLst/>
          </a:prstGeom>
        </p:spPr>
        <p:txBody>
          <a:bodyPr/>
          <a:lstStyle/>
          <a:p>
            <a:pPr/>
            <a:r>
              <a:t>Making Version 3.5, “Zenith”</a:t>
            </a:r>
          </a:p>
        </p:txBody>
      </p:sp>
      <p:sp>
        <p:nvSpPr>
          <p:cNvPr id="388" name="Text Placeholder 2"/>
          <p:cNvSpPr txBox="1"/>
          <p:nvPr>
            <p:ph type="body" sz="half" idx="1"/>
          </p:nvPr>
        </p:nvSpPr>
        <p:spPr>
          <a:xfrm>
            <a:off x="914396" y="2022248"/>
            <a:ext cx="6413082" cy="3580755"/>
          </a:xfrm>
          <a:prstGeom prst="rect">
            <a:avLst/>
          </a:prstGeom>
        </p:spPr>
        <p:txBody>
          <a:bodyPr/>
          <a:lstStyle/>
          <a:p>
            <a:pPr marL="224026" indent="-224026" defTabSz="896111">
              <a:lnSpc>
                <a:spcPct val="72000"/>
              </a:lnSpc>
              <a:spcBef>
                <a:spcPts val="1100"/>
              </a:spcBef>
              <a:defRPr b="0" sz="2600"/>
            </a:pPr>
            <a:r>
              <a:t>It was – and is – </a:t>
            </a:r>
            <a:r>
              <a:rPr b="1"/>
              <a:t>an iterative process</a:t>
            </a:r>
            <a:endParaRPr sz="1600"/>
          </a:p>
          <a:p>
            <a:pPr marL="224026" indent="-224026" defTabSz="896111">
              <a:lnSpc>
                <a:spcPct val="72000"/>
              </a:lnSpc>
              <a:spcBef>
                <a:spcPts val="1100"/>
              </a:spcBef>
              <a:defRPr sz="2600"/>
            </a:pPr>
            <a:r>
              <a:t>Randomly </a:t>
            </a:r>
            <a:r>
              <a:rPr b="0"/>
              <a:t>determines:</a:t>
            </a:r>
            <a:endParaRPr sz="1600"/>
          </a:p>
          <a:p>
            <a:pPr lvl="1" marL="696976" indent="-248920" defTabSz="896111">
              <a:lnSpc>
                <a:spcPct val="72000"/>
              </a:lnSpc>
              <a:spcBef>
                <a:spcPts val="1100"/>
              </a:spcBef>
              <a:defRPr b="0" sz="2600"/>
            </a:pPr>
            <a:r>
              <a:t>Starting node</a:t>
            </a:r>
            <a:endParaRPr sz="1600"/>
          </a:p>
          <a:p>
            <a:pPr lvl="1" marL="696976" indent="-248920" defTabSz="896111">
              <a:lnSpc>
                <a:spcPct val="72000"/>
              </a:lnSpc>
              <a:spcBef>
                <a:spcPts val="1100"/>
              </a:spcBef>
              <a:defRPr b="0" sz="2600"/>
            </a:pPr>
            <a:r>
              <a:t>Min-weight neighbor to choose</a:t>
            </a:r>
            <a:endParaRPr sz="1600"/>
          </a:p>
          <a:p>
            <a:pPr lvl="1" marL="696976" indent="-248920" defTabSz="896111">
              <a:lnSpc>
                <a:spcPct val="72000"/>
              </a:lnSpc>
              <a:spcBef>
                <a:spcPts val="1100"/>
              </a:spcBef>
              <a:defRPr b="0" sz="2600"/>
            </a:pPr>
            <a:r>
              <a:t>Swapping endpoints in a segment.</a:t>
            </a:r>
            <a:endParaRPr sz="1600"/>
          </a:p>
          <a:p>
            <a:pPr marL="224026" indent="-224026" defTabSz="896111">
              <a:lnSpc>
                <a:spcPct val="72000"/>
              </a:lnSpc>
              <a:spcBef>
                <a:spcPts val="1100"/>
              </a:spcBef>
              <a:defRPr sz="2600"/>
            </a:pPr>
            <a:r>
              <a:t>Reorders output </a:t>
            </a:r>
            <a:r>
              <a:rPr b="0"/>
              <a:t>path to be </a:t>
            </a:r>
            <a:r>
              <a:t>consistent.</a:t>
            </a:r>
            <a:endParaRPr sz="1600"/>
          </a:p>
          <a:p>
            <a:pPr marL="224026" indent="-224026" defTabSz="896111">
              <a:lnSpc>
                <a:spcPct val="72000"/>
              </a:lnSpc>
              <a:spcBef>
                <a:spcPts val="1100"/>
              </a:spcBef>
              <a:defRPr sz="2600"/>
            </a:pPr>
            <a:r>
              <a:t>Iterates</a:t>
            </a:r>
            <a:r>
              <a:rPr b="0"/>
              <a:t> on solution </a:t>
            </a:r>
            <a:r>
              <a:t>by looping </a:t>
            </a:r>
            <a:r>
              <a:rPr b="0"/>
              <a:t>several times.</a:t>
            </a:r>
          </a:p>
        </p:txBody>
      </p:sp>
      <p:sp>
        <p:nvSpPr>
          <p:cNvPr id="389" name="Straight Connector 8"/>
          <p:cNvSpPr/>
          <p:nvPr/>
        </p:nvSpPr>
        <p:spPr>
          <a:xfrm>
            <a:off x="9438568" y="2945717"/>
            <a:ext cx="1834940" cy="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90" name="Straight Connector 9"/>
          <p:cNvSpPr/>
          <p:nvPr/>
        </p:nvSpPr>
        <p:spPr>
          <a:xfrm>
            <a:off x="7855246" y="2380096"/>
            <a:ext cx="1834940" cy="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91" name="Straight Connector 10"/>
          <p:cNvSpPr/>
          <p:nvPr/>
        </p:nvSpPr>
        <p:spPr>
          <a:xfrm>
            <a:off x="7805125" y="3592276"/>
            <a:ext cx="1834940" cy="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92" name="Straight Connector 11"/>
          <p:cNvSpPr/>
          <p:nvPr/>
        </p:nvSpPr>
        <p:spPr>
          <a:xfrm>
            <a:off x="9518863" y="4321545"/>
            <a:ext cx="1834940" cy="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93" name="Straight Connector 12"/>
          <p:cNvSpPr/>
          <p:nvPr/>
        </p:nvSpPr>
        <p:spPr>
          <a:xfrm>
            <a:off x="7805125" y="4829885"/>
            <a:ext cx="1834940" cy="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94" name="TextBox 14"/>
          <p:cNvSpPr txBox="1"/>
          <p:nvPr/>
        </p:nvSpPr>
        <p:spPr>
          <a:xfrm>
            <a:off x="7724326" y="1977444"/>
            <a:ext cx="1915738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  <a:r>
              <a:t>Approx. Solution</a:t>
            </a:r>
          </a:p>
        </p:txBody>
      </p:sp>
      <p:sp>
        <p:nvSpPr>
          <p:cNvPr id="395" name="TextBox 15"/>
          <p:cNvSpPr txBox="1"/>
          <p:nvPr/>
        </p:nvSpPr>
        <p:spPr>
          <a:xfrm>
            <a:off x="9561307" y="2560066"/>
            <a:ext cx="2535568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  <a:r>
              <a:t>v2, limited randomness</a:t>
            </a:r>
          </a:p>
        </p:txBody>
      </p:sp>
      <p:sp>
        <p:nvSpPr>
          <p:cNvPr id="396" name="TextBox 16"/>
          <p:cNvSpPr txBox="1"/>
          <p:nvPr/>
        </p:nvSpPr>
        <p:spPr>
          <a:xfrm>
            <a:off x="8037306" y="3174737"/>
            <a:ext cx="1602762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  <a:r>
              <a:t>v2.5, iteration</a:t>
            </a:r>
          </a:p>
        </p:txBody>
      </p:sp>
      <p:sp>
        <p:nvSpPr>
          <p:cNvPr id="397" name="TextBox 18"/>
          <p:cNvSpPr txBox="1"/>
          <p:nvPr/>
        </p:nvSpPr>
        <p:spPr>
          <a:xfrm>
            <a:off x="9603753" y="3935896"/>
            <a:ext cx="2240491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  <a:r>
              <a:t>v3, more randomess</a:t>
            </a:r>
          </a:p>
        </p:txBody>
      </p:sp>
      <p:sp>
        <p:nvSpPr>
          <p:cNvPr id="398" name="TextBox 19"/>
          <p:cNvSpPr txBox="1"/>
          <p:nvPr/>
        </p:nvSpPr>
        <p:spPr>
          <a:xfrm>
            <a:off x="7449694" y="4468450"/>
            <a:ext cx="2240491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  <a:r>
              <a:t>v3.5, more iteration</a:t>
            </a:r>
          </a:p>
        </p:txBody>
      </p:sp>
      <p:sp>
        <p:nvSpPr>
          <p:cNvPr id="399" name="TextBox 20"/>
          <p:cNvSpPr txBox="1"/>
          <p:nvPr/>
        </p:nvSpPr>
        <p:spPr>
          <a:xfrm>
            <a:off x="8249022" y="4829885"/>
            <a:ext cx="756384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i="1"/>
            </a:lvl1pPr>
          </a:lstStyle>
          <a:p>
            <a:pPr/>
            <a:r>
              <a:t>Zenith</a:t>
            </a:r>
          </a:p>
        </p:txBody>
      </p:sp>
      <p:sp>
        <p:nvSpPr>
          <p:cNvPr id="400" name="Straight Arrow Connector 13"/>
          <p:cNvSpPr/>
          <p:nvPr/>
        </p:nvSpPr>
        <p:spPr>
          <a:xfrm>
            <a:off x="9549541" y="1669542"/>
            <a:ext cx="4" cy="3749047"/>
          </a:xfrm>
          <a:prstGeom prst="line">
            <a:avLst/>
          </a:prstGeom>
          <a:ln w="38100">
            <a:solidFill>
              <a:srgbClr val="00000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Title 6"/>
          <p:cNvSpPr txBox="1"/>
          <p:nvPr>
            <p:ph type="title"/>
          </p:nvPr>
        </p:nvSpPr>
        <p:spPr>
          <a:xfrm>
            <a:off x="60794" y="-379570"/>
            <a:ext cx="8875287" cy="2023699"/>
          </a:xfrm>
          <a:prstGeom prst="rect">
            <a:avLst/>
          </a:prstGeom>
        </p:spPr>
        <p:txBody>
          <a:bodyPr/>
          <a:lstStyle/>
          <a:p>
            <a:pPr/>
            <a:r>
              <a:t>Sample Problem: The GRaph</a:t>
            </a:r>
          </a:p>
        </p:txBody>
      </p:sp>
      <p:pic>
        <p:nvPicPr>
          <p:cNvPr id="403" name="Picture 2" descr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965397" y="1552075"/>
            <a:ext cx="5127960" cy="5127955"/>
          </a:xfrm>
          <a:prstGeom prst="rect">
            <a:avLst/>
          </a:prstGeom>
          <a:ln w="12700">
            <a:miter lim="400000"/>
          </a:ln>
        </p:spPr>
      </p:pic>
      <p:sp>
        <p:nvSpPr>
          <p:cNvPr id="404" name="TextBox 9"/>
          <p:cNvSpPr txBox="1"/>
          <p:nvPr/>
        </p:nvSpPr>
        <p:spPr>
          <a:xfrm>
            <a:off x="294573" y="1933123"/>
            <a:ext cx="6670824" cy="38201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700">
                <a:latin typeface="Tenorite"/>
                <a:ea typeface="Tenorite"/>
                <a:cs typeface="Tenorite"/>
                <a:sym typeface="Tenorite"/>
              </a:defRPr>
            </a:pPr>
            <a:r>
              <a:t>Cheap</a:t>
            </a:r>
            <a:r>
              <a:rPr b="0"/>
              <a:t> edges </a:t>
            </a:r>
            <a:r>
              <a:t>inside</a:t>
            </a:r>
            <a:r>
              <a:rPr b="0"/>
              <a:t> each cluster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700">
                <a:latin typeface="Tenorite"/>
                <a:ea typeface="Tenorite"/>
                <a:cs typeface="Tenorite"/>
                <a:sym typeface="Tenorite"/>
              </a:defRPr>
            </a:pPr>
            <a:r>
              <a:t>Inter-cluster edges </a:t>
            </a:r>
            <a:r>
              <a:rPr b="0"/>
              <a:t>designed to </a:t>
            </a:r>
            <a:r>
              <a:t>mislead</a:t>
            </a:r>
            <a:r>
              <a:rPr b="0"/>
              <a:t>: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 lvl="1" marL="711200" indent="-2540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700">
                <a:latin typeface="Tenorite"/>
                <a:ea typeface="Tenorite"/>
                <a:cs typeface="Tenorite"/>
                <a:sym typeface="Tenorite"/>
              </a:defRPr>
            </a:pPr>
            <a:r>
              <a:t>Cheap</a:t>
            </a:r>
            <a:r>
              <a:rPr b="0"/>
              <a:t> inter-cluster edges are </a:t>
            </a:r>
            <a:r>
              <a:t>bait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 lvl="1" marL="711200" indent="-2540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>
                <a:latin typeface="Tenorite"/>
                <a:ea typeface="Tenorite"/>
                <a:cs typeface="Tenorite"/>
                <a:sym typeface="Tenorite"/>
              </a:defRPr>
            </a:pPr>
            <a:r>
              <a:t>1000 weight </a:t>
            </a:r>
            <a:r>
              <a:rPr b="1"/>
              <a:t>trap edge</a:t>
            </a:r>
          </a:p>
          <a:p>
            <a:pPr lvl="1" marL="711200" indent="-2540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>
                <a:latin typeface="Tenorite"/>
                <a:ea typeface="Tenorite"/>
                <a:cs typeface="Tenorite"/>
                <a:sym typeface="Tenorite"/>
              </a:defRPr>
            </a:pPr>
            <a:r>
              <a:t>All other inter-cluster edges are </a:t>
            </a:r>
            <a:r>
              <a:rPr b="1"/>
              <a:t>moderately expensive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700">
                <a:latin typeface="Tenorite"/>
                <a:ea typeface="Tenorite"/>
                <a:cs typeface="Tenorite"/>
                <a:sym typeface="Tenorite"/>
              </a:defRPr>
            </a:pPr>
            <a:r>
              <a:t>Optimal path: </a:t>
            </a:r>
            <a:r>
              <a:rPr b="0"/>
              <a:t>length of 12.6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itle 1"/>
          <p:cNvSpPr txBox="1"/>
          <p:nvPr>
            <p:ph type="title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pPr/>
            <a:r>
              <a:t>Sample Problem: The Results</a:t>
            </a:r>
          </a:p>
        </p:txBody>
      </p:sp>
      <p:graphicFrame>
        <p:nvGraphicFramePr>
          <p:cNvPr id="407" name="Chart 2"/>
          <p:cNvGraphicFramePr/>
          <p:nvPr/>
        </p:nvGraphicFramePr>
        <p:xfrm>
          <a:off x="378405" y="1718161"/>
          <a:ext cx="6537631" cy="4001301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08" name="Chart 5"/>
          <p:cNvGraphicFramePr/>
          <p:nvPr/>
        </p:nvGraphicFramePr>
        <p:xfrm>
          <a:off x="7253686" y="1661012"/>
          <a:ext cx="4032961" cy="4056339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Title 1"/>
          <p:cNvSpPr txBox="1"/>
          <p:nvPr>
            <p:ph type="title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pPr/>
            <a:r>
              <a:t>Sample Problem: The Runtimes</a:t>
            </a:r>
          </a:p>
        </p:txBody>
      </p:sp>
      <p:graphicFrame>
        <p:nvGraphicFramePr>
          <p:cNvPr id="411" name="Table 5"/>
          <p:cNvGraphicFramePr/>
          <p:nvPr/>
        </p:nvGraphicFramePr>
        <p:xfrm>
          <a:off x="3048902" y="1867979"/>
          <a:ext cx="6094196" cy="312204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345055"/>
                <a:gridCol w="3749140"/>
              </a:tblGrid>
              <a:tr h="62440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2000">
                          <a:sym typeface="Helvetica"/>
                        </a:rPr>
                        <a:t>Program</a:t>
                      </a:r>
                    </a:p>
                  </a:txBody>
                  <a:tcPr marL="45720" marR="45720" marT="45720" marB="45720" anchor="b" anchorCtr="0" horzOverflow="overflow">
                    <a:lnB w="28575">
                      <a:solidFill>
                        <a:srgbClr val="000000"/>
                      </a:solidFill>
                    </a:lnB>
                    <a:solidFill>
                      <a:srgbClr val="E2A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2000">
                          <a:sym typeface="Helvetica"/>
                        </a:rPr>
                        <a:t>Average Runtime (Seconds)</a:t>
                      </a:r>
                    </a:p>
                  </a:txBody>
                  <a:tcPr marL="45720" marR="45720" marT="45720" marB="45720" anchor="b" anchorCtr="0" horzOverflow="overflow">
                    <a:lnB w="28575">
                      <a:solidFill>
                        <a:srgbClr val="000000"/>
                      </a:solidFill>
                    </a:lnB>
                    <a:solidFill>
                      <a:srgbClr val="E2AC00"/>
                    </a:solidFill>
                  </a:tcPr>
                </a:tc>
              </a:tr>
              <a:tr h="62440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000">
                          <a:sym typeface="Helvetica"/>
                        </a:rPr>
                        <a:t>Exact</a:t>
                      </a:r>
                    </a:p>
                  </a:txBody>
                  <a:tcPr marL="45720" marR="45720" marT="45720" marB="45720" anchor="t" anchorCtr="0" horzOverflow="overflow">
                    <a:lnT w="28575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2000">
                          <a:sym typeface="Helvetica"/>
                        </a:rPr>
                        <a:t>36.25096352</a:t>
                      </a:r>
                    </a:p>
                  </a:txBody>
                  <a:tcPr marL="45720" marR="45720" marT="45720" marB="45720" anchor="t" anchorCtr="0" horzOverflow="overflow">
                    <a:lnT w="28575">
                      <a:solidFill>
                        <a:srgbClr val="000000"/>
                      </a:solidFill>
                    </a:lnT>
                  </a:tcPr>
                </a:tc>
              </a:tr>
              <a:tr h="62440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000">
                          <a:sym typeface="Helvetica"/>
                        </a:rPr>
                        <a:t>Approximate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2000">
                          <a:sym typeface="Helvetica"/>
                        </a:rPr>
                        <a:t>0.000046262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62440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000">
                          <a:sym typeface="Helvetica"/>
                        </a:rPr>
                        <a:t>Zenith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2000">
                          <a:sym typeface="Helvetica"/>
                        </a:rPr>
                        <a:t>0.017063243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62440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000">
                          <a:sym typeface="Helvetica"/>
                        </a:rPr>
                        <a:t>Parallelized Zenith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2000">
                          <a:sym typeface="Helvetica"/>
                        </a:rPr>
                        <a:t>0.755844638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Title 1"/>
          <p:cNvSpPr txBox="1"/>
          <p:nvPr>
            <p:ph type="title"/>
          </p:nvPr>
        </p:nvSpPr>
        <p:spPr>
          <a:xfrm>
            <a:off x="914399" y="365125"/>
            <a:ext cx="7273636" cy="1646554"/>
          </a:xfrm>
          <a:prstGeom prst="rect">
            <a:avLst/>
          </a:prstGeom>
        </p:spPr>
        <p:txBody>
          <a:bodyPr/>
          <a:lstStyle/>
          <a:p>
            <a:pPr/>
            <a:r>
              <a:t>Takeaways</a:t>
            </a:r>
          </a:p>
        </p:txBody>
      </p:sp>
      <p:sp>
        <p:nvSpPr>
          <p:cNvPr id="414" name="Text Placeholder 2"/>
          <p:cNvSpPr txBox="1"/>
          <p:nvPr>
            <p:ph type="body" sz="half" idx="1"/>
          </p:nvPr>
        </p:nvSpPr>
        <p:spPr>
          <a:xfrm>
            <a:off x="914399" y="2011363"/>
            <a:ext cx="7273640" cy="4155762"/>
          </a:xfrm>
          <a:prstGeom prst="rect">
            <a:avLst/>
          </a:prstGeom>
        </p:spPr>
        <p:txBody>
          <a:bodyPr/>
          <a:lstStyle/>
          <a:p>
            <a:pPr>
              <a:defRPr b="1"/>
            </a:pPr>
            <a:r>
              <a:t>Randomness and iterative improvement </a:t>
            </a:r>
            <a:r>
              <a:rPr b="0"/>
              <a:t>greatly increases accuracy</a:t>
            </a:r>
            <a:endParaRPr b="0"/>
          </a:p>
          <a:p>
            <a:pPr/>
            <a:r>
              <a:t>However, it also </a:t>
            </a:r>
            <a:r>
              <a:rPr b="1"/>
              <a:t>greatly increases cost</a:t>
            </a:r>
            <a:endParaRPr b="1"/>
          </a:p>
          <a:p>
            <a:pPr/>
            <a:r>
              <a:t>Ultimately, the </a:t>
            </a:r>
            <a:r>
              <a:rPr b="1"/>
              <a:t>tradeoff is worth it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Title 1"/>
          <p:cNvSpPr txBox="1"/>
          <p:nvPr>
            <p:ph type="title"/>
          </p:nvPr>
        </p:nvSpPr>
        <p:spPr>
          <a:xfrm>
            <a:off x="923544" y="584477"/>
            <a:ext cx="10354055" cy="1209767"/>
          </a:xfrm>
          <a:prstGeom prst="rect">
            <a:avLst/>
          </a:prstGeom>
        </p:spPr>
        <p:txBody>
          <a:bodyPr/>
          <a:lstStyle/>
          <a:p>
            <a:pPr/>
            <a:r>
              <a:t>Conclusions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8" name="Graphic 2" descr="Graphic 2"/>
          <p:cNvPicPr>
            <a:picLocks noChangeAspect="1"/>
          </p:cNvPicPr>
          <p:nvPr/>
        </p:nvPicPr>
        <p:blipFill>
          <a:blip r:embed="rId2">
            <a:extLst/>
          </a:blip>
          <a:srcRect l="4151" t="0" r="18576" b="0"/>
          <a:stretch>
            <a:fillRect/>
          </a:stretch>
        </p:blipFill>
        <p:spPr>
          <a:xfrm flipH="1">
            <a:off x="-5" y="0"/>
            <a:ext cx="5181609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419" name="Title 6"/>
          <p:cNvSpPr txBox="1"/>
          <p:nvPr>
            <p:ph type="title"/>
          </p:nvPr>
        </p:nvSpPr>
        <p:spPr>
          <a:xfrm>
            <a:off x="6091515" y="374084"/>
            <a:ext cx="5057105" cy="3624997"/>
          </a:xfrm>
          <a:prstGeom prst="rect">
            <a:avLst/>
          </a:prstGeom>
        </p:spPr>
        <p:txBody>
          <a:bodyPr/>
          <a:lstStyle/>
          <a:p>
            <a:pPr/>
            <a:r>
              <a:t>Questions?</a:t>
            </a:r>
          </a:p>
        </p:txBody>
      </p:sp>
      <p:sp>
        <p:nvSpPr>
          <p:cNvPr id="420" name="Content Placeholder 9"/>
          <p:cNvSpPr txBox="1"/>
          <p:nvPr>
            <p:ph type="body" sz="quarter" idx="1"/>
          </p:nvPr>
        </p:nvSpPr>
        <p:spPr>
          <a:xfrm>
            <a:off x="6091513" y="4172989"/>
            <a:ext cx="5057107" cy="2519374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Custom">
      <a:dk1>
        <a:srgbClr val="000000"/>
      </a:dk1>
      <a:lt1>
        <a:srgbClr val="000000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Custom">
  <a:themeElements>
    <a:clrScheme name="Custom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
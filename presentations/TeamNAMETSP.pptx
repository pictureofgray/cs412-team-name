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9"/>
  </p:notesMasterIdLst>
  <p:handoutMasterIdLst>
    <p:handoutMasterId r:id="rId20"/>
  </p:handoutMasterIdLst>
  <p:sldIdLst>
    <p:sldId id="314" r:id="rId5"/>
    <p:sldId id="326" r:id="rId6"/>
    <p:sldId id="315" r:id="rId7"/>
    <p:sldId id="316" r:id="rId8"/>
    <p:sldId id="317" r:id="rId9"/>
    <p:sldId id="318" r:id="rId10"/>
    <p:sldId id="319" r:id="rId11"/>
    <p:sldId id="320" r:id="rId12"/>
    <p:sldId id="321" r:id="rId13"/>
    <p:sldId id="322" r:id="rId14"/>
    <p:sldId id="323" r:id="rId15"/>
    <p:sldId id="324" r:id="rId16"/>
    <p:sldId id="325" r:id="rId17"/>
    <p:sldId id="30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0" autoAdjust="0"/>
    <p:restoredTop sz="95388" autoAdjust="0"/>
  </p:normalViewPr>
  <p:slideViewPr>
    <p:cSldViewPr snapToGrid="0">
      <p:cViewPr varScale="1">
        <p:scale>
          <a:sx n="105" d="100"/>
          <a:sy n="105" d="100"/>
        </p:scale>
        <p:origin x="368" y="68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11/17/2025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565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0108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238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7676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73681"/>
            <a:ext cx="5674360" cy="3200400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B0423-4DFE-C5C0-A020-8A7CA5CD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0D1C1B-E6FF-3AAE-027B-885F3E0D839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187725" y="1968587"/>
                <a:ext cx="3995409" cy="44706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200" b="1" dirty="0"/>
                  <a:t>Exact Part:</a:t>
                </a:r>
              </a:p>
              <a:p>
                <a:r>
                  <a:rPr lang="en-US" sz="1200" dirty="0"/>
                  <a:t>a description of the problem being solved. Show the difference between the decision and optimization version of the problem. An example of inputs and outputs is a good idea. (1.5 mins)</a:t>
                </a:r>
              </a:p>
              <a:p>
                <a:r>
                  <a:rPr lang="en-US" sz="1200" dirty="0"/>
                  <a:t>an explanation of the certifier process being polynomial. Including pseudo-code here is a good idea but make sure its clear that the </a:t>
                </a:r>
                <a:r>
                  <a:rPr lang="en-US" sz="1200" i="1" dirty="0"/>
                  <a:t>certificate</a:t>
                </a:r>
                <a:r>
                  <a:rPr lang="en-US" sz="1200" dirty="0"/>
                  <a:t> can be verified in polynomial time.</a:t>
                </a:r>
              </a:p>
              <a:p>
                <a:r>
                  <a:rPr lang="en-US" sz="1200" dirty="0"/>
                  <a:t>a reduction from a known/accepted NP-hard problem (with examples graphically shown). It must be clear that the reduction takes place in a polynomial number of steps with respect to the problem’s input size.</a:t>
                </a:r>
              </a:p>
              <a:p>
                <a:r>
                  <a:rPr lang="en-US" sz="1200" dirty="0"/>
                  <a:t>an analytical (big </a:t>
                </a:r>
                <a14:m>
                  <m:oMath xmlns:m="http://schemas.openxmlformats.org/officeDocument/2006/math">
                    <m:r>
                      <a:rPr lang="en-US" sz="1200"/>
                      <m:t>𝒪</m:t>
                    </m:r>
                  </m:oMath>
                </a14:m>
                <a:r>
                  <a:rPr lang="en-US" sz="1200" dirty="0"/>
                  <a:t>) runtime analysis of your coded solution and showcase the code that is the dominant term (the code that drives the highest order term).</a:t>
                </a:r>
              </a:p>
              <a:p>
                <a:r>
                  <a:rPr lang="en-US" sz="1200" dirty="0"/>
                  <a:t>a </a:t>
                </a:r>
                <a:r>
                  <a:rPr lang="en-US" sz="1200" dirty="0" err="1"/>
                  <a:t>wallclock</a:t>
                </a:r>
                <a:r>
                  <a:rPr lang="en-US" sz="1200" dirty="0"/>
                  <a:t> (empirical) runtime analysis of your code on your test cases. This analysis must show input size on the X axis and runtime on the Y axis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0D1C1B-E6FF-3AAE-027B-885F3E0D83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187725" y="1968587"/>
                <a:ext cx="3995409" cy="4470625"/>
              </a:xfrm>
              <a:blipFill>
                <a:blip r:embed="rId2"/>
                <a:stretch>
                  <a:fillRect l="-153" t="-546" r="-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7B1B0E-8A52-9A56-0B8A-CAAA1A2BA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8EF6A66-689C-BB34-0368-A52C0A29021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8395" y="2022249"/>
                <a:ext cx="3995409" cy="44706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rial" panose="020B0604020202020204" pitchFamily="34" charset="0"/>
                  <a:buChar char="•"/>
                  <a:defRPr sz="20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rial" panose="020B0604020202020204" pitchFamily="34" charset="0"/>
                  <a:buChar char="•"/>
                  <a:defRPr sz="18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rial" panose="020B0604020202020204" pitchFamily="34" charset="0"/>
                  <a:buChar char="•"/>
                  <a:defRPr sz="16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rial" panose="020B0604020202020204" pitchFamily="34" charset="0"/>
                  <a:buChar char="•"/>
                  <a:defRPr sz="14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1200"/>
                  </a:spcAft>
                  <a:buFont typeface="Arial" panose="020B0604020202020204" pitchFamily="34" charset="0"/>
                  <a:buChar char="•"/>
                  <a:defRPr sz="1400" b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1200" b="1" dirty="0"/>
                  <a:t>Approximation Part:</a:t>
                </a:r>
              </a:p>
              <a:p>
                <a:r>
                  <a:rPr lang="en-US" sz="1200" dirty="0"/>
                  <a:t>pseudocode for the approximation and a discussion of the strategy used (greedy, random, etc.)</a:t>
                </a:r>
              </a:p>
              <a:p>
                <a:r>
                  <a:rPr lang="en-US" sz="1200" dirty="0"/>
                  <a:t>analytical run time analysis (the worse case </a:t>
                </a:r>
                <a14:m>
                  <m:oMath xmlns:m="http://schemas.openxmlformats.org/officeDocument/2006/math">
                    <m:r>
                      <a:rPr lang="en-US" sz="1200"/>
                      <m:t>𝒪</m:t>
                    </m:r>
                  </m:oMath>
                </a14:m>
                <a:r>
                  <a:rPr lang="en-US" sz="1200" dirty="0"/>
                  <a:t> time) of your approximation algorithm</a:t>
                </a:r>
              </a:p>
              <a:p>
                <a:r>
                  <a:rPr lang="en-US" sz="1200" dirty="0"/>
                  <a:t>plots that illustrate the run-time (wall clock) performance of your exact solution versus the approximation solution on your test cases</a:t>
                </a:r>
              </a:p>
              <a:p>
                <a:r>
                  <a:rPr lang="en-US" sz="1200" dirty="0"/>
                  <a:t>plots that compare the result/solution of your exact solution versus the approximation on your test cases. This is where you show the </a:t>
                </a:r>
                <a:r>
                  <a:rPr lang="en-US" sz="1200" b="1" dirty="0"/>
                  <a:t>value</a:t>
                </a:r>
                <a:r>
                  <a:rPr lang="en-US" sz="1200" dirty="0"/>
                  <a:t> achieved by both and see how well your approximation did versus the optimal solution.</a:t>
                </a:r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8EF6A66-689C-BB34-0368-A52C0A290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8395" y="2022249"/>
                <a:ext cx="3995409" cy="4470625"/>
              </a:xfrm>
              <a:prstGeom prst="rect">
                <a:avLst/>
              </a:prstGeom>
              <a:blipFill>
                <a:blip r:embed="rId3"/>
                <a:stretch>
                  <a:fillRect t="-546" r="-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4A11258-D99F-94B9-81DB-4513FB9612A3}"/>
              </a:ext>
            </a:extLst>
          </p:cNvPr>
          <p:cNvSpPr txBox="1">
            <a:spLocks/>
          </p:cNvSpPr>
          <p:nvPr/>
        </p:nvSpPr>
        <p:spPr>
          <a:xfrm>
            <a:off x="8196591" y="2022249"/>
            <a:ext cx="3995409" cy="44706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/>
              <a:t>Part E:</a:t>
            </a:r>
          </a:p>
          <a:p>
            <a:r>
              <a:rPr lang="en-US" sz="1200" dirty="0"/>
              <a:t>Talk about how you broke things</a:t>
            </a:r>
          </a:p>
          <a:p>
            <a:r>
              <a:rPr lang="en-US" sz="1200" dirty="0"/>
              <a:t>Talk about how you fixed things</a:t>
            </a:r>
          </a:p>
          <a:p>
            <a:r>
              <a:rPr lang="en-US" sz="1200" dirty="0"/>
              <a:t>What is your approximation weak on</a:t>
            </a:r>
          </a:p>
          <a:p>
            <a:r>
              <a:rPr lang="en-US" sz="1200" dirty="0"/>
              <a:t>How does adding more time improve things?</a:t>
            </a:r>
          </a:p>
          <a:p>
            <a:r>
              <a:rPr lang="en-US" sz="1200" dirty="0"/>
              <a:t>Conclude everything</a:t>
            </a:r>
          </a:p>
        </p:txBody>
      </p:sp>
    </p:spTree>
    <p:extLst>
      <p:ext uri="{BB962C8B-B14F-4D97-AF65-F5344CB8AC3E}">
        <p14:creationId xmlns:p14="http://schemas.microsoft.com/office/powerpoint/2010/main" val="107202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/>
          <a:lstStyle/>
          <a:p>
            <a:r>
              <a:rPr lang="en-US"/>
              <a:t>About us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1E08-E337-110E-DB8E-41BA4A3341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/>
          <a:lstStyle/>
          <a:p>
            <a:r>
              <a:rPr lang="en-US" dirty="0"/>
              <a:t>At Contoso, we empower organizations to foster collaborative thinking to further drive workplace innovation. By closing the loop and leveraging agile frameworks, we help business grow organically and foster a consumer first mindset.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0"/>
            <a:ext cx="5181600" cy="3368819"/>
          </a:xfrm>
        </p:spPr>
        <p:txBody>
          <a:bodyPr/>
          <a:lstStyle/>
          <a:p>
            <a:r>
              <a:rPr lang="en-US" dirty="0"/>
              <a:t>Company overview</a:t>
            </a:r>
          </a:p>
        </p:txBody>
      </p:sp>
      <p:pic>
        <p:nvPicPr>
          <p:cNvPr id="14" name="Picture Placeholder 13" descr="A person looking at a piece of paper">
            <a:extLst>
              <a:ext uri="{FF2B5EF4-FFF2-40B4-BE49-F238E27FC236}">
                <a16:creationId xmlns:a16="http://schemas.microsoft.com/office/drawing/2014/main" id="{F28819F3-7D3B-EB42-24FD-3C0BBC5963B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19" b="119"/>
          <a:stretch/>
        </p:blipFill>
        <p:spPr>
          <a:xfrm>
            <a:off x="6085840" y="-10159"/>
            <a:ext cx="6116320" cy="6868160"/>
          </a:xfrm>
        </p:spPr>
      </p:pic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0" y="1310639"/>
            <a:ext cx="4805997" cy="2689629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5" name="Picture Placeholder 4" descr="A person smelling a small glass bottle">
            <a:extLst>
              <a:ext uri="{FF2B5EF4-FFF2-40B4-BE49-F238E27FC236}">
                <a16:creationId xmlns:a16="http://schemas.microsoft.com/office/drawing/2014/main" id="{95D91661-037A-ECB3-7904-2C3843A98D9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0394" r="20394"/>
          <a:stretch/>
        </p:blipFill>
        <p:spPr>
          <a:xfrm>
            <a:off x="0" y="-10160"/>
            <a:ext cx="6096000" cy="6858000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672BC8-D7EC-066C-9025-5F29713D849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126163" y="4172990"/>
            <a:ext cx="4805997" cy="2389736"/>
          </a:xfrm>
        </p:spPr>
        <p:txBody>
          <a:bodyPr/>
          <a:lstStyle/>
          <a:p>
            <a:r>
              <a:rPr lang="en-US" dirty="0"/>
              <a:t>First beautifully designed product that's both stylish and functional</a:t>
            </a:r>
          </a:p>
        </p:txBody>
      </p:sp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Problem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Market gap</a:t>
            </a:r>
            <a:r>
              <a:rPr lang="en-US" sz="2000" cap="none" dirty="0"/>
              <a:t>: few, if any, products on the market help customers like we do</a:t>
            </a:r>
            <a:endParaRPr lang="en-US" sz="2000" cap="none" dirty="0">
              <a:cs typeface="Calibri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Customers</a:t>
            </a:r>
            <a:r>
              <a:rPr lang="en-US" sz="2000" cap="none" dirty="0"/>
              <a:t>: 66% of US consumers spend money on multiple products that only partially resolves their issue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Financials</a:t>
            </a:r>
            <a:r>
              <a:rPr lang="en-US" sz="2000" cap="none" dirty="0"/>
              <a:t>: </a:t>
            </a:r>
            <a:r>
              <a:rPr lang="en-US" sz="2000" cap="none" dirty="0">
                <a:ea typeface="+mn-lt"/>
                <a:cs typeface="+mn-lt"/>
              </a:rPr>
              <a:t>millennials account for about a quarter of the $48 billion spent on other products in 2018</a:t>
            </a:r>
            <a:endParaRPr lang="en-US" sz="2000" cap="none" dirty="0">
              <a:cs typeface="Calibri" panose="020F0502020204030204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Costs</a:t>
            </a:r>
            <a:r>
              <a:rPr lang="en-US" sz="2000" cap="none" dirty="0"/>
              <a:t>: loss of productivity costing consumers thousands of dollars </a:t>
            </a:r>
            <a:endParaRPr lang="en-US" sz="2000" cap="none" dirty="0">
              <a:cs typeface="Calibri" panose="020F0502020204030204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Usability</a:t>
            </a:r>
            <a:r>
              <a:rPr lang="en-US" sz="2000" cap="none" dirty="0"/>
              <a:t>: customers want something easy to use that helps make their life easier </a:t>
            </a:r>
            <a:endParaRPr lang="en-US" sz="2000" cap="none" dirty="0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/>
          <a:lstStyle/>
          <a:p>
            <a:r>
              <a:rPr lang="en-US" dirty="0"/>
              <a:t>Product benefits</a:t>
            </a:r>
          </a:p>
        </p:txBody>
      </p:sp>
      <p:pic>
        <p:nvPicPr>
          <p:cNvPr id="5" name="Picture Placeholder 4" descr="A person standing in a greenhouse">
            <a:extLst>
              <a:ext uri="{FF2B5EF4-FFF2-40B4-BE49-F238E27FC236}">
                <a16:creationId xmlns:a16="http://schemas.microsoft.com/office/drawing/2014/main" id="{EE30546E-D63D-6DD8-4DA7-41DD51A44C2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2487" b="12487"/>
          <a:stretch/>
        </p:blipFill>
        <p:spPr>
          <a:xfrm>
            <a:off x="0" y="0"/>
            <a:ext cx="6096000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4172990"/>
            <a:ext cx="4896677" cy="2309726"/>
          </a:xfrm>
        </p:spPr>
        <p:txBody>
          <a:bodyPr/>
          <a:lstStyle/>
          <a:p>
            <a:r>
              <a:rPr lang="en-US" noProof="1"/>
              <a:t>Online store and market swap</a:t>
            </a:r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/>
          <a:lstStyle/>
          <a:p>
            <a:r>
              <a:rPr lang="en-US" dirty="0"/>
              <a:t>Our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4992709" cy="3747180"/>
          </a:xfrm>
        </p:spPr>
        <p:txBody>
          <a:bodyPr/>
          <a:lstStyle/>
          <a:p>
            <a:r>
              <a:rPr lang="en-US" noProof="1"/>
              <a:t>Our product is priced below that of other companies on the market</a:t>
            </a:r>
          </a:p>
          <a:p>
            <a:r>
              <a:rPr lang="en-US" noProof="1"/>
              <a:t>Design is simple and easy to use, compared to the complex designs of the competitors</a:t>
            </a:r>
          </a:p>
          <a:p>
            <a:r>
              <a:rPr lang="en-US" noProof="1"/>
              <a:t>Affordability is the main draw for our consumers to our product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FADA2D-CE7A-511E-45B9-EAF4FA520E3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4891" y="2022250"/>
            <a:ext cx="4992709" cy="3747180"/>
          </a:xfrm>
        </p:spPr>
        <p:txBody>
          <a:bodyPr/>
          <a:lstStyle/>
          <a:p>
            <a:r>
              <a:rPr lang="en-US" noProof="1"/>
              <a:t>Company A product is more expensive</a:t>
            </a:r>
          </a:p>
          <a:p>
            <a:r>
              <a:rPr lang="en-US" noProof="1"/>
              <a:t>Companies B &amp; C product is expensive and inconvenient to use</a:t>
            </a:r>
          </a:p>
          <a:p>
            <a:r>
              <a:rPr lang="en-US" noProof="1"/>
              <a:t>Companies D &amp; E product is affordable, but inconvenient to use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/>
          <a:lstStyle/>
          <a:p>
            <a:r>
              <a:rPr lang="en-US" dirty="0"/>
              <a:t>Product overview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4C67C-D286-74AE-086C-3E45FF9D95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/>
          <a:lstStyle/>
          <a:p>
            <a:r>
              <a:rPr lang="en-US" dirty="0"/>
              <a:t>Unique</a:t>
            </a:r>
          </a:p>
          <a:p>
            <a:r>
              <a:rPr lang="en-US" dirty="0"/>
              <a:t>First to market</a:t>
            </a:r>
          </a:p>
          <a:p>
            <a:r>
              <a:rPr lang="en-US" dirty="0"/>
              <a:t>Tested</a:t>
            </a:r>
          </a:p>
          <a:p>
            <a:r>
              <a:rPr lang="en-US" dirty="0"/>
              <a:t>Authentic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C2F4A-ABC8-39B2-B7BB-36C02B7A454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02310" y="2018120"/>
            <a:ext cx="6751489" cy="3747180"/>
          </a:xfrm>
        </p:spPr>
        <p:txBody>
          <a:bodyPr/>
          <a:lstStyle/>
          <a:p>
            <a:r>
              <a:rPr lang="en-US" dirty="0"/>
              <a:t>Only product specifically dedicated to this niche market</a:t>
            </a:r>
          </a:p>
          <a:p>
            <a:r>
              <a:rPr lang="en-US" dirty="0"/>
              <a:t>First beautifully designed product that's both stylish and functional</a:t>
            </a:r>
          </a:p>
          <a:p>
            <a:r>
              <a:rPr lang="en-US" dirty="0"/>
              <a:t>Conducted testing with college students in the area</a:t>
            </a:r>
          </a:p>
          <a:p>
            <a:r>
              <a:rPr lang="en-US" dirty="0"/>
              <a:t>Designed with the help and input of experts in the field 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EAA13-E02F-EB47-E510-E3F48A95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385" y="446313"/>
            <a:ext cx="5179615" cy="1448747"/>
          </a:xfrm>
        </p:spPr>
        <p:txBody>
          <a:bodyPr/>
          <a:lstStyle/>
          <a:p>
            <a:r>
              <a:rPr lang="en-US" dirty="0"/>
              <a:t>Growth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26637-007F-EC9E-F644-AAFBA0900F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5181600" cy="3747180"/>
          </a:xfrm>
        </p:spPr>
        <p:txBody>
          <a:bodyPr/>
          <a:lstStyle/>
          <a:p>
            <a:r>
              <a:rPr lang="en-US" b="1" dirty="0"/>
              <a:t>Feb 20XX: </a:t>
            </a:r>
            <a:r>
              <a:rPr lang="en-US" dirty="0"/>
              <a:t>roll out product to high profile or top-level participants to help establish the product</a:t>
            </a:r>
          </a:p>
          <a:p>
            <a:r>
              <a:rPr lang="en-US" b="1" dirty="0"/>
              <a:t>May 20XX: </a:t>
            </a:r>
            <a:r>
              <a:rPr lang="en-US" dirty="0"/>
              <a:t>release the product to the public and monitor press release and social media accounts</a:t>
            </a:r>
          </a:p>
          <a:p>
            <a:r>
              <a:rPr lang="en-US" b="1" dirty="0"/>
              <a:t>Oct 20XX: </a:t>
            </a:r>
            <a:r>
              <a:rPr lang="en-US" dirty="0"/>
              <a:t>gather feedback and adjust product design as necessary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930B-FB1B-543D-6828-8C31F30B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8" name="Picture Placeholder 17" descr="Two people looking at their phones">
            <a:extLst>
              <a:ext uri="{FF2B5EF4-FFF2-40B4-BE49-F238E27FC236}">
                <a16:creationId xmlns:a16="http://schemas.microsoft.com/office/drawing/2014/main" id="{1609D79A-E8EF-302E-E8CA-07C644CE0E0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81" r="81"/>
          <a:stretch/>
        </p:blipFill>
        <p:spPr>
          <a:xfrm>
            <a:off x="6076950" y="0"/>
            <a:ext cx="6115050" cy="6868886"/>
          </a:xfrm>
        </p:spPr>
      </p:pic>
    </p:spTree>
    <p:extLst>
      <p:ext uri="{BB962C8B-B14F-4D97-AF65-F5344CB8AC3E}">
        <p14:creationId xmlns:p14="http://schemas.microsoft.com/office/powerpoint/2010/main" val="1517447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2B2F-534F-A196-1186-33D282CE3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2" cy="1603462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1586-1388-197C-1294-83D4DD8529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299013" cy="3914910"/>
          </a:xfrm>
        </p:spPr>
        <p:txBody>
          <a:bodyPr/>
          <a:lstStyle/>
          <a:p>
            <a:r>
              <a:rPr lang="en-US" dirty="0"/>
              <a:t>Opportunity to build</a:t>
            </a:r>
          </a:p>
          <a:p>
            <a:r>
              <a:rPr lang="en-US" dirty="0"/>
              <a:t>Fully inclusive market</a:t>
            </a:r>
          </a:p>
          <a:p>
            <a:r>
              <a:rPr lang="en-US" dirty="0"/>
              <a:t>Total addressable market</a:t>
            </a:r>
          </a:p>
          <a:p>
            <a:r>
              <a:rPr lang="en-US" noProof="1"/>
              <a:t>Freedom to invent</a:t>
            </a:r>
            <a:endParaRPr lang="en-US" dirty="0"/>
          </a:p>
          <a:p>
            <a:r>
              <a:rPr lang="en-US" noProof="1"/>
              <a:t>Selectively inclusive market</a:t>
            </a:r>
          </a:p>
          <a:p>
            <a:r>
              <a:rPr lang="en-US" noProof="1"/>
              <a:t>Serviceable available market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2EE5D6E7-8306-54E8-220A-099D3B755FFE}"/>
              </a:ext>
            </a:extLst>
          </p:cNvPr>
          <p:cNvGraphicFramePr>
            <a:graphicFrameLocks noGrp="1"/>
          </p:cNvGraphicFramePr>
          <p:nvPr>
            <p:ph type="tbl" sz="quarter" idx="11"/>
            <p:extLst>
              <p:ext uri="{D42A27DB-BD31-4B8C-83A1-F6EECF244321}">
                <p14:modId xmlns:p14="http://schemas.microsoft.com/office/powerpoint/2010/main" val="2564561545"/>
              </p:ext>
            </p:extLst>
          </p:nvPr>
        </p:nvGraphicFramePr>
        <p:xfrm>
          <a:off x="4602163" y="2017713"/>
          <a:ext cx="6675294" cy="392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272">
                  <a:extLst>
                    <a:ext uri="{9D8B030D-6E8A-4147-A177-3AD203B41FA5}">
                      <a16:colId xmlns:a16="http://schemas.microsoft.com/office/drawing/2014/main" val="3233966979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158840958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014947327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2653728004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4218738779"/>
                    </a:ext>
                  </a:extLst>
                </a:gridCol>
              </a:tblGrid>
              <a:tr h="785097">
                <a:tc>
                  <a:txBody>
                    <a:bodyPr/>
                    <a:lstStyle/>
                    <a:p>
                      <a:pPr algn="l"/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Clients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Orders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Gross revenue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Net revenue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213590700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1100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$10,000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$7,000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830826746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$20,000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$16,000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517333721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$30,000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$25,000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21589815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$40,000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$30,000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45832805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6EF25-1A43-B685-800B-85D36602E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261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6DBB-D0DC-05D4-788C-E10EEF6B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41F64-E350-1F21-8A57-E740F48F313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6257366" cy="3914910"/>
          </a:xfrm>
        </p:spPr>
        <p:txBody>
          <a:bodyPr/>
          <a:lstStyle/>
          <a:p>
            <a:r>
              <a:rPr lang="en-US" dirty="0"/>
              <a:t>Our product makes consumer lives easier, and no other product on the market offers the same features</a:t>
            </a:r>
          </a:p>
          <a:p>
            <a:pPr lvl="1"/>
            <a:r>
              <a:rPr lang="en-US" dirty="0"/>
              <a:t>Gen Z (18-25 years old)</a:t>
            </a:r>
          </a:p>
          <a:p>
            <a:pPr lvl="1"/>
            <a:r>
              <a:rPr lang="en-US" dirty="0"/>
              <a:t>Reduce expenses for replacement products </a:t>
            </a:r>
          </a:p>
          <a:p>
            <a:pPr lvl="1"/>
            <a:r>
              <a:rPr lang="en-US" dirty="0"/>
              <a:t>Simple design that gives customers the targeted information they need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35AC68-D86C-E73B-5402-F22C9F54DC0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67475" y="2018119"/>
            <a:ext cx="2449514" cy="3931919"/>
          </a:xfrm>
        </p:spPr>
        <p:txBody>
          <a:bodyPr/>
          <a:lstStyle/>
          <a:p>
            <a:r>
              <a:rPr lang="en-US" dirty="0"/>
              <a:t>Close the gap</a:t>
            </a:r>
          </a:p>
          <a:p>
            <a:r>
              <a:rPr lang="en-US" dirty="0"/>
              <a:t>Target audience </a:t>
            </a:r>
          </a:p>
          <a:p>
            <a:r>
              <a:rPr lang="en-US" dirty="0"/>
              <a:t>Cost savings</a:t>
            </a:r>
          </a:p>
          <a:p>
            <a:r>
              <a:rPr lang="en-US" dirty="0"/>
              <a:t>Easy to use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D2502-F7A7-039F-01A0-59462ADFF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4060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ECED9-3D31-C7EF-C4E5-0D218F61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545" y="584477"/>
            <a:ext cx="10354052" cy="1209765"/>
          </a:xfrm>
        </p:spPr>
        <p:txBody>
          <a:bodyPr/>
          <a:lstStyle/>
          <a:p>
            <a:r>
              <a:rPr lang="en-US" dirty="0"/>
              <a:t>Financials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782709C-FC0C-E355-9C94-A8EE025BAC7B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829977845"/>
              </p:ext>
            </p:extLst>
          </p:nvPr>
        </p:nvGraphicFramePr>
        <p:xfrm>
          <a:off x="923925" y="2009775"/>
          <a:ext cx="10363201" cy="3934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555">
                  <a:extLst>
                    <a:ext uri="{9D8B030D-6E8A-4147-A177-3AD203B41FA5}">
                      <a16:colId xmlns:a16="http://schemas.microsoft.com/office/drawing/2014/main" val="3446012419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40526463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9353527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218263486"/>
                    </a:ext>
                  </a:extLst>
                </a:gridCol>
              </a:tblGrid>
              <a:tr h="562010"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1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2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3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0773105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Income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2911372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Users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1,600,000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39392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Sales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71146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Average price per sale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75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90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8944196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Revenue @ 15%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5,625,000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48,000,000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216,000,000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160681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Gross profit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5,625,000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48,000,000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216,000,000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12001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50FF3-CE3C-DDFB-B8EA-5BA1668A10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500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398FDD-E639-CF6A-B875-443655F2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1514" y="4172989"/>
            <a:ext cx="5057103" cy="2519363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{87954F13-7132-4645-BED6-9AE9B5A6DFFC}TF44172dc5-d19e-4d2a-aaf3-e2c69a283fd81f4275d0_win32-950e754c5494</Template>
  <TotalTime>4</TotalTime>
  <Words>779</Words>
  <Application>Microsoft Office PowerPoint</Application>
  <PresentationFormat>Widescreen</PresentationFormat>
  <Paragraphs>144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Tenorite</vt:lpstr>
      <vt:lpstr>Custom</vt:lpstr>
      <vt:lpstr>Pitch deck</vt:lpstr>
      <vt:lpstr>TODO</vt:lpstr>
      <vt:lpstr>About us</vt:lpstr>
      <vt:lpstr>Company overview</vt:lpstr>
      <vt:lpstr>Product overview</vt:lpstr>
      <vt:lpstr>Problem </vt:lpstr>
      <vt:lpstr>Product benefits</vt:lpstr>
      <vt:lpstr>Our competition</vt:lpstr>
      <vt:lpstr>Product overview </vt:lpstr>
      <vt:lpstr>Growth strategy</vt:lpstr>
      <vt:lpstr>Market overview</vt:lpstr>
      <vt:lpstr>Solution</vt:lpstr>
      <vt:lpstr>Financials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Crawford, Dorian - crawf2dj</dc:creator>
  <cp:lastModifiedBy>Crawford, Dorian - crawf2dj</cp:lastModifiedBy>
  <cp:revision>2</cp:revision>
  <dcterms:created xsi:type="dcterms:W3CDTF">2025-11-17T14:19:36Z</dcterms:created>
  <dcterms:modified xsi:type="dcterms:W3CDTF">2025-11-17T14:53:59Z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
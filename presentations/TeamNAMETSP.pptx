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6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A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ingo\CS412\src\CS412-Team-NAME\partE\resul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ingo\CS412\src\CS412-Team-NAME\partE\resul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r>
              <a:rPr lang="en-US" sz="2000" dirty="0"/>
              <a:t>Lengths Produced from Approx. Solution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rgbClr val="000000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Lengths Produced</c:v>
          </c:tx>
          <c:spPr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approx_lengths!$A$2:$A$9</c:f>
              <c:numCache>
                <c:formatCode>General</c:formatCode>
                <c:ptCount val="8"/>
                <c:pt idx="0">
                  <c:v>12.6</c:v>
                </c:pt>
                <c:pt idx="1">
                  <c:v>13.6</c:v>
                </c:pt>
                <c:pt idx="2">
                  <c:v>14.6</c:v>
                </c:pt>
                <c:pt idx="3">
                  <c:v>60.7</c:v>
                </c:pt>
                <c:pt idx="4">
                  <c:v>61.7</c:v>
                </c:pt>
                <c:pt idx="5">
                  <c:v>62.7</c:v>
                </c:pt>
                <c:pt idx="6">
                  <c:v>1011.7</c:v>
                </c:pt>
                <c:pt idx="7">
                  <c:v>1012.7</c:v>
                </c:pt>
              </c:numCache>
            </c:numRef>
          </c:cat>
          <c:val>
            <c:numRef>
              <c:f>approx_lengths!$B$2:$B$9</c:f>
              <c:numCache>
                <c:formatCode>General</c:formatCode>
                <c:ptCount val="8"/>
                <c:pt idx="0">
                  <c:v>18</c:v>
                </c:pt>
                <c:pt idx="1">
                  <c:v>15</c:v>
                </c:pt>
                <c:pt idx="2">
                  <c:v>1</c:v>
                </c:pt>
                <c:pt idx="3">
                  <c:v>7</c:v>
                </c:pt>
                <c:pt idx="4">
                  <c:v>34</c:v>
                </c:pt>
                <c:pt idx="5">
                  <c:v>11</c:v>
                </c:pt>
                <c:pt idx="6">
                  <c:v>12</c:v>
                </c:pt>
                <c:pt idx="7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7E-4723-B94B-49AB72ED62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6691504"/>
        <c:axId val="16692464"/>
      </c:barChart>
      <c:catAx>
        <c:axId val="166915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 dirty="0"/>
                  <a:t>Length</a:t>
                </a:r>
                <a:r>
                  <a:rPr lang="en-US" sz="1400" baseline="0" dirty="0"/>
                  <a:t>s Produced</a:t>
                </a:r>
                <a:endParaRPr 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92464"/>
        <c:crosses val="autoZero"/>
        <c:auto val="1"/>
        <c:lblAlgn val="ctr"/>
        <c:lblOffset val="100"/>
        <c:noMultiLvlLbl val="0"/>
      </c:catAx>
      <c:valAx>
        <c:axId val="166924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 dirty="0">
                    <a:solidFill>
                      <a:srgbClr val="000000"/>
                    </a:solidFill>
                  </a:rPr>
                  <a:t>Frequency</a:t>
                </a:r>
                <a:endParaRPr lang="en-US" dirty="0">
                  <a:solidFill>
                    <a:srgbClr val="000000"/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915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rgbClr val="000000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000" dirty="0"/>
              <a:t>Lengths Produced from Zenith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Frequency</c:v>
          </c:tx>
          <c:spPr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'3.5_lengths'!$A$2</c:f>
              <c:numCache>
                <c:formatCode>General</c:formatCode>
                <c:ptCount val="1"/>
                <c:pt idx="0">
                  <c:v>12.6</c:v>
                </c:pt>
              </c:numCache>
            </c:numRef>
          </c:cat>
          <c:val>
            <c:numRef>
              <c:f>'3.5_lengths'!$B$2</c:f>
              <c:numCache>
                <c:formatCode>General</c:formatCode>
                <c:ptCount val="1"/>
                <c:pt idx="0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80-4E30-9D87-3E33A1CE03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62045088"/>
        <c:axId val="162043168"/>
      </c:barChart>
      <c:catAx>
        <c:axId val="16204508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Lengths Produced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2043168"/>
        <c:crosses val="autoZero"/>
        <c:auto val="1"/>
        <c:lblAlgn val="ctr"/>
        <c:lblOffset val="100"/>
        <c:noMultiLvlLbl val="0"/>
      </c:catAx>
      <c:valAx>
        <c:axId val="162043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Frequency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2045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95000"/>
              <a:lumOff val="5000"/>
            </a:schemeClr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4" name="Shape 13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8" y="0"/>
            <a:ext cx="8265005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23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7" cy="686816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5"/>
            <a:ext cx="5867404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33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3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2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7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8" y="-149657"/>
            <a:ext cx="1672378" cy="1971679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7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5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4"/>
          <a:stretch>
            <a:fillRect/>
          </a:stretch>
        </p:blipFill>
        <p:spPr>
          <a:xfrm rot="16200000" flipH="1">
            <a:off x="9781526" y="-311515"/>
            <a:ext cx="2098971" cy="2721992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0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7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8553447" y="-39571"/>
            <a:ext cx="5867405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125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4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29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4"/>
          <a:srcRect l="18883" t="18052" r="46634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07"/>
          </a:xfrm>
          <a:prstGeom prst="rect">
            <a:avLst/>
          </a:prstGeom>
        </p:spPr>
        <p:txBody>
          <a:bodyPr/>
          <a:lstStyle/>
          <a:p>
            <a:r>
              <a:t>Pitch deck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Conten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  <a:defRPr sz="1200" b="1"/>
                </a:pPr>
                <a:r>
                  <a:t>Exact Part:</a:t>
                </a:r>
              </a:p>
              <a:p>
                <a:pPr>
                  <a:defRPr sz="1200"/>
                </a:pPr>
                <a:r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pPr>
                  <a:defRPr sz="1200"/>
                </a:pPr>
                <a:r>
                  <a:t>an explanation of the certifier process being polynomial. Including pseudo-code here is a good idea but make sure its clear that the </a:t>
                </a:r>
                <a:r>
                  <a:rPr i="1"/>
                  <a:t>certificate</a:t>
                </a:r>
                <a:r>
                  <a:t> can be verified in polynomial time.</a:t>
                </a:r>
              </a:p>
              <a:p>
                <a:pPr>
                  <a:defRPr sz="1200"/>
                </a:pPr>
                <a:r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pPr>
                  <a:defRPr sz="1200"/>
                </a:pPr>
                <a:r>
                  <a:t>an analytical (big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) runtime analysis of your coded solution and showcase the code that is the dominant term (the code that drives the highest order term).</a:t>
                </a:r>
              </a:p>
              <a:p>
                <a:pPr>
                  <a:defRPr sz="1200"/>
                </a:pPr>
                <a:r>
                  <a:t>a wallclock (empirical) runtime analysis of your code on your test cases. This analysis must show input size on the X axis and runtime on the Y axis</a:t>
                </a:r>
              </a:p>
            </p:txBody>
          </p:sp>
        </mc:Choice>
        <mc:Fallback xmlns="">
          <p:sp>
            <p:nvSpPr>
              <p:cNvPr id="139" name="Conten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  <a:blipFill>
                <a:blip r:embed="rId2"/>
                <a:stretch>
                  <a:fillRect l="-1221" t="-546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Content Placeholder 2"/>
              <p:cNvSpPr txBox="1"/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lIns="45718" tIns="45718" rIns="45718" bIns="45718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200"/>
                  </a:spcBef>
                  <a:defRPr sz="1200" b="1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Approximation Part: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pseudocode for the approximation and a discussion of the strategy used (greedy, random, etc.)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illustrate the run-time (wall clock) performance of your exact solution versus the approximation solution on your test cases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compare the result/solution of your exact solution versus the approximation on your test cases. This is where you show the </a:t>
                </a:r>
                <a:r>
                  <a:rPr b="1"/>
                  <a:t>value</a:t>
                </a:r>
                <a:r>
                  <a:t> achieved by both and see how well your approximation did versus the optimal solution.</a:t>
                </a:r>
              </a:p>
            </p:txBody>
          </p:sp>
        </mc:Choice>
        <mc:Fallback xmlns="">
          <p:sp>
            <p:nvSpPr>
              <p:cNvPr id="14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blipFill>
                <a:blip r:embed="rId3"/>
                <a:stretch>
                  <a:fillRect l="-1250" t="-546" r="-203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Content Placeholder 2"/>
          <p:cNvSpPr txBox="1"/>
          <p:nvPr/>
        </p:nvSpPr>
        <p:spPr>
          <a:xfrm>
            <a:off x="8242310" y="2022248"/>
            <a:ext cx="3903970" cy="2249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sz="1200" b="1">
                <a:latin typeface="Tenorite"/>
                <a:ea typeface="Tenorite"/>
                <a:cs typeface="Tenorite"/>
                <a:sym typeface="Tenorite"/>
              </a:defRPr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Conclude everything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lide Number 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  <p:grpSp>
        <p:nvGrpSpPr>
          <p:cNvPr id="147" name="LAX"/>
          <p:cNvGrpSpPr/>
          <p:nvPr/>
        </p:nvGrpSpPr>
        <p:grpSpPr>
          <a:xfrm>
            <a:off x="7178088" y="3081901"/>
            <a:ext cx="694197" cy="694197"/>
            <a:chOff x="0" y="0"/>
            <a:chExt cx="694195" cy="694195"/>
          </a:xfrm>
        </p:grpSpPr>
        <p:sp>
          <p:nvSpPr>
            <p:cNvPr id="1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6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150" name="JFK"/>
          <p:cNvGrpSpPr/>
          <p:nvPr/>
        </p:nvGrpSpPr>
        <p:grpSpPr>
          <a:xfrm>
            <a:off x="8592779" y="1614043"/>
            <a:ext cx="694197" cy="694197"/>
            <a:chOff x="0" y="0"/>
            <a:chExt cx="694195" cy="694195"/>
          </a:xfrm>
        </p:grpSpPr>
        <p:sp>
          <p:nvSpPr>
            <p:cNvPr id="14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9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153" name="MIA"/>
          <p:cNvGrpSpPr/>
          <p:nvPr/>
        </p:nvGrpSpPr>
        <p:grpSpPr>
          <a:xfrm>
            <a:off x="10007468" y="3081901"/>
            <a:ext cx="694197" cy="694197"/>
            <a:chOff x="0" y="0"/>
            <a:chExt cx="694195" cy="694195"/>
          </a:xfrm>
        </p:grpSpPr>
        <p:sp>
          <p:nvSpPr>
            <p:cNvPr id="15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2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156" name="HOU"/>
          <p:cNvGrpSpPr/>
          <p:nvPr/>
        </p:nvGrpSpPr>
        <p:grpSpPr>
          <a:xfrm>
            <a:off x="8592779" y="4549760"/>
            <a:ext cx="694197" cy="694197"/>
            <a:chOff x="0" y="0"/>
            <a:chExt cx="694195" cy="694195"/>
          </a:xfrm>
        </p:grpSpPr>
        <p:sp>
          <p:nvSpPr>
            <p:cNvPr id="15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5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157" name="Line"/>
          <p:cNvSpPr/>
          <p:nvPr/>
        </p:nvSpPr>
        <p:spPr>
          <a:xfrm flipV="1">
            <a:off x="9170193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8" name="Line"/>
          <p:cNvSpPr/>
          <p:nvPr/>
        </p:nvSpPr>
        <p:spPr>
          <a:xfrm flipV="1">
            <a:off x="7725039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9" name="Line"/>
          <p:cNvSpPr/>
          <p:nvPr/>
        </p:nvSpPr>
        <p:spPr>
          <a:xfrm flipH="1" flipV="1">
            <a:off x="7784588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0" name="Line"/>
          <p:cNvSpPr/>
          <p:nvPr/>
        </p:nvSpPr>
        <p:spPr>
          <a:xfrm flipH="1" flipV="1">
            <a:off x="9210842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1" name="Line"/>
          <p:cNvSpPr/>
          <p:nvPr/>
        </p:nvSpPr>
        <p:spPr>
          <a:xfrm flipH="1" flipV="1">
            <a:off x="8954889" y="2308044"/>
            <a:ext cx="104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2" name="Line"/>
          <p:cNvSpPr/>
          <p:nvPr/>
        </p:nvSpPr>
        <p:spPr>
          <a:xfrm flipH="1">
            <a:off x="7876309" y="3415165"/>
            <a:ext cx="2127137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3" name="2.475"/>
          <p:cNvSpPr txBox="1"/>
          <p:nvPr/>
        </p:nvSpPr>
        <p:spPr>
          <a:xfrm>
            <a:off x="7638494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164" name="1.09"/>
          <p:cNvSpPr txBox="1"/>
          <p:nvPr/>
        </p:nvSpPr>
        <p:spPr>
          <a:xfrm>
            <a:off x="9761946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1.09</a:t>
            </a:r>
          </a:p>
        </p:txBody>
      </p:sp>
      <p:sp>
        <p:nvSpPr>
          <p:cNvPr id="165" name="1.39"/>
          <p:cNvSpPr txBox="1"/>
          <p:nvPr/>
        </p:nvSpPr>
        <p:spPr>
          <a:xfrm>
            <a:off x="7696424" y="4176576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1.39</a:t>
            </a:r>
          </a:p>
        </p:txBody>
      </p:sp>
      <p:sp>
        <p:nvSpPr>
          <p:cNvPr id="166" name="1.1"/>
          <p:cNvSpPr txBox="1"/>
          <p:nvPr/>
        </p:nvSpPr>
        <p:spPr>
          <a:xfrm>
            <a:off x="9761946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167" name="1.74"/>
          <p:cNvSpPr txBox="1"/>
          <p:nvPr/>
        </p:nvSpPr>
        <p:spPr>
          <a:xfrm>
            <a:off x="8935908" y="2691187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168" name="2.342"/>
          <p:cNvSpPr txBox="1"/>
          <p:nvPr/>
        </p:nvSpPr>
        <p:spPr>
          <a:xfrm>
            <a:off x="8123473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169" name="Weights in 1K air miles"/>
          <p:cNvSpPr txBox="1"/>
          <p:nvPr/>
        </p:nvSpPr>
        <p:spPr>
          <a:xfrm>
            <a:off x="5141083" y="6096677"/>
            <a:ext cx="1909831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Weights in 1K miles</a:t>
            </a:r>
          </a:p>
        </p:txBody>
      </p:sp>
      <p:pic>
        <p:nvPicPr>
          <p:cNvPr id="17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31" y="2110905"/>
            <a:ext cx="4686558" cy="2636191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  <p:sp>
        <p:nvSpPr>
          <p:cNvPr id="172" name="Decision vs. Optimization"/>
          <p:cNvSpPr txBox="1"/>
          <p:nvPr/>
        </p:nvSpPr>
        <p:spPr>
          <a:xfrm>
            <a:off x="8168858" y="901800"/>
            <a:ext cx="154204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TSP-D vs. TSP-O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lide Number 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/>
          </a:p>
        </p:txBody>
      </p:sp>
      <p:grpSp>
        <p:nvGrpSpPr>
          <p:cNvPr id="177" name="LAX"/>
          <p:cNvGrpSpPr/>
          <p:nvPr/>
        </p:nvGrpSpPr>
        <p:grpSpPr>
          <a:xfrm>
            <a:off x="1772218" y="3076313"/>
            <a:ext cx="694197" cy="694197"/>
            <a:chOff x="0" y="0"/>
            <a:chExt cx="694195" cy="694195"/>
          </a:xfrm>
        </p:grpSpPr>
        <p:sp>
          <p:nvSpPr>
            <p:cNvPr id="175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6" name="G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G</a:t>
              </a:r>
            </a:p>
          </p:txBody>
        </p:sp>
      </p:grpSp>
      <p:grpSp>
        <p:nvGrpSpPr>
          <p:cNvPr id="180" name="JFK"/>
          <p:cNvGrpSpPr/>
          <p:nvPr/>
        </p:nvGrpSpPr>
        <p:grpSpPr>
          <a:xfrm>
            <a:off x="3972243" y="1130409"/>
            <a:ext cx="694197" cy="694197"/>
            <a:chOff x="0" y="0"/>
            <a:chExt cx="694195" cy="694195"/>
          </a:xfrm>
        </p:grpSpPr>
        <p:sp>
          <p:nvSpPr>
            <p:cNvPr id="17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" name="A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A</a:t>
              </a:r>
            </a:p>
          </p:txBody>
        </p:sp>
      </p:grpSp>
      <p:grpSp>
        <p:nvGrpSpPr>
          <p:cNvPr id="183" name="MIA"/>
          <p:cNvGrpSpPr/>
          <p:nvPr/>
        </p:nvGrpSpPr>
        <p:grpSpPr>
          <a:xfrm>
            <a:off x="6159394" y="3076313"/>
            <a:ext cx="694197" cy="694197"/>
            <a:chOff x="0" y="0"/>
            <a:chExt cx="694195" cy="694195"/>
          </a:xfrm>
        </p:grpSpPr>
        <p:sp>
          <p:nvSpPr>
            <p:cNvPr id="18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" name="C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C</a:t>
              </a:r>
            </a:p>
          </p:txBody>
        </p:sp>
      </p:grpSp>
      <p:grpSp>
        <p:nvGrpSpPr>
          <p:cNvPr id="186" name="HOU"/>
          <p:cNvGrpSpPr/>
          <p:nvPr/>
        </p:nvGrpSpPr>
        <p:grpSpPr>
          <a:xfrm>
            <a:off x="3972243" y="5033395"/>
            <a:ext cx="694197" cy="694197"/>
            <a:chOff x="0" y="0"/>
            <a:chExt cx="694195" cy="694195"/>
          </a:xfrm>
        </p:grpSpPr>
        <p:sp>
          <p:nvSpPr>
            <p:cNvPr id="18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" name="E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E</a:t>
              </a:r>
            </a:p>
          </p:txBody>
        </p:sp>
      </p:grpSp>
      <p:sp>
        <p:nvSpPr>
          <p:cNvPr id="187" name="Weights in 1K air miles"/>
          <p:cNvSpPr txBox="1"/>
          <p:nvPr/>
        </p:nvSpPr>
        <p:spPr>
          <a:xfrm>
            <a:off x="5154702" y="6227814"/>
            <a:ext cx="18825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“Can’t do it boss…”</a:t>
            </a:r>
          </a:p>
        </p:txBody>
      </p:sp>
      <p:grpSp>
        <p:nvGrpSpPr>
          <p:cNvPr id="190" name="JFK"/>
          <p:cNvGrpSpPr/>
          <p:nvPr/>
        </p:nvGrpSpPr>
        <p:grpSpPr>
          <a:xfrm>
            <a:off x="2518929" y="1774126"/>
            <a:ext cx="694197" cy="694197"/>
            <a:chOff x="0" y="0"/>
            <a:chExt cx="694195" cy="694195"/>
          </a:xfrm>
        </p:grpSpPr>
        <p:sp>
          <p:nvSpPr>
            <p:cNvPr id="18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9" name="H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</a:t>
              </a:r>
            </a:p>
          </p:txBody>
        </p:sp>
      </p:grpSp>
      <p:grpSp>
        <p:nvGrpSpPr>
          <p:cNvPr id="193" name="JFK"/>
          <p:cNvGrpSpPr/>
          <p:nvPr/>
        </p:nvGrpSpPr>
        <p:grpSpPr>
          <a:xfrm>
            <a:off x="5425556" y="1774126"/>
            <a:ext cx="694197" cy="694197"/>
            <a:chOff x="0" y="0"/>
            <a:chExt cx="694195" cy="694195"/>
          </a:xfrm>
        </p:grpSpPr>
        <p:sp>
          <p:nvSpPr>
            <p:cNvPr id="19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2" name="B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B</a:t>
              </a:r>
            </a:p>
          </p:txBody>
        </p:sp>
      </p:grpSp>
      <p:grpSp>
        <p:nvGrpSpPr>
          <p:cNvPr id="196" name="JFK"/>
          <p:cNvGrpSpPr/>
          <p:nvPr/>
        </p:nvGrpSpPr>
        <p:grpSpPr>
          <a:xfrm>
            <a:off x="5425556" y="4389678"/>
            <a:ext cx="694197" cy="694197"/>
            <a:chOff x="0" y="0"/>
            <a:chExt cx="694195" cy="694195"/>
          </a:xfrm>
        </p:grpSpPr>
        <p:sp>
          <p:nvSpPr>
            <p:cNvPr id="19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5" name="D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D</a:t>
              </a:r>
            </a:p>
          </p:txBody>
        </p:sp>
      </p:grpSp>
      <p:grpSp>
        <p:nvGrpSpPr>
          <p:cNvPr id="199" name="JFK"/>
          <p:cNvGrpSpPr/>
          <p:nvPr/>
        </p:nvGrpSpPr>
        <p:grpSpPr>
          <a:xfrm>
            <a:off x="2518929" y="4389678"/>
            <a:ext cx="694197" cy="694197"/>
            <a:chOff x="0" y="0"/>
            <a:chExt cx="694195" cy="694195"/>
          </a:xfrm>
        </p:grpSpPr>
        <p:sp>
          <p:nvSpPr>
            <p:cNvPr id="197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8" name="F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F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Text"/>
              <p:cNvSpPr txBox="1"/>
              <p:nvPr/>
            </p:nvSpPr>
            <p:spPr>
              <a:xfrm>
                <a:off x="8951880" y="1893863"/>
                <a:ext cx="1015351" cy="25560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oMath>
                  </m:oMathPara>
                </a14:m>
                <a:endParaRPr sz="2900"/>
              </a:p>
            </p:txBody>
          </p:sp>
        </mc:Choice>
        <mc:Fallback xmlns="">
          <p:sp>
            <p:nvSpPr>
              <p:cNvPr id="20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1880" y="1893863"/>
                <a:ext cx="1015351" cy="255601"/>
              </a:xfrm>
              <a:prstGeom prst="rect">
                <a:avLst/>
              </a:prstGeom>
              <a:blipFill>
                <a:blip r:embed="rId2"/>
                <a:stretch>
                  <a:fillRect r="-1796" b="-38095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Text"/>
              <p:cNvSpPr txBox="1"/>
              <p:nvPr/>
            </p:nvSpPr>
            <p:spPr>
              <a:xfrm>
                <a:off x="8919067" y="2961440"/>
                <a:ext cx="1179335" cy="22584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=40,320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0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2961440"/>
                <a:ext cx="1179335" cy="225844"/>
              </a:xfrm>
              <a:prstGeom prst="rect">
                <a:avLst/>
              </a:prstGeom>
              <a:blipFill>
                <a:blip r:embed="rId3"/>
                <a:stretch>
                  <a:fillRect l="-7216" r="-14948" b="-4594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"/>
              <p:cNvSpPr txBox="1"/>
              <p:nvPr/>
            </p:nvSpPr>
            <p:spPr>
              <a:xfrm>
                <a:off x="8919067" y="3439178"/>
                <a:ext cx="1299985" cy="22914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=362,880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0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3439178"/>
                <a:ext cx="1299985" cy="229145"/>
              </a:xfrm>
              <a:prstGeom prst="rect">
                <a:avLst/>
              </a:prstGeom>
              <a:blipFill>
                <a:blip r:embed="rId4"/>
                <a:stretch>
                  <a:fillRect l="-6573" r="-15023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Line"/>
          <p:cNvSpPr/>
          <p:nvPr/>
        </p:nvSpPr>
        <p:spPr>
          <a:xfrm>
            <a:off x="2281717" y="3731139"/>
            <a:ext cx="392068" cy="7183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4" name="Line"/>
          <p:cNvSpPr/>
          <p:nvPr/>
        </p:nvSpPr>
        <p:spPr>
          <a:xfrm flipH="1">
            <a:off x="5991914" y="3751553"/>
            <a:ext cx="392876" cy="714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5" name="Line"/>
          <p:cNvSpPr/>
          <p:nvPr/>
        </p:nvSpPr>
        <p:spPr>
          <a:xfrm>
            <a:off x="3170716" y="4912240"/>
            <a:ext cx="802463" cy="3983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6" name="Line"/>
          <p:cNvSpPr/>
          <p:nvPr/>
        </p:nvSpPr>
        <p:spPr>
          <a:xfrm flipH="1">
            <a:off x="4654731" y="4912240"/>
            <a:ext cx="812063" cy="3739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7" name="Hamiltonian Cycles"/>
          <p:cNvSpPr txBox="1"/>
          <p:nvPr/>
        </p:nvSpPr>
        <p:spPr>
          <a:xfrm>
            <a:off x="8074741" y="1328078"/>
            <a:ext cx="2999242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sz="2000"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Hamiltonian Cycles</a:t>
            </a:r>
          </a:p>
        </p:txBody>
      </p:sp>
      <p:sp>
        <p:nvSpPr>
          <p:cNvPr id="208" name="Line"/>
          <p:cNvSpPr/>
          <p:nvPr/>
        </p:nvSpPr>
        <p:spPr>
          <a:xfrm flipH="1" flipV="1">
            <a:off x="2465612" y="3423409"/>
            <a:ext cx="3693504" cy="111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9" name="Line"/>
          <p:cNvSpPr/>
          <p:nvPr/>
        </p:nvSpPr>
        <p:spPr>
          <a:xfrm flipH="1">
            <a:off x="2285850" y="2409290"/>
            <a:ext cx="387920" cy="71074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0" name="Line"/>
          <p:cNvSpPr/>
          <p:nvPr/>
        </p:nvSpPr>
        <p:spPr>
          <a:xfrm>
            <a:off x="5991914" y="2391993"/>
            <a:ext cx="402674" cy="699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1" name="Line"/>
          <p:cNvSpPr/>
          <p:nvPr/>
        </p:nvSpPr>
        <p:spPr>
          <a:xfrm flipV="1">
            <a:off x="3170716" y="1540552"/>
            <a:ext cx="803778" cy="40170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2" name="Line"/>
          <p:cNvSpPr/>
          <p:nvPr/>
        </p:nvSpPr>
        <p:spPr>
          <a:xfrm flipH="1" flipV="1">
            <a:off x="4656616" y="1550887"/>
            <a:ext cx="806903" cy="40931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3" name="Line"/>
          <p:cNvSpPr/>
          <p:nvPr/>
        </p:nvSpPr>
        <p:spPr>
          <a:xfrm flipV="1">
            <a:off x="4317817" y="1819125"/>
            <a:ext cx="19449" cy="32089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4" name="Line"/>
          <p:cNvSpPr/>
          <p:nvPr/>
        </p:nvSpPr>
        <p:spPr>
          <a:xfrm flipH="1" flipV="1">
            <a:off x="3108237" y="2371494"/>
            <a:ext cx="2420552" cy="21196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5" name="Line"/>
          <p:cNvSpPr/>
          <p:nvPr/>
        </p:nvSpPr>
        <p:spPr>
          <a:xfrm flipH="1">
            <a:off x="3113883" y="2356531"/>
            <a:ext cx="2405155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6" name="Line"/>
          <p:cNvSpPr/>
          <p:nvPr/>
        </p:nvSpPr>
        <p:spPr>
          <a:xfrm>
            <a:off x="4522230" y="1756578"/>
            <a:ext cx="1717287" cy="14445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7" name="Line"/>
          <p:cNvSpPr/>
          <p:nvPr/>
        </p:nvSpPr>
        <p:spPr>
          <a:xfrm>
            <a:off x="4423341" y="1813925"/>
            <a:ext cx="1206972" cy="26068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8" name="Line"/>
          <p:cNvSpPr/>
          <p:nvPr/>
        </p:nvSpPr>
        <p:spPr>
          <a:xfrm flipH="1">
            <a:off x="3023815" y="1811098"/>
            <a:ext cx="1209151" cy="2618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9" name="Line"/>
          <p:cNvSpPr/>
          <p:nvPr/>
        </p:nvSpPr>
        <p:spPr>
          <a:xfrm flipH="1">
            <a:off x="2410390" y="1742948"/>
            <a:ext cx="1675107" cy="1483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0" name="Line"/>
          <p:cNvSpPr/>
          <p:nvPr/>
        </p:nvSpPr>
        <p:spPr>
          <a:xfrm flipH="1">
            <a:off x="5766999" y="2465079"/>
            <a:ext cx="4367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1" name="Line"/>
          <p:cNvSpPr/>
          <p:nvPr/>
        </p:nvSpPr>
        <p:spPr>
          <a:xfrm flipH="1">
            <a:off x="2863845" y="2471284"/>
            <a:ext cx="2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2" name="Line"/>
          <p:cNvSpPr/>
          <p:nvPr/>
        </p:nvSpPr>
        <p:spPr>
          <a:xfrm flipH="1">
            <a:off x="4523620" y="2455752"/>
            <a:ext cx="1153208" cy="263973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3" name="Line"/>
          <p:cNvSpPr/>
          <p:nvPr/>
        </p:nvSpPr>
        <p:spPr>
          <a:xfrm>
            <a:off x="2994213" y="2443597"/>
            <a:ext cx="1121860" cy="265529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4" name="Line"/>
          <p:cNvSpPr/>
          <p:nvPr/>
        </p:nvSpPr>
        <p:spPr>
          <a:xfrm flipH="1">
            <a:off x="2458296" y="2265877"/>
            <a:ext cx="3002936" cy="107266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5" name="Line"/>
          <p:cNvSpPr/>
          <p:nvPr/>
        </p:nvSpPr>
        <p:spPr>
          <a:xfrm>
            <a:off x="3192053" y="2253176"/>
            <a:ext cx="2976882" cy="107101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6" name="Line"/>
          <p:cNvSpPr/>
          <p:nvPr/>
        </p:nvSpPr>
        <p:spPr>
          <a:xfrm flipH="1" flipV="1">
            <a:off x="3211641" y="2109341"/>
            <a:ext cx="2215401" cy="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7" name="Line"/>
          <p:cNvSpPr/>
          <p:nvPr/>
        </p:nvSpPr>
        <p:spPr>
          <a:xfrm flipH="1" flipV="1">
            <a:off x="3210080" y="4724715"/>
            <a:ext cx="2216982" cy="21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8" name="Line"/>
          <p:cNvSpPr/>
          <p:nvPr/>
        </p:nvSpPr>
        <p:spPr>
          <a:xfrm flipH="1">
            <a:off x="3185753" y="3591900"/>
            <a:ext cx="3017763" cy="10129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9" name="Line"/>
          <p:cNvSpPr/>
          <p:nvPr/>
        </p:nvSpPr>
        <p:spPr>
          <a:xfrm>
            <a:off x="2429098" y="3581428"/>
            <a:ext cx="3026706" cy="10129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0" name="Line"/>
          <p:cNvSpPr/>
          <p:nvPr/>
        </p:nvSpPr>
        <p:spPr>
          <a:xfrm flipV="1">
            <a:off x="4616852" y="3693278"/>
            <a:ext cx="1665533" cy="14988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1" name="Line"/>
          <p:cNvSpPr/>
          <p:nvPr/>
        </p:nvSpPr>
        <p:spPr>
          <a:xfrm flipH="1" flipV="1">
            <a:off x="2373764" y="3660269"/>
            <a:ext cx="1672391" cy="15060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"/>
              <p:cNvSpPr txBox="1"/>
              <p:nvPr/>
            </p:nvSpPr>
            <p:spPr>
              <a:xfrm>
                <a:off x="8919067" y="3909888"/>
                <a:ext cx="1606838" cy="22777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=3,628,800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3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3909888"/>
                <a:ext cx="1606838" cy="227773"/>
              </a:xfrm>
              <a:prstGeom prst="rect">
                <a:avLst/>
              </a:prstGeom>
              <a:blipFill>
                <a:blip r:embed="rId5"/>
                <a:stretch>
                  <a:fillRect l="-5303" r="-10227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"/>
              <p:cNvSpPr txBox="1"/>
              <p:nvPr/>
            </p:nvSpPr>
            <p:spPr>
              <a:xfrm>
                <a:off x="8947470" y="4379188"/>
                <a:ext cx="1692581" cy="22873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≈9.332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157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33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7470" y="4379188"/>
                <a:ext cx="1692581" cy="228739"/>
              </a:xfrm>
              <a:prstGeom prst="rect">
                <a:avLst/>
              </a:prstGeom>
              <a:blipFill>
                <a:blip r:embed="rId6"/>
                <a:stretch>
                  <a:fillRect l="-5054" r="-15162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4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LAX"/>
          <p:cNvGrpSpPr/>
          <p:nvPr/>
        </p:nvGrpSpPr>
        <p:grpSpPr>
          <a:xfrm>
            <a:off x="4334211" y="3081901"/>
            <a:ext cx="694197" cy="694197"/>
            <a:chOff x="0" y="0"/>
            <a:chExt cx="694195" cy="694195"/>
          </a:xfrm>
        </p:grpSpPr>
        <p:sp>
          <p:nvSpPr>
            <p:cNvPr id="236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37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41" name="JFK"/>
          <p:cNvGrpSpPr/>
          <p:nvPr/>
        </p:nvGrpSpPr>
        <p:grpSpPr>
          <a:xfrm>
            <a:off x="5748901" y="1614043"/>
            <a:ext cx="694197" cy="694197"/>
            <a:chOff x="0" y="0"/>
            <a:chExt cx="694195" cy="694195"/>
          </a:xfrm>
        </p:grpSpPr>
        <p:sp>
          <p:nvSpPr>
            <p:cNvPr id="239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0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44" name="MIA"/>
          <p:cNvGrpSpPr/>
          <p:nvPr/>
        </p:nvGrpSpPr>
        <p:grpSpPr>
          <a:xfrm>
            <a:off x="7163591" y="3081901"/>
            <a:ext cx="694197" cy="694197"/>
            <a:chOff x="0" y="0"/>
            <a:chExt cx="694195" cy="694195"/>
          </a:xfrm>
        </p:grpSpPr>
        <p:sp>
          <p:nvSpPr>
            <p:cNvPr id="242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3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47" name="HOU"/>
          <p:cNvGrpSpPr/>
          <p:nvPr/>
        </p:nvGrpSpPr>
        <p:grpSpPr>
          <a:xfrm>
            <a:off x="5748901" y="4549760"/>
            <a:ext cx="694197" cy="694197"/>
            <a:chOff x="0" y="0"/>
            <a:chExt cx="694195" cy="694195"/>
          </a:xfrm>
        </p:grpSpPr>
        <p:sp>
          <p:nvSpPr>
            <p:cNvPr id="2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6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48" name="Line"/>
          <p:cNvSpPr/>
          <p:nvPr/>
        </p:nvSpPr>
        <p:spPr>
          <a:xfrm flipV="1">
            <a:off x="6326315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49" name="Line"/>
          <p:cNvSpPr/>
          <p:nvPr/>
        </p:nvSpPr>
        <p:spPr>
          <a:xfrm flipV="1">
            <a:off x="4881162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0" name="Line"/>
          <p:cNvSpPr/>
          <p:nvPr/>
        </p:nvSpPr>
        <p:spPr>
          <a:xfrm flipH="1" flipV="1">
            <a:off x="4940711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1" name="Line"/>
          <p:cNvSpPr/>
          <p:nvPr/>
        </p:nvSpPr>
        <p:spPr>
          <a:xfrm flipH="1" flipV="1">
            <a:off x="6366966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2" name="Line"/>
          <p:cNvSpPr/>
          <p:nvPr/>
        </p:nvSpPr>
        <p:spPr>
          <a:xfrm flipH="1" flipV="1">
            <a:off x="6111010" y="2308044"/>
            <a:ext cx="105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3" name="Line"/>
          <p:cNvSpPr/>
          <p:nvPr/>
        </p:nvSpPr>
        <p:spPr>
          <a:xfrm flipH="1">
            <a:off x="5032433" y="3415165"/>
            <a:ext cx="2127135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4" name="2.475"/>
          <p:cNvSpPr txBox="1"/>
          <p:nvPr/>
        </p:nvSpPr>
        <p:spPr>
          <a:xfrm>
            <a:off x="4794617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255" name="1.09"/>
          <p:cNvSpPr txBox="1"/>
          <p:nvPr/>
        </p:nvSpPr>
        <p:spPr>
          <a:xfrm>
            <a:off x="6918069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1.09</a:t>
            </a:r>
          </a:p>
        </p:txBody>
      </p:sp>
      <p:sp>
        <p:nvSpPr>
          <p:cNvPr id="256" name="1.39"/>
          <p:cNvSpPr txBox="1"/>
          <p:nvPr/>
        </p:nvSpPr>
        <p:spPr>
          <a:xfrm>
            <a:off x="4852546" y="4176576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1.39</a:t>
            </a:r>
          </a:p>
        </p:txBody>
      </p:sp>
      <p:sp>
        <p:nvSpPr>
          <p:cNvPr id="257" name="1.1"/>
          <p:cNvSpPr txBox="1"/>
          <p:nvPr/>
        </p:nvSpPr>
        <p:spPr>
          <a:xfrm>
            <a:off x="6918069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258" name="1.74"/>
          <p:cNvSpPr txBox="1"/>
          <p:nvPr/>
        </p:nvSpPr>
        <p:spPr>
          <a:xfrm>
            <a:off x="6092030" y="2691187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259" name="2.342"/>
          <p:cNvSpPr txBox="1"/>
          <p:nvPr/>
        </p:nvSpPr>
        <p:spPr>
          <a:xfrm>
            <a:off x="5279595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260" name="✅ “MIA HOU NYC LA MIA“…"/>
          <p:cNvSpPr txBox="1"/>
          <p:nvPr/>
        </p:nvSpPr>
        <p:spPr>
          <a:xfrm>
            <a:off x="337739" y="2793649"/>
            <a:ext cx="3683156" cy="1270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❌ “MIA NYC LA NYC HOU MIA”</a:t>
            </a:r>
          </a:p>
        </p:txBody>
      </p:sp>
      <p:sp>
        <p:nvSpPr>
          <p:cNvPr id="261" name="Title 6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r>
              <a:t>Polynomial verification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sp>
        <p:nvSpPr>
          <p:cNvPr id="264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  <p:grpSp>
        <p:nvGrpSpPr>
          <p:cNvPr id="267" name="Hamiltonian Cycle"/>
          <p:cNvGrpSpPr/>
          <p:nvPr/>
        </p:nvGrpSpPr>
        <p:grpSpPr>
          <a:xfrm>
            <a:off x="2284994" y="5029549"/>
            <a:ext cx="1654579" cy="903719"/>
            <a:chOff x="0" y="0"/>
            <a:chExt cx="1654578" cy="903717"/>
          </a:xfrm>
        </p:grpSpPr>
        <p:sp>
          <p:nvSpPr>
            <p:cNvPr id="265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6" name="Hamiltonian Cycle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Hamiltonian Cycle</a:t>
              </a:r>
            </a:p>
          </p:txBody>
        </p:sp>
      </p:grpSp>
      <p:grpSp>
        <p:nvGrpSpPr>
          <p:cNvPr id="270" name="LAX"/>
          <p:cNvGrpSpPr/>
          <p:nvPr/>
        </p:nvGrpSpPr>
        <p:grpSpPr>
          <a:xfrm>
            <a:off x="1668932" y="2683311"/>
            <a:ext cx="694197" cy="694197"/>
            <a:chOff x="0" y="0"/>
            <a:chExt cx="694195" cy="694195"/>
          </a:xfrm>
        </p:grpSpPr>
        <p:sp>
          <p:nvSpPr>
            <p:cNvPr id="26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73" name="JFK"/>
          <p:cNvGrpSpPr/>
          <p:nvPr/>
        </p:nvGrpSpPr>
        <p:grpSpPr>
          <a:xfrm>
            <a:off x="2765185" y="1578617"/>
            <a:ext cx="694197" cy="694197"/>
            <a:chOff x="0" y="0"/>
            <a:chExt cx="694195" cy="694195"/>
          </a:xfrm>
        </p:grpSpPr>
        <p:sp>
          <p:nvSpPr>
            <p:cNvPr id="27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76" name="MIA"/>
          <p:cNvGrpSpPr/>
          <p:nvPr/>
        </p:nvGrpSpPr>
        <p:grpSpPr>
          <a:xfrm>
            <a:off x="3870706" y="2683311"/>
            <a:ext cx="694197" cy="694197"/>
            <a:chOff x="0" y="0"/>
            <a:chExt cx="694195" cy="694195"/>
          </a:xfrm>
        </p:grpSpPr>
        <p:sp>
          <p:nvSpPr>
            <p:cNvPr id="27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79" name="HOU"/>
          <p:cNvGrpSpPr/>
          <p:nvPr/>
        </p:nvGrpSpPr>
        <p:grpSpPr>
          <a:xfrm>
            <a:off x="2765185" y="3778436"/>
            <a:ext cx="694197" cy="694197"/>
            <a:chOff x="0" y="0"/>
            <a:chExt cx="694195" cy="694195"/>
          </a:xfrm>
        </p:grpSpPr>
        <p:sp>
          <p:nvSpPr>
            <p:cNvPr id="27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80" name="Line"/>
          <p:cNvSpPr/>
          <p:nvPr/>
        </p:nvSpPr>
        <p:spPr>
          <a:xfrm flipV="1">
            <a:off x="2241620" y="2145980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1" name="Line"/>
          <p:cNvSpPr/>
          <p:nvPr/>
        </p:nvSpPr>
        <p:spPr>
          <a:xfrm flipV="1">
            <a:off x="3100750" y="2278134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2" name="Line"/>
          <p:cNvSpPr/>
          <p:nvPr/>
        </p:nvSpPr>
        <p:spPr>
          <a:xfrm flipV="1">
            <a:off x="3366161" y="3283158"/>
            <a:ext cx="610069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3" name="Line"/>
          <p:cNvSpPr/>
          <p:nvPr/>
        </p:nvSpPr>
        <p:spPr>
          <a:xfrm flipH="1" flipV="1">
            <a:off x="2362192" y="3030409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4" name="2.475"/>
          <p:cNvSpPr txBox="1"/>
          <p:nvPr/>
        </p:nvSpPr>
        <p:spPr>
          <a:xfrm>
            <a:off x="1888864" y="213012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285" name="1.74"/>
          <p:cNvSpPr txBox="1"/>
          <p:nvPr/>
        </p:nvSpPr>
        <p:spPr>
          <a:xfrm>
            <a:off x="3094431" y="2306429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286" name="2.342"/>
          <p:cNvSpPr txBox="1"/>
          <p:nvPr/>
        </p:nvSpPr>
        <p:spPr>
          <a:xfrm>
            <a:off x="2412941" y="3045185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287" name="1.1"/>
          <p:cNvSpPr txBox="1"/>
          <p:nvPr/>
        </p:nvSpPr>
        <p:spPr>
          <a:xfrm>
            <a:off x="3707863" y="3603959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grpSp>
        <p:nvGrpSpPr>
          <p:cNvPr id="290" name="LAX"/>
          <p:cNvGrpSpPr/>
          <p:nvPr/>
        </p:nvGrpSpPr>
        <p:grpSpPr>
          <a:xfrm>
            <a:off x="7627096" y="2688095"/>
            <a:ext cx="694197" cy="694197"/>
            <a:chOff x="0" y="0"/>
            <a:chExt cx="694195" cy="694195"/>
          </a:xfrm>
        </p:grpSpPr>
        <p:sp>
          <p:nvSpPr>
            <p:cNvPr id="28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93" name="JFK"/>
          <p:cNvGrpSpPr/>
          <p:nvPr/>
        </p:nvGrpSpPr>
        <p:grpSpPr>
          <a:xfrm>
            <a:off x="8723348" y="1583401"/>
            <a:ext cx="694197" cy="694197"/>
            <a:chOff x="0" y="0"/>
            <a:chExt cx="694195" cy="694195"/>
          </a:xfrm>
        </p:grpSpPr>
        <p:sp>
          <p:nvSpPr>
            <p:cNvPr id="29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96" name="MIA"/>
          <p:cNvGrpSpPr/>
          <p:nvPr/>
        </p:nvGrpSpPr>
        <p:grpSpPr>
          <a:xfrm>
            <a:off x="9828871" y="2688096"/>
            <a:ext cx="694197" cy="694197"/>
            <a:chOff x="0" y="0"/>
            <a:chExt cx="694195" cy="694195"/>
          </a:xfrm>
        </p:grpSpPr>
        <p:sp>
          <p:nvSpPr>
            <p:cNvPr id="29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99" name="HOU"/>
          <p:cNvGrpSpPr/>
          <p:nvPr/>
        </p:nvGrpSpPr>
        <p:grpSpPr>
          <a:xfrm>
            <a:off x="8723348" y="3783221"/>
            <a:ext cx="694197" cy="694197"/>
            <a:chOff x="0" y="0"/>
            <a:chExt cx="694195" cy="694195"/>
          </a:xfrm>
        </p:grpSpPr>
        <p:sp>
          <p:nvSpPr>
            <p:cNvPr id="29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300" name="Line"/>
          <p:cNvSpPr/>
          <p:nvPr/>
        </p:nvSpPr>
        <p:spPr>
          <a:xfrm flipV="1">
            <a:off x="8199784" y="2150765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1" name="Line"/>
          <p:cNvSpPr/>
          <p:nvPr/>
        </p:nvSpPr>
        <p:spPr>
          <a:xfrm flipV="1">
            <a:off x="9058913" y="2282918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2" name="Line"/>
          <p:cNvSpPr/>
          <p:nvPr/>
        </p:nvSpPr>
        <p:spPr>
          <a:xfrm flipV="1">
            <a:off x="9324326" y="3287943"/>
            <a:ext cx="610069" cy="6133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3" name="Line"/>
          <p:cNvSpPr/>
          <p:nvPr/>
        </p:nvSpPr>
        <p:spPr>
          <a:xfrm flipH="1" flipV="1">
            <a:off x="8320355" y="3035194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4" name="2.475"/>
          <p:cNvSpPr txBox="1"/>
          <p:nvPr/>
        </p:nvSpPr>
        <p:spPr>
          <a:xfrm>
            <a:off x="7847028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305" name="1.74"/>
          <p:cNvSpPr txBox="1"/>
          <p:nvPr/>
        </p:nvSpPr>
        <p:spPr>
          <a:xfrm>
            <a:off x="9052594" y="2311213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306" name="2.342"/>
          <p:cNvSpPr txBox="1"/>
          <p:nvPr/>
        </p:nvSpPr>
        <p:spPr>
          <a:xfrm>
            <a:off x="8371105" y="3049970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307" name="1.1"/>
          <p:cNvSpPr txBox="1"/>
          <p:nvPr/>
        </p:nvSpPr>
        <p:spPr>
          <a:xfrm>
            <a:off x="9666027" y="3608744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308" name="Line"/>
          <p:cNvSpPr/>
          <p:nvPr/>
        </p:nvSpPr>
        <p:spPr>
          <a:xfrm flipH="1" flipV="1">
            <a:off x="9352338" y="2145981"/>
            <a:ext cx="604902" cy="61260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1.74"/>
              <p:cNvSpPr txBox="1"/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309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blipFill>
                <a:blip r:embed="rId2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Line"/>
          <p:cNvSpPr/>
          <p:nvPr/>
        </p:nvSpPr>
        <p:spPr>
          <a:xfrm flipH="1" flipV="1">
            <a:off x="8182122" y="3305661"/>
            <a:ext cx="604902" cy="6126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1.74"/>
              <p:cNvSpPr txBox="1"/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311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blipFill>
                <a:blip r:embed="rId3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2" name="Line"/>
          <p:cNvSpPr/>
          <p:nvPr/>
        </p:nvSpPr>
        <p:spPr>
          <a:xfrm>
            <a:off x="5168212" y="3030410"/>
            <a:ext cx="1846308" cy="2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15" name="Traveling Salesman"/>
          <p:cNvGrpSpPr/>
          <p:nvPr/>
        </p:nvGrpSpPr>
        <p:grpSpPr>
          <a:xfrm>
            <a:off x="8243158" y="5029549"/>
            <a:ext cx="1654579" cy="903719"/>
            <a:chOff x="0" y="0"/>
            <a:chExt cx="1654578" cy="903717"/>
          </a:xfrm>
        </p:grpSpPr>
        <p:sp>
          <p:nvSpPr>
            <p:cNvPr id="313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4" name="Traveling Salesman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Traveling Salesman</a:t>
              </a:r>
            </a:p>
          </p:txBody>
        </p:sp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sp>
        <p:nvSpPr>
          <p:cNvPr id="318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pic>
        <p:nvPicPr>
          <p:cNvPr id="319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/>
          <a:srcRect t="5399" b="19332"/>
          <a:stretch>
            <a:fillRect/>
          </a:stretch>
        </p:blipFill>
        <p:spPr>
          <a:xfrm>
            <a:off x="2548928" y="2202411"/>
            <a:ext cx="7094333" cy="2161853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Equation"/>
              <p:cNvSpPr txBox="1"/>
              <p:nvPr/>
            </p:nvSpPr>
            <p:spPr>
              <a:xfrm>
                <a:off x="5597723" y="4880681"/>
                <a:ext cx="996554" cy="44344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 xmlns="">
          <p:sp>
            <p:nvSpPr>
              <p:cNvPr id="32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7723" y="4880681"/>
                <a:ext cx="996554" cy="443442"/>
              </a:xfrm>
              <a:prstGeom prst="rect">
                <a:avLst/>
              </a:prstGeom>
              <a:blipFill>
                <a:blip r:embed="rId3"/>
                <a:stretch>
                  <a:fillRect r="-12195" b="-1527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Equation"/>
              <p:cNvSpPr txBox="1"/>
              <p:nvPr/>
            </p:nvSpPr>
            <p:spPr>
              <a:xfrm>
                <a:off x="5276910" y="5792587"/>
                <a:ext cx="1638179" cy="36832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!∙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 xmlns="">
          <p:sp>
            <p:nvSpPr>
              <p:cNvPr id="32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910" y="5792587"/>
                <a:ext cx="1638179" cy="368326"/>
              </a:xfrm>
              <a:prstGeom prst="rect">
                <a:avLst/>
              </a:prstGeom>
              <a:blipFill>
                <a:blip r:embed="rId3"/>
                <a:stretch>
                  <a:fillRect b="-3606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Title 1"/>
          <p:cNvSpPr txBox="1"/>
          <p:nvPr/>
        </p:nvSpPr>
        <p:spPr>
          <a:xfrm>
            <a:off x="151728" y="113540"/>
            <a:ext cx="5602753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>
              <a:lnSpc>
                <a:spcPct val="90000"/>
              </a:lnSpc>
              <a:defRPr sz="3200" cap="all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Analytical runtime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D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  <p:sp>
        <p:nvSpPr>
          <p:cNvPr id="327" name="Title 1"/>
          <p:cNvSpPr txBox="1">
            <a:spLocks noGrp="1"/>
          </p:cNvSpPr>
          <p:nvPr>
            <p:ph type="title"/>
          </p:nvPr>
        </p:nvSpPr>
        <p:spPr>
          <a:xfrm>
            <a:off x="151727" y="113540"/>
            <a:ext cx="6344747" cy="647783"/>
          </a:xfrm>
          <a:prstGeom prst="rect">
            <a:avLst/>
          </a:prstGeom>
        </p:spPr>
        <p:txBody>
          <a:bodyPr/>
          <a:lstStyle/>
          <a:p>
            <a:r>
              <a:t>Empirical runtime analysis</a:t>
            </a:r>
          </a:p>
        </p:txBody>
      </p:sp>
      <p:pic>
        <p:nvPicPr>
          <p:cNvPr id="328" name="emperial.png" descr="emp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512" y="912385"/>
            <a:ext cx="6710976" cy="50332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itle 1"/>
          <p:cNvSpPr txBox="1">
            <a:spLocks noGrp="1"/>
          </p:cNvSpPr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1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253999" y="1901737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332" name="TextBox 9"/>
          <p:cNvSpPr txBox="1"/>
          <p:nvPr/>
        </p:nvSpPr>
        <p:spPr>
          <a:xfrm>
            <a:off x="6235701" y="330025"/>
            <a:ext cx="5060951" cy="1209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+mn-lt"/>
                <a:ea typeface="+mn-ea"/>
                <a:cs typeface="+mn-cs"/>
                <a:sym typeface="Helvetica"/>
              </a:defRPr>
            </a:pPr>
            <a:r>
              <a:t>Two heuristics used in combination: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br/>
            <a:r>
              <a:t>1. Nearest Neighbor (Greedy)</a:t>
            </a:r>
            <a:br/>
            <a:r>
              <a:t>2. Two-Opt (Randomness, local optimal swap)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5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336" name="TextBox 3"/>
          <p:cNvSpPr txBox="1"/>
          <p:nvPr/>
        </p:nvSpPr>
        <p:spPr>
          <a:xfrm>
            <a:off x="450850" y="990599"/>
            <a:ext cx="53975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r>
              <a:t>Heuristic #1: Nearest Neighbor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9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340" name="TextBox 3"/>
          <p:cNvSpPr txBox="1"/>
          <p:nvPr/>
        </p:nvSpPr>
        <p:spPr>
          <a:xfrm>
            <a:off x="450850" y="990599"/>
            <a:ext cx="53975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r>
              <a:t>Heuristic #2: Two-Opt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/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343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22250"/>
            <a:ext cx="4716381" cy="3747181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0"/>
            </a:pPr>
            <a:r>
              <a:t>Discuss problem instance where approximation does not achieve the optimal value. Use illustrations. </a:t>
            </a:r>
          </a:p>
          <a:p>
            <a:pPr marL="0" indent="0">
              <a:buSzTx/>
              <a:buNone/>
              <a:defRPr b="0"/>
            </a:pPr>
            <a:r>
              <a:t>– 3 points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run time (wall clock)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914398" y="2022250"/>
                <a:ext cx="5181603" cy="3914910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</a:pPr>
                <a:r>
                  <a:t>Provide wallclock runtime results comparing the </a:t>
                </a:r>
                <a:r>
                  <a:rPr i="1"/>
                  <a:t>exact</a:t>
                </a:r>
                <a:r>
                  <a:t> and </a:t>
                </a:r>
                <a:r>
                  <a:rPr i="1"/>
                  <a:t>approx</a:t>
                </a:r>
                <a:r>
                  <a:t> solutions on one plot.</a:t>
                </a:r>
              </a:p>
              <a:p>
                <a:pPr marL="0" indent="0">
                  <a:buSzTx/>
                  <a:buNone/>
                </a:pPr>
                <a:r>
                  <a:t>plots that illustrate the run-time (wall clock) performance of your exact solution versus the approximation solution on your test cases</a:t>
                </a:r>
              </a:p>
              <a:p>
                <a:pPr marL="0" indent="0">
                  <a:buSzTx/>
                  <a:buNone/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</a:p>
              <a:p>
                <a:pPr marL="0" indent="0">
                  <a:buSzTx/>
                  <a:buNone/>
                </a:pPr>
                <a:endParaRPr/>
              </a:p>
              <a:p>
                <a:pPr>
                  <a:buFontTx/>
                  <a:buChar char="-"/>
                </a:pPr>
                <a:r>
                  <a:t>6 points</a:t>
                </a:r>
              </a:p>
            </p:txBody>
          </p:sp>
        </mc:Choice>
        <mc:Fallback xmlns="">
          <p:sp>
            <p:nvSpPr>
              <p:cNvPr id="346" name="Tex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914398" y="2022250"/>
                <a:ext cx="5181603" cy="3914910"/>
              </a:xfrm>
              <a:prstGeom prst="rect">
                <a:avLst/>
              </a:prstGeom>
              <a:blipFill>
                <a:blip r:embed="rId2"/>
                <a:stretch>
                  <a:fillRect l="-2118" t="-1713" r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lower Bound</a:t>
            </a:r>
          </a:p>
        </p:txBody>
      </p:sp>
      <p:sp>
        <p:nvSpPr>
          <p:cNvPr id="349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8" y="2022250"/>
            <a:ext cx="5181603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Discuss a lower bound for your solution and show the delta to this lower bound (from the value you computed) for large problem instances you created for </a:t>
            </a:r>
            <a:r>
              <a:rPr i="1"/>
              <a:t>run_examples.sh</a:t>
            </a:r>
          </a:p>
          <a:p>
            <a:pPr marL="0" indent="0">
              <a:buSzTx/>
              <a:buNone/>
            </a:pPr>
            <a:r>
              <a:t>- 6 points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itle 1"/>
          <p:cNvSpPr txBox="1">
            <a:spLocks noGrp="1"/>
          </p:cNvSpPr>
          <p:nvPr>
            <p:ph type="title"/>
          </p:nvPr>
        </p:nvSpPr>
        <p:spPr>
          <a:xfrm>
            <a:off x="553450" y="418786"/>
            <a:ext cx="10900614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compare results</a:t>
            </a:r>
          </a:p>
        </p:txBody>
      </p:sp>
      <p:sp>
        <p:nvSpPr>
          <p:cNvPr id="352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22250"/>
            <a:ext cx="6196265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itle 6"/>
          <p:cNvSpPr txBox="1">
            <a:spLocks noGrp="1"/>
          </p:cNvSpPr>
          <p:nvPr>
            <p:ph type="title"/>
          </p:nvPr>
        </p:nvSpPr>
        <p:spPr>
          <a:xfrm>
            <a:off x="170522" y="820"/>
            <a:ext cx="5134663" cy="2689635"/>
          </a:xfrm>
          <a:prstGeom prst="rect">
            <a:avLst/>
          </a:prstGeom>
        </p:spPr>
        <p:txBody>
          <a:bodyPr/>
          <a:lstStyle/>
          <a:p>
            <a:r>
              <a:t>Certifier verification is polynomial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itle 1"/>
          <p:cNvSpPr txBox="1">
            <a:spLocks noGrp="1"/>
          </p:cNvSpPr>
          <p:nvPr>
            <p:ph type="title"/>
          </p:nvPr>
        </p:nvSpPr>
        <p:spPr>
          <a:xfrm>
            <a:off x="923540" y="584477"/>
            <a:ext cx="10354062" cy="1209767"/>
          </a:xfrm>
          <a:prstGeom prst="rect">
            <a:avLst/>
          </a:prstGeom>
        </p:spPr>
        <p:txBody>
          <a:bodyPr/>
          <a:lstStyle/>
          <a:p>
            <a:r>
              <a:t>REDUCTION FROM KNOWN NP-hard SOLution</a:t>
            </a:r>
          </a:p>
        </p:txBody>
      </p:sp>
      <p:sp>
        <p:nvSpPr>
          <p:cNvPr id="357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18</a:t>
            </a:fld>
            <a:endParaRPr/>
          </a:p>
        </p:txBody>
      </p:sp>
      <p:sp>
        <p:nvSpPr>
          <p:cNvPr id="358" name="Reduce from hamiltonian cycle"/>
          <p:cNvSpPr txBox="1"/>
          <p:nvPr/>
        </p:nvSpPr>
        <p:spPr>
          <a:xfrm>
            <a:off x="5641192" y="3194093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r>
              <a:t>Reduce from hamiltonian cycle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itle 6"/>
          <p:cNvSpPr txBox="1">
            <a:spLocks noGrp="1"/>
          </p:cNvSpPr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r>
              <a:t>Analytical runtime Analysis</a:t>
            </a:r>
          </a:p>
        </p:txBody>
      </p:sp>
      <p:pic>
        <p:nvPicPr>
          <p:cNvPr id="361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62" name="Text Placeholder 4"/>
          <p:cNvSpPr txBox="1">
            <a:spLocks noGrp="1"/>
          </p:cNvSpPr>
          <p:nvPr>
            <p:ph type="body" sz="quarter" idx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r>
              <a:t>Empirical runtime analysis</a:t>
            </a:r>
          </a:p>
        </p:txBody>
      </p:sp>
      <p:sp>
        <p:nvSpPr>
          <p:cNvPr id="365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914395" y="2022250"/>
            <a:ext cx="3310137" cy="3747181"/>
          </a:xfrm>
          <a:prstGeom prst="rect">
            <a:avLst/>
          </a:prstGeom>
        </p:spPr>
        <p:txBody>
          <a:bodyPr/>
          <a:lstStyle/>
          <a:p>
            <a:r>
              <a:t>Unique</a:t>
            </a:r>
          </a:p>
          <a:p>
            <a:r>
              <a:t>First to market</a:t>
            </a:r>
          </a:p>
          <a:p>
            <a:r>
              <a:t>Tested</a:t>
            </a:r>
          </a:p>
          <a:p>
            <a:r>
              <a:t>Authentic</a:t>
            </a:r>
          </a:p>
        </p:txBody>
      </p:sp>
      <p:sp>
        <p:nvSpPr>
          <p:cNvPr id="366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367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20</a:t>
            </a:fld>
            <a:endParaRPr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itle 1"/>
          <p:cNvSpPr txBox="1">
            <a:spLocks noGrp="1"/>
          </p:cNvSpPr>
          <p:nvPr>
            <p:ph type="title"/>
          </p:nvPr>
        </p:nvSpPr>
        <p:spPr>
          <a:xfrm>
            <a:off x="914400" y="2580637"/>
            <a:ext cx="5181600" cy="3368829"/>
          </a:xfrm>
          <a:prstGeom prst="rect">
            <a:avLst/>
          </a:prstGeom>
        </p:spPr>
        <p:txBody>
          <a:bodyPr/>
          <a:lstStyle/>
          <a:p>
            <a:r>
              <a:t>Reduction</a:t>
            </a:r>
          </a:p>
        </p:txBody>
      </p:sp>
      <p:pic>
        <p:nvPicPr>
          <p:cNvPr id="370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>
            <a:spLocks noGrp="1"/>
          </p:cNvSpPr>
          <p:nvPr>
            <p:ph type="title"/>
          </p:nvPr>
        </p:nvSpPr>
        <p:spPr>
          <a:xfrm>
            <a:off x="6095998" y="375280"/>
            <a:ext cx="4896685" cy="3624995"/>
          </a:xfrm>
          <a:prstGeom prst="rect">
            <a:avLst/>
          </a:prstGeom>
        </p:spPr>
        <p:txBody>
          <a:bodyPr/>
          <a:lstStyle/>
          <a:p>
            <a:r>
              <a:t>Enhancing the Approximate Solution</a:t>
            </a:r>
          </a:p>
        </p:txBody>
      </p:sp>
      <p:sp>
        <p:nvSpPr>
          <p:cNvPr id="373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095998" y="4172989"/>
            <a:ext cx="4896685" cy="2309733"/>
          </a:xfrm>
          <a:prstGeom prst="rect">
            <a:avLst/>
          </a:prstGeom>
        </p:spPr>
        <p:txBody>
          <a:bodyPr/>
          <a:lstStyle/>
          <a:p>
            <a:r>
              <a:t>Featuring randomness</a:t>
            </a:r>
          </a:p>
        </p:txBody>
      </p:sp>
      <p:pic>
        <p:nvPicPr>
          <p:cNvPr id="374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Where DO We Fall Short?</a:t>
            </a:r>
          </a:p>
        </p:txBody>
      </p:sp>
      <p:sp>
        <p:nvSpPr>
          <p:cNvPr id="377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23</a:t>
            </a:fld>
            <a:endParaRPr/>
          </a:p>
        </p:txBody>
      </p:sp>
      <p:sp>
        <p:nvSpPr>
          <p:cNvPr id="378" name="TextBox 1"/>
          <p:cNvSpPr txBox="1"/>
          <p:nvPr/>
        </p:nvSpPr>
        <p:spPr>
          <a:xfrm>
            <a:off x="914399" y="1822536"/>
            <a:ext cx="7496827" cy="250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74A-DDC9-D5C8-0B4A-EDE7430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Version 3.5, “Zenith”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C8D55-71D7-A03C-60A9-1531FAA8AD7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413075" cy="3580751"/>
          </a:xfrm>
        </p:spPr>
        <p:txBody>
          <a:bodyPr>
            <a:normAutofit fontScale="85000" lnSpcReduction="20000"/>
          </a:bodyPr>
          <a:lstStyle/>
          <a:p>
            <a:r>
              <a:rPr lang="en-US" sz="3200" b="0" dirty="0"/>
              <a:t>It was – and is – </a:t>
            </a:r>
            <a:r>
              <a:rPr lang="en-US" sz="3200" dirty="0"/>
              <a:t>an iterative process</a:t>
            </a:r>
          </a:p>
          <a:p>
            <a:r>
              <a:rPr lang="en-US" sz="3200" dirty="0"/>
              <a:t>Randomly </a:t>
            </a:r>
            <a:r>
              <a:rPr lang="en-US" sz="3200" b="0" dirty="0"/>
              <a:t>determines:</a:t>
            </a:r>
          </a:p>
          <a:p>
            <a:pPr lvl="1"/>
            <a:r>
              <a:rPr lang="en-US" sz="3200" b="0" dirty="0"/>
              <a:t>Starting node</a:t>
            </a:r>
          </a:p>
          <a:p>
            <a:pPr lvl="1"/>
            <a:r>
              <a:rPr lang="en-US" sz="3200" b="0" dirty="0"/>
              <a:t>Min-weight neighbor to choose</a:t>
            </a:r>
          </a:p>
          <a:p>
            <a:pPr lvl="1"/>
            <a:r>
              <a:rPr lang="en-US" sz="3200" b="0" dirty="0"/>
              <a:t>Swapping endpoints in a segment.</a:t>
            </a:r>
          </a:p>
          <a:p>
            <a:r>
              <a:rPr lang="en-US" sz="3200" dirty="0"/>
              <a:t>Reorders output </a:t>
            </a:r>
            <a:r>
              <a:rPr lang="en-US" sz="3200" b="0" dirty="0"/>
              <a:t>path to be </a:t>
            </a:r>
            <a:r>
              <a:rPr lang="en-US" sz="3200" dirty="0"/>
              <a:t>consistent.</a:t>
            </a:r>
          </a:p>
          <a:p>
            <a:r>
              <a:rPr lang="en-US" sz="3200" dirty="0"/>
              <a:t>Iterates</a:t>
            </a:r>
            <a:r>
              <a:rPr lang="en-US" sz="3200" b="0" dirty="0"/>
              <a:t> on solution </a:t>
            </a:r>
            <a:r>
              <a:rPr lang="en-US" sz="3200" dirty="0"/>
              <a:t>by looping </a:t>
            </a:r>
            <a:r>
              <a:rPr lang="en-US" sz="3200" b="0" dirty="0"/>
              <a:t>several times.</a:t>
            </a:r>
          </a:p>
          <a:p>
            <a:pPr lvl="1"/>
            <a:endParaRPr lang="en-US" b="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C963B5-A4D1-FBB1-1546-7A891E0067E5}"/>
              </a:ext>
            </a:extLst>
          </p:cNvPr>
          <p:cNvCxnSpPr/>
          <p:nvPr/>
        </p:nvCxnSpPr>
        <p:spPr>
          <a:xfrm>
            <a:off x="9438569" y="294571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14BC32-7700-2F94-D390-BB10C1BF92E9}"/>
              </a:ext>
            </a:extLst>
          </p:cNvPr>
          <p:cNvCxnSpPr/>
          <p:nvPr/>
        </p:nvCxnSpPr>
        <p:spPr>
          <a:xfrm>
            <a:off x="7855246" y="2380098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0BB086-1E4F-9CD9-D280-6F499A1A3E16}"/>
              </a:ext>
            </a:extLst>
          </p:cNvPr>
          <p:cNvCxnSpPr/>
          <p:nvPr/>
        </p:nvCxnSpPr>
        <p:spPr>
          <a:xfrm>
            <a:off x="7805127" y="359227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A10FA5-B9A4-D094-7543-47AE2B85EA75}"/>
              </a:ext>
            </a:extLst>
          </p:cNvPr>
          <p:cNvCxnSpPr/>
          <p:nvPr/>
        </p:nvCxnSpPr>
        <p:spPr>
          <a:xfrm>
            <a:off x="9518863" y="4321546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214F5A-59C9-8916-2CA4-3FAF61979506}"/>
              </a:ext>
            </a:extLst>
          </p:cNvPr>
          <p:cNvCxnSpPr/>
          <p:nvPr/>
        </p:nvCxnSpPr>
        <p:spPr>
          <a:xfrm>
            <a:off x="7805127" y="482988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059735D-8570-E230-1966-8F81BEB35C2F}"/>
              </a:ext>
            </a:extLst>
          </p:cNvPr>
          <p:cNvSpPr txBox="1"/>
          <p:nvPr/>
        </p:nvSpPr>
        <p:spPr>
          <a:xfrm>
            <a:off x="7724328" y="1977448"/>
            <a:ext cx="1915736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Approx. 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08D522-7FD6-D006-EE0F-9FBD7AAE4A55}"/>
              </a:ext>
            </a:extLst>
          </p:cNvPr>
          <p:cNvSpPr txBox="1"/>
          <p:nvPr/>
        </p:nvSpPr>
        <p:spPr>
          <a:xfrm>
            <a:off x="9561308" y="2560068"/>
            <a:ext cx="2535565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v2, limited randomness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B0C26F-13A3-680A-DFAF-029417908281}"/>
              </a:ext>
            </a:extLst>
          </p:cNvPr>
          <p:cNvSpPr txBox="1"/>
          <p:nvPr/>
        </p:nvSpPr>
        <p:spPr>
          <a:xfrm>
            <a:off x="8037306" y="3174737"/>
            <a:ext cx="1602758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v2.5, iteration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AC6147-132C-7303-D367-AFFE730A083F}"/>
              </a:ext>
            </a:extLst>
          </p:cNvPr>
          <p:cNvSpPr txBox="1"/>
          <p:nvPr/>
        </p:nvSpPr>
        <p:spPr>
          <a:xfrm>
            <a:off x="9603753" y="3935896"/>
            <a:ext cx="2240487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v3, more 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ra</a:t>
            </a:r>
            <a:r>
              <a:rPr lang="en-US" dirty="0" err="1"/>
              <a:t>ndomess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8D506B-8681-567D-88DE-18D967B84FC9}"/>
              </a:ext>
            </a:extLst>
          </p:cNvPr>
          <p:cNvSpPr txBox="1"/>
          <p:nvPr/>
        </p:nvSpPr>
        <p:spPr>
          <a:xfrm>
            <a:off x="7449696" y="4468451"/>
            <a:ext cx="2240487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/>
              <a:t>v3.5, more iteration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AB2B5B-DC82-4A02-D969-CC330EA887CC}"/>
              </a:ext>
            </a:extLst>
          </p:cNvPr>
          <p:cNvSpPr txBox="1"/>
          <p:nvPr/>
        </p:nvSpPr>
        <p:spPr>
          <a:xfrm>
            <a:off x="8249023" y="4829887"/>
            <a:ext cx="75638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i="1" dirty="0"/>
              <a:t>Zenith</a:t>
            </a:r>
            <a:endParaRPr kumimoji="0" lang="en-US" sz="1800" b="0" i="1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10AD73-5591-33E8-98EF-55516987D2C6}"/>
              </a:ext>
            </a:extLst>
          </p:cNvPr>
          <p:cNvCxnSpPr>
            <a:cxnSpLocks/>
          </p:cNvCxnSpPr>
          <p:nvPr/>
        </p:nvCxnSpPr>
        <p:spPr>
          <a:xfrm>
            <a:off x="9549543" y="1669545"/>
            <a:ext cx="0" cy="37490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462097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itle 6"/>
          <p:cNvSpPr txBox="1">
            <a:spLocks noGrp="1"/>
          </p:cNvSpPr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r>
              <a:t>Sample Problem: The GRaph</a:t>
            </a:r>
          </a:p>
        </p:txBody>
      </p:sp>
      <p:pic>
        <p:nvPicPr>
          <p:cNvPr id="384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397" y="1552075"/>
            <a:ext cx="5127956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385" name="TextBox 9"/>
          <p:cNvSpPr txBox="1"/>
          <p:nvPr/>
        </p:nvSpPr>
        <p:spPr>
          <a:xfrm>
            <a:off x="294573" y="1933126"/>
            <a:ext cx="6670824" cy="3820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rPr dirty="0"/>
              <a:t>Sample Problem: The Results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7EF1B34-2D28-3362-9D67-16B993133B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1789931"/>
              </p:ext>
            </p:extLst>
          </p:nvPr>
        </p:nvGraphicFramePr>
        <p:xfrm>
          <a:off x="241247" y="1540364"/>
          <a:ext cx="6938941" cy="4504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72BEDDA-CB9C-48CF-37C7-B50649AB5F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1431114"/>
              </p:ext>
            </p:extLst>
          </p:nvPr>
        </p:nvGraphicFramePr>
        <p:xfrm>
          <a:off x="7124956" y="1540364"/>
          <a:ext cx="4387892" cy="4504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Sample Problem: The Runtimes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AAB065-8DBF-1B07-D9FA-D8692EB65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196831"/>
              </p:ext>
            </p:extLst>
          </p:nvPr>
        </p:nvGraphicFramePr>
        <p:xfrm>
          <a:off x="3048902" y="1867980"/>
          <a:ext cx="6094195" cy="3122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45055">
                  <a:extLst>
                    <a:ext uri="{9D8B030D-6E8A-4147-A177-3AD203B41FA5}">
                      <a16:colId xmlns:a16="http://schemas.microsoft.com/office/drawing/2014/main" val="2024923463"/>
                    </a:ext>
                  </a:extLst>
                </a:gridCol>
                <a:gridCol w="3749140">
                  <a:extLst>
                    <a:ext uri="{9D8B030D-6E8A-4147-A177-3AD203B41FA5}">
                      <a16:colId xmlns:a16="http://schemas.microsoft.com/office/drawing/2014/main" val="2382656257"/>
                    </a:ext>
                  </a:extLst>
                </a:gridCol>
              </a:tblGrid>
              <a:tr h="624408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Program</a:t>
                      </a:r>
                    </a:p>
                  </a:txBody>
                  <a:tcPr anchor="b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C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Average Runtime (Seconds)</a:t>
                      </a:r>
                    </a:p>
                  </a:txBody>
                  <a:tcPr anchor="b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218785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r>
                        <a:rPr lang="en-US" sz="2000" dirty="0"/>
                        <a:t>Exact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36.25096352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106264748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r>
                        <a:rPr lang="en-US" sz="2000" dirty="0"/>
                        <a:t>Approximate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0.000046262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863009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r>
                        <a:rPr lang="en-US" sz="2000" dirty="0"/>
                        <a:t>Zenith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0.017063243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079168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r>
                        <a:rPr lang="en-US" sz="2000" dirty="0"/>
                        <a:t>Parallelized Zenith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0.755844638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2927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Takeaways</a:t>
            </a:r>
          </a:p>
        </p:txBody>
      </p:sp>
      <p:sp>
        <p:nvSpPr>
          <p:cNvPr id="394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11363"/>
            <a:ext cx="7273640" cy="4155761"/>
          </a:xfrm>
          <a:prstGeom prst="rect">
            <a:avLst/>
          </a:prstGeom>
        </p:spPr>
        <p:txBody>
          <a:bodyPr/>
          <a:lstStyle/>
          <a:p>
            <a:r>
              <a:rPr lang="en-US" b="1" dirty="0"/>
              <a:t>Randomness and iterative improvement </a:t>
            </a:r>
            <a:r>
              <a:rPr lang="en-US" dirty="0"/>
              <a:t>greatly increases accuracy</a:t>
            </a:r>
          </a:p>
          <a:p>
            <a:r>
              <a:rPr lang="en-US" dirty="0"/>
              <a:t>However, it also </a:t>
            </a:r>
            <a:r>
              <a:rPr lang="en-US" b="1" dirty="0"/>
              <a:t>greatly increases cost</a:t>
            </a:r>
          </a:p>
          <a:p>
            <a:r>
              <a:rPr lang="en-US" dirty="0"/>
              <a:t>Ultimately, the </a:t>
            </a:r>
            <a:r>
              <a:rPr lang="en-US" b="1" dirty="0"/>
              <a:t>tradeoff is worth it</a:t>
            </a:r>
          </a:p>
          <a:p>
            <a:pPr lvl="1"/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Title 1"/>
          <p:cNvSpPr txBox="1">
            <a:spLocks noGrp="1"/>
          </p:cNvSpPr>
          <p:nvPr>
            <p:ph type="title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</p:spPr>
        <p:txBody>
          <a:bodyPr/>
          <a:lstStyle/>
          <a:p>
            <a:r>
              <a:t>Conclusions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99" name="Title 6"/>
          <p:cNvSpPr txBox="1">
            <a:spLocks noGrp="1"/>
          </p:cNvSpPr>
          <p:nvPr>
            <p:ph type="title"/>
          </p:nvPr>
        </p:nvSpPr>
        <p:spPr>
          <a:xfrm>
            <a:off x="6091515" y="374085"/>
            <a:ext cx="5057105" cy="3624995"/>
          </a:xfrm>
          <a:prstGeom prst="rect">
            <a:avLst/>
          </a:prstGeom>
        </p:spPr>
        <p:txBody>
          <a:bodyPr/>
          <a:lstStyle/>
          <a:p>
            <a:r>
              <a:t>Questions?</a:t>
            </a:r>
          </a:p>
        </p:txBody>
      </p:sp>
      <p:sp>
        <p:nvSpPr>
          <p:cNvPr id="400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7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918</Words>
  <Application>Microsoft Office PowerPoint</Application>
  <PresentationFormat>Widescreen</PresentationFormat>
  <Paragraphs>183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Tenorite</vt:lpstr>
      <vt:lpstr>Custom</vt:lpstr>
      <vt:lpstr>Pitch deck</vt:lpstr>
      <vt:lpstr>TODO</vt:lpstr>
      <vt:lpstr>TSP</vt:lpstr>
      <vt:lpstr>Tsp</vt:lpstr>
      <vt:lpstr>Polynomial verification</vt:lpstr>
      <vt:lpstr>NP-HARD Reduction</vt:lpstr>
      <vt:lpstr>NP-HARD Reduction</vt:lpstr>
      <vt:lpstr>PowerPoint Presentation</vt:lpstr>
      <vt:lpstr>Empirical runtime analysis</vt:lpstr>
      <vt:lpstr>Approximate Solution</vt:lpstr>
      <vt:lpstr>Approximate Solution</vt:lpstr>
      <vt:lpstr>Approximate Solution</vt:lpstr>
      <vt:lpstr>Approximate Solution – non-Optimal test case</vt:lpstr>
      <vt:lpstr>Approximate vs exact solution – run time (wall clock)</vt:lpstr>
      <vt:lpstr>Approximate vs exact solution – lower Bound</vt:lpstr>
      <vt:lpstr>Approximate vs exact solution – compare results</vt:lpstr>
      <vt:lpstr>Certifier verification is polynomial</vt:lpstr>
      <vt:lpstr>REDUCTION FROM KNOWN NP-hard SOLution</vt:lpstr>
      <vt:lpstr>Analytical runtime Analysis</vt:lpstr>
      <vt:lpstr>Empirical runtime analysis</vt:lpstr>
      <vt:lpstr>Reduction</vt:lpstr>
      <vt:lpstr>Enhancing the Approximate Solution</vt:lpstr>
      <vt:lpstr>Where DO We Fall Short?</vt:lpstr>
      <vt:lpstr>Making Version 3.5, “Zenith”</vt:lpstr>
      <vt:lpstr>Sample Problem: The GRaph</vt:lpstr>
      <vt:lpstr>Sample Problem: The Results</vt:lpstr>
      <vt:lpstr>Sample Problem: The Runtimes</vt:lpstr>
      <vt:lpstr>Takeaways</vt:lpstr>
      <vt:lpstr>Conclusions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Crawford, Dorian - crawf2dj</cp:lastModifiedBy>
  <cp:revision>3</cp:revision>
  <dcterms:modified xsi:type="dcterms:W3CDTF">2025-12-03T01:44:11Z</dcterms:modified>
</cp:coreProperties>
</file>
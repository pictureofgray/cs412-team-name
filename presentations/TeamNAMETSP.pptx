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 b="def" i="def"/>
      <a:tcStyle>
        <a:tcBdr/>
        <a:fill>
          <a:solidFill>
            <a:srgbClr val="FBFAF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 b="def" i="def"/>
      <a:tcStyle>
        <a:tcBdr/>
        <a:fill>
          <a:solidFill>
            <a:srgbClr val="FBFAF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hape 144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5" name="Shape 145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/>
          <p:nvPr>
            <p:ph type="title" hasCustomPrompt="1"/>
          </p:nvPr>
        </p:nvSpPr>
        <p:spPr>
          <a:xfrm>
            <a:off x="6096000" y="2773681"/>
            <a:ext cx="5674360" cy="3200403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rcRect l="18454" t="1727" r="0" b="0"/>
          <a:stretch>
            <a:fillRect/>
          </a:stretch>
        </p:blipFill>
        <p:spPr>
          <a:xfrm>
            <a:off x="-7" y="0"/>
            <a:ext cx="8265003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Titl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rcRect l="13300" t="13815" r="0" b="0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29" name="Click to add title"/>
          <p:cNvSpPr txBox="1"/>
          <p:nvPr>
            <p:ph type="title" hasCustomPrompt="1"/>
          </p:nvPr>
        </p:nvSpPr>
        <p:spPr>
          <a:xfrm>
            <a:off x="914400" y="2580638"/>
            <a:ext cx="5181600" cy="3368824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30" name="Picture Placeholder 8"/>
          <p:cNvSpPr/>
          <p:nvPr>
            <p:ph type="pic" idx="21"/>
          </p:nvPr>
        </p:nvSpPr>
        <p:spPr>
          <a:xfrm>
            <a:off x="6085840" y="-10165"/>
            <a:ext cx="6116326" cy="686816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verview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5158" t="0" r="0" b="78533"/>
          <a:stretch>
            <a:fillRect/>
          </a:stretch>
        </p:blipFill>
        <p:spPr>
          <a:xfrm rot="10800000">
            <a:off x="6324598" y="-4"/>
            <a:ext cx="5867404" cy="1317509"/>
          </a:xfrm>
          <a:prstGeom prst="rect">
            <a:avLst/>
          </a:prstGeom>
          <a:ln w="12700">
            <a:miter lim="400000"/>
          </a:ln>
        </p:spPr>
      </p:pic>
      <p:sp>
        <p:nvSpPr>
          <p:cNvPr id="39" name="Click to add title"/>
          <p:cNvSpPr txBox="1"/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pPr/>
            <a:r>
              <a:t>Click to add title</a:t>
            </a:r>
          </a:p>
        </p:txBody>
      </p:sp>
      <p:sp>
        <p:nvSpPr>
          <p:cNvPr id="40" name="Picture Placeholder 11"/>
          <p:cNvSpPr/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41" name="Body Level One…"/>
          <p:cNvSpPr txBox="1"/>
          <p:nvPr>
            <p:ph type="body" sz="quarter" idx="1" hasCustomPrompt="1"/>
          </p:nvPr>
        </p:nvSpPr>
        <p:spPr>
          <a:xfrm>
            <a:off x="6126162" y="4172989"/>
            <a:ext cx="4806001" cy="2389742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2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45239" t="0" r="0" b="0"/>
          <a:stretch>
            <a:fillRect/>
          </a:stretch>
        </p:blipFill>
        <p:spPr>
          <a:xfrm flipH="1">
            <a:off x="9135412" y="0"/>
            <a:ext cx="3056591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50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0" t="0" r="0"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51" name="Click to add title"/>
          <p:cNvSpPr txBox="1"/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52" name="Body Level One…"/>
          <p:cNvSpPr txBox="1"/>
          <p:nvPr>
            <p:ph type="body" sz="half" idx="1" hasCustomPrompt="1"/>
          </p:nvPr>
        </p:nvSpPr>
        <p:spPr>
          <a:xfrm>
            <a:off x="914399" y="2011363"/>
            <a:ext cx="7273640" cy="415576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left Imag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 rot="16200000">
            <a:off x="8039100" y="228599"/>
            <a:ext cx="4381500" cy="3924302"/>
          </a:xfrm>
          <a:prstGeom prst="rect">
            <a:avLst/>
          </a:prstGeom>
          <a:ln w="12700">
            <a:miter lim="400000"/>
          </a:ln>
        </p:spPr>
      </p:pic>
      <p:sp>
        <p:nvSpPr>
          <p:cNvPr id="61" name="Title Text"/>
          <p:cNvSpPr txBox="1"/>
          <p:nvPr>
            <p:ph type="title"/>
          </p:nvPr>
        </p:nvSpPr>
        <p:spPr>
          <a:xfrm>
            <a:off x="6096000" y="375283"/>
            <a:ext cx="4896678" cy="3624989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62" name="Picture Placeholder 10"/>
          <p:cNvSpPr/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63" name="Body Level One…"/>
          <p:cNvSpPr txBox="1"/>
          <p:nvPr>
            <p:ph type="body" sz="quarter" idx="1" hasCustomPrompt="1"/>
          </p:nvPr>
        </p:nvSpPr>
        <p:spPr>
          <a:xfrm>
            <a:off x="6096000" y="4172989"/>
            <a:ext cx="4896678" cy="230973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4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1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954" t="41988" r="53993" b="33420"/>
          <a:stretch>
            <a:fillRect/>
          </a:stretch>
        </p:blipFill>
        <p:spPr>
          <a:xfrm rot="10800000">
            <a:off x="9198863" y="-8"/>
            <a:ext cx="2993142" cy="1517912"/>
          </a:xfrm>
          <a:prstGeom prst="rect">
            <a:avLst/>
          </a:prstGeom>
          <a:ln w="12700">
            <a:miter lim="400000"/>
          </a:ln>
        </p:spPr>
      </p:pic>
      <p:pic>
        <p:nvPicPr>
          <p:cNvPr id="72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25445" t="24818" r="46503" b="0"/>
          <a:stretch>
            <a:fillRect/>
          </a:stretch>
        </p:blipFill>
        <p:spPr>
          <a:xfrm rot="16200000">
            <a:off x="961219" y="4525176"/>
            <a:ext cx="1371603" cy="3294049"/>
          </a:xfrm>
          <a:prstGeom prst="rect">
            <a:avLst/>
          </a:prstGeom>
          <a:ln w="12700">
            <a:miter lim="400000"/>
          </a:ln>
        </p:spPr>
      </p:pic>
      <p:sp>
        <p:nvSpPr>
          <p:cNvPr id="73" name="Click to add title"/>
          <p:cNvSpPr txBox="1"/>
          <p:nvPr>
            <p:ph type="title" hasCustomPrompt="1"/>
          </p:nvPr>
        </p:nvSpPr>
        <p:spPr>
          <a:xfrm>
            <a:off x="914399" y="365125"/>
            <a:ext cx="10363201" cy="1629601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74" name="Body Level One…"/>
          <p:cNvSpPr txBox="1"/>
          <p:nvPr>
            <p:ph type="body" sz="half" idx="1" hasCustomPrompt="1"/>
          </p:nvPr>
        </p:nvSpPr>
        <p:spPr>
          <a:xfrm>
            <a:off x="914399" y="2022250"/>
            <a:ext cx="499270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981" t="40714" r="61027" b="44471"/>
          <a:stretch>
            <a:fillRect/>
          </a:stretch>
        </p:blipFill>
        <p:spPr>
          <a:xfrm flipH="1">
            <a:off x="-26833" y="5950039"/>
            <a:ext cx="2513530" cy="914406"/>
          </a:xfrm>
          <a:prstGeom prst="rect">
            <a:avLst/>
          </a:prstGeom>
          <a:ln w="12700">
            <a:miter lim="400000"/>
          </a:ln>
        </p:spPr>
      </p:pic>
      <p:pic>
        <p:nvPicPr>
          <p:cNvPr id="83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18883" t="18052" r="46634" b="0"/>
          <a:stretch>
            <a:fillRect/>
          </a:stretch>
        </p:blipFill>
        <p:spPr>
          <a:xfrm rot="5400000">
            <a:off x="9553763" y="-952311"/>
            <a:ext cx="1685934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84" name="Click to add title"/>
          <p:cNvSpPr txBox="1"/>
          <p:nvPr>
            <p:ph type="title" hasCustomPrompt="1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85" name="Body Level One…"/>
          <p:cNvSpPr txBox="1"/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b="1" sz="2000"/>
            </a:lvl1pPr>
            <a:lvl2pPr marL="711200" indent="-254000">
              <a:spcBef>
                <a:spcPts val="1200"/>
              </a:spcBef>
              <a:defRPr b="1" sz="2000"/>
            </a:lvl2pPr>
            <a:lvl3pPr marL="1200150" indent="-285750">
              <a:spcBef>
                <a:spcPts val="1200"/>
              </a:spcBef>
              <a:defRPr b="1" sz="2000"/>
            </a:lvl3pPr>
            <a:lvl4pPr marL="1698169" indent="-326569">
              <a:spcBef>
                <a:spcPts val="1200"/>
              </a:spcBef>
              <a:defRPr b="1" sz="2000"/>
            </a:lvl4pPr>
            <a:lvl5pPr marL="2155369" indent="-326569">
              <a:spcBef>
                <a:spcPts val="1200"/>
              </a:spcBef>
              <a:defRPr b="1"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right Image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67703" t="485" r="0" b="67540"/>
          <a:stretch>
            <a:fillRect/>
          </a:stretch>
        </p:blipFill>
        <p:spPr>
          <a:xfrm rot="5400000">
            <a:off x="-115165" y="115161"/>
            <a:ext cx="1895063" cy="1664742"/>
          </a:xfrm>
          <a:prstGeom prst="rect">
            <a:avLst/>
          </a:prstGeom>
          <a:ln w="12700">
            <a:miter lim="400000"/>
          </a:ln>
        </p:spPr>
      </p:pic>
      <p:sp>
        <p:nvSpPr>
          <p:cNvPr id="94" name="Click to add title"/>
          <p:cNvSpPr txBox="1"/>
          <p:nvPr>
            <p:ph type="title" hasCustomPrompt="1"/>
          </p:nvPr>
        </p:nvSpPr>
        <p:spPr>
          <a:xfrm>
            <a:off x="916383" y="446313"/>
            <a:ext cx="5179618" cy="1448749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95" name="Body Level One…"/>
          <p:cNvSpPr txBox="1"/>
          <p:nvPr>
            <p:ph type="body" sz="half" idx="1" hasCustomPrompt="1"/>
          </p:nvPr>
        </p:nvSpPr>
        <p:spPr>
          <a:xfrm>
            <a:off x="914399" y="2022250"/>
            <a:ext cx="5181602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6" name="Picture Placeholder 11"/>
          <p:cNvSpPr/>
          <p:nvPr>
            <p:ph type="pic" idx="21"/>
          </p:nvPr>
        </p:nvSpPr>
        <p:spPr>
          <a:xfrm>
            <a:off x="6076950" y="-3"/>
            <a:ext cx="6115050" cy="686889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9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raphic 1" descr="Graphic 1"/>
          <p:cNvPicPr>
            <a:picLocks noChangeAspect="1"/>
          </p:cNvPicPr>
          <p:nvPr/>
        </p:nvPicPr>
        <p:blipFill>
          <a:blip r:embed="rId2">
            <a:extLst/>
          </a:blip>
          <a:srcRect l="0" t="0"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Rectangle 13"/>
          <p:cNvSpPr/>
          <p:nvPr/>
        </p:nvSpPr>
        <p:spPr>
          <a:xfrm>
            <a:off x="4443412" y="1835237"/>
            <a:ext cx="7000876" cy="4279813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Tenorite"/>
                <a:ea typeface="Tenorite"/>
                <a:cs typeface="Tenorite"/>
                <a:sym typeface="Tenorite"/>
              </a:defRPr>
            </a:pPr>
          </a:p>
        </p:txBody>
      </p:sp>
      <p:pic>
        <p:nvPicPr>
          <p:cNvPr id="106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rcRect l="0" t="60903" r="75060" b="10346"/>
          <a:stretch>
            <a:fillRect/>
          </a:stretch>
        </p:blipFill>
        <p:spPr>
          <a:xfrm rot="16200000">
            <a:off x="149648" y="-149656"/>
            <a:ext cx="1672378" cy="1971678"/>
          </a:xfrm>
          <a:prstGeom prst="rect">
            <a:avLst/>
          </a:prstGeom>
          <a:ln w="12700">
            <a:miter lim="400000"/>
          </a:ln>
        </p:spPr>
      </p:pic>
      <p:sp>
        <p:nvSpPr>
          <p:cNvPr id="107" name="Click to add title"/>
          <p:cNvSpPr txBox="1"/>
          <p:nvPr>
            <p:ph type="title" hasCustomPrompt="1"/>
          </p:nvPr>
        </p:nvSpPr>
        <p:spPr>
          <a:xfrm>
            <a:off x="914399" y="365125"/>
            <a:ext cx="10363204" cy="1603463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108" name="Body Level One…"/>
          <p:cNvSpPr txBox="1"/>
          <p:nvPr>
            <p:ph type="body" sz="quarter" idx="1" hasCustomPrompt="1"/>
          </p:nvPr>
        </p:nvSpPr>
        <p:spPr>
          <a:xfrm>
            <a:off x="914399" y="2022250"/>
            <a:ext cx="3299015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3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8883" t="34408" r="46634" b="1"/>
          <a:stretch>
            <a:fillRect/>
          </a:stretch>
        </p:blipFill>
        <p:spPr>
          <a:xfrm rot="10800000">
            <a:off x="10506071" y="3984078"/>
            <a:ext cx="1685934" cy="287392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29718" t="47145" r="39388" b="8754"/>
          <a:stretch>
            <a:fillRect/>
          </a:stretch>
        </p:blipFill>
        <p:spPr>
          <a:xfrm flipH="1" rot="16200000">
            <a:off x="9781526" y="-311515"/>
            <a:ext cx="2098970" cy="2721991"/>
          </a:xfrm>
          <a:prstGeom prst="rect">
            <a:avLst/>
          </a:prstGeom>
          <a:ln w="12700">
            <a:miter lim="400000"/>
          </a:ln>
        </p:spPr>
      </p:pic>
      <p:sp>
        <p:nvSpPr>
          <p:cNvPr id="118" name="Click to add title"/>
          <p:cNvSpPr txBox="1"/>
          <p:nvPr>
            <p:ph type="title" hasCustomPrompt="1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119" name="Body Level One…"/>
          <p:cNvSpPr txBox="1"/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Click to add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12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losing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Click to add title"/>
          <p:cNvSpPr txBox="1"/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136" name="Body Level One…"/>
          <p:cNvSpPr txBox="1"/>
          <p:nvPr>
            <p:ph type="body" sz="quarter" idx="1" hasCustomPrompt="1"/>
          </p:nvPr>
        </p:nvSpPr>
        <p:spPr>
          <a:xfrm>
            <a:off x="6091513" y="4172989"/>
            <a:ext cx="5057105" cy="2519369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pPr/>
            <a:r>
              <a:t>Click to add content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pic>
        <p:nvPicPr>
          <p:cNvPr id="137" name="Graphic 1" descr="Graphic 1"/>
          <p:cNvPicPr>
            <a:picLocks noChangeAspect="1"/>
          </p:cNvPicPr>
          <p:nvPr/>
        </p:nvPicPr>
        <p:blipFill>
          <a:blip r:embed="rId2">
            <a:extLst/>
          </a:blip>
          <a:srcRect l="4151" t="0" r="18576" b="0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3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18883" t="18052" r="46634" b="0"/>
          <a:stretch>
            <a:fillRect/>
          </a:stretch>
        </p:blipFill>
        <p:spPr>
          <a:xfrm rot="5400000">
            <a:off x="9553763" y="-952311"/>
            <a:ext cx="1685934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/>
          <p:nvPr>
            <p:ph type="title" hasCustomPrompt="1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Click to add title</a:t>
            </a:r>
          </a:p>
        </p:txBody>
      </p:sp>
      <p:sp>
        <p:nvSpPr>
          <p:cNvPr id="4" name="Body Level One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/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1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jpe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e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4.jpe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itle 1"/>
          <p:cNvSpPr txBox="1"/>
          <p:nvPr>
            <p:ph type="title"/>
          </p:nvPr>
        </p:nvSpPr>
        <p:spPr>
          <a:xfrm>
            <a:off x="6095998" y="2773681"/>
            <a:ext cx="5674367" cy="3200406"/>
          </a:xfrm>
          <a:prstGeom prst="rect">
            <a:avLst/>
          </a:prstGeom>
        </p:spPr>
        <p:txBody>
          <a:bodyPr/>
          <a:lstStyle/>
          <a:p>
            <a:pPr/>
            <a:r>
              <a:t>Pitch deck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lide Number Placeholder 1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152" name="LAX"/>
          <p:cNvGrpSpPr/>
          <p:nvPr/>
        </p:nvGrpSpPr>
        <p:grpSpPr>
          <a:xfrm>
            <a:off x="7442612" y="3081903"/>
            <a:ext cx="694193" cy="694193"/>
            <a:chOff x="0" y="0"/>
            <a:chExt cx="694191" cy="694191"/>
          </a:xfrm>
        </p:grpSpPr>
        <p:sp>
          <p:nvSpPr>
            <p:cNvPr id="150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51" name="LAX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LAX</a:t>
              </a:r>
            </a:p>
          </p:txBody>
        </p:sp>
      </p:grpSp>
      <p:grpSp>
        <p:nvGrpSpPr>
          <p:cNvPr id="155" name="JFK"/>
          <p:cNvGrpSpPr/>
          <p:nvPr/>
        </p:nvGrpSpPr>
        <p:grpSpPr>
          <a:xfrm>
            <a:off x="8857303" y="1614045"/>
            <a:ext cx="694193" cy="694192"/>
            <a:chOff x="0" y="0"/>
            <a:chExt cx="694191" cy="694191"/>
          </a:xfrm>
        </p:grpSpPr>
        <p:sp>
          <p:nvSpPr>
            <p:cNvPr id="153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54" name="JFK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JFK</a:t>
              </a:r>
            </a:p>
          </p:txBody>
        </p:sp>
      </p:grpSp>
      <p:grpSp>
        <p:nvGrpSpPr>
          <p:cNvPr id="158" name="MIA"/>
          <p:cNvGrpSpPr/>
          <p:nvPr/>
        </p:nvGrpSpPr>
        <p:grpSpPr>
          <a:xfrm>
            <a:off x="10271992" y="3081903"/>
            <a:ext cx="694193" cy="694193"/>
            <a:chOff x="0" y="0"/>
            <a:chExt cx="694191" cy="694191"/>
          </a:xfrm>
        </p:grpSpPr>
        <p:sp>
          <p:nvSpPr>
            <p:cNvPr id="156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57" name="MIA"/>
            <p:cNvSpPr txBox="1"/>
            <p:nvPr/>
          </p:nvSpPr>
          <p:spPr>
            <a:xfrm>
              <a:off x="106423" y="208095"/>
              <a:ext cx="48134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161" name="HOU"/>
          <p:cNvGrpSpPr/>
          <p:nvPr/>
        </p:nvGrpSpPr>
        <p:grpSpPr>
          <a:xfrm>
            <a:off x="8857303" y="4549762"/>
            <a:ext cx="694193" cy="694192"/>
            <a:chOff x="0" y="0"/>
            <a:chExt cx="694191" cy="694191"/>
          </a:xfrm>
        </p:grpSpPr>
        <p:sp>
          <p:nvSpPr>
            <p:cNvPr id="159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60" name="HOU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162" name="Line"/>
          <p:cNvSpPr/>
          <p:nvPr/>
        </p:nvSpPr>
        <p:spPr>
          <a:xfrm flipV="1">
            <a:off x="9434714" y="3671711"/>
            <a:ext cx="942985" cy="96709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3" name="Line"/>
          <p:cNvSpPr/>
          <p:nvPr/>
        </p:nvSpPr>
        <p:spPr>
          <a:xfrm flipV="1">
            <a:off x="7989561" y="2180991"/>
            <a:ext cx="945353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4" name="Line"/>
          <p:cNvSpPr/>
          <p:nvPr/>
        </p:nvSpPr>
        <p:spPr>
          <a:xfrm flipH="1" flipV="1">
            <a:off x="8049108" y="3661616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5" name="Line"/>
          <p:cNvSpPr/>
          <p:nvPr/>
        </p:nvSpPr>
        <p:spPr>
          <a:xfrm flipH="1" flipV="1">
            <a:off x="9475364" y="2181819"/>
            <a:ext cx="893838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6" name="Line"/>
          <p:cNvSpPr/>
          <p:nvPr/>
        </p:nvSpPr>
        <p:spPr>
          <a:xfrm flipH="1" flipV="1">
            <a:off x="9219408" y="2308044"/>
            <a:ext cx="104" cy="223787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7" name="Line"/>
          <p:cNvSpPr/>
          <p:nvPr/>
        </p:nvSpPr>
        <p:spPr>
          <a:xfrm flipH="1">
            <a:off x="8140831" y="3415165"/>
            <a:ext cx="2127134" cy="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8" name="2.475"/>
          <p:cNvSpPr txBox="1"/>
          <p:nvPr/>
        </p:nvSpPr>
        <p:spPr>
          <a:xfrm>
            <a:off x="7903016" y="2348333"/>
            <a:ext cx="625295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2.475</a:t>
            </a:r>
          </a:p>
        </p:txBody>
      </p:sp>
      <p:sp>
        <p:nvSpPr>
          <p:cNvPr id="169" name="1.09"/>
          <p:cNvSpPr txBox="1"/>
          <p:nvPr/>
        </p:nvSpPr>
        <p:spPr>
          <a:xfrm>
            <a:off x="10026467" y="2348333"/>
            <a:ext cx="50943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1.09</a:t>
            </a:r>
          </a:p>
        </p:txBody>
      </p:sp>
      <p:sp>
        <p:nvSpPr>
          <p:cNvPr id="170" name="1.39"/>
          <p:cNvSpPr txBox="1"/>
          <p:nvPr/>
        </p:nvSpPr>
        <p:spPr>
          <a:xfrm>
            <a:off x="7960945" y="4176576"/>
            <a:ext cx="509434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1.39</a:t>
            </a:r>
          </a:p>
        </p:txBody>
      </p:sp>
      <p:sp>
        <p:nvSpPr>
          <p:cNvPr id="171" name="1.1"/>
          <p:cNvSpPr txBox="1"/>
          <p:nvPr/>
        </p:nvSpPr>
        <p:spPr>
          <a:xfrm>
            <a:off x="10026467" y="4155256"/>
            <a:ext cx="393570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1.1</a:t>
            </a:r>
          </a:p>
        </p:txBody>
      </p:sp>
      <p:sp>
        <p:nvSpPr>
          <p:cNvPr id="172" name="1.74"/>
          <p:cNvSpPr txBox="1"/>
          <p:nvPr/>
        </p:nvSpPr>
        <p:spPr>
          <a:xfrm>
            <a:off x="9200429" y="2691187"/>
            <a:ext cx="509434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1.74</a:t>
            </a:r>
          </a:p>
        </p:txBody>
      </p:sp>
      <p:sp>
        <p:nvSpPr>
          <p:cNvPr id="173" name="2.342"/>
          <p:cNvSpPr txBox="1"/>
          <p:nvPr/>
        </p:nvSpPr>
        <p:spPr>
          <a:xfrm>
            <a:off x="8387994" y="3402465"/>
            <a:ext cx="625296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2.342</a:t>
            </a:r>
          </a:p>
        </p:txBody>
      </p:sp>
      <p:sp>
        <p:nvSpPr>
          <p:cNvPr id="174" name="Weights in 1K air miles"/>
          <p:cNvSpPr txBox="1"/>
          <p:nvPr/>
        </p:nvSpPr>
        <p:spPr>
          <a:xfrm>
            <a:off x="5141083" y="6227815"/>
            <a:ext cx="1909832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Weights in 1K miles</a:t>
            </a:r>
          </a:p>
        </p:txBody>
      </p:sp>
      <p:pic>
        <p:nvPicPr>
          <p:cNvPr id="175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29162" y="1970899"/>
            <a:ext cx="5184358" cy="29162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Slide Number Placeholder 1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180" name="LAX"/>
          <p:cNvGrpSpPr/>
          <p:nvPr/>
        </p:nvGrpSpPr>
        <p:grpSpPr>
          <a:xfrm>
            <a:off x="3548879" y="3081904"/>
            <a:ext cx="694193" cy="694192"/>
            <a:chOff x="0" y="0"/>
            <a:chExt cx="694191" cy="694191"/>
          </a:xfrm>
        </p:grpSpPr>
        <p:sp>
          <p:nvSpPr>
            <p:cNvPr id="178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79" name="LAX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LAX</a:t>
              </a:r>
            </a:p>
          </p:txBody>
        </p:sp>
      </p:grpSp>
      <p:grpSp>
        <p:nvGrpSpPr>
          <p:cNvPr id="183" name="JFK"/>
          <p:cNvGrpSpPr/>
          <p:nvPr/>
        </p:nvGrpSpPr>
        <p:grpSpPr>
          <a:xfrm>
            <a:off x="5748904" y="970328"/>
            <a:ext cx="694192" cy="694193"/>
            <a:chOff x="0" y="0"/>
            <a:chExt cx="694191" cy="694191"/>
          </a:xfrm>
        </p:grpSpPr>
        <p:sp>
          <p:nvSpPr>
            <p:cNvPr id="181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82" name="JFK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JFK</a:t>
              </a:r>
            </a:p>
          </p:txBody>
        </p:sp>
      </p:grpSp>
      <p:grpSp>
        <p:nvGrpSpPr>
          <p:cNvPr id="186" name="MIA"/>
          <p:cNvGrpSpPr/>
          <p:nvPr/>
        </p:nvGrpSpPr>
        <p:grpSpPr>
          <a:xfrm>
            <a:off x="7936054" y="3081904"/>
            <a:ext cx="694192" cy="694192"/>
            <a:chOff x="0" y="0"/>
            <a:chExt cx="694191" cy="694191"/>
          </a:xfrm>
        </p:grpSpPr>
        <p:sp>
          <p:nvSpPr>
            <p:cNvPr id="184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85" name="MIA"/>
            <p:cNvSpPr txBox="1"/>
            <p:nvPr/>
          </p:nvSpPr>
          <p:spPr>
            <a:xfrm>
              <a:off x="106423" y="208095"/>
              <a:ext cx="481341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189" name="HOU"/>
          <p:cNvGrpSpPr/>
          <p:nvPr/>
        </p:nvGrpSpPr>
        <p:grpSpPr>
          <a:xfrm>
            <a:off x="5748904" y="5038987"/>
            <a:ext cx="694192" cy="694193"/>
            <a:chOff x="0" y="0"/>
            <a:chExt cx="694191" cy="694191"/>
          </a:xfrm>
        </p:grpSpPr>
        <p:sp>
          <p:nvSpPr>
            <p:cNvPr id="187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88" name="HOU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190" name="Weights in 1K air miles"/>
          <p:cNvSpPr txBox="1"/>
          <p:nvPr/>
        </p:nvSpPr>
        <p:spPr>
          <a:xfrm>
            <a:off x="5154702" y="6227816"/>
            <a:ext cx="1882596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/>
            <a:r>
              <a:t>“Can’t do it boss…”</a:t>
            </a:r>
          </a:p>
        </p:txBody>
      </p:sp>
      <p:grpSp>
        <p:nvGrpSpPr>
          <p:cNvPr id="193" name="JFK"/>
          <p:cNvGrpSpPr/>
          <p:nvPr/>
        </p:nvGrpSpPr>
        <p:grpSpPr>
          <a:xfrm>
            <a:off x="4295591" y="1547930"/>
            <a:ext cx="694193" cy="694193"/>
            <a:chOff x="0" y="0"/>
            <a:chExt cx="694191" cy="694191"/>
          </a:xfrm>
        </p:grpSpPr>
        <p:sp>
          <p:nvSpPr>
            <p:cNvPr id="191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92" name="JFK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JFK</a:t>
              </a:r>
            </a:p>
          </p:txBody>
        </p:sp>
      </p:grpSp>
      <p:grpSp>
        <p:nvGrpSpPr>
          <p:cNvPr id="196" name="JFK"/>
          <p:cNvGrpSpPr/>
          <p:nvPr/>
        </p:nvGrpSpPr>
        <p:grpSpPr>
          <a:xfrm>
            <a:off x="7202216" y="1547930"/>
            <a:ext cx="694193" cy="694193"/>
            <a:chOff x="0" y="0"/>
            <a:chExt cx="694191" cy="694191"/>
          </a:xfrm>
        </p:grpSpPr>
        <p:sp>
          <p:nvSpPr>
            <p:cNvPr id="194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95" name="JFK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JFK</a:t>
              </a:r>
            </a:p>
          </p:txBody>
        </p:sp>
      </p:grpSp>
      <p:grpSp>
        <p:nvGrpSpPr>
          <p:cNvPr id="199" name="JFK"/>
          <p:cNvGrpSpPr/>
          <p:nvPr/>
        </p:nvGrpSpPr>
        <p:grpSpPr>
          <a:xfrm>
            <a:off x="7202216" y="4395270"/>
            <a:ext cx="694193" cy="694193"/>
            <a:chOff x="0" y="0"/>
            <a:chExt cx="694191" cy="694191"/>
          </a:xfrm>
        </p:grpSpPr>
        <p:sp>
          <p:nvSpPr>
            <p:cNvPr id="197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198" name="JFK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JFK</a:t>
              </a:r>
            </a:p>
          </p:txBody>
        </p:sp>
      </p:grpSp>
      <p:grpSp>
        <p:nvGrpSpPr>
          <p:cNvPr id="202" name="JFK"/>
          <p:cNvGrpSpPr/>
          <p:nvPr/>
        </p:nvGrpSpPr>
        <p:grpSpPr>
          <a:xfrm>
            <a:off x="4295591" y="4395270"/>
            <a:ext cx="694193" cy="694193"/>
            <a:chOff x="0" y="0"/>
            <a:chExt cx="694191" cy="694191"/>
          </a:xfrm>
        </p:grpSpPr>
        <p:sp>
          <p:nvSpPr>
            <p:cNvPr id="200" name="Circle"/>
            <p:cNvSpPr/>
            <p:nvPr/>
          </p:nvSpPr>
          <p:spPr>
            <a:xfrm>
              <a:off x="-1" y="-1"/>
              <a:ext cx="694192" cy="694192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pPr>
            </a:p>
          </p:txBody>
        </p:sp>
        <p:sp>
          <p:nvSpPr>
            <p:cNvPr id="201" name="JFK"/>
            <p:cNvSpPr txBox="1"/>
            <p:nvPr/>
          </p:nvSpPr>
          <p:spPr>
            <a:xfrm>
              <a:off x="106423" y="208095"/>
              <a:ext cx="481342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/>
              <a:r>
                <a:t>JFK</a:t>
              </a:r>
            </a:p>
          </p:txBody>
        </p:sp>
      </p:grpSp>
      <p:sp>
        <p:nvSpPr>
          <p:cNvPr id="203" name="Line"/>
          <p:cNvSpPr/>
          <p:nvPr/>
        </p:nvSpPr>
        <p:spPr>
          <a:xfrm flipH="1" flipV="1">
            <a:off x="4245530" y="3430563"/>
            <a:ext cx="3683268" cy="983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4" name="Line"/>
          <p:cNvSpPr/>
          <p:nvPr/>
        </p:nvSpPr>
        <p:spPr>
          <a:xfrm flipH="1">
            <a:off x="4255650" y="2108531"/>
            <a:ext cx="3010632" cy="131212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5" name="Line"/>
          <p:cNvSpPr/>
          <p:nvPr/>
        </p:nvSpPr>
        <p:spPr>
          <a:xfrm flipH="1">
            <a:off x="4246952" y="1609554"/>
            <a:ext cx="1651368" cy="181350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6" name="Line"/>
          <p:cNvSpPr/>
          <p:nvPr/>
        </p:nvSpPr>
        <p:spPr>
          <a:xfrm flipH="1">
            <a:off x="4255657" y="2241652"/>
            <a:ext cx="344756" cy="117450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6"/>
          <p:cNvSpPr txBox="1"/>
          <p:nvPr>
            <p:ph type="title"/>
          </p:nvPr>
        </p:nvSpPr>
        <p:spPr>
          <a:xfrm>
            <a:off x="170522" y="821"/>
            <a:ext cx="5134663" cy="2689633"/>
          </a:xfrm>
          <a:prstGeom prst="rect">
            <a:avLst/>
          </a:prstGeom>
        </p:spPr>
        <p:txBody>
          <a:bodyPr/>
          <a:lstStyle/>
          <a:p>
            <a:pPr/>
            <a:r>
              <a:t>Certifier verification is polynomial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itle 1"/>
          <p:cNvSpPr txBox="1"/>
          <p:nvPr>
            <p:ph type="title"/>
          </p:nvPr>
        </p:nvSpPr>
        <p:spPr>
          <a:xfrm>
            <a:off x="923540" y="584477"/>
            <a:ext cx="10354061" cy="1209767"/>
          </a:xfrm>
          <a:prstGeom prst="rect">
            <a:avLst/>
          </a:prstGeom>
        </p:spPr>
        <p:txBody>
          <a:bodyPr/>
          <a:lstStyle/>
          <a:p>
            <a:pPr/>
            <a:r>
              <a:t>REDUCTION FROM KNOWN NP-hard SOLtn</a:t>
            </a:r>
          </a:p>
        </p:txBody>
      </p:sp>
      <p:sp>
        <p:nvSpPr>
          <p:cNvPr id="211" name="Slide Number Placeholder 3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12" name="Reduce from hamiltonian cycle"/>
          <p:cNvSpPr txBox="1"/>
          <p:nvPr/>
        </p:nvSpPr>
        <p:spPr>
          <a:xfrm>
            <a:off x="5641192" y="3194094"/>
            <a:ext cx="322975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Reduce from hamiltonian cycle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itle 6"/>
          <p:cNvSpPr txBox="1"/>
          <p:nvPr>
            <p:ph type="title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/>
          <a:lstStyle/>
          <a:p>
            <a:pPr/>
            <a:r>
              <a:t>Analytical runtime Analysis</a:t>
            </a:r>
          </a:p>
        </p:txBody>
      </p:sp>
      <p:pic>
        <p:nvPicPr>
          <p:cNvPr id="215" name="Picture Placeholder 4" descr="Picture Placeholder 4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20394" t="0" r="20394" b="0"/>
          <a:stretch>
            <a:fillRect/>
          </a:stretch>
        </p:blipFill>
        <p:spPr>
          <a:xfrm>
            <a:off x="0" y="-10165"/>
            <a:ext cx="6096000" cy="6858007"/>
          </a:xfrm>
          <a:prstGeom prst="rect">
            <a:avLst/>
          </a:prstGeom>
        </p:spPr>
      </p:pic>
      <p:sp>
        <p:nvSpPr>
          <p:cNvPr id="216" name="Content Placeholder 7"/>
          <p:cNvSpPr txBox="1"/>
          <p:nvPr>
            <p:ph type="body" sz="quarter" idx="1"/>
          </p:nvPr>
        </p:nvSpPr>
        <p:spPr>
          <a:xfrm>
            <a:off x="6126162" y="4172989"/>
            <a:ext cx="4806001" cy="2389742"/>
          </a:xfrm>
          <a:prstGeom prst="rect">
            <a:avLst/>
          </a:prstGeom>
        </p:spPr>
        <p:txBody>
          <a:bodyPr/>
          <a:lstStyle/>
          <a:p>
            <a:pPr/>
            <a:r>
              <a:t>First beautifully designed product that's both stylish and functional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itle 1"/>
          <p:cNvSpPr txBox="1"/>
          <p:nvPr>
            <p:ph type="title"/>
          </p:nvPr>
        </p:nvSpPr>
        <p:spPr>
          <a:xfrm>
            <a:off x="914398" y="365125"/>
            <a:ext cx="10439401" cy="1617017"/>
          </a:xfrm>
          <a:prstGeom prst="rect">
            <a:avLst/>
          </a:prstGeom>
        </p:spPr>
        <p:txBody>
          <a:bodyPr/>
          <a:lstStyle/>
          <a:p>
            <a:pPr/>
            <a:r>
              <a:t>EMpyrical runtime analysis</a:t>
            </a:r>
          </a:p>
        </p:txBody>
      </p:sp>
      <p:sp>
        <p:nvSpPr>
          <p:cNvPr id="219" name="Content Placeholder 2"/>
          <p:cNvSpPr txBox="1"/>
          <p:nvPr>
            <p:ph type="body" sz="quarter" idx="1"/>
          </p:nvPr>
        </p:nvSpPr>
        <p:spPr>
          <a:xfrm>
            <a:off x="914396" y="2022250"/>
            <a:ext cx="3310135" cy="3747181"/>
          </a:xfrm>
          <a:prstGeom prst="rect">
            <a:avLst/>
          </a:prstGeom>
        </p:spPr>
        <p:txBody>
          <a:bodyPr/>
          <a:lstStyle/>
          <a:p>
            <a:pPr/>
            <a:r>
              <a:t>Unique</a:t>
            </a:r>
          </a:p>
          <a:p>
            <a:pPr/>
            <a:r>
              <a:t>First to market</a:t>
            </a:r>
          </a:p>
          <a:p>
            <a:pPr/>
            <a:r>
              <a:t>Tested</a:t>
            </a:r>
          </a:p>
          <a:p>
            <a:pPr/>
            <a:r>
              <a:t>Authentic</a:t>
            </a:r>
          </a:p>
        </p:txBody>
      </p:sp>
      <p:sp>
        <p:nvSpPr>
          <p:cNvPr id="220" name="Content Placeholder 3"/>
          <p:cNvSpPr txBox="1"/>
          <p:nvPr/>
        </p:nvSpPr>
        <p:spPr>
          <a:xfrm>
            <a:off x="4648029" y="2018120"/>
            <a:ext cx="6660048" cy="3747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Only product specifically dedicated to this niche market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First beautifully designed product that's both stylish and functional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Conducted testing with college students in the area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Designed with the help and input of experts in the field </a:t>
            </a:r>
          </a:p>
        </p:txBody>
      </p:sp>
      <p:sp>
        <p:nvSpPr>
          <p:cNvPr id="221" name="Slide Number Placeholder 4"/>
          <p:cNvSpPr txBox="1"/>
          <p:nvPr>
            <p:ph type="sldNum" sz="quarter" idx="4294967295"/>
          </p:nvPr>
        </p:nvSpPr>
        <p:spPr>
          <a:xfrm>
            <a:off x="914399" y="6259738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Title 1"/>
          <p:cNvSpPr txBox="1"/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pPr/>
            <a:r>
              <a:t>TODO</a:t>
            </a:r>
          </a:p>
        </p:txBody>
      </p:sp>
      <p:sp>
        <p:nvSpPr>
          <p:cNvPr id="224" name="Content Placeholder 2"/>
          <p:cNvSpPr txBox="1"/>
          <p:nvPr>
            <p:ph type="body" sz="half" idx="1"/>
          </p:nvPr>
        </p:nvSpPr>
        <p:spPr>
          <a:xfrm>
            <a:off x="187720" y="1968587"/>
            <a:ext cx="3995417" cy="4470626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1" sz="1200"/>
            </a:pPr>
            <a:r>
              <a:t>Exact Part:</a:t>
            </a:r>
          </a:p>
          <a:p>
            <a:pPr>
              <a:defRPr sz="1200"/>
            </a:pPr>
            <a:r>
              <a:t>a description of the problem being solved. Show the difference between the decision and optimization version of the problem. An example of inputs and outputs is a good idea. (1.5 mins)</a:t>
            </a:r>
          </a:p>
          <a:p>
            <a:pPr>
              <a:defRPr sz="1200"/>
            </a:pPr>
            <a:r>
              <a:t>an explanation of the certifier process being polynomial. Including pseudo-code here is a good idea but make sure its clear that the </a:t>
            </a:r>
            <a:r>
              <a:rPr i="1"/>
              <a:t>certificate</a:t>
            </a:r>
            <a:r>
              <a:t> can be verified in polynomial time.</a:t>
            </a:r>
          </a:p>
          <a:p>
            <a:pPr>
              <a:defRPr sz="1200"/>
            </a:pPr>
            <a:r>
              <a:t>a reduction from a known/accepted NP-hard problem (with examples graphically shown). It must be clear that the reduction takes place in a polynomial number of steps with respect to the problem’s input size.</a:t>
            </a:r>
          </a:p>
          <a:p>
            <a:pPr>
              <a:defRPr sz="1200"/>
            </a:pPr>
            <a:r>
              <a:t>an analytical (big </a:t>
            </a:r>
            <a14:m>
              <m:oMath>
                <m:r>
                  <a:rPr xmlns:a="http://schemas.openxmlformats.org/drawingml/2006/main" sz="12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𝒪</m:t>
                </m:r>
              </m:oMath>
            </a14:m>
            <a:r>
              <a:t>) runtime analysis of your coded solution and showcase the code that is the dominant term (the code that drives the highest order term).</a:t>
            </a:r>
          </a:p>
          <a:p>
            <a:pPr>
              <a:defRPr sz="1200"/>
            </a:pPr>
            <a:r>
              <a:t>a wallclock (empirical) runtime analysis of your code on your test cases. This analysis must show input size on the X axis and runtime on the Y axis</a:t>
            </a:r>
          </a:p>
        </p:txBody>
      </p:sp>
      <p:sp>
        <p:nvSpPr>
          <p:cNvPr id="225" name="Slide Number Placeholder 4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226" name="Content Placeholder 2"/>
          <p:cNvSpPr txBox="1"/>
          <p:nvPr/>
        </p:nvSpPr>
        <p:spPr>
          <a:xfrm>
            <a:off x="4334114" y="2022248"/>
            <a:ext cx="3903970" cy="4470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b="1" sz="1200">
                <a:latin typeface="Tenorite"/>
                <a:ea typeface="Tenorite"/>
                <a:cs typeface="Tenorite"/>
                <a:sym typeface="Tenorite"/>
              </a:defRPr>
            </a:pPr>
            <a:r>
              <a:t>Approximation Part: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pseudocode for the approximation and a discussion of the strategy used (greedy, random, etc.)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analytical run time analysis (the worse case </a:t>
            </a:r>
            <a14:m>
              <m:oMath>
                <m:r>
                  <a:rPr xmlns:a="http://schemas.openxmlformats.org/drawingml/2006/main" sz="12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𝒪</m:t>
                </m:r>
              </m:oMath>
            </a14:m>
            <a:r>
              <a:t> time) of your approximation algorithm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plots that illustrate the run-time (wall clock) performance of your exact solution versus the approximation solution on your test cases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plots that compare the result/solution of your exact solution versus the approximation on your test cases. This is where you show the </a:t>
            </a:r>
            <a:r>
              <a:rPr b="1"/>
              <a:t>value</a:t>
            </a:r>
            <a:r>
              <a:t> achieved by both and see how well your approximation did versus the optimal solution.</a:t>
            </a:r>
          </a:p>
        </p:txBody>
      </p:sp>
      <p:sp>
        <p:nvSpPr>
          <p:cNvPr id="227" name="Content Placeholder 2"/>
          <p:cNvSpPr txBox="1"/>
          <p:nvPr/>
        </p:nvSpPr>
        <p:spPr>
          <a:xfrm>
            <a:off x="8242310" y="2022248"/>
            <a:ext cx="3903970" cy="4470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b="1" sz="1200">
                <a:latin typeface="Tenorite"/>
                <a:ea typeface="Tenorite"/>
                <a:cs typeface="Tenorite"/>
                <a:sym typeface="Tenorite"/>
              </a:defRPr>
            </a:pPr>
            <a:r>
              <a:t>Part E: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Talk about how you broke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Talk about how you fixed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What is your approximation weak on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How does adding more time improve things?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Conclude everything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Title 1"/>
          <p:cNvSpPr txBox="1"/>
          <p:nvPr>
            <p:ph type="title"/>
          </p:nvPr>
        </p:nvSpPr>
        <p:spPr>
          <a:xfrm>
            <a:off x="914400" y="2580637"/>
            <a:ext cx="5181600" cy="3368828"/>
          </a:xfrm>
          <a:prstGeom prst="rect">
            <a:avLst/>
          </a:prstGeom>
        </p:spPr>
        <p:txBody>
          <a:bodyPr/>
          <a:lstStyle/>
          <a:p>
            <a:pPr/>
            <a:r>
              <a:t>Reduction</a:t>
            </a:r>
          </a:p>
        </p:txBody>
      </p:sp>
      <p:pic>
        <p:nvPicPr>
          <p:cNvPr id="230" name="Picture Placeholder 13" descr="Picture Placeholder 13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0" t="119" r="0" b="115"/>
          <a:stretch>
            <a:fillRect/>
          </a:stretch>
        </p:blipFill>
        <p:spPr>
          <a:xfrm>
            <a:off x="6085840" y="-10159"/>
            <a:ext cx="6116326" cy="686816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Slide Number Placeholder 1"/>
          <p:cNvSpPr txBox="1"/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itle 1"/>
          <p:cNvSpPr txBox="1"/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pPr/>
            <a:r>
              <a:t>Problem </a:t>
            </a:r>
          </a:p>
        </p:txBody>
      </p:sp>
      <p:sp>
        <p:nvSpPr>
          <p:cNvPr id="235" name="Content Placeholder 2"/>
          <p:cNvSpPr txBox="1"/>
          <p:nvPr>
            <p:ph type="body" sz="half" idx="1"/>
          </p:nvPr>
        </p:nvSpPr>
        <p:spPr>
          <a:xfrm>
            <a:off x="914396" y="2011363"/>
            <a:ext cx="7273640" cy="4155762"/>
          </a:xfrm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t>Market gap</a:t>
            </a:r>
            <a:r>
              <a:rPr b="0"/>
              <a:t>: few, if any, products on the market help customers like we do</a:t>
            </a:r>
            <a:endParaRPr b="0"/>
          </a:p>
          <a:p>
            <a:pPr>
              <a:defRPr b="1"/>
            </a:pPr>
            <a:r>
              <a:t>Customers</a:t>
            </a:r>
            <a:r>
              <a:rPr b="0"/>
              <a:t>: 66% of US consumers spend money on multiple products that only partially resolves their issue</a:t>
            </a:r>
            <a:endParaRPr b="0"/>
          </a:p>
          <a:p>
            <a:pPr>
              <a:defRPr b="1"/>
            </a:pPr>
            <a:r>
              <a:t>Financials</a:t>
            </a:r>
            <a:r>
              <a:rPr b="0"/>
              <a:t>: millennials account for about a quarter of the $48 billion spent on other products in 2018</a:t>
            </a:r>
            <a:endParaRPr b="0"/>
          </a:p>
          <a:p>
            <a:pPr>
              <a:defRPr b="1"/>
            </a:pPr>
            <a:r>
              <a:t>Costs</a:t>
            </a:r>
            <a:r>
              <a:rPr b="0"/>
              <a:t>: loss of productivity costing consumers thousands of dollars </a:t>
            </a:r>
            <a:endParaRPr b="0"/>
          </a:p>
          <a:p>
            <a:pPr>
              <a:defRPr b="1"/>
            </a:pPr>
            <a:r>
              <a:t>Usability</a:t>
            </a:r>
            <a:r>
              <a:rPr b="0"/>
              <a:t>: customers want something easy to use that helps make their life easier </a:t>
            </a:r>
          </a:p>
        </p:txBody>
      </p:sp>
      <p:sp>
        <p:nvSpPr>
          <p:cNvPr id="236" name="Slide Number Placeholder 3"/>
          <p:cNvSpPr txBox="1"/>
          <p:nvPr>
            <p:ph type="sldNum" sz="quarter" idx="4294967295"/>
          </p:nvPr>
        </p:nvSpPr>
        <p:spPr>
          <a:xfrm>
            <a:off x="914399" y="6259740"/>
            <a:ext cx="262415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Title 1"/>
          <p:cNvSpPr txBox="1"/>
          <p:nvPr>
            <p:ph type="title"/>
          </p:nvPr>
        </p:nvSpPr>
        <p:spPr>
          <a:xfrm>
            <a:off x="6095998" y="375281"/>
            <a:ext cx="4896684" cy="3624993"/>
          </a:xfrm>
          <a:prstGeom prst="rect">
            <a:avLst/>
          </a:prstGeom>
        </p:spPr>
        <p:txBody>
          <a:bodyPr/>
          <a:lstStyle/>
          <a:p>
            <a:pPr/>
            <a:r>
              <a:t>Product benefits</a:t>
            </a:r>
          </a:p>
        </p:txBody>
      </p:sp>
      <p:pic>
        <p:nvPicPr>
          <p:cNvPr id="239" name="Picture Placeholder 4" descr="Picture Placeholder 4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0" t="12487" r="0" b="12487"/>
          <a:stretch>
            <a:fillRect/>
          </a:stretch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240" name="Content Placeholder 2"/>
          <p:cNvSpPr txBox="1"/>
          <p:nvPr>
            <p:ph type="body" sz="quarter" idx="1"/>
          </p:nvPr>
        </p:nvSpPr>
        <p:spPr>
          <a:xfrm>
            <a:off x="6095998" y="4172989"/>
            <a:ext cx="4896684" cy="2309732"/>
          </a:xfrm>
          <a:prstGeom prst="rect">
            <a:avLst/>
          </a:prstGeom>
        </p:spPr>
        <p:txBody>
          <a:bodyPr/>
          <a:lstStyle/>
          <a:p>
            <a:pPr/>
            <a:r>
              <a:t>Online store and market swap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itle 1"/>
          <p:cNvSpPr txBox="1"/>
          <p:nvPr>
            <p:ph type="title"/>
          </p:nvPr>
        </p:nvSpPr>
        <p:spPr>
          <a:xfrm>
            <a:off x="914399" y="365125"/>
            <a:ext cx="10363201" cy="1629600"/>
          </a:xfrm>
          <a:prstGeom prst="rect">
            <a:avLst/>
          </a:prstGeom>
        </p:spPr>
        <p:txBody>
          <a:bodyPr/>
          <a:lstStyle/>
          <a:p>
            <a:pPr/>
            <a:r>
              <a:t>Our competition</a:t>
            </a:r>
          </a:p>
        </p:txBody>
      </p:sp>
      <p:sp>
        <p:nvSpPr>
          <p:cNvPr id="243" name="Content Placeholder 2"/>
          <p:cNvSpPr txBox="1"/>
          <p:nvPr>
            <p:ph type="body" sz="half" idx="1"/>
          </p:nvPr>
        </p:nvSpPr>
        <p:spPr>
          <a:xfrm>
            <a:off x="914399" y="2022250"/>
            <a:ext cx="4992709" cy="3747181"/>
          </a:xfrm>
          <a:prstGeom prst="rect">
            <a:avLst/>
          </a:prstGeom>
        </p:spPr>
        <p:txBody>
          <a:bodyPr/>
          <a:lstStyle/>
          <a:p>
            <a:pPr/>
            <a:r>
              <a:t>Our product is priced below that of other companies on the market</a:t>
            </a:r>
          </a:p>
          <a:p>
            <a:pPr/>
            <a:r>
              <a:t>Design is simple and easy to use, compared to the complex designs of the competitors</a:t>
            </a:r>
          </a:p>
          <a:p>
            <a:pPr/>
            <a:r>
              <a:t>Affordability is the main draw for our consumers to our product</a:t>
            </a:r>
          </a:p>
        </p:txBody>
      </p:sp>
      <p:sp>
        <p:nvSpPr>
          <p:cNvPr id="244" name="Content Placeholder 3"/>
          <p:cNvSpPr txBox="1"/>
          <p:nvPr/>
        </p:nvSpPr>
        <p:spPr>
          <a:xfrm>
            <a:off x="6330610" y="2022249"/>
            <a:ext cx="4901270" cy="3747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Company A product is more expensive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Companies B &amp; C product is expensive and inconvenient to use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Companies D &amp; E product is affordable, but inconvenient to use</a:t>
            </a:r>
          </a:p>
        </p:txBody>
      </p:sp>
      <p:sp>
        <p:nvSpPr>
          <p:cNvPr id="245" name="Slide Number Placeholder 4"/>
          <p:cNvSpPr txBox="1"/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Title 1"/>
          <p:cNvSpPr txBox="1"/>
          <p:nvPr>
            <p:ph type="title"/>
          </p:nvPr>
        </p:nvSpPr>
        <p:spPr>
          <a:xfrm>
            <a:off x="916381" y="446312"/>
            <a:ext cx="5179622" cy="1448752"/>
          </a:xfrm>
          <a:prstGeom prst="rect">
            <a:avLst/>
          </a:prstGeom>
        </p:spPr>
        <p:txBody>
          <a:bodyPr/>
          <a:lstStyle/>
          <a:p>
            <a:pPr/>
            <a:r>
              <a:t>Growth strategy</a:t>
            </a:r>
          </a:p>
        </p:txBody>
      </p:sp>
      <p:sp>
        <p:nvSpPr>
          <p:cNvPr id="248" name="Content Placeholder 2"/>
          <p:cNvSpPr txBox="1"/>
          <p:nvPr>
            <p:ph type="body" sz="half" idx="1"/>
          </p:nvPr>
        </p:nvSpPr>
        <p:spPr>
          <a:xfrm>
            <a:off x="914395" y="2022250"/>
            <a:ext cx="5181610" cy="3747181"/>
          </a:xfrm>
          <a:prstGeom prst="rect">
            <a:avLst/>
          </a:prstGeom>
        </p:spPr>
        <p:txBody>
          <a:bodyPr/>
          <a:lstStyle/>
          <a:p>
            <a:pPr>
              <a:defRPr b="1"/>
            </a:pPr>
            <a:r>
              <a:t>Feb 20XX: </a:t>
            </a:r>
            <a:r>
              <a:rPr b="0"/>
              <a:t>roll out product to high profile or top-level participants to help establish the product</a:t>
            </a:r>
            <a:endParaRPr b="0"/>
          </a:p>
          <a:p>
            <a:pPr>
              <a:defRPr b="1"/>
            </a:pPr>
            <a:r>
              <a:t>May 20XX: </a:t>
            </a:r>
            <a:r>
              <a:rPr b="0"/>
              <a:t>release the product to the public and monitor press release and social media accounts</a:t>
            </a:r>
            <a:endParaRPr b="0"/>
          </a:p>
          <a:p>
            <a:pPr>
              <a:defRPr b="1"/>
            </a:pPr>
            <a:r>
              <a:t>Oct 20XX: </a:t>
            </a:r>
            <a:r>
              <a:rPr b="0"/>
              <a:t>gather feedback and adjust product design as necessary</a:t>
            </a:r>
          </a:p>
        </p:txBody>
      </p:sp>
      <p:sp>
        <p:nvSpPr>
          <p:cNvPr id="249" name="Slide Number Placeholder 4"/>
          <p:cNvSpPr txBox="1"/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250" name="Picture Placeholder 17" descr="Picture Placeholder 17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rcRect l="81" t="0" r="79" b="0"/>
          <a:stretch>
            <a:fillRect/>
          </a:stretch>
        </p:blipFill>
        <p:spPr>
          <a:xfrm>
            <a:off x="6076946" y="0"/>
            <a:ext cx="6115056" cy="6868887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Title 1"/>
          <p:cNvSpPr txBox="1"/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pPr/>
            <a:r>
              <a:t>Market overview</a:t>
            </a:r>
          </a:p>
        </p:txBody>
      </p:sp>
      <p:sp>
        <p:nvSpPr>
          <p:cNvPr id="253" name="Content Placeholder 2"/>
          <p:cNvSpPr txBox="1"/>
          <p:nvPr>
            <p:ph type="body" sz="quarter" idx="1"/>
          </p:nvPr>
        </p:nvSpPr>
        <p:spPr>
          <a:xfrm>
            <a:off x="914399" y="2022250"/>
            <a:ext cx="3299014" cy="3914910"/>
          </a:xfrm>
          <a:prstGeom prst="rect">
            <a:avLst/>
          </a:prstGeom>
        </p:spPr>
        <p:txBody>
          <a:bodyPr/>
          <a:lstStyle/>
          <a:p>
            <a:pPr/>
            <a:r>
              <a:t>Opportunity to build</a:t>
            </a:r>
          </a:p>
          <a:p>
            <a:pPr/>
            <a:r>
              <a:t>Fully inclusive market</a:t>
            </a:r>
          </a:p>
          <a:p>
            <a:pPr/>
            <a:r>
              <a:t>Total addressable market</a:t>
            </a:r>
          </a:p>
          <a:p>
            <a:pPr/>
            <a:r>
              <a:t>Freedom to invent</a:t>
            </a:r>
          </a:p>
          <a:p>
            <a:pPr/>
            <a:r>
              <a:t>Selectively inclusive market</a:t>
            </a:r>
          </a:p>
          <a:p>
            <a:pPr/>
            <a:r>
              <a:t>Serviceable available market</a:t>
            </a:r>
          </a:p>
        </p:txBody>
      </p:sp>
      <p:graphicFrame>
        <p:nvGraphicFramePr>
          <p:cNvPr id="254" name="Table 11"/>
          <p:cNvGraphicFramePr/>
          <p:nvPr/>
        </p:nvGraphicFramePr>
        <p:xfrm>
          <a:off x="4602162" y="2017713"/>
          <a:ext cx="6675295" cy="3925485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085272"/>
                <a:gridCol w="1085272"/>
                <a:gridCol w="1085272"/>
                <a:gridCol w="1709739"/>
                <a:gridCol w="1709739"/>
              </a:tblGrid>
              <a:tr h="785097">
                <a:tc>
                  <a:txBody>
                    <a:bodyPr/>
                    <a:lstStyle/>
                    <a:p>
                      <a:pPr>
                        <a:defRPr>
                          <a:sym typeface="Calibri"/>
                        </a:defRPr>
                      </a:pP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ym typeface="Calibri"/>
                        </a:rPr>
                        <a:t>Clients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ym typeface="Calibri"/>
                        </a:rPr>
                        <a:t>Orders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ym typeface="Calibri"/>
                        </a:rPr>
                        <a:t>Gross revenue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b="0" sz="1800">
                          <a:solidFill>
                            <a:srgbClr val="000000"/>
                          </a:solidFill>
                        </a:defRPr>
                      </a:pPr>
                      <a:r>
                        <a:rPr b="1">
                          <a:sym typeface="Calibri"/>
                        </a:rPr>
                        <a:t>Net revenue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20XX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10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1100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$10,000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$7,000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20XX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$20,000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$16,000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20XX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30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300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$30,000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$25,000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  <a:tr h="785097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20XX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40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400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$40,000</a:t>
                      </a:r>
                    </a:p>
                  </a:txBody>
                  <a:tcPr marL="47593" marR="47593" marT="47593" marB="47593" anchor="ctr" anchorCtr="0" horzOverflow="overflow"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>
                          <a:sym typeface="Calibri"/>
                        </a:rPr>
                        <a:t>$30,000</a:t>
                      </a:r>
                    </a:p>
                  </a:txBody>
                  <a:tcPr marL="47593" marR="47593" marT="47593" marB="47593" anchor="ctr" anchorCtr="0" horzOverflow="overflow"/>
                </a:tc>
              </a:tr>
            </a:tbl>
          </a:graphicData>
        </a:graphic>
      </p:graphicFrame>
      <p:sp>
        <p:nvSpPr>
          <p:cNvPr id="255" name="Slide Number Placeholder 4"/>
          <p:cNvSpPr txBox="1"/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Title 1"/>
          <p:cNvSpPr txBox="1"/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Solution</a:t>
            </a:r>
          </a:p>
        </p:txBody>
      </p:sp>
      <p:sp>
        <p:nvSpPr>
          <p:cNvPr id="258" name="Content Placeholder 2"/>
          <p:cNvSpPr txBox="1"/>
          <p:nvPr>
            <p:ph type="body" sz="half" idx="1"/>
          </p:nvPr>
        </p:nvSpPr>
        <p:spPr>
          <a:xfrm>
            <a:off x="914393" y="2022250"/>
            <a:ext cx="6257377" cy="3914910"/>
          </a:xfrm>
          <a:prstGeom prst="rect">
            <a:avLst/>
          </a:prstGeom>
        </p:spPr>
        <p:txBody>
          <a:bodyPr/>
          <a:lstStyle/>
          <a:p>
            <a:pPr/>
            <a:r>
              <a:t>Our product makes consumer lives easier, and no other product on the market offers the same features</a:t>
            </a:r>
          </a:p>
          <a:p>
            <a:pPr lvl="1">
              <a:buFont typeface="Arial"/>
            </a:pPr>
            <a:r>
              <a:t>Gen Z (18-25 years old)</a:t>
            </a:r>
          </a:p>
          <a:p>
            <a:pPr lvl="1">
              <a:buFont typeface="Arial"/>
            </a:pPr>
            <a:r>
              <a:t>Reduce expenses for replacement products </a:t>
            </a:r>
          </a:p>
          <a:p>
            <a:pPr lvl="1">
              <a:buFont typeface="Arial"/>
            </a:pPr>
            <a:r>
              <a:t>Simple design that gives customers the targeted information they need</a:t>
            </a:r>
          </a:p>
        </p:txBody>
      </p:sp>
      <p:sp>
        <p:nvSpPr>
          <p:cNvPr id="259" name="Content Placeholder 3"/>
          <p:cNvSpPr txBox="1"/>
          <p:nvPr/>
        </p:nvSpPr>
        <p:spPr>
          <a:xfrm>
            <a:off x="8013192" y="2018119"/>
            <a:ext cx="2358081" cy="39319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000">
                <a:latin typeface="Tenorite"/>
                <a:ea typeface="Tenorite"/>
                <a:cs typeface="Tenorite"/>
                <a:sym typeface="Tenorite"/>
              </a:defRPr>
            </a:pPr>
            <a:r>
              <a:t>Close the gap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000">
                <a:latin typeface="Tenorite"/>
                <a:ea typeface="Tenorite"/>
                <a:cs typeface="Tenorite"/>
                <a:sym typeface="Tenorite"/>
              </a:defRPr>
            </a:pPr>
            <a:r>
              <a:t>Target audience 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000">
                <a:latin typeface="Tenorite"/>
                <a:ea typeface="Tenorite"/>
                <a:cs typeface="Tenorite"/>
                <a:sym typeface="Tenorite"/>
              </a:defRPr>
            </a:pPr>
            <a:r>
              <a:t>Cost savings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000">
                <a:latin typeface="Tenorite"/>
                <a:ea typeface="Tenorite"/>
                <a:cs typeface="Tenorite"/>
                <a:sym typeface="Tenorite"/>
              </a:defRPr>
            </a:pPr>
            <a:r>
              <a:t>Easy to use</a:t>
            </a:r>
          </a:p>
        </p:txBody>
      </p:sp>
      <p:sp>
        <p:nvSpPr>
          <p:cNvPr id="260" name="Slide Number Placeholder 4"/>
          <p:cNvSpPr txBox="1"/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4151" t="0" r="18576" b="0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263" name="Title 6"/>
          <p:cNvSpPr txBox="1"/>
          <p:nvPr>
            <p:ph type="title"/>
          </p:nvPr>
        </p:nvSpPr>
        <p:spPr>
          <a:xfrm>
            <a:off x="6091515" y="374086"/>
            <a:ext cx="5057105" cy="3624993"/>
          </a:xfrm>
          <a:prstGeom prst="rect">
            <a:avLst/>
          </a:prstGeom>
        </p:spPr>
        <p:txBody>
          <a:bodyPr/>
          <a:lstStyle/>
          <a:p>
            <a:pPr/>
            <a:r>
              <a:t>Thank you</a:t>
            </a:r>
          </a:p>
        </p:txBody>
      </p:sp>
      <p:sp>
        <p:nvSpPr>
          <p:cNvPr id="264" name="Content Placeholder 9"/>
          <p:cNvSpPr txBox="1"/>
          <p:nvPr>
            <p:ph type="body" sz="quarter" idx="1"/>
          </p:nvPr>
        </p:nvSpPr>
        <p:spPr>
          <a:xfrm>
            <a:off x="6091513" y="4172989"/>
            <a:ext cx="5057107" cy="2519369"/>
          </a:xfrm>
          <a:prstGeom prst="rect">
            <a:avLst/>
          </a:prstGeom>
        </p:spPr>
        <p:txBody>
          <a:bodyPr/>
          <a:lstStyle/>
          <a:p>
            <a:pPr/>
            <a:r>
              <a:t>Brita Tamm</a:t>
            </a:r>
          </a:p>
          <a:p>
            <a:pPr/>
            <a:r>
              <a:t>502-555-0152</a:t>
            </a:r>
          </a:p>
          <a:p>
            <a:pPr/>
            <a:r>
              <a:t>brita@firstupconsultants.com</a:t>
            </a:r>
          </a:p>
          <a:p>
            <a:pPr/>
            <a:r>
              <a:t>www.firstupconsultants.com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
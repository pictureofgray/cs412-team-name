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7" r:id="rId11"/>
    <p:sldId id="288" r:id="rId12"/>
    <p:sldId id="289" r:id="rId13"/>
    <p:sldId id="290" r:id="rId14"/>
    <p:sldId id="291" r:id="rId15"/>
    <p:sldId id="292" r:id="rId16"/>
    <p:sldId id="293" r:id="rId17"/>
    <p:sldId id="294" r:id="rId18"/>
    <p:sldId id="295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86" r:id="rId27"/>
    <p:sldId id="280" r:id="rId28"/>
    <p:sldId id="281" r:id="rId29"/>
    <p:sldId id="282" r:id="rId30"/>
    <p:sldId id="283" r:id="rId31"/>
    <p:sldId id="285" r:id="rId3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AC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7E35A1-3EE3-44B9-A518-0851C665D3BA}" v="1" dt="2025-12-03T03:34:58.195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420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e Pietrak" userId="ff304f15bd13396f" providerId="LiveId" clId="{D17D9FE5-84C1-4370-9BF4-4105A2AC9940}"/>
    <pc:docChg chg="addSld delSld modSld">
      <pc:chgData name="Julie Pietrak" userId="ff304f15bd13396f" providerId="LiveId" clId="{D17D9FE5-84C1-4370-9BF4-4105A2AC9940}" dt="2025-12-03T03:35:14.831" v="1" actId="47"/>
      <pc:docMkLst>
        <pc:docMk/>
      </pc:docMkLst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65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66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67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68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69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70"/>
        </pc:sldMkLst>
      </pc:sldChg>
      <pc:sldChg chg="del">
        <pc:chgData name="Julie Pietrak" userId="ff304f15bd13396f" providerId="LiveId" clId="{D17D9FE5-84C1-4370-9BF4-4105A2AC9940}" dt="2025-12-03T03:35:14.831" v="1" actId="47"/>
        <pc:sldMkLst>
          <pc:docMk/>
          <pc:sldMk cId="0" sldId="271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87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88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89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90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673301106" sldId="291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2943665112" sldId="292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93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94"/>
        </pc:sldMkLst>
      </pc:sldChg>
      <pc:sldChg chg="add">
        <pc:chgData name="Julie Pietrak" userId="ff304f15bd13396f" providerId="LiveId" clId="{D17D9FE5-84C1-4370-9BF4-4105A2AC9940}" dt="2025-12-03T03:34:58.190" v="0"/>
        <pc:sldMkLst>
          <pc:docMk/>
          <pc:sldMk cId="0" sldId="295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https://d.docs.live.net/FF304F15BD13396F/Documents/projectDATA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ingo\CS412\src\CS412-Team-NAME\partE\result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kingo\CS412\src\CS412-Team-NAME\partE\result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Approximate</a:t>
            </a:r>
            <a:r>
              <a:rPr lang="en-US" baseline="0">
                <a:solidFill>
                  <a:schemeClr val="tx1"/>
                </a:solidFill>
              </a:rPr>
              <a:t> Solution vs. Exact Solution Wall Clock</a:t>
            </a:r>
            <a:endParaRPr lang="en-US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ck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Approximate Solution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Sheet1!$C$2:$C$18</c:f>
              <c:numCache>
                <c:formatCode>General</c:formatCod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numCache>
            </c:numRef>
          </c:cat>
          <c:val>
            <c:numRef>
              <c:f>Sheet1!$A$2:$A$18</c:f>
              <c:numCache>
                <c:formatCode>General</c:formatCode>
                <c:ptCount val="17"/>
                <c:pt idx="0">
                  <c:v>8.8000000000000004E-6</c:v>
                </c:pt>
                <c:pt idx="1">
                  <c:v>1.15E-5</c:v>
                </c:pt>
                <c:pt idx="2">
                  <c:v>1.2799999999999999E-5</c:v>
                </c:pt>
                <c:pt idx="3">
                  <c:v>1.5800000000000001E-5</c:v>
                </c:pt>
                <c:pt idx="4">
                  <c:v>1.66E-5</c:v>
                </c:pt>
                <c:pt idx="5">
                  <c:v>1.7499999999999998E-5</c:v>
                </c:pt>
                <c:pt idx="6">
                  <c:v>3.7299999999999999E-5</c:v>
                </c:pt>
                <c:pt idx="7">
                  <c:v>2.23E-5</c:v>
                </c:pt>
                <c:pt idx="8">
                  <c:v>2.5700000000000001E-5</c:v>
                </c:pt>
                <c:pt idx="9">
                  <c:v>2.94E-5</c:v>
                </c:pt>
                <c:pt idx="10">
                  <c:v>3.0199999999999999E-5</c:v>
                </c:pt>
                <c:pt idx="11">
                  <c:v>3.2700000000000002E-5</c:v>
                </c:pt>
                <c:pt idx="12">
                  <c:v>5.7599999999999997E-5</c:v>
                </c:pt>
                <c:pt idx="13">
                  <c:v>8.7899999999999995E-5</c:v>
                </c:pt>
                <c:pt idx="14">
                  <c:v>3.0449999999999997E-4</c:v>
                </c:pt>
                <c:pt idx="15">
                  <c:v>1.4170000000000001E-3</c:v>
                </c:pt>
                <c:pt idx="16">
                  <c:v>0.26301839999999999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8E5-4D49-BBA7-0DCCB4215ECB}"/>
            </c:ext>
          </c:extLst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Exact Solution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Sheet1!$C$2:$C$18</c:f>
              <c:numCache>
                <c:formatCode>General</c:formatCod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numCache>
            </c:num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7.7000000000000008E-6</c:v>
                </c:pt>
                <c:pt idx="1">
                  <c:v>1.5299999999999999E-5</c:v>
                </c:pt>
                <c:pt idx="2">
                  <c:v>5.1999999999999997E-5</c:v>
                </c:pt>
                <c:pt idx="3">
                  <c:v>3.1119999999999997E-4</c:v>
                </c:pt>
                <c:pt idx="4">
                  <c:v>2.4892999999999998E-3</c:v>
                </c:pt>
                <c:pt idx="5">
                  <c:v>2.3087799999999999E-2</c:v>
                </c:pt>
                <c:pt idx="6">
                  <c:v>0.2287903</c:v>
                </c:pt>
                <c:pt idx="7">
                  <c:v>2.4284376999999999</c:v>
                </c:pt>
                <c:pt idx="8">
                  <c:v>27.651017199999998</c:v>
                </c:pt>
                <c:pt idx="9">
                  <c:v>410.11247020000002</c:v>
                </c:pt>
                <c:pt idx="10">
                  <c:v>9600.4881065829995</c:v>
                </c:pt>
                <c:pt idx="11">
                  <c:v>244000</c:v>
                </c:pt>
                <c:pt idx="12" formatCode="0.00E+00">
                  <c:v>3920000</c:v>
                </c:pt>
                <c:pt idx="13" formatCode="0.00E+00">
                  <c:v>7.76E+19</c:v>
                </c:pt>
                <c:pt idx="14" formatCode="0.00E+00">
                  <c:v>3.0399999999999999E+59</c:v>
                </c:pt>
                <c:pt idx="15" formatCode="0.00E+00">
                  <c:v>1.8699999999999999E+153</c:v>
                </c:pt>
                <c:pt idx="16" formatCode="0.00E+00">
                  <c:v>8.0399999999999999E+269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8E5-4D49-BBA7-0DCCB4215E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513997663"/>
        <c:axId val="1514003423"/>
        <c:extLst>
          <c:ext xmlns:c15="http://schemas.microsoft.com/office/drawing/2012/chart" uri="{02D57815-91ED-43cb-92C2-25804820EDAC}">
            <c15:filteredLineSeries>
              <c15:ser>
                <c:idx val="2"/>
                <c:order val="2"/>
                <c:tx>
                  <c:strRef>
                    <c:extLst>
                      <c:ext uri="{02D57815-91ED-43cb-92C2-25804820EDAC}">
                        <c15:formulaRef>
                          <c15:sqref>Sheet1!$C$1</c15:sqref>
                        </c15:formulaRef>
                      </c:ext>
                    </c:extLst>
                    <c:strCache>
                      <c:ptCount val="1"/>
                      <c:pt idx="0">
                        <c:v># of nodes</c:v>
                      </c:pt>
                    </c:strCache>
                  </c:strRef>
                </c:tx>
                <c:spPr>
                  <a:ln w="28575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chemeClr val="accent3"/>
                    </a:solidFill>
                    <a:ln w="9525">
                      <a:solidFill>
                        <a:schemeClr val="accent3"/>
                      </a:solidFill>
                    </a:ln>
                    <a:effectLst/>
                  </c:spPr>
                </c:marker>
                <c:cat>
                  <c:numRef>
                    <c:extLst>
                      <c:ext uri="{02D57815-91ED-43cb-92C2-25804820EDAC}">
                        <c15:formulaRef>
                          <c15:sqref>Sheet1!$C$2:$C$18</c15:sqref>
                        </c15:formulaRef>
                      </c:ext>
                    </c:extLst>
                    <c:numCache>
                      <c:formatCode>General</c:formatCode>
                      <c:ptCount val="17"/>
                      <c:pt idx="0">
                        <c:v>3</c:v>
                      </c:pt>
                      <c:pt idx="1">
                        <c:v>4</c:v>
                      </c:pt>
                      <c:pt idx="2">
                        <c:v>5</c:v>
                      </c:pt>
                      <c:pt idx="3">
                        <c:v>6</c:v>
                      </c:pt>
                      <c:pt idx="4">
                        <c:v>7</c:v>
                      </c:pt>
                      <c:pt idx="5">
                        <c:v>8</c:v>
                      </c:pt>
                      <c:pt idx="6">
                        <c:v>9</c:v>
                      </c:pt>
                      <c:pt idx="7">
                        <c:v>10</c:v>
                      </c:pt>
                      <c:pt idx="8">
                        <c:v>11</c:v>
                      </c:pt>
                      <c:pt idx="9">
                        <c:v>12</c:v>
                      </c:pt>
                      <c:pt idx="10">
                        <c:v>13</c:v>
                      </c:pt>
                      <c:pt idx="11">
                        <c:v>14</c:v>
                      </c:pt>
                      <c:pt idx="12">
                        <c:v>15</c:v>
                      </c:pt>
                      <c:pt idx="13">
                        <c:v>25</c:v>
                      </c:pt>
                      <c:pt idx="14">
                        <c:v>50</c:v>
                      </c:pt>
                      <c:pt idx="15">
                        <c:v>100</c:v>
                      </c:pt>
                      <c:pt idx="16">
                        <c:v>1000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Sheet1!$C$2:$C$18</c15:sqref>
                        </c15:formulaRef>
                      </c:ext>
                    </c:extLst>
                    <c:numCache>
                      <c:formatCode>General</c:formatCode>
                      <c:ptCount val="17"/>
                      <c:pt idx="0">
                        <c:v>3</c:v>
                      </c:pt>
                      <c:pt idx="1">
                        <c:v>4</c:v>
                      </c:pt>
                      <c:pt idx="2">
                        <c:v>5</c:v>
                      </c:pt>
                      <c:pt idx="3">
                        <c:v>6</c:v>
                      </c:pt>
                      <c:pt idx="4">
                        <c:v>7</c:v>
                      </c:pt>
                      <c:pt idx="5">
                        <c:v>8</c:v>
                      </c:pt>
                      <c:pt idx="6">
                        <c:v>9</c:v>
                      </c:pt>
                      <c:pt idx="7">
                        <c:v>10</c:v>
                      </c:pt>
                      <c:pt idx="8">
                        <c:v>11</c:v>
                      </c:pt>
                      <c:pt idx="9">
                        <c:v>12</c:v>
                      </c:pt>
                      <c:pt idx="10">
                        <c:v>13</c:v>
                      </c:pt>
                      <c:pt idx="11">
                        <c:v>14</c:v>
                      </c:pt>
                      <c:pt idx="12">
                        <c:v>15</c:v>
                      </c:pt>
                      <c:pt idx="13">
                        <c:v>25</c:v>
                      </c:pt>
                      <c:pt idx="14">
                        <c:v>50</c:v>
                      </c:pt>
                      <c:pt idx="15">
                        <c:v>100</c:v>
                      </c:pt>
                      <c:pt idx="16">
                        <c:v>1000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2-D8E5-4D49-BBA7-0DCCB4215ECB}"/>
                  </c:ext>
                </c:extLst>
              </c15:ser>
            </c15:filteredLineSeries>
          </c:ext>
        </c:extLst>
      </c:lineChart>
      <c:catAx>
        <c:axId val="1513997663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/>
                    </a:solidFill>
                  </a:rPr>
                  <a:t>Test</a:t>
                </a:r>
                <a:r>
                  <a:rPr lang="en-US" baseline="0">
                    <a:solidFill>
                      <a:schemeClr val="tx1"/>
                    </a:solidFill>
                  </a:rPr>
                  <a:t> Cases</a:t>
                </a:r>
              </a:p>
              <a:p>
                <a:pPr>
                  <a:defRPr>
                    <a:solidFill>
                      <a:schemeClr val="tx1"/>
                    </a:solidFill>
                  </a:defRPr>
                </a:pPr>
                <a:r>
                  <a:rPr lang="en-US" baseline="0">
                    <a:solidFill>
                      <a:schemeClr val="tx1"/>
                    </a:solidFill>
                  </a:rPr>
                  <a:t> (# nodes per test case)</a:t>
                </a:r>
                <a:endParaRPr lang="en-US">
                  <a:solidFill>
                    <a:schemeClr val="tx1"/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14003423"/>
        <c:crosses val="autoZero"/>
        <c:auto val="1"/>
        <c:lblAlgn val="ctr"/>
        <c:lblOffset val="100"/>
        <c:noMultiLvlLbl val="0"/>
      </c:catAx>
      <c:valAx>
        <c:axId val="1514003423"/>
        <c:scaling>
          <c:orientation val="minMax"/>
          <c:max val="50000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/>
                    </a:solidFill>
                  </a:rPr>
                  <a:t>Time (seconds)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1399766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r>
              <a:rPr lang="en-US" sz="2000" dirty="0"/>
              <a:t>Lengths Produced from Approx. Solution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rgbClr val="000000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Lengths Produced</c:v>
          </c:tx>
          <c:spPr>
            <a:solidFill>
              <a:schemeClr val="accent4">
                <a:lumMod val="75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approx_lengths!$A$2:$A$9</c:f>
              <c:numCache>
                <c:formatCode>General</c:formatCode>
                <c:ptCount val="8"/>
                <c:pt idx="0">
                  <c:v>12.6</c:v>
                </c:pt>
                <c:pt idx="1">
                  <c:v>13.6</c:v>
                </c:pt>
                <c:pt idx="2">
                  <c:v>14.6</c:v>
                </c:pt>
                <c:pt idx="3">
                  <c:v>60.7</c:v>
                </c:pt>
                <c:pt idx="4">
                  <c:v>61.7</c:v>
                </c:pt>
                <c:pt idx="5">
                  <c:v>62.7</c:v>
                </c:pt>
                <c:pt idx="6">
                  <c:v>1011.7</c:v>
                </c:pt>
                <c:pt idx="7">
                  <c:v>1012.7</c:v>
                </c:pt>
              </c:numCache>
            </c:numRef>
          </c:cat>
          <c:val>
            <c:numRef>
              <c:f>approx_lengths!$B$2:$B$9</c:f>
              <c:numCache>
                <c:formatCode>General</c:formatCode>
                <c:ptCount val="8"/>
                <c:pt idx="0">
                  <c:v>18</c:v>
                </c:pt>
                <c:pt idx="1">
                  <c:v>15</c:v>
                </c:pt>
                <c:pt idx="2">
                  <c:v>1</c:v>
                </c:pt>
                <c:pt idx="3">
                  <c:v>7</c:v>
                </c:pt>
                <c:pt idx="4">
                  <c:v>34</c:v>
                </c:pt>
                <c:pt idx="5">
                  <c:v>11</c:v>
                </c:pt>
                <c:pt idx="6">
                  <c:v>12</c:v>
                </c:pt>
                <c:pt idx="7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7E-4723-B94B-49AB72ED62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6691504"/>
        <c:axId val="16692464"/>
      </c:barChart>
      <c:catAx>
        <c:axId val="1669150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 dirty="0"/>
                  <a:t>Length</a:t>
                </a:r>
                <a:r>
                  <a:rPr lang="en-US" sz="1400" baseline="0" dirty="0"/>
                  <a:t>s Produced</a:t>
                </a:r>
                <a:endParaRPr lang="en-US" sz="14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92464"/>
        <c:crosses val="autoZero"/>
        <c:auto val="1"/>
        <c:lblAlgn val="ctr"/>
        <c:lblOffset val="100"/>
        <c:noMultiLvlLbl val="0"/>
      </c:catAx>
      <c:valAx>
        <c:axId val="166924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 dirty="0">
                    <a:solidFill>
                      <a:srgbClr val="000000"/>
                    </a:solidFill>
                  </a:rPr>
                  <a:t>Frequency</a:t>
                </a:r>
                <a:endParaRPr lang="en-US" dirty="0">
                  <a:solidFill>
                    <a:srgbClr val="000000"/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rgbClr val="000000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915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rgbClr val="000000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000" dirty="0"/>
              <a:t>Lengths Produced from Zenith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bg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Frequency</c:v>
          </c:tx>
          <c:spPr>
            <a:solidFill>
              <a:schemeClr val="accent4">
                <a:lumMod val="75000"/>
              </a:schemeClr>
            </a:solidFill>
            <a:ln>
              <a:solidFill>
                <a:schemeClr val="accent4">
                  <a:lumMod val="50000"/>
                </a:schemeClr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bg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'3.5_lengths'!$A$2</c:f>
              <c:numCache>
                <c:formatCode>General</c:formatCode>
                <c:ptCount val="1"/>
                <c:pt idx="0">
                  <c:v>12.6</c:v>
                </c:pt>
              </c:numCache>
            </c:numRef>
          </c:cat>
          <c:val>
            <c:numRef>
              <c:f>'3.5_lengths'!$B$2</c:f>
              <c:numCache>
                <c:formatCode>General</c:formatCode>
                <c:ptCount val="1"/>
                <c:pt idx="0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80-4E30-9D87-3E33A1CE03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62045088"/>
        <c:axId val="162043168"/>
      </c:barChart>
      <c:catAx>
        <c:axId val="16204508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bg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Lengths Produced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bg1">
                      <a:lumMod val="95000"/>
                      <a:lumOff val="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2043168"/>
        <c:crosses val="autoZero"/>
        <c:auto val="1"/>
        <c:lblAlgn val="ctr"/>
        <c:lblOffset val="100"/>
        <c:noMultiLvlLbl val="0"/>
      </c:catAx>
      <c:valAx>
        <c:axId val="162043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bg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Frequency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bg1">
                      <a:lumMod val="95000"/>
                      <a:lumOff val="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2045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>
              <a:lumMod val="95000"/>
              <a:lumOff val="5000"/>
            </a:schemeClr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4" name="Shape 13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/>
          <a:srcRect l="18454" t="1727"/>
          <a:stretch>
            <a:fillRect/>
          </a:stretch>
        </p:blipFill>
        <p:spPr>
          <a:xfrm>
            <a:off x="-8" y="0"/>
            <a:ext cx="8265005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 Tit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6" descr="Graphic 6"/>
          <p:cNvPicPr>
            <a:picLocks noChangeAspect="1"/>
          </p:cNvPicPr>
          <p:nvPr/>
        </p:nvPicPr>
        <p:blipFill>
          <a:blip r:embed="rId2"/>
          <a:srcRect l="13300" t="13815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23" name="Picture Placeholder 8"/>
          <p:cNvSpPr>
            <a:spLocks noGrp="1"/>
          </p:cNvSpPr>
          <p:nvPr>
            <p:ph type="pic" idx="21"/>
          </p:nvPr>
        </p:nvSpPr>
        <p:spPr>
          <a:xfrm>
            <a:off x="6085840" y="-10165"/>
            <a:ext cx="6116327" cy="686816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6324598" y="-5"/>
            <a:ext cx="5867404" cy="1317511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33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3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2" descr="Graphic 2"/>
          <p:cNvPicPr>
            <a:picLocks noChangeAspect="1"/>
          </p:cNvPicPr>
          <p:nvPr/>
        </p:nvPicPr>
        <p:blipFill>
          <a:blip r:embed="rId2"/>
          <a:srcRect l="45239"/>
          <a:stretch>
            <a:fillRect/>
          </a:stretch>
        </p:blipFill>
        <p:spPr>
          <a:xfrm flipH="1">
            <a:off x="9135412" y="0"/>
            <a:ext cx="3056592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raphic 8" descr="Graphic 8"/>
          <p:cNvPicPr>
            <a:picLocks noChangeAspect="1"/>
          </p:cNvPicPr>
          <p:nvPr/>
        </p:nvPicPr>
        <p:blipFill>
          <a:blip r:embed="rId3"/>
          <a:srcRect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45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left Imag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raphic 5" descr="Graphic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itle Text"/>
          <p:cNvSpPr txBox="1">
            <a:spLocks noGrp="1"/>
          </p:cNvSpPr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55" name="Picture Placeholder 10"/>
          <p:cNvSpPr>
            <a:spLocks noGrp="1"/>
          </p:cNvSpPr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raphic 7" descr="Graphic 7"/>
          <p:cNvPicPr>
            <a:picLocks noChangeAspect="1"/>
          </p:cNvPicPr>
          <p:nvPr/>
        </p:nvPicPr>
        <p:blipFill>
          <a:blip r:embed="rId2"/>
          <a:srcRect l="1981" t="40714" r="61027" b="44471"/>
          <a:stretch>
            <a:fillRect/>
          </a:stretch>
        </p:blipFill>
        <p:spPr>
          <a:xfrm flipH="1">
            <a:off x="-26833" y="5950039"/>
            <a:ext cx="2513530" cy="914407"/>
          </a:xfrm>
          <a:prstGeom prst="rect">
            <a:avLst/>
          </a:prstGeom>
          <a:ln w="12700">
            <a:miter lim="400000"/>
          </a:ln>
        </p:spPr>
      </p:pic>
      <p:pic>
        <p:nvPicPr>
          <p:cNvPr id="65" name="Graphic 8" descr="Graphic 8"/>
          <p:cNvPicPr>
            <a:picLocks noChangeAspect="1"/>
          </p:cNvPicPr>
          <p:nvPr/>
        </p:nvPicPr>
        <p:blipFill>
          <a:blip r:embed="rId3"/>
          <a:srcRect l="18883" t="18052" r="46634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 b="1"/>
            </a:lvl1pPr>
            <a:lvl2pPr marL="711200" indent="-254000">
              <a:spcBef>
                <a:spcPts val="1200"/>
              </a:spcBef>
              <a:defRPr sz="2000" b="1"/>
            </a:lvl2pPr>
            <a:lvl3pPr marL="1200150" indent="-285750">
              <a:spcBef>
                <a:spcPts val="1200"/>
              </a:spcBef>
              <a:defRPr sz="2000" b="1"/>
            </a:lvl3pPr>
            <a:lvl4pPr marL="1698169" indent="-326569">
              <a:spcBef>
                <a:spcPts val="1200"/>
              </a:spcBef>
              <a:defRPr sz="2000" b="1"/>
            </a:lvl4pPr>
            <a:lvl5pPr marL="2155369" indent="-326569">
              <a:spcBef>
                <a:spcPts val="1200"/>
              </a:spcBef>
              <a:defRPr sz="2000" b="1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raphic 1" descr="Graphic 1"/>
          <p:cNvPicPr>
            <a:picLocks noChangeAspect="1"/>
          </p:cNvPicPr>
          <p:nvPr/>
        </p:nvPicPr>
        <p:blipFill>
          <a:blip r:embed="rId2"/>
          <a:srcRect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Rectangle 13"/>
          <p:cNvSpPr/>
          <p:nvPr/>
        </p:nvSpPr>
        <p:spPr>
          <a:xfrm>
            <a:off x="4443412" y="1835236"/>
            <a:ext cx="7000876" cy="427981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  <a:endParaRPr/>
          </a:p>
        </p:txBody>
      </p:sp>
      <p:pic>
        <p:nvPicPr>
          <p:cNvPr id="77" name="Graphic 8" descr="Graphic 8"/>
          <p:cNvPicPr>
            <a:picLocks noChangeAspect="1"/>
          </p:cNvPicPr>
          <p:nvPr/>
        </p:nvPicPr>
        <p:blipFill>
          <a:blip r:embed="rId2"/>
          <a:srcRect t="60903" r="75060" b="10346"/>
          <a:stretch>
            <a:fillRect/>
          </a:stretch>
        </p:blipFill>
        <p:spPr>
          <a:xfrm rot="16200000">
            <a:off x="149648" y="-149657"/>
            <a:ext cx="1672378" cy="1971679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79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raphic 7" descr="Graphic 7"/>
          <p:cNvPicPr>
            <a:picLocks noChangeAspect="1"/>
          </p:cNvPicPr>
          <p:nvPr/>
        </p:nvPicPr>
        <p:blipFill>
          <a:blip r:embed="rId2"/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5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Graphic 8" descr="Graphic 8"/>
          <p:cNvPicPr>
            <a:picLocks noChangeAspect="1"/>
          </p:cNvPicPr>
          <p:nvPr/>
        </p:nvPicPr>
        <p:blipFill>
          <a:blip r:embed="rId3"/>
          <a:srcRect l="29718" t="47145" r="39388" b="8754"/>
          <a:stretch>
            <a:fillRect/>
          </a:stretch>
        </p:blipFill>
        <p:spPr>
          <a:xfrm rot="16200000" flipH="1">
            <a:off x="9781526" y="-311515"/>
            <a:ext cx="2098971" cy="2721992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90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lick to add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Click to add title</a:t>
            </a:r>
          </a:p>
        </p:txBody>
      </p:sp>
      <p:sp>
        <p:nvSpPr>
          <p:cNvPr id="9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losing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r>
              <a:t>Click to add title</a:t>
            </a:r>
          </a:p>
        </p:txBody>
      </p:sp>
      <p:sp>
        <p:nvSpPr>
          <p:cNvPr id="107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91513" y="4172989"/>
            <a:ext cx="5057105" cy="251937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r>
              <a:t>Click to add content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08" name="Graphic 1" descr="Graphic 1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raphic 7" descr="Graphic 7"/>
          <p:cNvPicPr>
            <a:picLocks noChangeAspect="1"/>
          </p:cNvPicPr>
          <p:nvPr/>
        </p:nvPicPr>
        <p:blipFill>
          <a:blip r:embed="rId2"/>
          <a:srcRect l="15158" b="78533"/>
          <a:stretch>
            <a:fillRect/>
          </a:stretch>
        </p:blipFill>
        <p:spPr>
          <a:xfrm rot="10800000">
            <a:off x="8553447" y="-39571"/>
            <a:ext cx="5867405" cy="1317511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t>Click to add title</a:t>
            </a:r>
          </a:p>
        </p:txBody>
      </p:sp>
      <p:sp>
        <p:nvSpPr>
          <p:cNvPr id="125" name="Picture Placeholder 11"/>
          <p:cNvSpPr>
            <a:spLocks noGrp="1"/>
          </p:cNvSpPr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126162" y="4172989"/>
            <a:ext cx="4806001" cy="2389744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r>
              <a:t>Click to add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506329" y="6240782"/>
            <a:ext cx="231274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14"/>
          <a:srcRect l="18883" t="18052" r="46634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>
            <a:spLocks noGrp="1"/>
          </p:cNvSpPr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Click to add title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all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 1"/>
          <p:cNvSpPr txBox="1">
            <a:spLocks noGrp="1"/>
          </p:cNvSpPr>
          <p:nvPr>
            <p:ph type="title"/>
          </p:nvPr>
        </p:nvSpPr>
        <p:spPr>
          <a:xfrm>
            <a:off x="6095998" y="2773681"/>
            <a:ext cx="5674367" cy="3200407"/>
          </a:xfrm>
          <a:prstGeom prst="rect">
            <a:avLst/>
          </a:prstGeom>
        </p:spPr>
        <p:txBody>
          <a:bodyPr/>
          <a:lstStyle/>
          <a:p>
            <a:r>
              <a:t>Pitch deck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r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Content Placeholder 2"/>
              <p:cNvSpPr txBox="1">
                <a:spLocks noGrp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</p:spPr>
            <p:txBody>
              <a:bodyPr/>
              <a:lstStyle/>
              <a:p>
                <a:pPr marL="0" indent="0">
                  <a:buSzTx/>
                  <a:buNone/>
                  <a:defRPr sz="1200" b="1"/>
                </a:pPr>
                <a:r>
                  <a:t>Exact Part:</a:t>
                </a:r>
              </a:p>
              <a:p>
                <a:pPr>
                  <a:defRPr sz="1200"/>
                </a:pPr>
                <a:r>
                  <a:t>a description of the problem being solved. Show the difference between the decision and optimization version of the problem. An example of inputs and outputs is a good idea. (1.5 mins)</a:t>
                </a:r>
              </a:p>
              <a:p>
                <a:pPr>
                  <a:defRPr sz="1200"/>
                </a:pPr>
                <a:r>
                  <a:t>an explanation of the certifier process being polynomial. Including pseudo-code here is a good idea but make sure its clear that the </a:t>
                </a:r>
                <a:r>
                  <a:rPr i="1"/>
                  <a:t>certificate</a:t>
                </a:r>
                <a:r>
                  <a:t> can be verified in polynomial time.</a:t>
                </a:r>
              </a:p>
              <a:p>
                <a:pPr>
                  <a:defRPr sz="1200"/>
                </a:pPr>
                <a:r>
                  <a:t>a reduction from a known/accepted NP-hard problem (with examples graphically shown). It must be clear that the reduction takes place in a polynomial number of steps with respect to the problem’s input size.</a:t>
                </a:r>
              </a:p>
              <a:p>
                <a:pPr>
                  <a:defRPr sz="1200"/>
                </a:pPr>
                <a:r>
                  <a:t>an analytical (big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) runtime analysis of your coded solution and showcase the code that is the dominant term (the code that drives the highest order term).</a:t>
                </a:r>
              </a:p>
              <a:p>
                <a:pPr>
                  <a:defRPr sz="1200"/>
                </a:pPr>
                <a:r>
                  <a:t>a wallclock (empirical) runtime analysis of your code on your test cases. This analysis must show input size on the X axis and runtime on the Y axis</a:t>
                </a:r>
              </a:p>
            </p:txBody>
          </p:sp>
        </mc:Choice>
        <mc:Fallback xmlns="">
          <p:sp>
            <p:nvSpPr>
              <p:cNvPr id="139" name="Content Placeholder 2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1"/>
              </p:nvPr>
            </p:nvSpPr>
            <p:spPr>
              <a:xfrm>
                <a:off x="187720" y="1968587"/>
                <a:ext cx="3995417" cy="4470626"/>
              </a:xfrm>
              <a:prstGeom prst="rect">
                <a:avLst/>
              </a:prstGeom>
              <a:blipFill>
                <a:blip r:embed="rId2"/>
                <a:stretch>
                  <a:fillRect l="-1221" t="-546" r="-21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Content Placeholder 2"/>
              <p:cNvSpPr txBox="1"/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45718" tIns="45718" rIns="45718" bIns="45718">
                <a:normAutofit/>
              </a:bodyPr>
              <a:lstStyle/>
              <a:p>
                <a:pPr>
                  <a:lnSpc>
                    <a:spcPct val="90000"/>
                  </a:lnSpc>
                  <a:spcBef>
                    <a:spcPts val="1200"/>
                  </a:spcBef>
                  <a:defRPr sz="1200" b="1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Approximation Part: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pseudocode for the approximation and a discussion of the strategy used (greedy, random, etc.)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analytical run time analysis (the worse case </a:t>
                </a:r>
                <a14:m>
                  <m:oMath xmlns:m="http://schemas.openxmlformats.org/officeDocument/2006/math">
                    <m:r>
                      <a:rPr sz="1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𝒪</m:t>
                    </m:r>
                  </m:oMath>
                </a14:m>
                <a:r>
                  <a:t> time) of your approximation algorithm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illustrate the run-time (wall clock) performance of your exact solution versus the approximation solution on your test cases</a:t>
                </a:r>
                <a:endParaRPr sz="2000"/>
              </a:p>
              <a:p>
                <a:pPr marL="228600" indent="-228600">
                  <a:lnSpc>
                    <a:spcPct val="90000"/>
                  </a:lnSpc>
                  <a:spcBef>
                    <a:spcPts val="1200"/>
                  </a:spcBef>
                  <a:buSzPct val="100000"/>
                  <a:buFont typeface="Arial"/>
                  <a:buChar char="•"/>
                  <a:defRPr sz="1200">
                    <a:latin typeface="Tenorite"/>
                    <a:ea typeface="Tenorite"/>
                    <a:cs typeface="Tenorite"/>
                    <a:sym typeface="Tenorite"/>
                  </a:defRPr>
                </a:pPr>
                <a:r>
                  <a:t>plots that compare the result/solution of your exact solution versus the approximation on your test cases. This is where you show the </a:t>
                </a:r>
                <a:r>
                  <a:rPr b="1"/>
                  <a:t>value</a:t>
                </a:r>
                <a:r>
                  <a:t> achieved by both and see how well your approximation did versus the optimal solution.</a:t>
                </a:r>
              </a:p>
            </p:txBody>
          </p:sp>
        </mc:Choice>
        <mc:Fallback xmlns="">
          <p:sp>
            <p:nvSpPr>
              <p:cNvPr id="141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114" y="2022248"/>
                <a:ext cx="3903970" cy="4470630"/>
              </a:xfrm>
              <a:prstGeom prst="rect">
                <a:avLst/>
              </a:prstGeom>
              <a:blipFill>
                <a:blip r:embed="rId3"/>
                <a:stretch>
                  <a:fillRect l="-1250" t="-546" r="-2031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Content Placeholder 2"/>
          <p:cNvSpPr txBox="1"/>
          <p:nvPr/>
        </p:nvSpPr>
        <p:spPr>
          <a:xfrm>
            <a:off x="8242310" y="2022248"/>
            <a:ext cx="3903970" cy="2249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sz="1200" b="1">
                <a:latin typeface="Tenorite"/>
                <a:ea typeface="Tenorite"/>
                <a:cs typeface="Tenorite"/>
                <a:sym typeface="Tenorite"/>
              </a:defRPr>
            </a:pPr>
            <a:r>
              <a:t>Part E: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broke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fixed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What is your approximation weak on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How does adding more time improve things?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Conclude everything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" name="LAX"/>
          <p:cNvGrpSpPr/>
          <p:nvPr/>
        </p:nvGrpSpPr>
        <p:grpSpPr>
          <a:xfrm>
            <a:off x="7178088" y="3081901"/>
            <a:ext cx="694197" cy="694197"/>
            <a:chOff x="0" y="0"/>
            <a:chExt cx="694195" cy="694195"/>
          </a:xfrm>
        </p:grpSpPr>
        <p:sp>
          <p:nvSpPr>
            <p:cNvPr id="145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6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150" name="JFK"/>
          <p:cNvGrpSpPr/>
          <p:nvPr/>
        </p:nvGrpSpPr>
        <p:grpSpPr>
          <a:xfrm>
            <a:off x="8592779" y="1614043"/>
            <a:ext cx="694197" cy="694197"/>
            <a:chOff x="0" y="0"/>
            <a:chExt cx="694195" cy="694195"/>
          </a:xfrm>
        </p:grpSpPr>
        <p:sp>
          <p:nvSpPr>
            <p:cNvPr id="14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9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153" name="MIA"/>
          <p:cNvGrpSpPr/>
          <p:nvPr/>
        </p:nvGrpSpPr>
        <p:grpSpPr>
          <a:xfrm>
            <a:off x="10007468" y="3081901"/>
            <a:ext cx="694197" cy="694197"/>
            <a:chOff x="0" y="0"/>
            <a:chExt cx="694195" cy="694195"/>
          </a:xfrm>
        </p:grpSpPr>
        <p:sp>
          <p:nvSpPr>
            <p:cNvPr id="15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2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156" name="HOU"/>
          <p:cNvGrpSpPr/>
          <p:nvPr/>
        </p:nvGrpSpPr>
        <p:grpSpPr>
          <a:xfrm>
            <a:off x="8592779" y="4549760"/>
            <a:ext cx="694197" cy="694197"/>
            <a:chOff x="0" y="0"/>
            <a:chExt cx="694195" cy="694195"/>
          </a:xfrm>
        </p:grpSpPr>
        <p:sp>
          <p:nvSpPr>
            <p:cNvPr id="15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5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157" name="Line"/>
          <p:cNvSpPr/>
          <p:nvPr/>
        </p:nvSpPr>
        <p:spPr>
          <a:xfrm flipV="1">
            <a:off x="9170193" y="3671711"/>
            <a:ext cx="942987" cy="96709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8" name="Line"/>
          <p:cNvSpPr/>
          <p:nvPr/>
        </p:nvSpPr>
        <p:spPr>
          <a:xfrm flipV="1">
            <a:off x="7725039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59" name="Line"/>
          <p:cNvSpPr/>
          <p:nvPr/>
        </p:nvSpPr>
        <p:spPr>
          <a:xfrm flipH="1" flipV="1">
            <a:off x="7784588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0" name="Line"/>
          <p:cNvSpPr/>
          <p:nvPr/>
        </p:nvSpPr>
        <p:spPr>
          <a:xfrm flipH="1" flipV="1">
            <a:off x="9210842" y="2181820"/>
            <a:ext cx="893840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1" name="Line"/>
          <p:cNvSpPr/>
          <p:nvPr/>
        </p:nvSpPr>
        <p:spPr>
          <a:xfrm flipH="1" flipV="1">
            <a:off x="8954889" y="2308044"/>
            <a:ext cx="104" cy="223788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2" name="Line"/>
          <p:cNvSpPr/>
          <p:nvPr/>
        </p:nvSpPr>
        <p:spPr>
          <a:xfrm flipH="1">
            <a:off x="7876309" y="3415165"/>
            <a:ext cx="2127137" cy="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63" name="2.475"/>
          <p:cNvSpPr txBox="1"/>
          <p:nvPr/>
        </p:nvSpPr>
        <p:spPr>
          <a:xfrm>
            <a:off x="7638494" y="234833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164" name="1.09"/>
          <p:cNvSpPr txBox="1"/>
          <p:nvPr/>
        </p:nvSpPr>
        <p:spPr>
          <a:xfrm>
            <a:off x="9761946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1.09</a:t>
            </a:r>
          </a:p>
        </p:txBody>
      </p:sp>
      <p:sp>
        <p:nvSpPr>
          <p:cNvPr id="165" name="1.39"/>
          <p:cNvSpPr txBox="1"/>
          <p:nvPr/>
        </p:nvSpPr>
        <p:spPr>
          <a:xfrm>
            <a:off x="7696424" y="4176576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1.39</a:t>
            </a:r>
          </a:p>
        </p:txBody>
      </p:sp>
      <p:sp>
        <p:nvSpPr>
          <p:cNvPr id="166" name="1.1"/>
          <p:cNvSpPr txBox="1"/>
          <p:nvPr/>
        </p:nvSpPr>
        <p:spPr>
          <a:xfrm>
            <a:off x="9761946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167" name="1.74"/>
          <p:cNvSpPr txBox="1"/>
          <p:nvPr/>
        </p:nvSpPr>
        <p:spPr>
          <a:xfrm>
            <a:off x="8935908" y="2691187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168" name="2.342"/>
          <p:cNvSpPr txBox="1"/>
          <p:nvPr/>
        </p:nvSpPr>
        <p:spPr>
          <a:xfrm>
            <a:off x="8123473" y="340246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169" name="Weights in 1K air miles"/>
          <p:cNvSpPr txBox="1"/>
          <p:nvPr/>
        </p:nvSpPr>
        <p:spPr>
          <a:xfrm>
            <a:off x="5141083" y="6096677"/>
            <a:ext cx="1909831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Weights in 1K miles</a:t>
            </a:r>
          </a:p>
        </p:txBody>
      </p:sp>
      <p:pic>
        <p:nvPicPr>
          <p:cNvPr id="170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31" y="2110905"/>
            <a:ext cx="4686558" cy="2636191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TSP"/>
          <p:cNvSpPr txBox="1">
            <a:spLocks noGrp="1"/>
          </p:cNvSpPr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TSP</a:t>
            </a:r>
          </a:p>
        </p:txBody>
      </p:sp>
      <p:sp>
        <p:nvSpPr>
          <p:cNvPr id="172" name="Decision vs. Optimization"/>
          <p:cNvSpPr txBox="1"/>
          <p:nvPr/>
        </p:nvSpPr>
        <p:spPr>
          <a:xfrm>
            <a:off x="8168858" y="901800"/>
            <a:ext cx="154204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TSP-D vs. TSP-O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7" name="LAX"/>
          <p:cNvGrpSpPr/>
          <p:nvPr/>
        </p:nvGrpSpPr>
        <p:grpSpPr>
          <a:xfrm>
            <a:off x="1772218" y="3076313"/>
            <a:ext cx="694197" cy="694197"/>
            <a:chOff x="0" y="0"/>
            <a:chExt cx="694195" cy="694195"/>
          </a:xfrm>
        </p:grpSpPr>
        <p:sp>
          <p:nvSpPr>
            <p:cNvPr id="175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6" name="G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G</a:t>
              </a:r>
            </a:p>
          </p:txBody>
        </p:sp>
      </p:grpSp>
      <p:grpSp>
        <p:nvGrpSpPr>
          <p:cNvPr id="180" name="JFK"/>
          <p:cNvGrpSpPr/>
          <p:nvPr/>
        </p:nvGrpSpPr>
        <p:grpSpPr>
          <a:xfrm>
            <a:off x="3972243" y="1130409"/>
            <a:ext cx="694197" cy="694197"/>
            <a:chOff x="0" y="0"/>
            <a:chExt cx="694195" cy="694195"/>
          </a:xfrm>
        </p:grpSpPr>
        <p:sp>
          <p:nvSpPr>
            <p:cNvPr id="178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" name="A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A</a:t>
              </a:r>
            </a:p>
          </p:txBody>
        </p:sp>
      </p:grpSp>
      <p:grpSp>
        <p:nvGrpSpPr>
          <p:cNvPr id="183" name="MIA"/>
          <p:cNvGrpSpPr/>
          <p:nvPr/>
        </p:nvGrpSpPr>
        <p:grpSpPr>
          <a:xfrm>
            <a:off x="6159394" y="3076313"/>
            <a:ext cx="694197" cy="694197"/>
            <a:chOff x="0" y="0"/>
            <a:chExt cx="694195" cy="694195"/>
          </a:xfrm>
        </p:grpSpPr>
        <p:sp>
          <p:nvSpPr>
            <p:cNvPr id="181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" name="C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C</a:t>
              </a:r>
            </a:p>
          </p:txBody>
        </p:sp>
      </p:grpSp>
      <p:grpSp>
        <p:nvGrpSpPr>
          <p:cNvPr id="186" name="HOU"/>
          <p:cNvGrpSpPr/>
          <p:nvPr/>
        </p:nvGrpSpPr>
        <p:grpSpPr>
          <a:xfrm>
            <a:off x="3972243" y="5033395"/>
            <a:ext cx="694197" cy="694197"/>
            <a:chOff x="0" y="0"/>
            <a:chExt cx="694195" cy="694195"/>
          </a:xfrm>
        </p:grpSpPr>
        <p:sp>
          <p:nvSpPr>
            <p:cNvPr id="184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" name="E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E</a:t>
              </a:r>
            </a:p>
          </p:txBody>
        </p:sp>
      </p:grpSp>
      <p:sp>
        <p:nvSpPr>
          <p:cNvPr id="187" name="Weights in 1K air miles"/>
          <p:cNvSpPr txBox="1"/>
          <p:nvPr/>
        </p:nvSpPr>
        <p:spPr>
          <a:xfrm>
            <a:off x="5154702" y="6227814"/>
            <a:ext cx="1882595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“Can’t do it boss…”</a:t>
            </a:r>
          </a:p>
        </p:txBody>
      </p:sp>
      <p:grpSp>
        <p:nvGrpSpPr>
          <p:cNvPr id="190" name="JFK"/>
          <p:cNvGrpSpPr/>
          <p:nvPr/>
        </p:nvGrpSpPr>
        <p:grpSpPr>
          <a:xfrm>
            <a:off x="2518929" y="1774126"/>
            <a:ext cx="694197" cy="694197"/>
            <a:chOff x="0" y="0"/>
            <a:chExt cx="694195" cy="694195"/>
          </a:xfrm>
        </p:grpSpPr>
        <p:sp>
          <p:nvSpPr>
            <p:cNvPr id="188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9" name="H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H</a:t>
              </a:r>
            </a:p>
          </p:txBody>
        </p:sp>
      </p:grpSp>
      <p:grpSp>
        <p:nvGrpSpPr>
          <p:cNvPr id="193" name="JFK"/>
          <p:cNvGrpSpPr/>
          <p:nvPr/>
        </p:nvGrpSpPr>
        <p:grpSpPr>
          <a:xfrm>
            <a:off x="5425556" y="1774126"/>
            <a:ext cx="694197" cy="694197"/>
            <a:chOff x="0" y="0"/>
            <a:chExt cx="694195" cy="694195"/>
          </a:xfrm>
        </p:grpSpPr>
        <p:sp>
          <p:nvSpPr>
            <p:cNvPr id="191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2" name="B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B</a:t>
              </a:r>
            </a:p>
          </p:txBody>
        </p:sp>
      </p:grpSp>
      <p:grpSp>
        <p:nvGrpSpPr>
          <p:cNvPr id="196" name="JFK"/>
          <p:cNvGrpSpPr/>
          <p:nvPr/>
        </p:nvGrpSpPr>
        <p:grpSpPr>
          <a:xfrm>
            <a:off x="5425556" y="4389678"/>
            <a:ext cx="694197" cy="694197"/>
            <a:chOff x="0" y="0"/>
            <a:chExt cx="694195" cy="694195"/>
          </a:xfrm>
        </p:grpSpPr>
        <p:sp>
          <p:nvSpPr>
            <p:cNvPr id="194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5" name="D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D</a:t>
              </a:r>
            </a:p>
          </p:txBody>
        </p:sp>
      </p:grpSp>
      <p:grpSp>
        <p:nvGrpSpPr>
          <p:cNvPr id="199" name="JFK"/>
          <p:cNvGrpSpPr/>
          <p:nvPr/>
        </p:nvGrpSpPr>
        <p:grpSpPr>
          <a:xfrm>
            <a:off x="2518929" y="4389678"/>
            <a:ext cx="694197" cy="694197"/>
            <a:chOff x="0" y="0"/>
            <a:chExt cx="694195" cy="694195"/>
          </a:xfrm>
        </p:grpSpPr>
        <p:sp>
          <p:nvSpPr>
            <p:cNvPr id="197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98" name="F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F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Text"/>
              <p:cNvSpPr txBox="1"/>
              <p:nvPr/>
            </p:nvSpPr>
            <p:spPr>
              <a:xfrm>
                <a:off x="8951880" y="1893863"/>
                <a:ext cx="1015351" cy="255601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oMath>
                  </m:oMathPara>
                </a14:m>
                <a:endParaRPr sz="2900"/>
              </a:p>
            </p:txBody>
          </p:sp>
        </mc:Choice>
        <mc:Fallback xmlns="">
          <p:sp>
            <p:nvSpPr>
              <p:cNvPr id="200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1880" y="1893863"/>
                <a:ext cx="1015351" cy="255601"/>
              </a:xfrm>
              <a:prstGeom prst="rect">
                <a:avLst/>
              </a:prstGeom>
              <a:blipFill>
                <a:blip r:embed="rId2"/>
                <a:stretch>
                  <a:fillRect r="-1796" b="-38095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Text"/>
              <p:cNvSpPr txBox="1"/>
              <p:nvPr/>
            </p:nvSpPr>
            <p:spPr>
              <a:xfrm>
                <a:off x="8919067" y="2961440"/>
                <a:ext cx="1179335" cy="22584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=40,320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01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2961440"/>
                <a:ext cx="1179335" cy="225844"/>
              </a:xfrm>
              <a:prstGeom prst="rect">
                <a:avLst/>
              </a:prstGeom>
              <a:blipFill>
                <a:blip r:embed="rId3"/>
                <a:stretch>
                  <a:fillRect l="-7216" r="-14948" b="-4594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Text"/>
              <p:cNvSpPr txBox="1"/>
              <p:nvPr/>
            </p:nvSpPr>
            <p:spPr>
              <a:xfrm>
                <a:off x="8919067" y="3439178"/>
                <a:ext cx="1299985" cy="229145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=362,880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0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3439178"/>
                <a:ext cx="1299985" cy="229145"/>
              </a:xfrm>
              <a:prstGeom prst="rect">
                <a:avLst/>
              </a:prstGeom>
              <a:blipFill>
                <a:blip r:embed="rId4"/>
                <a:stretch>
                  <a:fillRect l="-6573" r="-15023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3" name="Line"/>
          <p:cNvSpPr/>
          <p:nvPr/>
        </p:nvSpPr>
        <p:spPr>
          <a:xfrm>
            <a:off x="2281717" y="3731139"/>
            <a:ext cx="392068" cy="7183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4" name="Line"/>
          <p:cNvSpPr/>
          <p:nvPr/>
        </p:nvSpPr>
        <p:spPr>
          <a:xfrm flipH="1">
            <a:off x="5991914" y="3751553"/>
            <a:ext cx="392876" cy="7144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5" name="Line"/>
          <p:cNvSpPr/>
          <p:nvPr/>
        </p:nvSpPr>
        <p:spPr>
          <a:xfrm>
            <a:off x="3170716" y="4912240"/>
            <a:ext cx="802463" cy="3983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6" name="Line"/>
          <p:cNvSpPr/>
          <p:nvPr/>
        </p:nvSpPr>
        <p:spPr>
          <a:xfrm flipH="1">
            <a:off x="4654731" y="4912240"/>
            <a:ext cx="812063" cy="37394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7" name="Hamiltonian Cycles"/>
          <p:cNvSpPr txBox="1"/>
          <p:nvPr/>
        </p:nvSpPr>
        <p:spPr>
          <a:xfrm>
            <a:off x="8074741" y="1328078"/>
            <a:ext cx="2999242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90000"/>
              </a:lnSpc>
              <a:spcBef>
                <a:spcPts val="1200"/>
              </a:spcBef>
              <a:defRPr sz="2000"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r>
              <a:t>Hamiltonian Cycles</a:t>
            </a:r>
          </a:p>
        </p:txBody>
      </p:sp>
      <p:sp>
        <p:nvSpPr>
          <p:cNvPr id="208" name="Line"/>
          <p:cNvSpPr/>
          <p:nvPr/>
        </p:nvSpPr>
        <p:spPr>
          <a:xfrm flipH="1" flipV="1">
            <a:off x="2465612" y="3423409"/>
            <a:ext cx="3693504" cy="111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09" name="Line"/>
          <p:cNvSpPr/>
          <p:nvPr/>
        </p:nvSpPr>
        <p:spPr>
          <a:xfrm flipH="1">
            <a:off x="2285850" y="2409290"/>
            <a:ext cx="387920" cy="71074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0" name="Line"/>
          <p:cNvSpPr/>
          <p:nvPr/>
        </p:nvSpPr>
        <p:spPr>
          <a:xfrm>
            <a:off x="5991914" y="2391993"/>
            <a:ext cx="402674" cy="69904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1" name="Line"/>
          <p:cNvSpPr/>
          <p:nvPr/>
        </p:nvSpPr>
        <p:spPr>
          <a:xfrm flipV="1">
            <a:off x="3170716" y="1540552"/>
            <a:ext cx="803778" cy="40170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2" name="Line"/>
          <p:cNvSpPr/>
          <p:nvPr/>
        </p:nvSpPr>
        <p:spPr>
          <a:xfrm flipH="1" flipV="1">
            <a:off x="4656616" y="1550887"/>
            <a:ext cx="806903" cy="40931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3" name="Line"/>
          <p:cNvSpPr/>
          <p:nvPr/>
        </p:nvSpPr>
        <p:spPr>
          <a:xfrm flipV="1">
            <a:off x="4317817" y="1819125"/>
            <a:ext cx="19449" cy="320891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4" name="Line"/>
          <p:cNvSpPr/>
          <p:nvPr/>
        </p:nvSpPr>
        <p:spPr>
          <a:xfrm flipH="1" flipV="1">
            <a:off x="3108237" y="2371494"/>
            <a:ext cx="2420552" cy="21196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5" name="Line"/>
          <p:cNvSpPr/>
          <p:nvPr/>
        </p:nvSpPr>
        <p:spPr>
          <a:xfrm flipH="1">
            <a:off x="3113883" y="2356531"/>
            <a:ext cx="2405155" cy="2134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6" name="Line"/>
          <p:cNvSpPr/>
          <p:nvPr/>
        </p:nvSpPr>
        <p:spPr>
          <a:xfrm>
            <a:off x="4522230" y="1756578"/>
            <a:ext cx="1717287" cy="14445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7" name="Line"/>
          <p:cNvSpPr/>
          <p:nvPr/>
        </p:nvSpPr>
        <p:spPr>
          <a:xfrm>
            <a:off x="4423341" y="1813925"/>
            <a:ext cx="1206972" cy="26068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8" name="Line"/>
          <p:cNvSpPr/>
          <p:nvPr/>
        </p:nvSpPr>
        <p:spPr>
          <a:xfrm flipH="1">
            <a:off x="3023815" y="1811098"/>
            <a:ext cx="1209151" cy="26184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19" name="Line"/>
          <p:cNvSpPr/>
          <p:nvPr/>
        </p:nvSpPr>
        <p:spPr>
          <a:xfrm flipH="1">
            <a:off x="2410390" y="1742948"/>
            <a:ext cx="1675107" cy="1483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0" name="Line"/>
          <p:cNvSpPr/>
          <p:nvPr/>
        </p:nvSpPr>
        <p:spPr>
          <a:xfrm flipH="1">
            <a:off x="5766999" y="2465079"/>
            <a:ext cx="4367" cy="192653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1" name="Line"/>
          <p:cNvSpPr/>
          <p:nvPr/>
        </p:nvSpPr>
        <p:spPr>
          <a:xfrm flipH="1">
            <a:off x="2863845" y="2471284"/>
            <a:ext cx="2" cy="191539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2" name="Line"/>
          <p:cNvSpPr/>
          <p:nvPr/>
        </p:nvSpPr>
        <p:spPr>
          <a:xfrm flipH="1">
            <a:off x="4523620" y="2455752"/>
            <a:ext cx="1153208" cy="263973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3" name="Line"/>
          <p:cNvSpPr/>
          <p:nvPr/>
        </p:nvSpPr>
        <p:spPr>
          <a:xfrm>
            <a:off x="2994213" y="2443597"/>
            <a:ext cx="1121860" cy="265529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4" name="Line"/>
          <p:cNvSpPr/>
          <p:nvPr/>
        </p:nvSpPr>
        <p:spPr>
          <a:xfrm flipH="1">
            <a:off x="2458296" y="2265877"/>
            <a:ext cx="3002936" cy="107266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5" name="Line"/>
          <p:cNvSpPr/>
          <p:nvPr/>
        </p:nvSpPr>
        <p:spPr>
          <a:xfrm>
            <a:off x="3192053" y="2253176"/>
            <a:ext cx="2976882" cy="107101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6" name="Line"/>
          <p:cNvSpPr/>
          <p:nvPr/>
        </p:nvSpPr>
        <p:spPr>
          <a:xfrm flipH="1" flipV="1">
            <a:off x="3211641" y="2109341"/>
            <a:ext cx="2215401" cy="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7" name="Line"/>
          <p:cNvSpPr/>
          <p:nvPr/>
        </p:nvSpPr>
        <p:spPr>
          <a:xfrm flipH="1" flipV="1">
            <a:off x="3210080" y="4724715"/>
            <a:ext cx="2216982" cy="214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8" name="Line"/>
          <p:cNvSpPr/>
          <p:nvPr/>
        </p:nvSpPr>
        <p:spPr>
          <a:xfrm flipH="1">
            <a:off x="3185753" y="3591900"/>
            <a:ext cx="3017763" cy="101295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29" name="Line"/>
          <p:cNvSpPr/>
          <p:nvPr/>
        </p:nvSpPr>
        <p:spPr>
          <a:xfrm>
            <a:off x="2429098" y="3581428"/>
            <a:ext cx="3026706" cy="101295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0" name="Line"/>
          <p:cNvSpPr/>
          <p:nvPr/>
        </p:nvSpPr>
        <p:spPr>
          <a:xfrm flipV="1">
            <a:off x="4616852" y="3693278"/>
            <a:ext cx="1665533" cy="149880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1" name="Line"/>
          <p:cNvSpPr/>
          <p:nvPr/>
        </p:nvSpPr>
        <p:spPr>
          <a:xfrm flipH="1" flipV="1">
            <a:off x="2373764" y="3660269"/>
            <a:ext cx="1672391" cy="15060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Text"/>
              <p:cNvSpPr txBox="1"/>
              <p:nvPr/>
            </p:nvSpPr>
            <p:spPr>
              <a:xfrm>
                <a:off x="8919067" y="3909888"/>
                <a:ext cx="1606838" cy="227773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=3,628,800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32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067" y="3909888"/>
                <a:ext cx="1606838" cy="227773"/>
              </a:xfrm>
              <a:prstGeom prst="rect">
                <a:avLst/>
              </a:prstGeom>
              <a:blipFill>
                <a:blip r:embed="rId5"/>
                <a:stretch>
                  <a:fillRect l="-5303" r="-10227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"/>
              <p:cNvSpPr txBox="1"/>
              <p:nvPr/>
            </p:nvSpPr>
            <p:spPr>
              <a:xfrm>
                <a:off x="8947470" y="4379188"/>
                <a:ext cx="1692581" cy="22873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sub>
                      </m:sSub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≈9.332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157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233" name="Text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7470" y="4379188"/>
                <a:ext cx="1692581" cy="228739"/>
              </a:xfrm>
              <a:prstGeom prst="rect">
                <a:avLst/>
              </a:prstGeom>
              <a:blipFill>
                <a:blip r:embed="rId6"/>
                <a:stretch>
                  <a:fillRect l="-5054" r="-15162" b="-44737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4" name="Tsp"/>
          <p:cNvSpPr txBox="1">
            <a:spLocks noGrp="1"/>
          </p:cNvSpPr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Tsp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8" name="LAX"/>
          <p:cNvGrpSpPr/>
          <p:nvPr/>
        </p:nvGrpSpPr>
        <p:grpSpPr>
          <a:xfrm>
            <a:off x="4334211" y="3081901"/>
            <a:ext cx="694197" cy="694197"/>
            <a:chOff x="0" y="0"/>
            <a:chExt cx="694195" cy="694195"/>
          </a:xfrm>
        </p:grpSpPr>
        <p:sp>
          <p:nvSpPr>
            <p:cNvPr id="236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37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41" name="JFK"/>
          <p:cNvGrpSpPr/>
          <p:nvPr/>
        </p:nvGrpSpPr>
        <p:grpSpPr>
          <a:xfrm>
            <a:off x="5748901" y="1614043"/>
            <a:ext cx="694197" cy="694197"/>
            <a:chOff x="0" y="0"/>
            <a:chExt cx="694195" cy="694195"/>
          </a:xfrm>
        </p:grpSpPr>
        <p:sp>
          <p:nvSpPr>
            <p:cNvPr id="239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0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44" name="MIA"/>
          <p:cNvGrpSpPr/>
          <p:nvPr/>
        </p:nvGrpSpPr>
        <p:grpSpPr>
          <a:xfrm>
            <a:off x="7163591" y="3081901"/>
            <a:ext cx="694197" cy="694197"/>
            <a:chOff x="0" y="0"/>
            <a:chExt cx="694195" cy="694195"/>
          </a:xfrm>
        </p:grpSpPr>
        <p:sp>
          <p:nvSpPr>
            <p:cNvPr id="242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3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47" name="HOU"/>
          <p:cNvGrpSpPr/>
          <p:nvPr/>
        </p:nvGrpSpPr>
        <p:grpSpPr>
          <a:xfrm>
            <a:off x="5748901" y="4549760"/>
            <a:ext cx="694197" cy="694197"/>
            <a:chOff x="0" y="0"/>
            <a:chExt cx="694195" cy="694195"/>
          </a:xfrm>
        </p:grpSpPr>
        <p:sp>
          <p:nvSpPr>
            <p:cNvPr id="245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46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248" name="Line"/>
          <p:cNvSpPr/>
          <p:nvPr/>
        </p:nvSpPr>
        <p:spPr>
          <a:xfrm flipV="1">
            <a:off x="6326315" y="3671711"/>
            <a:ext cx="942987" cy="96709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49" name="Line"/>
          <p:cNvSpPr/>
          <p:nvPr/>
        </p:nvSpPr>
        <p:spPr>
          <a:xfrm flipV="1">
            <a:off x="4881162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0" name="Line"/>
          <p:cNvSpPr/>
          <p:nvPr/>
        </p:nvSpPr>
        <p:spPr>
          <a:xfrm flipH="1" flipV="1">
            <a:off x="4940711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1" name="Line"/>
          <p:cNvSpPr/>
          <p:nvPr/>
        </p:nvSpPr>
        <p:spPr>
          <a:xfrm flipH="1" flipV="1">
            <a:off x="6366966" y="2181820"/>
            <a:ext cx="893840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2" name="Line"/>
          <p:cNvSpPr/>
          <p:nvPr/>
        </p:nvSpPr>
        <p:spPr>
          <a:xfrm flipH="1" flipV="1">
            <a:off x="6111010" y="2308044"/>
            <a:ext cx="105" cy="223788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3" name="Line"/>
          <p:cNvSpPr/>
          <p:nvPr/>
        </p:nvSpPr>
        <p:spPr>
          <a:xfrm flipH="1">
            <a:off x="5032433" y="3415165"/>
            <a:ext cx="2127135" cy="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54" name="2.475"/>
          <p:cNvSpPr txBox="1"/>
          <p:nvPr/>
        </p:nvSpPr>
        <p:spPr>
          <a:xfrm>
            <a:off x="4794617" y="234833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255" name="1.09"/>
          <p:cNvSpPr txBox="1"/>
          <p:nvPr/>
        </p:nvSpPr>
        <p:spPr>
          <a:xfrm>
            <a:off x="6918069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1.09</a:t>
            </a:r>
          </a:p>
        </p:txBody>
      </p:sp>
      <p:sp>
        <p:nvSpPr>
          <p:cNvPr id="256" name="1.39"/>
          <p:cNvSpPr txBox="1"/>
          <p:nvPr/>
        </p:nvSpPr>
        <p:spPr>
          <a:xfrm>
            <a:off x="4852546" y="4176576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1.39</a:t>
            </a:r>
          </a:p>
        </p:txBody>
      </p:sp>
      <p:sp>
        <p:nvSpPr>
          <p:cNvPr id="257" name="1.1"/>
          <p:cNvSpPr txBox="1"/>
          <p:nvPr/>
        </p:nvSpPr>
        <p:spPr>
          <a:xfrm>
            <a:off x="6918069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258" name="1.74"/>
          <p:cNvSpPr txBox="1"/>
          <p:nvPr/>
        </p:nvSpPr>
        <p:spPr>
          <a:xfrm>
            <a:off x="6092030" y="2691187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259" name="2.342"/>
          <p:cNvSpPr txBox="1"/>
          <p:nvPr/>
        </p:nvSpPr>
        <p:spPr>
          <a:xfrm>
            <a:off x="5279595" y="340246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260" name="✅ “MIA HOU NYC LA MIA“…"/>
          <p:cNvSpPr txBox="1"/>
          <p:nvPr/>
        </p:nvSpPr>
        <p:spPr>
          <a:xfrm>
            <a:off x="337739" y="2793649"/>
            <a:ext cx="3683156" cy="1270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✅ “MIA HOU NYC LA MIA“</a:t>
            </a:r>
          </a:p>
          <a:p>
            <a:pPr>
              <a:defRPr sz="2200"/>
            </a:pPr>
            <a:endParaRPr/>
          </a:p>
          <a:p>
            <a:pPr>
              <a:defRPr sz="2200"/>
            </a:pPr>
            <a:r>
              <a:t>❌ “MIA NYC LA NYC HOU MIA”</a:t>
            </a:r>
          </a:p>
        </p:txBody>
      </p:sp>
      <p:sp>
        <p:nvSpPr>
          <p:cNvPr id="261" name="Title 6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 anchor="ctr"/>
          <a:lstStyle>
            <a:lvl1pPr defTabSz="786383">
              <a:defRPr sz="3100"/>
            </a:lvl1pPr>
          </a:lstStyle>
          <a:p>
            <a:r>
              <a:t>Polynomial verification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itle 1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NP-HARD Reduction</a:t>
            </a:r>
          </a:p>
        </p:txBody>
      </p:sp>
      <p:grpSp>
        <p:nvGrpSpPr>
          <p:cNvPr id="267" name="Hamiltonian Cycle"/>
          <p:cNvGrpSpPr/>
          <p:nvPr/>
        </p:nvGrpSpPr>
        <p:grpSpPr>
          <a:xfrm>
            <a:off x="2284994" y="5029549"/>
            <a:ext cx="1654579" cy="903719"/>
            <a:chOff x="0" y="0"/>
            <a:chExt cx="1654578" cy="903717"/>
          </a:xfrm>
        </p:grpSpPr>
        <p:sp>
          <p:nvSpPr>
            <p:cNvPr id="265" name="Rectangle"/>
            <p:cNvSpPr/>
            <p:nvPr/>
          </p:nvSpPr>
          <p:spPr>
            <a:xfrm>
              <a:off x="-1" y="0"/>
              <a:ext cx="1654580" cy="903718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6" name="Hamiltonian Cycle"/>
            <p:cNvSpPr txBox="1"/>
            <p:nvPr/>
          </p:nvSpPr>
          <p:spPr>
            <a:xfrm>
              <a:off x="4762" y="139267"/>
              <a:ext cx="1645054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Hamiltonian Cycle</a:t>
              </a:r>
            </a:p>
          </p:txBody>
        </p:sp>
      </p:grpSp>
      <p:grpSp>
        <p:nvGrpSpPr>
          <p:cNvPr id="270" name="LAX"/>
          <p:cNvGrpSpPr/>
          <p:nvPr/>
        </p:nvGrpSpPr>
        <p:grpSpPr>
          <a:xfrm>
            <a:off x="1668932" y="2683311"/>
            <a:ext cx="694197" cy="694197"/>
            <a:chOff x="0" y="0"/>
            <a:chExt cx="694195" cy="694195"/>
          </a:xfrm>
        </p:grpSpPr>
        <p:sp>
          <p:nvSpPr>
            <p:cNvPr id="26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9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73" name="JFK"/>
          <p:cNvGrpSpPr/>
          <p:nvPr/>
        </p:nvGrpSpPr>
        <p:grpSpPr>
          <a:xfrm>
            <a:off x="2765185" y="1578617"/>
            <a:ext cx="694197" cy="694197"/>
            <a:chOff x="0" y="0"/>
            <a:chExt cx="694195" cy="694195"/>
          </a:xfrm>
        </p:grpSpPr>
        <p:sp>
          <p:nvSpPr>
            <p:cNvPr id="27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2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76" name="MIA"/>
          <p:cNvGrpSpPr/>
          <p:nvPr/>
        </p:nvGrpSpPr>
        <p:grpSpPr>
          <a:xfrm>
            <a:off x="3870706" y="2683311"/>
            <a:ext cx="694197" cy="694197"/>
            <a:chOff x="0" y="0"/>
            <a:chExt cx="694195" cy="694195"/>
          </a:xfrm>
        </p:grpSpPr>
        <p:sp>
          <p:nvSpPr>
            <p:cNvPr id="27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5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79" name="HOU"/>
          <p:cNvGrpSpPr/>
          <p:nvPr/>
        </p:nvGrpSpPr>
        <p:grpSpPr>
          <a:xfrm>
            <a:off x="2765185" y="3778436"/>
            <a:ext cx="694197" cy="694197"/>
            <a:chOff x="0" y="0"/>
            <a:chExt cx="694195" cy="694195"/>
          </a:xfrm>
        </p:grpSpPr>
        <p:sp>
          <p:nvSpPr>
            <p:cNvPr id="277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8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280" name="Line"/>
          <p:cNvSpPr/>
          <p:nvPr/>
        </p:nvSpPr>
        <p:spPr>
          <a:xfrm flipV="1">
            <a:off x="2241620" y="2145980"/>
            <a:ext cx="587101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1" name="Line"/>
          <p:cNvSpPr/>
          <p:nvPr/>
        </p:nvSpPr>
        <p:spPr>
          <a:xfrm flipV="1">
            <a:off x="3100750" y="2278134"/>
            <a:ext cx="20526" cy="15000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2" name="Line"/>
          <p:cNvSpPr/>
          <p:nvPr/>
        </p:nvSpPr>
        <p:spPr>
          <a:xfrm flipV="1">
            <a:off x="3366161" y="3283158"/>
            <a:ext cx="610069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3" name="Line"/>
          <p:cNvSpPr/>
          <p:nvPr/>
        </p:nvSpPr>
        <p:spPr>
          <a:xfrm flipH="1" flipV="1">
            <a:off x="2362192" y="3030409"/>
            <a:ext cx="1500184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84" name="2.475"/>
          <p:cNvSpPr txBox="1"/>
          <p:nvPr/>
        </p:nvSpPr>
        <p:spPr>
          <a:xfrm>
            <a:off x="1888864" y="213012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285" name="1.74"/>
          <p:cNvSpPr txBox="1"/>
          <p:nvPr/>
        </p:nvSpPr>
        <p:spPr>
          <a:xfrm>
            <a:off x="3094431" y="2306429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286" name="2.342"/>
          <p:cNvSpPr txBox="1"/>
          <p:nvPr/>
        </p:nvSpPr>
        <p:spPr>
          <a:xfrm>
            <a:off x="2412941" y="3045185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287" name="1.1"/>
          <p:cNvSpPr txBox="1"/>
          <p:nvPr/>
        </p:nvSpPr>
        <p:spPr>
          <a:xfrm>
            <a:off x="3707863" y="3603959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grpSp>
        <p:nvGrpSpPr>
          <p:cNvPr id="290" name="LAX"/>
          <p:cNvGrpSpPr/>
          <p:nvPr/>
        </p:nvGrpSpPr>
        <p:grpSpPr>
          <a:xfrm>
            <a:off x="7627096" y="2688095"/>
            <a:ext cx="694197" cy="694197"/>
            <a:chOff x="0" y="0"/>
            <a:chExt cx="694195" cy="694195"/>
          </a:xfrm>
        </p:grpSpPr>
        <p:sp>
          <p:nvSpPr>
            <p:cNvPr id="28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9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LA</a:t>
              </a:r>
            </a:p>
          </p:txBody>
        </p:sp>
      </p:grpSp>
      <p:grpSp>
        <p:nvGrpSpPr>
          <p:cNvPr id="293" name="JFK"/>
          <p:cNvGrpSpPr/>
          <p:nvPr/>
        </p:nvGrpSpPr>
        <p:grpSpPr>
          <a:xfrm>
            <a:off x="8723348" y="1583401"/>
            <a:ext cx="694197" cy="694197"/>
            <a:chOff x="0" y="0"/>
            <a:chExt cx="694195" cy="694195"/>
          </a:xfrm>
        </p:grpSpPr>
        <p:sp>
          <p:nvSpPr>
            <p:cNvPr id="29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2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NYC</a:t>
              </a:r>
            </a:p>
          </p:txBody>
        </p:sp>
      </p:grpSp>
      <p:grpSp>
        <p:nvGrpSpPr>
          <p:cNvPr id="296" name="MIA"/>
          <p:cNvGrpSpPr/>
          <p:nvPr/>
        </p:nvGrpSpPr>
        <p:grpSpPr>
          <a:xfrm>
            <a:off x="9828871" y="2688096"/>
            <a:ext cx="694197" cy="694197"/>
            <a:chOff x="0" y="0"/>
            <a:chExt cx="694195" cy="694195"/>
          </a:xfrm>
        </p:grpSpPr>
        <p:sp>
          <p:nvSpPr>
            <p:cNvPr id="29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5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MIA</a:t>
              </a:r>
            </a:p>
          </p:txBody>
        </p:sp>
      </p:grpSp>
      <p:grpSp>
        <p:nvGrpSpPr>
          <p:cNvPr id="299" name="HOU"/>
          <p:cNvGrpSpPr/>
          <p:nvPr/>
        </p:nvGrpSpPr>
        <p:grpSpPr>
          <a:xfrm>
            <a:off x="8723348" y="3783221"/>
            <a:ext cx="694197" cy="694197"/>
            <a:chOff x="0" y="0"/>
            <a:chExt cx="694195" cy="694195"/>
          </a:xfrm>
        </p:grpSpPr>
        <p:sp>
          <p:nvSpPr>
            <p:cNvPr id="297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8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r>
                <a:t>HOU</a:t>
              </a:r>
            </a:p>
          </p:txBody>
        </p:sp>
      </p:grpSp>
      <p:sp>
        <p:nvSpPr>
          <p:cNvPr id="300" name="Line"/>
          <p:cNvSpPr/>
          <p:nvPr/>
        </p:nvSpPr>
        <p:spPr>
          <a:xfrm flipV="1">
            <a:off x="8199784" y="2150765"/>
            <a:ext cx="587101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1" name="Line"/>
          <p:cNvSpPr/>
          <p:nvPr/>
        </p:nvSpPr>
        <p:spPr>
          <a:xfrm flipV="1">
            <a:off x="9058913" y="2282918"/>
            <a:ext cx="20526" cy="15000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2" name="Line"/>
          <p:cNvSpPr/>
          <p:nvPr/>
        </p:nvSpPr>
        <p:spPr>
          <a:xfrm flipV="1">
            <a:off x="9324326" y="3287943"/>
            <a:ext cx="610069" cy="6133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3" name="Line"/>
          <p:cNvSpPr/>
          <p:nvPr/>
        </p:nvSpPr>
        <p:spPr>
          <a:xfrm flipH="1" flipV="1">
            <a:off x="8320355" y="3035194"/>
            <a:ext cx="1500184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4" name="2.475"/>
          <p:cNvSpPr txBox="1"/>
          <p:nvPr/>
        </p:nvSpPr>
        <p:spPr>
          <a:xfrm>
            <a:off x="7847028" y="213490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2.475</a:t>
            </a:r>
          </a:p>
        </p:txBody>
      </p:sp>
      <p:sp>
        <p:nvSpPr>
          <p:cNvPr id="305" name="1.74"/>
          <p:cNvSpPr txBox="1"/>
          <p:nvPr/>
        </p:nvSpPr>
        <p:spPr>
          <a:xfrm>
            <a:off x="9052594" y="2311213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1.74</a:t>
            </a:r>
          </a:p>
        </p:txBody>
      </p:sp>
      <p:sp>
        <p:nvSpPr>
          <p:cNvPr id="306" name="2.342"/>
          <p:cNvSpPr txBox="1"/>
          <p:nvPr/>
        </p:nvSpPr>
        <p:spPr>
          <a:xfrm>
            <a:off x="8371105" y="3049970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2.342</a:t>
            </a:r>
          </a:p>
        </p:txBody>
      </p:sp>
      <p:sp>
        <p:nvSpPr>
          <p:cNvPr id="307" name="1.1"/>
          <p:cNvSpPr txBox="1"/>
          <p:nvPr/>
        </p:nvSpPr>
        <p:spPr>
          <a:xfrm>
            <a:off x="9666027" y="3608744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r>
              <a:t>1.1</a:t>
            </a:r>
          </a:p>
        </p:txBody>
      </p:sp>
      <p:sp>
        <p:nvSpPr>
          <p:cNvPr id="308" name="Line"/>
          <p:cNvSpPr/>
          <p:nvPr/>
        </p:nvSpPr>
        <p:spPr>
          <a:xfrm flipH="1" flipV="1">
            <a:off x="9352338" y="2145981"/>
            <a:ext cx="604902" cy="61260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9" name="1.74"/>
              <p:cNvSpPr txBox="1"/>
              <p:nvPr/>
            </p:nvSpPr>
            <p:spPr>
              <a:xfrm>
                <a:off x="9666027" y="2135639"/>
                <a:ext cx="189181" cy="10376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309" name="1.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6027" y="2135639"/>
                <a:ext cx="189181" cy="103760"/>
              </a:xfrm>
              <a:prstGeom prst="rect">
                <a:avLst/>
              </a:prstGeom>
              <a:blipFill>
                <a:blip r:embed="rId2"/>
                <a:stretch>
                  <a:fillRect l="-32258" r="-41935" b="-17647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Line"/>
          <p:cNvSpPr/>
          <p:nvPr/>
        </p:nvSpPr>
        <p:spPr>
          <a:xfrm flipH="1" flipV="1">
            <a:off x="8182122" y="3305661"/>
            <a:ext cx="604902" cy="6126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1.74"/>
              <p:cNvSpPr txBox="1"/>
              <p:nvPr/>
            </p:nvSpPr>
            <p:spPr>
              <a:xfrm>
                <a:off x="8138522" y="3660121"/>
                <a:ext cx="189180" cy="10376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sz="1900"/>
              </a:p>
            </p:txBody>
          </p:sp>
        </mc:Choice>
        <mc:Fallback xmlns="">
          <p:sp>
            <p:nvSpPr>
              <p:cNvPr id="311" name="1.7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522" y="3660121"/>
                <a:ext cx="189180" cy="103760"/>
              </a:xfrm>
              <a:prstGeom prst="rect">
                <a:avLst/>
              </a:prstGeom>
              <a:blipFill>
                <a:blip r:embed="rId3"/>
                <a:stretch>
                  <a:fillRect l="-32258" r="-41935" b="-176471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2" name="Line"/>
          <p:cNvSpPr/>
          <p:nvPr/>
        </p:nvSpPr>
        <p:spPr>
          <a:xfrm>
            <a:off x="5168212" y="3030410"/>
            <a:ext cx="1846308" cy="2"/>
          </a:xfrm>
          <a:prstGeom prst="line">
            <a:avLst/>
          </a:prstGeom>
          <a:ln w="1524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315" name="Traveling Salesman"/>
          <p:cNvGrpSpPr/>
          <p:nvPr/>
        </p:nvGrpSpPr>
        <p:grpSpPr>
          <a:xfrm>
            <a:off x="8243158" y="5029549"/>
            <a:ext cx="1654579" cy="903719"/>
            <a:chOff x="0" y="0"/>
            <a:chExt cx="1654578" cy="903717"/>
          </a:xfrm>
        </p:grpSpPr>
        <p:sp>
          <p:nvSpPr>
            <p:cNvPr id="313" name="Rectangle"/>
            <p:cNvSpPr/>
            <p:nvPr/>
          </p:nvSpPr>
          <p:spPr>
            <a:xfrm>
              <a:off x="-1" y="0"/>
              <a:ext cx="1654580" cy="903718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4" name="Traveling Salesman"/>
            <p:cNvSpPr txBox="1"/>
            <p:nvPr/>
          </p:nvSpPr>
          <p:spPr>
            <a:xfrm>
              <a:off x="4762" y="139267"/>
              <a:ext cx="1645054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Traveling Salesman</a:t>
              </a:r>
            </a:p>
          </p:txBody>
        </p:sp>
      </p:grp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itle 1"/>
          <p:cNvSpPr txBox="1">
            <a:spLocks noGrp="1"/>
          </p:cNvSpPr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r>
              <a:t>NP-HARD Reduction</a:t>
            </a:r>
          </a:p>
        </p:txBody>
      </p:sp>
      <p:pic>
        <p:nvPicPr>
          <p:cNvPr id="319" name="Screenshot 2025-11-26 at 4.34.41 PM.png" descr="Screenshot 2025-11-26 at 4.34.41 PM.png"/>
          <p:cNvPicPr>
            <a:picLocks noChangeAspect="1"/>
          </p:cNvPicPr>
          <p:nvPr/>
        </p:nvPicPr>
        <p:blipFill>
          <a:blip r:embed="rId2"/>
          <a:srcRect t="5399" b="19332"/>
          <a:stretch>
            <a:fillRect/>
          </a:stretch>
        </p:blipFill>
        <p:spPr>
          <a:xfrm>
            <a:off x="2548928" y="2202411"/>
            <a:ext cx="7094333" cy="2161853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Equation"/>
              <p:cNvSpPr txBox="1"/>
              <p:nvPr/>
            </p:nvSpPr>
            <p:spPr>
              <a:xfrm>
                <a:off x="5597723" y="4880681"/>
                <a:ext cx="996554" cy="44344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3400"/>
              </a:p>
            </p:txBody>
          </p:sp>
        </mc:Choice>
        <mc:Fallback xmlns="">
          <p:sp>
            <p:nvSpPr>
              <p:cNvPr id="320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7723" y="4880681"/>
                <a:ext cx="996554" cy="443442"/>
              </a:xfrm>
              <a:prstGeom prst="rect">
                <a:avLst/>
              </a:prstGeom>
              <a:blipFill>
                <a:blip r:embed="rId3"/>
                <a:stretch>
                  <a:fillRect r="-12195" b="-15278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Screenshot 2025-11-26 at 5.28.10 PM.png" descr="Screenshot 2025-11-26 at 5.28.10 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446" y="1519393"/>
            <a:ext cx="6551108" cy="3819215"/>
          </a:xfrm>
          <a:prstGeom prst="rect">
            <a:avLst/>
          </a:prstGeom>
          <a:ln w="12700">
            <a:miter lim="400000"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3" name="Equation"/>
              <p:cNvSpPr txBox="1"/>
              <p:nvPr/>
            </p:nvSpPr>
            <p:spPr>
              <a:xfrm>
                <a:off x="5276910" y="5792587"/>
                <a:ext cx="1638179" cy="36832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!∙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3400"/>
              </a:p>
            </p:txBody>
          </p:sp>
        </mc:Choice>
        <mc:Fallback xmlns="">
          <p:sp>
            <p:nvSpPr>
              <p:cNvPr id="323" name="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910" y="5792587"/>
                <a:ext cx="1638179" cy="368326"/>
              </a:xfrm>
              <a:prstGeom prst="rect">
                <a:avLst/>
              </a:prstGeom>
              <a:blipFill>
                <a:blip r:embed="rId3"/>
                <a:stretch>
                  <a:fillRect b="-36066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4" name="Title 1"/>
          <p:cNvSpPr txBox="1"/>
          <p:nvPr/>
        </p:nvSpPr>
        <p:spPr>
          <a:xfrm>
            <a:off x="151728" y="113540"/>
            <a:ext cx="5602753" cy="647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>
            <a:lvl1pPr>
              <a:lnSpc>
                <a:spcPct val="90000"/>
              </a:lnSpc>
              <a:defRPr sz="3200" cap="all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r>
              <a:t>Analytical runtime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DC4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itle 1"/>
          <p:cNvSpPr txBox="1">
            <a:spLocks noGrp="1"/>
          </p:cNvSpPr>
          <p:nvPr>
            <p:ph type="title"/>
          </p:nvPr>
        </p:nvSpPr>
        <p:spPr>
          <a:xfrm>
            <a:off x="151727" y="113540"/>
            <a:ext cx="6344747" cy="647783"/>
          </a:xfrm>
          <a:prstGeom prst="rect">
            <a:avLst/>
          </a:prstGeom>
        </p:spPr>
        <p:txBody>
          <a:bodyPr/>
          <a:lstStyle/>
          <a:p>
            <a:r>
              <a:t>Empirical runtime analysis</a:t>
            </a:r>
          </a:p>
        </p:txBody>
      </p:sp>
      <p:pic>
        <p:nvPicPr>
          <p:cNvPr id="328" name="emperial.png" descr="emp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512" y="912385"/>
            <a:ext cx="6710976" cy="50332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itle 1"/>
          <p:cNvSpPr txBox="1">
            <a:spLocks noGrp="1"/>
          </p:cNvSpPr>
          <p:nvPr>
            <p:ph type="title"/>
          </p:nvPr>
        </p:nvSpPr>
        <p:spPr>
          <a:xfrm>
            <a:off x="895349" y="376638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t>Approximate Solution</a:t>
            </a:r>
          </a:p>
        </p:txBody>
      </p:sp>
      <p:sp>
        <p:nvSpPr>
          <p:cNvPr id="331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222702" y="1158583"/>
            <a:ext cx="10701972" cy="558511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def main():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** Initialize graph and nodes **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for each edge in the graph:  </a:t>
            </a:r>
            <a:r>
              <a:rPr lang="en-US" sz="18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8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2060"/>
                </a:solidFill>
                <a:sym typeface="Courier New"/>
              </a:rPr>
              <a:t>O(n)</a:t>
            </a:r>
            <a:endParaRPr lang="en-US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bg1"/>
                </a:solidFill>
              </a:rPr>
              <a:t>	** build adjacency dictionary **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# Step 1: Build initial path using Nearest Neighbor heuristic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C00000"/>
                </a:solidFill>
              </a:rPr>
              <a:t>path_1</a:t>
            </a:r>
            <a:r>
              <a:rPr lang="en-US" sz="1800" b="1" dirty="0">
                <a:solidFill>
                  <a:schemeClr val="bg1"/>
                </a:solidFill>
              </a:rPr>
              <a:t> = nearest_neighbor(graph, nodes)  </a:t>
            </a:r>
            <a:r>
              <a:rPr lang="en-US" sz="18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8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2060"/>
                </a:solidFill>
                <a:sym typeface="Courier New"/>
              </a:rPr>
              <a:t>O(n²)</a:t>
            </a:r>
            <a:endParaRPr lang="en-US" sz="1800" b="1" dirty="0">
              <a:solidFill>
                <a:srgbClr val="002060"/>
              </a:solidFill>
              <a:latin typeface="Tenorite" panose="00000500000000000000" pitchFamily="2" charset="0"/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1800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# Step 2: Run 2-opt heuristic for local improvement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C00000"/>
                </a:solidFill>
              </a:rPr>
              <a:t>path_2</a:t>
            </a:r>
            <a:r>
              <a:rPr lang="en-US" sz="1800" b="1" dirty="0">
                <a:solidFill>
                  <a:schemeClr val="bg1"/>
                </a:solidFill>
              </a:rPr>
              <a:t> = two_opt(graph, path_1) </a:t>
            </a:r>
            <a:r>
              <a:rPr lang="en-US" sz="16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6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sz="1800" b="1" dirty="0">
                <a:solidFill>
                  <a:srgbClr val="002060"/>
                </a:solidFill>
                <a:sym typeface="Courier New"/>
              </a:rPr>
              <a:t>O(n³) worst case</a:t>
            </a:r>
            <a:endParaRPr lang="en-US" sz="1800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1800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# Compute final path length and cycle</a:t>
            </a: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 err="1">
                <a:solidFill>
                  <a:schemeClr val="bg1"/>
                </a:solidFill>
              </a:rPr>
              <a:t>tour_length</a:t>
            </a:r>
            <a:r>
              <a:rPr lang="en-US" sz="1800" b="1" dirty="0">
                <a:solidFill>
                  <a:schemeClr val="bg1"/>
                </a:solidFill>
              </a:rPr>
              <a:t> = </a:t>
            </a:r>
            <a:r>
              <a:rPr lang="en-US" sz="1800" b="1" dirty="0" err="1">
                <a:solidFill>
                  <a:schemeClr val="bg1"/>
                </a:solidFill>
              </a:rPr>
              <a:t>tour_length</a:t>
            </a:r>
            <a:r>
              <a:rPr lang="en-US" sz="1800" b="1" dirty="0">
                <a:solidFill>
                  <a:schemeClr val="bg1"/>
                </a:solidFill>
              </a:rPr>
              <a:t>(graph, path_2) </a:t>
            </a:r>
            <a:r>
              <a:rPr lang="en-US" sz="1600" b="1" dirty="0">
                <a:solidFill>
                  <a:srgbClr val="002060"/>
                </a:solidFill>
                <a:sym typeface="Wingdings" panose="05000000000000000000" pitchFamily="2" charset="2"/>
              </a:rPr>
              <a:t></a:t>
            </a:r>
            <a:r>
              <a:rPr lang="en-US" sz="1600" b="1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b="1" dirty="0">
                <a:solidFill>
                  <a:srgbClr val="002060"/>
                </a:solidFill>
                <a:sym typeface="Courier New"/>
              </a:rPr>
              <a:t>O(n)</a:t>
            </a:r>
            <a:endParaRPr lang="en-US" b="1" dirty="0">
              <a:solidFill>
                <a:schemeClr val="bg1"/>
              </a:solidFill>
            </a:endParaRPr>
          </a:p>
          <a:p>
            <a:pPr marL="482600" lvl="1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1800" b="1" dirty="0">
                <a:solidFill>
                  <a:srgbClr val="C00000"/>
                </a:solidFill>
              </a:rPr>
              <a:t>path_3</a:t>
            </a:r>
            <a:r>
              <a:rPr lang="en-US" sz="1800" b="1" dirty="0">
                <a:solidFill>
                  <a:schemeClr val="bg1"/>
                </a:solidFill>
              </a:rPr>
              <a:t> = path_2 </a:t>
            </a:r>
            <a:r>
              <a:rPr lang="en-US" sz="1800" b="1" dirty="0">
                <a:solidFill>
                  <a:schemeClr val="bg1"/>
                </a:solidFill>
                <a:highlight>
                  <a:srgbClr val="FFFF00"/>
                </a:highlight>
              </a:rPr>
              <a:t>+ the first node of path_2 </a:t>
            </a:r>
            <a:r>
              <a:rPr lang="en-US" sz="1800" b="1" dirty="0">
                <a:solidFill>
                  <a:srgbClr val="7030A0"/>
                </a:solidFill>
                <a:sym typeface="Wingdings" panose="05000000000000000000" pitchFamily="2" charset="2"/>
              </a:rPr>
              <a:t> turn into a cycle</a:t>
            </a:r>
            <a:endParaRPr lang="en-US" sz="1800" b="1" dirty="0">
              <a:solidFill>
                <a:srgbClr val="7030A0"/>
              </a:solidFill>
            </a:endParaRPr>
          </a:p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</p:txBody>
      </p:sp>
      <p:sp>
        <p:nvSpPr>
          <p:cNvPr id="332" name="TextBox 9"/>
          <p:cNvSpPr txBox="1"/>
          <p:nvPr/>
        </p:nvSpPr>
        <p:spPr>
          <a:xfrm>
            <a:off x="7131049" y="1158583"/>
            <a:ext cx="3793625" cy="1209037"/>
          </a:xfrm>
          <a:prstGeom prst="rect">
            <a:avLst/>
          </a:prstGeom>
          <a:ln w="12700">
            <a:solidFill>
              <a:schemeClr val="bg1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="1">
                <a:latin typeface="+mn-lt"/>
                <a:ea typeface="+mn-ea"/>
                <a:cs typeface="+mn-cs"/>
                <a:sym typeface="Helvetica"/>
              </a:defRPr>
            </a:pPr>
            <a:r>
              <a:rPr kumimoji="0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Two heuristics used in combination: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+mn-lt"/>
                <a:ea typeface="+mn-ea"/>
                <a:cs typeface="+mn-cs"/>
                <a:sym typeface="Helvetica"/>
              </a:defRPr>
            </a:pPr>
            <a:b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</a:b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1. Nearest Neighbor (Greedy)</a:t>
            </a:r>
            <a:b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</a:b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2. Two-</a:t>
            </a:r>
            <a:r>
              <a:rPr kumimoji="0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Opt</a:t>
            </a: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 (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L</a:t>
            </a: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ocal optim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al</a:t>
            </a: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 swap)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D6C8457-D0AE-B073-5B0B-FD50449BCE8D}"/>
              </a:ext>
            </a:extLst>
          </p:cNvPr>
          <p:cNvSpPr txBox="1"/>
          <p:nvPr/>
        </p:nvSpPr>
        <p:spPr>
          <a:xfrm>
            <a:off x="7923044" y="3429000"/>
            <a:ext cx="3476960" cy="2308320"/>
          </a:xfrm>
          <a:prstGeom prst="rect">
            <a:avLst/>
          </a:prstGeom>
          <a:noFill/>
          <a:ln w="12700" cap="flat">
            <a:solidFill>
              <a:schemeClr val="bg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Polynomial Time: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O(n)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(build adjacency dictionary)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+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O(n²) (Nearest Neighbor)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O(n²) (Two-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Opt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pair checks)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O(n³) (Two-opt worst case switch)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O(n) (Calculate tour length)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=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O(n³) 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itle 1"/>
          <p:cNvSpPr txBox="1">
            <a:spLocks noGrp="1"/>
          </p:cNvSpPr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Solution</a:t>
            </a:r>
          </a:p>
        </p:txBody>
      </p:sp>
      <p:sp>
        <p:nvSpPr>
          <p:cNvPr id="335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361949" y="1619249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336" name="TextBox 3"/>
          <p:cNvSpPr txBox="1"/>
          <p:nvPr/>
        </p:nvSpPr>
        <p:spPr>
          <a:xfrm>
            <a:off x="450850" y="990599"/>
            <a:ext cx="5397500" cy="461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Heuristic #1: Nearest Neighbor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58624D-9893-0DAB-FB7B-7D27F51C7302}"/>
              </a:ext>
            </a:extLst>
          </p:cNvPr>
          <p:cNvSpPr txBox="1"/>
          <p:nvPr/>
        </p:nvSpPr>
        <p:spPr>
          <a:xfrm>
            <a:off x="5647156" y="701775"/>
            <a:ext cx="6093994" cy="923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The Nearest Neighbor heuristic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B4009A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picks the smallest cost edge first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.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This is considered a greedy approach.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8DD3C-8DFA-CC6D-7493-A133AB895322}"/>
              </a:ext>
            </a:extLst>
          </p:cNvPr>
          <p:cNvSpPr txBox="1"/>
          <p:nvPr/>
        </p:nvSpPr>
        <p:spPr>
          <a:xfrm>
            <a:off x="5848350" y="1738854"/>
            <a:ext cx="554355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Example of Nearest Neighbor: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itle 1"/>
          <p:cNvSpPr txBox="1">
            <a:spLocks noGrp="1"/>
          </p:cNvSpPr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Solution</a:t>
            </a:r>
          </a:p>
        </p:txBody>
      </p:sp>
      <p:sp>
        <p:nvSpPr>
          <p:cNvPr id="339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361949" y="1619249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340" name="TextBox 3"/>
          <p:cNvSpPr txBox="1"/>
          <p:nvPr/>
        </p:nvSpPr>
        <p:spPr>
          <a:xfrm>
            <a:off x="450850" y="990599"/>
            <a:ext cx="5397500" cy="461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Heuristic #2: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Two</a:t>
            </a:r>
            <a:r>
              <a:rPr kumimoji="0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-</a:t>
            </a:r>
            <a:r>
              <a:rPr kumimoji="0" sz="24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cs typeface="Helvetica"/>
                <a:sym typeface="Helvetica"/>
              </a:rPr>
              <a:t>Opt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cs typeface="Helvetica"/>
              <a:sym typeface="Helvetic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741C33-0DEB-60E2-9A9C-DACE3B050272}"/>
              </a:ext>
            </a:extLst>
          </p:cNvPr>
          <p:cNvSpPr txBox="1"/>
          <p:nvPr/>
        </p:nvSpPr>
        <p:spPr>
          <a:xfrm>
            <a:off x="5647156" y="701775"/>
            <a:ext cx="6093994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The Two-opt heuristic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5B9BD5">
                    <a:lumMod val="75000"/>
                  </a:srgbClr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removes edge crossings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.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In TSP, crossed edges usually mean the path is suboptimal.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33A582-82AA-24A8-5F51-F6C43A1B30C0}"/>
              </a:ext>
            </a:extLst>
          </p:cNvPr>
          <p:cNvSpPr txBox="1"/>
          <p:nvPr/>
        </p:nvSpPr>
        <p:spPr>
          <a:xfrm>
            <a:off x="5848350" y="1738854"/>
            <a:ext cx="5543550" cy="36933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Example of a simple Two-opt: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/>
          <p:cNvSpPr txBox="1">
            <a:spLocks noGrp="1"/>
          </p:cNvSpPr>
          <p:nvPr>
            <p:ph type="title"/>
          </p:nvPr>
        </p:nvSpPr>
        <p:spPr>
          <a:xfrm>
            <a:off x="228596" y="280059"/>
            <a:ext cx="10439404" cy="1617018"/>
          </a:xfrm>
          <a:prstGeom prst="rect">
            <a:avLst/>
          </a:prstGeom>
        </p:spPr>
        <p:txBody>
          <a:bodyPr/>
          <a:lstStyle/>
          <a:p>
            <a:r>
              <a:t>Approximate Solution – non-Optimal test 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F1849F-7C62-17AA-4D48-B285282BF50F}"/>
              </a:ext>
            </a:extLst>
          </p:cNvPr>
          <p:cNvSpPr txBox="1"/>
          <p:nvPr/>
        </p:nvSpPr>
        <p:spPr>
          <a:xfrm>
            <a:off x="6288000" y="2235136"/>
            <a:ext cx="5239512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**Optimal cycle**: 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E (60.0) → F (1.0) → D (1.0) → C (40.0) → B (1.0) → A (1.0).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E F D C B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60 + 1 + 1 + 40 + 1 + 1 = 104.0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018C30-115E-00DB-116A-7C67FD913A60}"/>
              </a:ext>
            </a:extLst>
          </p:cNvPr>
          <p:cNvSpPr txBox="1"/>
          <p:nvPr/>
        </p:nvSpPr>
        <p:spPr>
          <a:xfrm>
            <a:off x="6288000" y="4050523"/>
            <a:ext cx="5510827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**Nearest neighbor from A**: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B (1.0) → C (1.0) → D (40.0) → E (1.0) → F (1.0) → A (100.0)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b c d e f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1 + 1 + 40 + 1 + 1 + 100 = 143.0</a:t>
            </a:r>
          </a:p>
        </p:txBody>
      </p:sp>
      <p:pic>
        <p:nvPicPr>
          <p:cNvPr id="324" name="Picture 323">
            <a:extLst>
              <a:ext uri="{FF2B5EF4-FFF2-40B4-BE49-F238E27FC236}">
                <a16:creationId xmlns:a16="http://schemas.microsoft.com/office/drawing/2014/main" id="{EFF93C16-9679-4A66-25B6-96915DC08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39" y="1646751"/>
            <a:ext cx="5811061" cy="464884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039D-F30B-620A-D3DD-9AED928E2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>
            <a:extLst>
              <a:ext uri="{FF2B5EF4-FFF2-40B4-BE49-F238E27FC236}">
                <a16:creationId xmlns:a16="http://schemas.microsoft.com/office/drawing/2014/main" id="{E82A6F1A-8758-96A7-1C7A-9F4726D5B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596" y="280059"/>
            <a:ext cx="10439404" cy="1617018"/>
          </a:xfrm>
          <a:prstGeom prst="rect">
            <a:avLst/>
          </a:prstGeom>
        </p:spPr>
        <p:txBody>
          <a:bodyPr/>
          <a:lstStyle/>
          <a:p>
            <a:r>
              <a:t>Approximate Solution – non-Optimal test 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21C720-6C0F-14CA-4AA7-3F72BB931D42}"/>
              </a:ext>
            </a:extLst>
          </p:cNvPr>
          <p:cNvSpPr txBox="1"/>
          <p:nvPr/>
        </p:nvSpPr>
        <p:spPr>
          <a:xfrm>
            <a:off x="6275793" y="1605144"/>
            <a:ext cx="5239512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**Optimal cycle**: 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E (60.0) → F (1.0) → D (1.0) → C (40.0) → B (1.0) → A (1.0).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E F D C B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60 + 1 + 1 + 40 + 1 + 1 = 104.0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8A3EA1-6CA7-1FF2-A952-2B9888927D7D}"/>
              </a:ext>
            </a:extLst>
          </p:cNvPr>
          <p:cNvSpPr txBox="1"/>
          <p:nvPr/>
        </p:nvSpPr>
        <p:spPr>
          <a:xfrm>
            <a:off x="6311496" y="3370107"/>
            <a:ext cx="5510827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A7A7A7">
                    <a:lumMod val="20000"/>
                    <a:lumOff val="80000"/>
                  </a:srgbClr>
                </a:solidFill>
                <a:effectLst/>
                <a:highlight>
                  <a:srgbClr val="FF0000"/>
                </a:highlight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**Nearest neighbor from a**: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B (1.0) → C (1.0) → D (40.0) → E (1.0) → F (1.0) → A (100.0)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B C D E F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1 + 1 + 40 + 1 + 1 + 100 = 143.0</a:t>
            </a:r>
          </a:p>
        </p:txBody>
      </p:sp>
      <p:pic>
        <p:nvPicPr>
          <p:cNvPr id="324" name="Picture 323">
            <a:extLst>
              <a:ext uri="{FF2B5EF4-FFF2-40B4-BE49-F238E27FC236}">
                <a16:creationId xmlns:a16="http://schemas.microsoft.com/office/drawing/2014/main" id="{599331D3-951C-B5D3-7BCA-2571AB849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39" y="1646751"/>
            <a:ext cx="5811061" cy="4648849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6BACAA02-2530-95CA-A102-509B9435FC8E}"/>
              </a:ext>
            </a:extLst>
          </p:cNvPr>
          <p:cNvSpPr/>
          <p:nvPr/>
        </p:nvSpPr>
        <p:spPr>
          <a:xfrm rot="10186203">
            <a:off x="932045" y="5672333"/>
            <a:ext cx="1758648" cy="140886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FAE2E46-19A0-6CE2-F3EE-B48C4BFD2E21}"/>
              </a:ext>
            </a:extLst>
          </p:cNvPr>
          <p:cNvSpPr/>
          <p:nvPr/>
        </p:nvSpPr>
        <p:spPr>
          <a:xfrm rot="11215856">
            <a:off x="2955057" y="5672849"/>
            <a:ext cx="2411132" cy="131476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CC7248D-F0DE-AC0F-46D7-29275C585D91}"/>
              </a:ext>
            </a:extLst>
          </p:cNvPr>
          <p:cNvSpPr/>
          <p:nvPr/>
        </p:nvSpPr>
        <p:spPr>
          <a:xfrm rot="5400000">
            <a:off x="4229300" y="4421113"/>
            <a:ext cx="2495386" cy="110677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7612DB31-B9D8-669F-1F6D-876C6ADD88ED}"/>
              </a:ext>
            </a:extLst>
          </p:cNvPr>
          <p:cNvSpPr/>
          <p:nvPr/>
        </p:nvSpPr>
        <p:spPr>
          <a:xfrm rot="2336117">
            <a:off x="4303539" y="2518252"/>
            <a:ext cx="1165642" cy="106423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06347DE-4920-F14F-87FE-D38768EEE05D}"/>
              </a:ext>
            </a:extLst>
          </p:cNvPr>
          <p:cNvSpPr/>
          <p:nvPr/>
        </p:nvSpPr>
        <p:spPr>
          <a:xfrm rot="21431375">
            <a:off x="732038" y="2095775"/>
            <a:ext cx="3418136" cy="98779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BEE857BC-581E-B774-F358-4F9BAD1ED3C6}"/>
              </a:ext>
            </a:extLst>
          </p:cNvPr>
          <p:cNvSpPr/>
          <p:nvPr/>
        </p:nvSpPr>
        <p:spPr>
          <a:xfrm rot="15917001">
            <a:off x="-1010610" y="4059978"/>
            <a:ext cx="3398826" cy="97587"/>
          </a:xfrm>
          <a:prstGeom prst="rightArrow">
            <a:avLst/>
          </a:prstGeom>
          <a:solidFill>
            <a:srgbClr val="FF0000"/>
          </a:solidFill>
          <a:ln w="25400" cap="flat">
            <a:solidFill>
              <a:srgbClr val="C0000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037A24-E8BB-8C57-F82C-984B355CBCCD}"/>
              </a:ext>
            </a:extLst>
          </p:cNvPr>
          <p:cNvSpPr txBox="1"/>
          <p:nvPr/>
        </p:nvSpPr>
        <p:spPr>
          <a:xfrm>
            <a:off x="6181970" y="5327288"/>
            <a:ext cx="6108192" cy="8225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 Any single 2‑edge swap in A B C D E F A increases cost (e.g., replacing (B,C) + (F,A) = 1 + 100 with (B,F) + (C,A) = 40 + 100), so the algorithm remains at 143.0 rather than reaching 104.0.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27BCE9-23B7-8616-054F-9156196A6F74}"/>
              </a:ext>
            </a:extLst>
          </p:cNvPr>
          <p:cNvSpPr txBox="1"/>
          <p:nvPr/>
        </p:nvSpPr>
        <p:spPr>
          <a:xfrm>
            <a:off x="6168261" y="4991890"/>
            <a:ext cx="2898648" cy="2863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WHAT ABOUT TWO-OPT?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388E98-5A9E-A27B-2DD6-4C0F558871EA}"/>
              </a:ext>
            </a:extLst>
          </p:cNvPr>
          <p:cNvSpPr txBox="1"/>
          <p:nvPr/>
        </p:nvSpPr>
        <p:spPr>
          <a:xfrm>
            <a:off x="3994484" y="6295600"/>
            <a:ext cx="3128211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Calibri"/>
                <a:ea typeface="Calibri"/>
                <a:cs typeface="Calibri"/>
                <a:sym typeface="Calibri"/>
              </a:rPr>
              <a:t>NOT BAD…..BUT NOT OPTIMAL</a:t>
            </a:r>
          </a:p>
        </p:txBody>
      </p:sp>
    </p:spTree>
    <p:extLst>
      <p:ext uri="{BB962C8B-B14F-4D97-AF65-F5344CB8AC3E}">
        <p14:creationId xmlns:p14="http://schemas.microsoft.com/office/powerpoint/2010/main" val="673301106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D62D7-E1BB-F733-9E1F-E9AA98A30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>
            <a:extLst>
              <a:ext uri="{FF2B5EF4-FFF2-40B4-BE49-F238E27FC236}">
                <a16:creationId xmlns:a16="http://schemas.microsoft.com/office/drawing/2014/main" id="{A93CB102-F48E-1BF4-1F78-73DFA457DB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8596" y="280059"/>
            <a:ext cx="10439404" cy="1617018"/>
          </a:xfrm>
          <a:prstGeom prst="rect">
            <a:avLst/>
          </a:prstGeom>
        </p:spPr>
        <p:txBody>
          <a:bodyPr/>
          <a:lstStyle/>
          <a:p>
            <a:r>
              <a:t>Approximate Solution – non-Optimal test case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F37559-AFFE-2A3B-0E6B-51AD5918FBF5}"/>
              </a:ext>
            </a:extLst>
          </p:cNvPr>
          <p:cNvSpPr txBox="1"/>
          <p:nvPr/>
        </p:nvSpPr>
        <p:spPr>
          <a:xfrm>
            <a:off x="6288000" y="2235136"/>
            <a:ext cx="5239512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00FF00"/>
                </a:highlight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**Optimal cycle**: </a:t>
            </a:r>
            <a:b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</a:b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E (60.0) → F (1.0) → D (1.0) → C (40.0) → B (1.0) → A (1.0).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E F D C B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60 + 1 + 1 + 40 + 1 + 1 = 104.0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E4F19D-EA17-A272-005D-CAD5A05C10B6}"/>
              </a:ext>
            </a:extLst>
          </p:cNvPr>
          <p:cNvSpPr txBox="1"/>
          <p:nvPr/>
        </p:nvSpPr>
        <p:spPr>
          <a:xfrm>
            <a:off x="6288000" y="4050523"/>
            <a:ext cx="5510827" cy="1477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**Nearest neighbor from a**: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→ B (1.0) → C (1.0) → D (40.0) → E (1.0) → F (1.0) → A (100.0)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a b c d e f a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Length: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1 + 1 + 40 + 1 + 1 + 100 = 143.0</a:t>
            </a:r>
          </a:p>
        </p:txBody>
      </p:sp>
      <p:pic>
        <p:nvPicPr>
          <p:cNvPr id="324" name="Picture 323">
            <a:extLst>
              <a:ext uri="{FF2B5EF4-FFF2-40B4-BE49-F238E27FC236}">
                <a16:creationId xmlns:a16="http://schemas.microsoft.com/office/drawing/2014/main" id="{6EFBA14C-4E9F-9FAA-A6BB-9935B1BD6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39" y="1646751"/>
            <a:ext cx="5811061" cy="4648849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70DEF4BF-7111-7B61-FB6F-C85329E6C615}"/>
              </a:ext>
            </a:extLst>
          </p:cNvPr>
          <p:cNvSpPr/>
          <p:nvPr/>
        </p:nvSpPr>
        <p:spPr>
          <a:xfrm>
            <a:off x="996696" y="5900184"/>
            <a:ext cx="4361688" cy="98280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CAACBAAA-33CC-6C8B-8AA5-EECAB48FF937}"/>
              </a:ext>
            </a:extLst>
          </p:cNvPr>
          <p:cNvSpPr/>
          <p:nvPr/>
        </p:nvSpPr>
        <p:spPr>
          <a:xfrm rot="11215856">
            <a:off x="2955057" y="5672849"/>
            <a:ext cx="2411132" cy="131476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107867C-9C44-58B7-FE64-4D05525191FB}"/>
              </a:ext>
            </a:extLst>
          </p:cNvPr>
          <p:cNvSpPr/>
          <p:nvPr/>
        </p:nvSpPr>
        <p:spPr>
          <a:xfrm rot="19024859">
            <a:off x="2520360" y="4265115"/>
            <a:ext cx="3349183" cy="110677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DDE288D-EFB1-D56A-7F42-57A6F15FE288}"/>
              </a:ext>
            </a:extLst>
          </p:cNvPr>
          <p:cNvSpPr/>
          <p:nvPr/>
        </p:nvSpPr>
        <p:spPr>
          <a:xfrm rot="13217629">
            <a:off x="4303539" y="2518252"/>
            <a:ext cx="1165642" cy="106423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EB7D6A0-D6F8-2B8B-F1F2-2A2A2492DEB1}"/>
              </a:ext>
            </a:extLst>
          </p:cNvPr>
          <p:cNvSpPr/>
          <p:nvPr/>
        </p:nvSpPr>
        <p:spPr>
          <a:xfrm rot="10648709">
            <a:off x="732038" y="2095775"/>
            <a:ext cx="3418136" cy="98779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337F3F33-3813-CC55-6737-B2590D7C6D22}"/>
              </a:ext>
            </a:extLst>
          </p:cNvPr>
          <p:cNvSpPr/>
          <p:nvPr/>
        </p:nvSpPr>
        <p:spPr>
          <a:xfrm rot="5097061">
            <a:off x="-1010610" y="4059978"/>
            <a:ext cx="3398826" cy="97587"/>
          </a:xfrm>
          <a:prstGeom prst="rightArrow">
            <a:avLst/>
          </a:prstGeom>
          <a:solidFill>
            <a:srgbClr val="00B050"/>
          </a:solidFill>
          <a:ln w="25400" cap="flat">
            <a:solidFill>
              <a:srgbClr val="92D05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3665112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itle 1"/>
          <p:cNvSpPr txBox="1">
            <a:spLocks noGrp="1"/>
          </p:cNvSpPr>
          <p:nvPr>
            <p:ph type="title"/>
          </p:nvPr>
        </p:nvSpPr>
        <p:spPr>
          <a:xfrm>
            <a:off x="553450" y="418786"/>
            <a:ext cx="10900614" cy="1603464"/>
          </a:xfrm>
          <a:prstGeom prst="rect">
            <a:avLst/>
          </a:prstGeom>
        </p:spPr>
        <p:txBody>
          <a:bodyPr/>
          <a:lstStyle/>
          <a:p>
            <a:r>
              <a:t>Approximate vs exact solution – compare results</a:t>
            </a:r>
          </a:p>
        </p:txBody>
      </p:sp>
      <p:sp>
        <p:nvSpPr>
          <p:cNvPr id="352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9" y="2022250"/>
            <a:ext cx="6196265" cy="391491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plots that compare the result/solution of your exact solution versus the approximation on your test cases. This is where you show the </a:t>
            </a:r>
            <a:r>
              <a:rPr b="1"/>
              <a:t>value</a:t>
            </a:r>
            <a:r>
              <a:t> achieved by both and see how well your approximation did versus the optimal solution.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itle 1"/>
          <p:cNvSpPr txBox="1">
            <a:spLocks noGrp="1"/>
          </p:cNvSpPr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r>
              <a:t>Approximate vs exact solution – run time (wall clock)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F077AAF-0E61-97AC-75C1-A95B70EA644A}"/>
              </a:ext>
            </a:extLst>
          </p:cNvPr>
          <p:cNvGraphicFramePr>
            <a:graphicFrameLocks/>
          </p:cNvGraphicFramePr>
          <p:nvPr/>
        </p:nvGraphicFramePr>
        <p:xfrm>
          <a:off x="198146" y="1612232"/>
          <a:ext cx="6960643" cy="49570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CB98FAC-D56B-8692-6402-3F26E2ADD190}"/>
              </a:ext>
            </a:extLst>
          </p:cNvPr>
          <p:cNvGraphicFramePr>
            <a:graphicFrameLocks noGrp="1"/>
          </p:cNvGraphicFramePr>
          <p:nvPr/>
        </p:nvGraphicFramePr>
        <p:xfrm>
          <a:off x="7279105" y="1612232"/>
          <a:ext cx="3645569" cy="4211064"/>
        </p:xfrm>
        <a:graphic>
          <a:graphicData uri="http://schemas.openxmlformats.org/drawingml/2006/table">
            <a:tbl>
              <a:tblPr/>
              <a:tblGrid>
                <a:gridCol w="1456012">
                  <a:extLst>
                    <a:ext uri="{9D8B030D-6E8A-4147-A177-3AD203B41FA5}">
                      <a16:colId xmlns:a16="http://schemas.microsoft.com/office/drawing/2014/main" val="846597469"/>
                    </a:ext>
                  </a:extLst>
                </a:gridCol>
                <a:gridCol w="1152398">
                  <a:extLst>
                    <a:ext uri="{9D8B030D-6E8A-4147-A177-3AD203B41FA5}">
                      <a16:colId xmlns:a16="http://schemas.microsoft.com/office/drawing/2014/main" val="1860908910"/>
                    </a:ext>
                  </a:extLst>
                </a:gridCol>
                <a:gridCol w="1037159">
                  <a:extLst>
                    <a:ext uri="{9D8B030D-6E8A-4147-A177-3AD203B41FA5}">
                      <a16:colId xmlns:a16="http://schemas.microsoft.com/office/drawing/2014/main" val="1841577022"/>
                    </a:ext>
                  </a:extLst>
                </a:gridCol>
              </a:tblGrid>
              <a:tr h="2339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Approximate Solution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Exact Solution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 of nodes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851157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0.0000088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0.0000077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370362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0.0000115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0.0000153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52150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0.0000128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0.000052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4624334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0.0000158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0.0003112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808729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0.0000166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0.0024893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991530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0.0000175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0.0230878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5456925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0.0000373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0.2287903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708635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0.0000223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2.4284377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8233142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0.0000257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27.6510172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4477869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0.0000294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410.1124702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142114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0.0000302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9600.488107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9928001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0.0000327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244000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0445391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0.0000576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3.92E+06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2132834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0.0000879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7.76E+19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9361948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0.0003045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3.04E+59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487020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0.001417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1.87E+153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386740"/>
                  </a:ext>
                </a:extLst>
              </a:tr>
              <a:tr h="233948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0.2630184</a:t>
                      </a:r>
                    </a:p>
                  </a:txBody>
                  <a:tcPr marL="8714" marR="8714" marT="8714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8.04E+269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8714" marR="8714" marT="8714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0783667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itle 1"/>
          <p:cNvSpPr txBox="1">
            <a:spLocks noGrp="1"/>
          </p:cNvSpPr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r>
              <a:rPr dirty="0"/>
              <a:t>Approximate vs exact solution – </a:t>
            </a:r>
            <a:r>
              <a:rPr lang="en-US" dirty="0"/>
              <a:t>Time Complexity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60206C-B0AE-C2AE-8510-F4C38D6DA82F}"/>
              </a:ext>
            </a:extLst>
          </p:cNvPr>
          <p:cNvSpPr txBox="1"/>
          <p:nvPr/>
        </p:nvSpPr>
        <p:spPr>
          <a:xfrm>
            <a:off x="4275221" y="2468896"/>
            <a:ext cx="7002379" cy="39703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Every TSP tour </a:t>
            </a:r>
            <a:r>
              <a:rPr kumimoji="0" lang="en-US" sz="20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must connect all nodes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, and MST is the minimal total edge weight connecting all nodes, so the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MST’s length is our lower bound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for TSP.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Δ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 = Tour length found by our algorithm – Lower Bound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                                          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Example (test case ’14.txt’):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MST Length calculation </a:t>
            </a: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≈ 2565.36</a:t>
            </a: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Tour length printed by our algorithm = 2727.8113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Δ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= 2727.8113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2565.36 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≈ 144.4513</a:t>
            </a: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C70403-A7FB-36B2-E52D-80A77929D467}"/>
              </a:ext>
            </a:extLst>
          </p:cNvPr>
          <p:cNvSpPr txBox="1"/>
          <p:nvPr/>
        </p:nvSpPr>
        <p:spPr>
          <a:xfrm>
            <a:off x="882315" y="1897468"/>
            <a:ext cx="2586790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Worst Case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C004D-279E-C69D-9966-7B154369A560}"/>
              </a:ext>
            </a:extLst>
          </p:cNvPr>
          <p:cNvSpPr txBox="1"/>
          <p:nvPr/>
        </p:nvSpPr>
        <p:spPr>
          <a:xfrm>
            <a:off x="6625389" y="1897467"/>
            <a:ext cx="2586790" cy="46166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Lower Bound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E6CB8A-8F85-DDF0-84CF-63B1A7599751}"/>
              </a:ext>
            </a:extLst>
          </p:cNvPr>
          <p:cNvSpPr txBox="1"/>
          <p:nvPr/>
        </p:nvSpPr>
        <p:spPr>
          <a:xfrm>
            <a:off x="268706" y="2683653"/>
            <a:ext cx="3725778" cy="23083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Still Polynomial Time!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enorite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O(n)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 (build adjacency dictionary)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enorite" panose="00000500000000000000" pitchFamily="2" charset="0"/>
                <a:ea typeface="Calibri"/>
                <a:cs typeface="Calibri"/>
                <a:sym typeface="Calibri"/>
              </a:rPr>
              <a:t>+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O(n²) (Nearest Neighbor)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O(n²) (Two-</a:t>
            </a:r>
            <a:r>
              <a:rPr kumimoji="0" 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Opt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pair checks)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O(n³) (Two-opt worst case switch)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+ O(n) (Calculate tour length)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 =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ourier New"/>
              </a:rPr>
              <a:t>O(n³) 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Title 6"/>
          <p:cNvSpPr txBox="1">
            <a:spLocks noGrp="1"/>
          </p:cNvSpPr>
          <p:nvPr>
            <p:ph type="title"/>
          </p:nvPr>
        </p:nvSpPr>
        <p:spPr>
          <a:xfrm>
            <a:off x="170522" y="820"/>
            <a:ext cx="5134663" cy="2689635"/>
          </a:xfrm>
          <a:prstGeom prst="rect">
            <a:avLst/>
          </a:prstGeom>
        </p:spPr>
        <p:txBody>
          <a:bodyPr/>
          <a:lstStyle/>
          <a:p>
            <a:r>
              <a:t>Certifier verification is polynomial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itle 1"/>
          <p:cNvSpPr txBox="1">
            <a:spLocks noGrp="1"/>
          </p:cNvSpPr>
          <p:nvPr>
            <p:ph type="title"/>
          </p:nvPr>
        </p:nvSpPr>
        <p:spPr>
          <a:xfrm>
            <a:off x="923540" y="584477"/>
            <a:ext cx="10354062" cy="1209767"/>
          </a:xfrm>
          <a:prstGeom prst="rect">
            <a:avLst/>
          </a:prstGeom>
        </p:spPr>
        <p:txBody>
          <a:bodyPr/>
          <a:lstStyle/>
          <a:p>
            <a:r>
              <a:t>REDUCTION FROM KNOWN NP-hard SOLution</a:t>
            </a:r>
          </a:p>
        </p:txBody>
      </p:sp>
      <p:sp>
        <p:nvSpPr>
          <p:cNvPr id="357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20</a:t>
            </a:fld>
            <a:endParaRPr/>
          </a:p>
        </p:txBody>
      </p:sp>
      <p:sp>
        <p:nvSpPr>
          <p:cNvPr id="358" name="Reduce from hamiltonian cycle"/>
          <p:cNvSpPr txBox="1"/>
          <p:nvPr/>
        </p:nvSpPr>
        <p:spPr>
          <a:xfrm>
            <a:off x="5641192" y="3194093"/>
            <a:ext cx="322975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r>
              <a:t>Reduce from hamiltonian cycle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Title 6"/>
          <p:cNvSpPr txBox="1">
            <a:spLocks noGrp="1"/>
          </p:cNvSpPr>
          <p:nvPr>
            <p:ph type="title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/>
          <a:lstStyle/>
          <a:p>
            <a:r>
              <a:t>Analytical runtime Analysis</a:t>
            </a:r>
          </a:p>
        </p:txBody>
      </p:sp>
      <p:pic>
        <p:nvPicPr>
          <p:cNvPr id="361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362" name="Text Placeholder 4"/>
          <p:cNvSpPr txBox="1">
            <a:spLocks noGrp="1"/>
          </p:cNvSpPr>
          <p:nvPr>
            <p:ph type="body" sz="quarter" idx="1"/>
          </p:nvPr>
        </p:nvSpPr>
        <p:spPr>
          <a:xfrm>
            <a:off x="6126162" y="4172989"/>
            <a:ext cx="4806001" cy="2389742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itle 1"/>
          <p:cNvSpPr txBox="1"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r>
              <a:t>Empirical runtime analysis</a:t>
            </a:r>
          </a:p>
        </p:txBody>
      </p:sp>
      <p:sp>
        <p:nvSpPr>
          <p:cNvPr id="365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914395" y="2022250"/>
            <a:ext cx="3310137" cy="3747181"/>
          </a:xfrm>
          <a:prstGeom prst="rect">
            <a:avLst/>
          </a:prstGeom>
        </p:spPr>
        <p:txBody>
          <a:bodyPr/>
          <a:lstStyle/>
          <a:p>
            <a:r>
              <a:t>Unique</a:t>
            </a:r>
          </a:p>
          <a:p>
            <a:r>
              <a:t>First to market</a:t>
            </a:r>
          </a:p>
          <a:p>
            <a:r>
              <a:t>Tested</a:t>
            </a:r>
          </a:p>
          <a:p>
            <a:r>
              <a:t>Authentic</a:t>
            </a:r>
          </a:p>
        </p:txBody>
      </p:sp>
      <p:sp>
        <p:nvSpPr>
          <p:cNvPr id="366" name="Content Placeholder 3"/>
          <p:cNvSpPr txBox="1"/>
          <p:nvPr/>
        </p:nvSpPr>
        <p:spPr>
          <a:xfrm>
            <a:off x="4648029" y="2018120"/>
            <a:ext cx="6660048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Designed with the help and input of experts in the field </a:t>
            </a:r>
          </a:p>
        </p:txBody>
      </p:sp>
      <p:sp>
        <p:nvSpPr>
          <p:cNvPr id="367" name="Slide Number Placeholder 4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38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22</a:t>
            </a:fld>
            <a:endParaRPr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itle 1"/>
          <p:cNvSpPr txBox="1">
            <a:spLocks noGrp="1"/>
          </p:cNvSpPr>
          <p:nvPr>
            <p:ph type="title"/>
          </p:nvPr>
        </p:nvSpPr>
        <p:spPr>
          <a:xfrm>
            <a:off x="914400" y="2580637"/>
            <a:ext cx="5181600" cy="3368829"/>
          </a:xfrm>
          <a:prstGeom prst="rect">
            <a:avLst/>
          </a:prstGeom>
        </p:spPr>
        <p:txBody>
          <a:bodyPr/>
          <a:lstStyle/>
          <a:p>
            <a:r>
              <a:t>Reduction</a:t>
            </a:r>
          </a:p>
        </p:txBody>
      </p:sp>
      <p:pic>
        <p:nvPicPr>
          <p:cNvPr id="370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itle 1"/>
          <p:cNvSpPr txBox="1">
            <a:spLocks noGrp="1"/>
          </p:cNvSpPr>
          <p:nvPr>
            <p:ph type="title"/>
          </p:nvPr>
        </p:nvSpPr>
        <p:spPr>
          <a:xfrm>
            <a:off x="6095998" y="375280"/>
            <a:ext cx="4896685" cy="3624995"/>
          </a:xfrm>
          <a:prstGeom prst="rect">
            <a:avLst/>
          </a:prstGeom>
        </p:spPr>
        <p:txBody>
          <a:bodyPr/>
          <a:lstStyle/>
          <a:p>
            <a:r>
              <a:t>Enhancing the Approximate Solution</a:t>
            </a:r>
          </a:p>
        </p:txBody>
      </p:sp>
      <p:sp>
        <p:nvSpPr>
          <p:cNvPr id="373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6095998" y="4172989"/>
            <a:ext cx="4896685" cy="2309733"/>
          </a:xfrm>
          <a:prstGeom prst="rect">
            <a:avLst/>
          </a:prstGeom>
        </p:spPr>
        <p:txBody>
          <a:bodyPr/>
          <a:lstStyle/>
          <a:p>
            <a:r>
              <a:t>Featuring randomness</a:t>
            </a:r>
          </a:p>
        </p:txBody>
      </p:sp>
      <p:pic>
        <p:nvPicPr>
          <p:cNvPr id="374" name="Picture Placeholder 2" descr="Picture Placeholder 2"/>
          <p:cNvPicPr>
            <a:picLocks noGrp="1" noChangeAspect="1"/>
          </p:cNvPicPr>
          <p:nvPr>
            <p:ph type="pic" idx="21"/>
          </p:nvPr>
        </p:nvPicPr>
        <p:blipFill>
          <a:blip r:embed="rId2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t>Where DO We Fall Short?</a:t>
            </a:r>
          </a:p>
        </p:txBody>
      </p:sp>
      <p:sp>
        <p:nvSpPr>
          <p:cNvPr id="377" name="Slide Number Placeholder 3"/>
          <p:cNvSpPr txBox="1">
            <a:spLocks noGrp="1"/>
          </p:cNvSpPr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25</a:t>
            </a:fld>
            <a:endParaRPr/>
          </a:p>
        </p:txBody>
      </p:sp>
      <p:sp>
        <p:nvSpPr>
          <p:cNvPr id="378" name="TextBox 1"/>
          <p:cNvSpPr txBox="1"/>
          <p:nvPr/>
        </p:nvSpPr>
        <p:spPr>
          <a:xfrm>
            <a:off x="914399" y="1822536"/>
            <a:ext cx="7496827" cy="250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No randomness </a:t>
            </a:r>
            <a:r>
              <a:rPr b="0"/>
              <a:t>limits graph exploration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Dependent </a:t>
            </a:r>
            <a:r>
              <a:rPr b="0"/>
              <a:t>on </a:t>
            </a:r>
            <a:r>
              <a:t>starting node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sz="3200" b="1">
                <a:latin typeface="Tenorite"/>
                <a:ea typeface="Tenorite"/>
                <a:cs typeface="Tenorite"/>
                <a:sym typeface="Tenorite"/>
              </a:defRPr>
            </a:pPr>
            <a:r>
              <a:t>Mutates a list</a:t>
            </a:r>
            <a:r>
              <a:rPr b="0"/>
              <a:t> while iterating through it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B474A-DDC9-D5C8-0B4A-EDE743008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Version 3.5, “Zenith”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1C8D55-71D7-A03C-60A9-1531FAA8AD7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914399" y="2022250"/>
            <a:ext cx="6413075" cy="3580751"/>
          </a:xfrm>
        </p:spPr>
        <p:txBody>
          <a:bodyPr>
            <a:normAutofit fontScale="85000" lnSpcReduction="20000"/>
          </a:bodyPr>
          <a:lstStyle/>
          <a:p>
            <a:r>
              <a:rPr lang="en-US" sz="3200" b="0" dirty="0"/>
              <a:t>It was – and is – </a:t>
            </a:r>
            <a:r>
              <a:rPr lang="en-US" sz="3200" dirty="0"/>
              <a:t>an iterative process</a:t>
            </a:r>
          </a:p>
          <a:p>
            <a:r>
              <a:rPr lang="en-US" sz="3200" dirty="0"/>
              <a:t>Randomly </a:t>
            </a:r>
            <a:r>
              <a:rPr lang="en-US" sz="3200" b="0" dirty="0"/>
              <a:t>determines:</a:t>
            </a:r>
          </a:p>
          <a:p>
            <a:pPr lvl="1"/>
            <a:r>
              <a:rPr lang="en-US" sz="3200" b="0" dirty="0"/>
              <a:t>Starting node</a:t>
            </a:r>
          </a:p>
          <a:p>
            <a:pPr lvl="1"/>
            <a:r>
              <a:rPr lang="en-US" sz="3200" b="0" dirty="0"/>
              <a:t>Min-weight neighbor to choose</a:t>
            </a:r>
          </a:p>
          <a:p>
            <a:pPr lvl="1"/>
            <a:r>
              <a:rPr lang="en-US" sz="3200" b="0" dirty="0"/>
              <a:t>Swapping endpoints in a segment.</a:t>
            </a:r>
          </a:p>
          <a:p>
            <a:r>
              <a:rPr lang="en-US" sz="3200" dirty="0"/>
              <a:t>Reorders output </a:t>
            </a:r>
            <a:r>
              <a:rPr lang="en-US" sz="3200" b="0" dirty="0"/>
              <a:t>path to be </a:t>
            </a:r>
            <a:r>
              <a:rPr lang="en-US" sz="3200" dirty="0"/>
              <a:t>consistent.</a:t>
            </a:r>
          </a:p>
          <a:p>
            <a:r>
              <a:rPr lang="en-US" sz="3200" dirty="0"/>
              <a:t>Iterates</a:t>
            </a:r>
            <a:r>
              <a:rPr lang="en-US" sz="3200" b="0" dirty="0"/>
              <a:t> on solution </a:t>
            </a:r>
            <a:r>
              <a:rPr lang="en-US" sz="3200" dirty="0"/>
              <a:t>by looping </a:t>
            </a:r>
            <a:r>
              <a:rPr lang="en-US" sz="3200" b="0" dirty="0"/>
              <a:t>several times.</a:t>
            </a:r>
          </a:p>
          <a:p>
            <a:pPr lvl="1"/>
            <a:endParaRPr lang="en-US" b="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C963B5-A4D1-FBB1-1546-7A891E0067E5}"/>
              </a:ext>
            </a:extLst>
          </p:cNvPr>
          <p:cNvCxnSpPr/>
          <p:nvPr/>
        </p:nvCxnSpPr>
        <p:spPr>
          <a:xfrm>
            <a:off x="9438569" y="294571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D14BC32-7700-2F94-D390-BB10C1BF92E9}"/>
              </a:ext>
            </a:extLst>
          </p:cNvPr>
          <p:cNvCxnSpPr/>
          <p:nvPr/>
        </p:nvCxnSpPr>
        <p:spPr>
          <a:xfrm>
            <a:off x="7855246" y="2380098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0BB086-1E4F-9CD9-D280-6F499A1A3E16}"/>
              </a:ext>
            </a:extLst>
          </p:cNvPr>
          <p:cNvCxnSpPr/>
          <p:nvPr/>
        </p:nvCxnSpPr>
        <p:spPr>
          <a:xfrm>
            <a:off x="7805127" y="359227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A10FA5-B9A4-D094-7543-47AE2B85EA75}"/>
              </a:ext>
            </a:extLst>
          </p:cNvPr>
          <p:cNvCxnSpPr/>
          <p:nvPr/>
        </p:nvCxnSpPr>
        <p:spPr>
          <a:xfrm>
            <a:off x="9518863" y="4321546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9214F5A-59C9-8916-2CA4-3FAF61979506}"/>
              </a:ext>
            </a:extLst>
          </p:cNvPr>
          <p:cNvCxnSpPr/>
          <p:nvPr/>
        </p:nvCxnSpPr>
        <p:spPr>
          <a:xfrm>
            <a:off x="7805127" y="4829887"/>
            <a:ext cx="1834937" cy="0"/>
          </a:xfrm>
          <a:prstGeom prst="line">
            <a:avLst/>
          </a:prstGeom>
          <a:noFill/>
          <a:ln w="25400" cap="flat">
            <a:solidFill>
              <a:schemeClr val="tx1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059735D-8570-E230-1966-8F81BEB35C2F}"/>
              </a:ext>
            </a:extLst>
          </p:cNvPr>
          <p:cNvSpPr txBox="1"/>
          <p:nvPr/>
        </p:nvSpPr>
        <p:spPr>
          <a:xfrm>
            <a:off x="7724328" y="1977448"/>
            <a:ext cx="1915736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Approx. Solution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08D522-7FD6-D006-EE0F-9FBD7AAE4A55}"/>
              </a:ext>
            </a:extLst>
          </p:cNvPr>
          <p:cNvSpPr txBox="1"/>
          <p:nvPr/>
        </p:nvSpPr>
        <p:spPr>
          <a:xfrm>
            <a:off x="9561308" y="2560068"/>
            <a:ext cx="2535565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v2, limited randomness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B0C26F-13A3-680A-DFAF-029417908281}"/>
              </a:ext>
            </a:extLst>
          </p:cNvPr>
          <p:cNvSpPr txBox="1"/>
          <p:nvPr/>
        </p:nvSpPr>
        <p:spPr>
          <a:xfrm>
            <a:off x="8037306" y="3174737"/>
            <a:ext cx="1602758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v2.5, iteration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AC6147-132C-7303-D367-AFFE730A083F}"/>
              </a:ext>
            </a:extLst>
          </p:cNvPr>
          <p:cNvSpPr txBox="1"/>
          <p:nvPr/>
        </p:nvSpPr>
        <p:spPr>
          <a:xfrm>
            <a:off x="9603753" y="3935896"/>
            <a:ext cx="2240487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v3, more </a:t>
            </a:r>
            <a:r>
              <a:rPr kumimoji="0" lang="en-US" sz="1800" b="0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rPr>
              <a:t>ra</a:t>
            </a:r>
            <a:r>
              <a:rPr lang="en-US" dirty="0" err="1"/>
              <a:t>ndomess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8D506B-8681-567D-88DE-18D967B84FC9}"/>
              </a:ext>
            </a:extLst>
          </p:cNvPr>
          <p:cNvSpPr txBox="1"/>
          <p:nvPr/>
        </p:nvSpPr>
        <p:spPr>
          <a:xfrm>
            <a:off x="7449696" y="4468451"/>
            <a:ext cx="2240487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/>
              <a:t>v3.5, more iteration</a:t>
            </a:r>
            <a:endParaRPr kumimoji="0" lang="en-US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AB2B5B-DC82-4A02-D969-CC330EA887CC}"/>
              </a:ext>
            </a:extLst>
          </p:cNvPr>
          <p:cNvSpPr txBox="1"/>
          <p:nvPr/>
        </p:nvSpPr>
        <p:spPr>
          <a:xfrm>
            <a:off x="8249023" y="4829887"/>
            <a:ext cx="756380" cy="3693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i="1" dirty="0"/>
              <a:t>Zenith</a:t>
            </a:r>
            <a:endParaRPr kumimoji="0" lang="en-US" sz="1800" b="0" i="1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Helvetica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10AD73-5591-33E8-98EF-55516987D2C6}"/>
              </a:ext>
            </a:extLst>
          </p:cNvPr>
          <p:cNvCxnSpPr>
            <a:cxnSpLocks/>
          </p:cNvCxnSpPr>
          <p:nvPr/>
        </p:nvCxnSpPr>
        <p:spPr>
          <a:xfrm>
            <a:off x="9549543" y="1669545"/>
            <a:ext cx="0" cy="37490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462097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itle 6"/>
          <p:cNvSpPr txBox="1">
            <a:spLocks noGrp="1"/>
          </p:cNvSpPr>
          <p:nvPr>
            <p:ph type="title"/>
          </p:nvPr>
        </p:nvSpPr>
        <p:spPr>
          <a:xfrm>
            <a:off x="60794" y="-379570"/>
            <a:ext cx="8875287" cy="2023699"/>
          </a:xfrm>
          <a:prstGeom prst="rect">
            <a:avLst/>
          </a:prstGeom>
        </p:spPr>
        <p:txBody>
          <a:bodyPr/>
          <a:lstStyle/>
          <a:p>
            <a:r>
              <a:t>Sample Problem: The GRaph</a:t>
            </a:r>
          </a:p>
        </p:txBody>
      </p:sp>
      <p:pic>
        <p:nvPicPr>
          <p:cNvPr id="384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397" y="1552075"/>
            <a:ext cx="5127956" cy="5127955"/>
          </a:xfrm>
          <a:prstGeom prst="rect">
            <a:avLst/>
          </a:prstGeom>
          <a:ln w="12700">
            <a:miter lim="400000"/>
          </a:ln>
        </p:spPr>
      </p:pic>
      <p:sp>
        <p:nvSpPr>
          <p:cNvPr id="385" name="TextBox 9"/>
          <p:cNvSpPr txBox="1"/>
          <p:nvPr/>
        </p:nvSpPr>
        <p:spPr>
          <a:xfrm>
            <a:off x="294573" y="1933126"/>
            <a:ext cx="6670824" cy="3820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edges </a:t>
            </a:r>
            <a:r>
              <a:t>inside</a:t>
            </a:r>
            <a:r>
              <a:rPr b="0"/>
              <a:t> each cluster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Inter-cluster edges </a:t>
            </a:r>
            <a:r>
              <a:rPr b="0"/>
              <a:t>designed to </a:t>
            </a:r>
            <a:r>
              <a:t>mislead</a:t>
            </a:r>
            <a:r>
              <a:rPr b="0"/>
              <a:t>: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inter-cluster edges are </a:t>
            </a:r>
            <a:r>
              <a:t>bait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1000 weight </a:t>
            </a:r>
            <a:r>
              <a:rPr b="1"/>
              <a:t>trap edge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711200" lvl="1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All other inter-cluster edges are </a:t>
            </a:r>
            <a:r>
              <a:rPr b="1"/>
              <a:t>moderately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 b="1">
                <a:latin typeface="Tenorite"/>
                <a:ea typeface="Tenorite"/>
                <a:cs typeface="Tenorite"/>
                <a:sym typeface="Tenorite"/>
              </a:defRPr>
            </a:pPr>
            <a:r>
              <a:t>Optimal path: </a:t>
            </a:r>
            <a:r>
              <a:rPr b="0"/>
              <a:t>length of 12.6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Title 1"/>
          <p:cNvSpPr txBox="1">
            <a:spLocks noGrp="1"/>
          </p:cNvSpPr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rPr dirty="0"/>
              <a:t>Sample Problem: The Results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7EF1B34-2D28-3362-9D67-16B993133B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1789931"/>
              </p:ext>
            </p:extLst>
          </p:nvPr>
        </p:nvGraphicFramePr>
        <p:xfrm>
          <a:off x="241247" y="1540364"/>
          <a:ext cx="6938941" cy="45044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872BEDDA-CB9C-48CF-37C7-B50649AB5F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1431114"/>
              </p:ext>
            </p:extLst>
          </p:nvPr>
        </p:nvGraphicFramePr>
        <p:xfrm>
          <a:off x="7124956" y="1540364"/>
          <a:ext cx="4387892" cy="45044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itle 1"/>
          <p:cNvSpPr txBox="1">
            <a:spLocks noGrp="1"/>
          </p:cNvSpPr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r>
              <a:t>Sample Problem: The Runtimes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AAB065-8DBF-1B07-D9FA-D8692EB650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075404"/>
              </p:ext>
            </p:extLst>
          </p:nvPr>
        </p:nvGraphicFramePr>
        <p:xfrm>
          <a:off x="276941" y="2100624"/>
          <a:ext cx="5377548" cy="311593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69288">
                  <a:extLst>
                    <a:ext uri="{9D8B030D-6E8A-4147-A177-3AD203B41FA5}">
                      <a16:colId xmlns:a16="http://schemas.microsoft.com/office/drawing/2014/main" val="2024923463"/>
                    </a:ext>
                  </a:extLst>
                </a:gridCol>
                <a:gridCol w="3308260">
                  <a:extLst>
                    <a:ext uri="{9D8B030D-6E8A-4147-A177-3AD203B41FA5}">
                      <a16:colId xmlns:a16="http://schemas.microsoft.com/office/drawing/2014/main" val="2382656257"/>
                    </a:ext>
                  </a:extLst>
                </a:gridCol>
              </a:tblGrid>
              <a:tr h="571284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Program</a:t>
                      </a:r>
                    </a:p>
                  </a:txBody>
                  <a:tcPr anchor="b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C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Average Runtime (Seconds)</a:t>
                      </a:r>
                    </a:p>
                  </a:txBody>
                  <a:tcPr anchor="b"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C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218785"/>
                  </a:ext>
                </a:extLst>
              </a:tr>
              <a:tr h="571284">
                <a:tc>
                  <a:txBody>
                    <a:bodyPr/>
                    <a:lstStyle/>
                    <a:p>
                      <a:r>
                        <a:rPr lang="en-US" sz="2000" dirty="0"/>
                        <a:t>Exact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36.25096352</a:t>
                      </a:r>
                    </a:p>
                  </a:txBody>
                  <a:tcP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106264748"/>
                  </a:ext>
                </a:extLst>
              </a:tr>
              <a:tr h="571284">
                <a:tc>
                  <a:txBody>
                    <a:bodyPr/>
                    <a:lstStyle/>
                    <a:p>
                      <a:r>
                        <a:rPr lang="en-US" sz="2000" dirty="0"/>
                        <a:t>Approximate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0.000046262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863009"/>
                  </a:ext>
                </a:extLst>
              </a:tr>
              <a:tr h="571284">
                <a:tc>
                  <a:txBody>
                    <a:bodyPr/>
                    <a:lstStyle/>
                    <a:p>
                      <a:r>
                        <a:rPr lang="en-US" sz="2000" dirty="0"/>
                        <a:t>Zenith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0.017063243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079168"/>
                  </a:ext>
                </a:extLst>
              </a:tr>
              <a:tr h="571284">
                <a:tc>
                  <a:txBody>
                    <a:bodyPr/>
                    <a:lstStyle/>
                    <a:p>
                      <a:r>
                        <a:rPr lang="en-US" sz="2000" dirty="0"/>
                        <a:t>Parallelized Zenith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dirty="0"/>
                        <a:t>0.755844638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72927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E1CEF4A-CA86-9527-A84D-77159B49F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2181" y="1559807"/>
            <a:ext cx="5581937" cy="419756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itle 1"/>
          <p:cNvSpPr txBox="1">
            <a:spLocks noGrp="1"/>
          </p:cNvSpPr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r>
              <a:t>Takeaways</a:t>
            </a:r>
          </a:p>
        </p:txBody>
      </p:sp>
      <p:sp>
        <p:nvSpPr>
          <p:cNvPr id="394" name="Text Placeholder 2"/>
          <p:cNvSpPr txBox="1">
            <a:spLocks noGrp="1"/>
          </p:cNvSpPr>
          <p:nvPr>
            <p:ph type="body" sz="half" idx="1"/>
          </p:nvPr>
        </p:nvSpPr>
        <p:spPr>
          <a:xfrm>
            <a:off x="914399" y="2011363"/>
            <a:ext cx="7273640" cy="4155761"/>
          </a:xfrm>
          <a:prstGeom prst="rect">
            <a:avLst/>
          </a:prstGeom>
        </p:spPr>
        <p:txBody>
          <a:bodyPr/>
          <a:lstStyle/>
          <a:p>
            <a:r>
              <a:rPr lang="en-US" b="1" dirty="0"/>
              <a:t>Randomness and iterative improvement </a:t>
            </a:r>
            <a:r>
              <a:rPr lang="en-US" dirty="0"/>
              <a:t>greatly increases accuracy</a:t>
            </a:r>
          </a:p>
          <a:p>
            <a:r>
              <a:rPr lang="en-US" dirty="0"/>
              <a:t>However, it also </a:t>
            </a:r>
            <a:r>
              <a:rPr lang="en-US" b="1" dirty="0"/>
              <a:t>greatly increases cost</a:t>
            </a:r>
          </a:p>
          <a:p>
            <a:r>
              <a:rPr lang="en-US" dirty="0"/>
              <a:t>Ultimately, the </a:t>
            </a:r>
            <a:r>
              <a:rPr lang="en-US" b="1" dirty="0"/>
              <a:t>tradeoff is worth it</a:t>
            </a:r>
          </a:p>
          <a:p>
            <a:pPr lvl="1"/>
            <a:endParaRPr dirty="0"/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Graphic 2" descr="Graphic 2"/>
          <p:cNvPicPr>
            <a:picLocks noChangeAspect="1"/>
          </p:cNvPicPr>
          <p:nvPr/>
        </p:nvPicPr>
        <p:blipFill>
          <a:blip r:embed="rId2"/>
          <a:srcRect l="4151" r="18576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99" name="Title 6"/>
          <p:cNvSpPr txBox="1">
            <a:spLocks noGrp="1"/>
          </p:cNvSpPr>
          <p:nvPr>
            <p:ph type="title"/>
          </p:nvPr>
        </p:nvSpPr>
        <p:spPr>
          <a:xfrm>
            <a:off x="6091515" y="374085"/>
            <a:ext cx="5057105" cy="3624995"/>
          </a:xfrm>
          <a:prstGeom prst="rect">
            <a:avLst/>
          </a:prstGeom>
        </p:spPr>
        <p:txBody>
          <a:bodyPr/>
          <a:lstStyle/>
          <a:p>
            <a:r>
              <a:t>Questions?</a:t>
            </a:r>
          </a:p>
        </p:txBody>
      </p:sp>
      <p:sp>
        <p:nvSpPr>
          <p:cNvPr id="400" name="Content Placeholder 9"/>
          <p:cNvSpPr txBox="1">
            <a:spLocks noGrp="1"/>
          </p:cNvSpPr>
          <p:nvPr>
            <p:ph type="body" sz="quarter" idx="1"/>
          </p:nvPr>
        </p:nvSpPr>
        <p:spPr>
          <a:xfrm>
            <a:off x="6091513" y="4172989"/>
            <a:ext cx="5057107" cy="251937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000000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1719</Words>
  <Application>Microsoft Office PowerPoint</Application>
  <PresentationFormat>Widescreen</PresentationFormat>
  <Paragraphs>297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Aptos Narrow</vt:lpstr>
      <vt:lpstr>Arial</vt:lpstr>
      <vt:lpstr>Calibri</vt:lpstr>
      <vt:lpstr>Cambria Math</vt:lpstr>
      <vt:lpstr>Courier New</vt:lpstr>
      <vt:lpstr>Tenorite</vt:lpstr>
      <vt:lpstr>Wingdings</vt:lpstr>
      <vt:lpstr>Custom</vt:lpstr>
      <vt:lpstr>Pitch deck</vt:lpstr>
      <vt:lpstr>TODO</vt:lpstr>
      <vt:lpstr>TSP</vt:lpstr>
      <vt:lpstr>Tsp</vt:lpstr>
      <vt:lpstr>Polynomial verification</vt:lpstr>
      <vt:lpstr>NP-HARD Reduction</vt:lpstr>
      <vt:lpstr>NP-HARD Reduction</vt:lpstr>
      <vt:lpstr>PowerPoint Presentation</vt:lpstr>
      <vt:lpstr>Empirical runtime analysis</vt:lpstr>
      <vt:lpstr>Approximate Solution</vt:lpstr>
      <vt:lpstr>Approximate Solution</vt:lpstr>
      <vt:lpstr>Approximate Solution</vt:lpstr>
      <vt:lpstr>Approximate Solution – non-Optimal test case</vt:lpstr>
      <vt:lpstr>Approximate Solution – non-Optimal test case</vt:lpstr>
      <vt:lpstr>Approximate Solution – non-Optimal test case</vt:lpstr>
      <vt:lpstr>Approximate vs exact solution – compare results</vt:lpstr>
      <vt:lpstr>Approximate vs exact solution – run time (wall clock)</vt:lpstr>
      <vt:lpstr>Approximate vs exact solution – Time Complexity</vt:lpstr>
      <vt:lpstr>Certifier verification is polynomial</vt:lpstr>
      <vt:lpstr>REDUCTION FROM KNOWN NP-hard SOLution</vt:lpstr>
      <vt:lpstr>Analytical runtime Analysis</vt:lpstr>
      <vt:lpstr>Empirical runtime analysis</vt:lpstr>
      <vt:lpstr>Reduction</vt:lpstr>
      <vt:lpstr>Enhancing the Approximate Solution</vt:lpstr>
      <vt:lpstr>Where DO We Fall Short?</vt:lpstr>
      <vt:lpstr>Making Version 3.5, “Zenith”</vt:lpstr>
      <vt:lpstr>Sample Problem: The GRaph</vt:lpstr>
      <vt:lpstr>Sample Problem: The Results</vt:lpstr>
      <vt:lpstr>Sample Problem: The Runtimes</vt:lpstr>
      <vt:lpstr>Takeaways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Crawford, Dorian - crawf2dj</cp:lastModifiedBy>
  <cp:revision>5</cp:revision>
  <dcterms:modified xsi:type="dcterms:W3CDTF">2025-12-03T19:59:56Z</dcterms:modified>
</cp:coreProperties>
</file>
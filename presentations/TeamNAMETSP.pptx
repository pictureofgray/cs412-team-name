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7" r:id="rId11"/>
    <p:sldId id="266" r:id="rId12"/>
    <p:sldId id="273" r:id="rId13"/>
    <p:sldId id="274" r:id="rId14"/>
    <p:sldId id="275" r:id="rId15"/>
    <p:sldId id="276" r:id="rId16"/>
    <p:sldId id="278" r:id="rId17"/>
    <p:sldId id="279" r:id="rId18"/>
    <p:sldId id="272" r:id="rId19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1pPr>
    <a:lvl2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2pPr>
    <a:lvl3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3pPr>
    <a:lvl4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4pPr>
    <a:lvl5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5pPr>
    <a:lvl6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6pPr>
    <a:lvl7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7pPr>
    <a:lvl8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8pPr>
    <a:lvl9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elvetica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6F5F3"/>
          </a:solidFill>
        </a:fill>
      </a:tcStyle>
    </a:wholeTbl>
    <a:band2H>
      <a:tcTxStyle/>
      <a:tcStyle>
        <a:tcBdr/>
        <a:fill>
          <a:solidFill>
            <a:srgbClr val="FBFAF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6F5F3"/>
          </a:solidFill>
        </a:fill>
      </a:tcStyle>
    </a:wholeTbl>
    <a:band2H>
      <a:tcTxStyle/>
      <a:tcStyle>
        <a:tcBdr/>
        <a:fill>
          <a:solidFill>
            <a:srgbClr val="FBFAF9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EEE7283C-3CF3-47DC-8721-378D4A62B228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28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5" name="Shape 14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Click to add title"/>
          <p:cNvSpPr txBox="1">
            <a:spLocks noGrp="1"/>
          </p:cNvSpPr>
          <p:nvPr>
            <p:ph type="title" hasCustomPrompt="1"/>
          </p:nvPr>
        </p:nvSpPr>
        <p:spPr>
          <a:xfrm>
            <a:off x="6096000" y="2773681"/>
            <a:ext cx="5674360" cy="3200403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rgbClr val="FFFFFF"/>
                </a:solidFill>
              </a:defRPr>
            </a:lvl1pPr>
          </a:lstStyle>
          <a:p>
            <a:r>
              <a:t>Click to add title</a:t>
            </a:r>
          </a:p>
        </p:txBody>
      </p:sp>
      <p:pic>
        <p:nvPicPr>
          <p:cNvPr id="13" name="Graphic 6" descr="Graphic 6"/>
          <p:cNvPicPr>
            <a:picLocks noChangeAspect="1"/>
          </p:cNvPicPr>
          <p:nvPr/>
        </p:nvPicPr>
        <p:blipFill>
          <a:blip r:embed="rId2"/>
          <a:srcRect l="18454" t="1727"/>
          <a:stretch>
            <a:fillRect/>
          </a:stretch>
        </p:blipFill>
        <p:spPr>
          <a:xfrm>
            <a:off x="-7" y="0"/>
            <a:ext cx="8265003" cy="5320146"/>
          </a:xfrm>
          <a:prstGeom prst="rect">
            <a:avLst/>
          </a:prstGeom>
          <a:ln w="12700">
            <a:miter lim="400000"/>
          </a:ln>
        </p:spPr>
      </p:pic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06330" y="6240782"/>
            <a:ext cx="231273" cy="231137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Section Title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raphic 6" descr="Graphic 6"/>
          <p:cNvPicPr>
            <a:picLocks noChangeAspect="1"/>
          </p:cNvPicPr>
          <p:nvPr/>
        </p:nvPicPr>
        <p:blipFill>
          <a:blip r:embed="rId2"/>
          <a:srcRect l="13300" t="13815"/>
          <a:stretch>
            <a:fillRect/>
          </a:stretch>
        </p:blipFill>
        <p:spPr>
          <a:xfrm>
            <a:off x="0" y="-1"/>
            <a:ext cx="4239206" cy="3776194"/>
          </a:xfrm>
          <a:prstGeom prst="rect">
            <a:avLst/>
          </a:prstGeom>
          <a:ln w="12700">
            <a:miter lim="400000"/>
          </a:ln>
        </p:spPr>
      </p:pic>
      <p:sp>
        <p:nvSpPr>
          <p:cNvPr id="29" name="Click to add title"/>
          <p:cNvSpPr txBox="1">
            <a:spLocks noGrp="1"/>
          </p:cNvSpPr>
          <p:nvPr>
            <p:ph type="title" hasCustomPrompt="1"/>
          </p:nvPr>
        </p:nvSpPr>
        <p:spPr>
          <a:xfrm>
            <a:off x="914400" y="2580638"/>
            <a:ext cx="5181600" cy="3368824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rgbClr val="FFFFFF"/>
                </a:solidFill>
              </a:defRPr>
            </a:lvl1pPr>
          </a:lstStyle>
          <a:p>
            <a:r>
              <a:t>Click to add title</a:t>
            </a:r>
          </a:p>
        </p:txBody>
      </p:sp>
      <p:sp>
        <p:nvSpPr>
          <p:cNvPr id="30" name="Picture Placeholder 8"/>
          <p:cNvSpPr>
            <a:spLocks noGrp="1"/>
          </p:cNvSpPr>
          <p:nvPr>
            <p:ph type="pic" idx="21"/>
          </p:nvPr>
        </p:nvSpPr>
        <p:spPr>
          <a:xfrm>
            <a:off x="6085840" y="-10165"/>
            <a:ext cx="6116326" cy="686816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06330" y="6240782"/>
            <a:ext cx="231273" cy="231137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Overview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" name="Graphic 7" descr="Graphic 7"/>
          <p:cNvPicPr>
            <a:picLocks noChangeAspect="1"/>
          </p:cNvPicPr>
          <p:nvPr/>
        </p:nvPicPr>
        <p:blipFill>
          <a:blip r:embed="rId2"/>
          <a:srcRect l="15158" b="78533"/>
          <a:stretch>
            <a:fillRect/>
          </a:stretch>
        </p:blipFill>
        <p:spPr>
          <a:xfrm rot="10800000">
            <a:off x="6324598" y="-4"/>
            <a:ext cx="5867404" cy="1317509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Click to add title"/>
          <p:cNvSpPr txBox="1">
            <a:spLocks noGrp="1"/>
          </p:cNvSpPr>
          <p:nvPr>
            <p:ph type="title" hasCustomPrompt="1"/>
          </p:nvPr>
        </p:nvSpPr>
        <p:spPr>
          <a:xfrm>
            <a:off x="6126479" y="1310638"/>
            <a:ext cx="4806001" cy="2689632"/>
          </a:xfrm>
          <a:prstGeom prst="rect">
            <a:avLst/>
          </a:prstGeom>
        </p:spPr>
        <p:txBody>
          <a:bodyPr anchor="b"/>
          <a:lstStyle>
            <a:lvl1pPr>
              <a:defRPr sz="4800"/>
            </a:lvl1pPr>
          </a:lstStyle>
          <a:p>
            <a:r>
              <a:t>Click to add title</a:t>
            </a:r>
          </a:p>
        </p:txBody>
      </p:sp>
      <p:sp>
        <p:nvSpPr>
          <p:cNvPr id="40" name="Picture Placeholder 11"/>
          <p:cNvSpPr>
            <a:spLocks noGrp="1"/>
          </p:cNvSpPr>
          <p:nvPr>
            <p:ph type="pic" idx="21"/>
          </p:nvPr>
        </p:nvSpPr>
        <p:spPr>
          <a:xfrm>
            <a:off x="0" y="-10165"/>
            <a:ext cx="6096000" cy="685800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126162" y="4172989"/>
            <a:ext cx="4806001" cy="2389742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000"/>
            </a:lvl1pPr>
            <a:lvl2pPr marL="0" indent="0">
              <a:buSzTx/>
              <a:buFontTx/>
              <a:buNone/>
              <a:defRPr sz="2000"/>
            </a:lvl2pPr>
            <a:lvl3pPr marL="0" indent="0">
              <a:buSzTx/>
              <a:buFontTx/>
              <a:buNone/>
              <a:defRPr sz="2000"/>
            </a:lvl3pPr>
            <a:lvl4pPr marL="0" indent="0">
              <a:buSzTx/>
              <a:buFontTx/>
              <a:buNone/>
              <a:defRPr sz="2000"/>
            </a:lvl4pPr>
            <a:lvl5pPr marL="0" indent="0">
              <a:buSzTx/>
              <a:buFontTx/>
              <a:buNone/>
              <a:defRPr sz="2000"/>
            </a:lvl5pPr>
          </a:lstStyle>
          <a:p>
            <a:r>
              <a:t>Click to add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06330" y="6240782"/>
            <a:ext cx="231273" cy="231137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Graphic 2" descr="Graphic 2"/>
          <p:cNvPicPr>
            <a:picLocks noChangeAspect="1"/>
          </p:cNvPicPr>
          <p:nvPr/>
        </p:nvPicPr>
        <p:blipFill>
          <a:blip r:embed="rId2"/>
          <a:srcRect l="45239"/>
          <a:stretch>
            <a:fillRect/>
          </a:stretch>
        </p:blipFill>
        <p:spPr>
          <a:xfrm flipH="1">
            <a:off x="9135412" y="0"/>
            <a:ext cx="3056591" cy="6858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50" name="Graphic 8" descr="Graphic 8"/>
          <p:cNvPicPr>
            <a:picLocks noChangeAspect="1"/>
          </p:cNvPicPr>
          <p:nvPr/>
        </p:nvPicPr>
        <p:blipFill>
          <a:blip r:embed="rId3"/>
          <a:srcRect b="2330"/>
          <a:stretch>
            <a:fillRect/>
          </a:stretch>
        </p:blipFill>
        <p:spPr>
          <a:xfrm>
            <a:off x="7810500" y="3025140"/>
            <a:ext cx="4381500" cy="3832860"/>
          </a:xfrm>
          <a:prstGeom prst="rect">
            <a:avLst/>
          </a:prstGeom>
          <a:ln w="12700">
            <a:miter lim="400000"/>
          </a:ln>
        </p:spPr>
      </p:pic>
      <p:sp>
        <p:nvSpPr>
          <p:cNvPr id="51" name="Click to add title"/>
          <p:cNvSpPr txBox="1">
            <a:spLocks noGrp="1"/>
          </p:cNvSpPr>
          <p:nvPr>
            <p:ph type="title" hasCustomPrompt="1"/>
          </p:nvPr>
        </p:nvSpPr>
        <p:spPr>
          <a:xfrm>
            <a:off x="914399" y="365125"/>
            <a:ext cx="7273637" cy="1646555"/>
          </a:xfrm>
          <a:prstGeom prst="rect">
            <a:avLst/>
          </a:prstGeom>
        </p:spPr>
        <p:txBody>
          <a:bodyPr/>
          <a:lstStyle/>
          <a:p>
            <a:r>
              <a:t>Click to add title</a:t>
            </a:r>
          </a:p>
        </p:txBody>
      </p:sp>
      <p:sp>
        <p:nvSpPr>
          <p:cNvPr id="5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914399" y="2011363"/>
            <a:ext cx="7273640" cy="4155760"/>
          </a:xfrm>
          <a:prstGeom prst="rect">
            <a:avLst/>
          </a:prstGeo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 marL="711200" indent="-254000">
              <a:spcBef>
                <a:spcPts val="1200"/>
              </a:spcBef>
              <a:defRPr sz="2000"/>
            </a:lvl2pPr>
            <a:lvl3pPr marL="1200150" indent="-285750">
              <a:spcBef>
                <a:spcPts val="1200"/>
              </a:spcBef>
              <a:defRPr sz="2000"/>
            </a:lvl3pPr>
            <a:lvl4pPr marL="1698169" indent="-326569">
              <a:spcBef>
                <a:spcPts val="1200"/>
              </a:spcBef>
              <a:defRPr sz="2000"/>
            </a:lvl4pPr>
            <a:lvl5pPr marL="2155369" indent="-326569">
              <a:spcBef>
                <a:spcPts val="1200"/>
              </a:spcBef>
              <a:defRPr sz="2000"/>
            </a:lvl5pPr>
          </a:lstStyle>
          <a:p>
            <a:r>
              <a:t>Click to add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Content and left Image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" name="Graphic 5" descr="Graphic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8039100" y="228599"/>
            <a:ext cx="4381500" cy="3924302"/>
          </a:xfrm>
          <a:prstGeom prst="rect">
            <a:avLst/>
          </a:prstGeom>
          <a:ln w="12700">
            <a:miter lim="400000"/>
          </a:ln>
        </p:spPr>
      </p:pic>
      <p:sp>
        <p:nvSpPr>
          <p:cNvPr id="61" name="Title Text"/>
          <p:cNvSpPr txBox="1">
            <a:spLocks noGrp="1"/>
          </p:cNvSpPr>
          <p:nvPr>
            <p:ph type="title"/>
          </p:nvPr>
        </p:nvSpPr>
        <p:spPr>
          <a:xfrm>
            <a:off x="6096000" y="375283"/>
            <a:ext cx="4896678" cy="3624989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rgbClr val="FFFFFF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62" name="Picture Placeholder 10"/>
          <p:cNvSpPr>
            <a:spLocks noGrp="1"/>
          </p:cNvSpPr>
          <p:nvPr>
            <p:ph type="pic" idx="21"/>
          </p:nvPr>
        </p:nvSpPr>
        <p:spPr>
          <a:xfrm>
            <a:off x="0" y="0"/>
            <a:ext cx="6096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96000" y="4172989"/>
            <a:ext cx="4896678" cy="2309731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SzTx/>
              <a:buFontTx/>
              <a:buNone/>
              <a:defRPr sz="2000">
                <a:solidFill>
                  <a:srgbClr val="FFFFFF"/>
                </a:solidFill>
              </a:defRPr>
            </a:lvl1pPr>
            <a:lvl2pPr marL="774700" indent="-317500">
              <a:spcBef>
                <a:spcPts val="1200"/>
              </a:spcBef>
              <a:buFontTx/>
              <a:defRPr sz="2000">
                <a:solidFill>
                  <a:srgbClr val="FFFFFF"/>
                </a:solidFill>
              </a:defRPr>
            </a:lvl2pPr>
            <a:lvl3pPr marL="1271587" indent="-357187">
              <a:spcBef>
                <a:spcPts val="1200"/>
              </a:spcBef>
              <a:buFontTx/>
              <a:defRPr sz="2000">
                <a:solidFill>
                  <a:srgbClr val="FFFFFF"/>
                </a:solidFill>
              </a:defRPr>
            </a:lvl3pPr>
            <a:lvl4pPr marL="1779814" indent="-408214">
              <a:spcBef>
                <a:spcPts val="1200"/>
              </a:spcBef>
              <a:buFontTx/>
              <a:defRPr sz="2000">
                <a:solidFill>
                  <a:srgbClr val="FFFFFF"/>
                </a:solidFill>
              </a:defRPr>
            </a:lvl4pPr>
            <a:lvl5pPr marL="2237014" indent="-408214">
              <a:spcBef>
                <a:spcPts val="1200"/>
              </a:spcBef>
              <a:buFontTx/>
              <a:defRPr sz="2000">
                <a:solidFill>
                  <a:srgbClr val="FFFFFF"/>
                </a:solidFill>
              </a:defRPr>
            </a:lvl5pPr>
          </a:lstStyle>
          <a:p>
            <a:r>
              <a:t>Click to add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06330" y="6240782"/>
            <a:ext cx="231273" cy="231137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two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" name="Graphic 7" descr="Graphic 7"/>
          <p:cNvPicPr>
            <a:picLocks noChangeAspect="1"/>
          </p:cNvPicPr>
          <p:nvPr/>
        </p:nvPicPr>
        <p:blipFill>
          <a:blip r:embed="rId2"/>
          <a:srcRect l="1981" t="40714" r="61027" b="44471"/>
          <a:stretch>
            <a:fillRect/>
          </a:stretch>
        </p:blipFill>
        <p:spPr>
          <a:xfrm flipH="1">
            <a:off x="-26833" y="5950039"/>
            <a:ext cx="2513530" cy="914406"/>
          </a:xfrm>
          <a:prstGeom prst="rect">
            <a:avLst/>
          </a:prstGeom>
          <a:ln w="12700">
            <a:miter lim="400000"/>
          </a:ln>
        </p:spPr>
      </p:pic>
      <p:pic>
        <p:nvPicPr>
          <p:cNvPr id="83" name="Graphic 8" descr="Graphic 8"/>
          <p:cNvPicPr>
            <a:picLocks noChangeAspect="1"/>
          </p:cNvPicPr>
          <p:nvPr/>
        </p:nvPicPr>
        <p:blipFill>
          <a:blip r:embed="rId3"/>
          <a:srcRect l="18883" t="18052" r="46634"/>
          <a:stretch>
            <a:fillRect/>
          </a:stretch>
        </p:blipFill>
        <p:spPr>
          <a:xfrm rot="5400000">
            <a:off x="9553763" y="-952311"/>
            <a:ext cx="1685934" cy="3590550"/>
          </a:xfrm>
          <a:prstGeom prst="rect">
            <a:avLst/>
          </a:prstGeom>
          <a:ln w="12700">
            <a:miter lim="400000"/>
          </a:ln>
        </p:spPr>
      </p:pic>
      <p:sp>
        <p:nvSpPr>
          <p:cNvPr id="84" name="Click to add title"/>
          <p:cNvSpPr txBox="1">
            <a:spLocks noGrp="1"/>
          </p:cNvSpPr>
          <p:nvPr>
            <p:ph type="title" hasCustomPrompt="1"/>
          </p:nvPr>
        </p:nvSpPr>
        <p:spPr>
          <a:xfrm>
            <a:off x="914396" y="365125"/>
            <a:ext cx="10439404" cy="1617017"/>
          </a:xfrm>
          <a:prstGeom prst="rect">
            <a:avLst/>
          </a:prstGeom>
        </p:spPr>
        <p:txBody>
          <a:bodyPr/>
          <a:lstStyle/>
          <a:p>
            <a:r>
              <a:t>Click to add title</a:t>
            </a:r>
          </a:p>
        </p:txBody>
      </p:sp>
      <p:sp>
        <p:nvSpPr>
          <p:cNvPr id="85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914399" y="2022250"/>
            <a:ext cx="3310129" cy="3747181"/>
          </a:xfrm>
          <a:prstGeom prst="rect">
            <a:avLst/>
          </a:prstGeom>
        </p:spPr>
        <p:txBody>
          <a:bodyPr/>
          <a:lstStyle>
            <a:lvl1pPr>
              <a:spcBef>
                <a:spcPts val="1200"/>
              </a:spcBef>
              <a:defRPr sz="2000" b="1"/>
            </a:lvl1pPr>
            <a:lvl2pPr marL="711200" indent="-254000">
              <a:spcBef>
                <a:spcPts val="1200"/>
              </a:spcBef>
              <a:defRPr sz="2000" b="1"/>
            </a:lvl2pPr>
            <a:lvl3pPr marL="1200150" indent="-285750">
              <a:spcBef>
                <a:spcPts val="1200"/>
              </a:spcBef>
              <a:defRPr sz="2000" b="1"/>
            </a:lvl3pPr>
            <a:lvl4pPr marL="1698169" indent="-326569">
              <a:spcBef>
                <a:spcPts val="1200"/>
              </a:spcBef>
              <a:defRPr sz="2000" b="1"/>
            </a:lvl4pPr>
            <a:lvl5pPr marL="2155369" indent="-326569">
              <a:spcBef>
                <a:spcPts val="1200"/>
              </a:spcBef>
              <a:defRPr sz="2000" b="1"/>
            </a:lvl5pPr>
          </a:lstStyle>
          <a:p>
            <a:r>
              <a:t>Click to add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Content and Tabl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raphic 1" descr="Graphic 1"/>
          <p:cNvPicPr>
            <a:picLocks noChangeAspect="1"/>
          </p:cNvPicPr>
          <p:nvPr/>
        </p:nvPicPr>
        <p:blipFill>
          <a:blip r:embed="rId2"/>
          <a:srcRect r="55824" b="26760"/>
          <a:stretch>
            <a:fillRect/>
          </a:stretch>
        </p:blipFill>
        <p:spPr>
          <a:xfrm>
            <a:off x="9229725" y="1835239"/>
            <a:ext cx="2962276" cy="5022761"/>
          </a:xfrm>
          <a:prstGeom prst="rect">
            <a:avLst/>
          </a:prstGeom>
          <a:ln w="12700">
            <a:miter lim="400000"/>
          </a:ln>
        </p:spPr>
      </p:pic>
      <p:sp>
        <p:nvSpPr>
          <p:cNvPr id="105" name="Rectangle 13"/>
          <p:cNvSpPr/>
          <p:nvPr/>
        </p:nvSpPr>
        <p:spPr>
          <a:xfrm>
            <a:off x="4443412" y="1835237"/>
            <a:ext cx="7000876" cy="4279813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Tenorite"/>
                <a:ea typeface="Tenorite"/>
                <a:cs typeface="Tenorite"/>
                <a:sym typeface="Tenorite"/>
              </a:defRPr>
            </a:pPr>
            <a:endParaRPr/>
          </a:p>
        </p:txBody>
      </p:sp>
      <p:pic>
        <p:nvPicPr>
          <p:cNvPr id="106" name="Graphic 8" descr="Graphic 8"/>
          <p:cNvPicPr>
            <a:picLocks noChangeAspect="1"/>
          </p:cNvPicPr>
          <p:nvPr/>
        </p:nvPicPr>
        <p:blipFill>
          <a:blip r:embed="rId2"/>
          <a:srcRect t="60903" r="75060" b="10346"/>
          <a:stretch>
            <a:fillRect/>
          </a:stretch>
        </p:blipFill>
        <p:spPr>
          <a:xfrm rot="16200000">
            <a:off x="149648" y="-149656"/>
            <a:ext cx="1672378" cy="1971678"/>
          </a:xfrm>
          <a:prstGeom prst="rect">
            <a:avLst/>
          </a:prstGeom>
          <a:ln w="12700">
            <a:miter lim="400000"/>
          </a:ln>
        </p:spPr>
      </p:pic>
      <p:sp>
        <p:nvSpPr>
          <p:cNvPr id="107" name="Click to add title"/>
          <p:cNvSpPr txBox="1">
            <a:spLocks noGrp="1"/>
          </p:cNvSpPr>
          <p:nvPr>
            <p:ph type="title" hasCustomPrompt="1"/>
          </p:nvPr>
        </p:nvSpPr>
        <p:spPr>
          <a:xfrm>
            <a:off x="914399" y="365125"/>
            <a:ext cx="10363204" cy="1603463"/>
          </a:xfrm>
          <a:prstGeom prst="rect">
            <a:avLst/>
          </a:prstGeom>
        </p:spPr>
        <p:txBody>
          <a:bodyPr/>
          <a:lstStyle/>
          <a:p>
            <a:r>
              <a:t>Click to add title</a:t>
            </a:r>
          </a:p>
        </p:txBody>
      </p:sp>
      <p:sp>
        <p:nvSpPr>
          <p:cNvPr id="108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914399" y="2022250"/>
            <a:ext cx="3299015" cy="3914910"/>
          </a:xfrm>
          <a:prstGeom prst="rect">
            <a:avLst/>
          </a:prstGeom>
        </p:spPr>
        <p:txBody>
          <a:bodyPr/>
          <a:lstStyle>
            <a:lvl1pPr>
              <a:spcBef>
                <a:spcPts val="1200"/>
              </a:spcBef>
              <a:defRPr sz="2000"/>
            </a:lvl1pPr>
            <a:lvl2pPr marL="711200" indent="-254000">
              <a:spcBef>
                <a:spcPts val="1200"/>
              </a:spcBef>
              <a:defRPr sz="2000"/>
            </a:lvl2pPr>
            <a:lvl3pPr marL="1200150" indent="-285750">
              <a:spcBef>
                <a:spcPts val="1200"/>
              </a:spcBef>
              <a:defRPr sz="2000"/>
            </a:lvl3pPr>
            <a:lvl4pPr marL="1698169" indent="-326569">
              <a:spcBef>
                <a:spcPts val="1200"/>
              </a:spcBef>
              <a:defRPr sz="2000"/>
            </a:lvl4pPr>
            <a:lvl5pPr marL="2155369" indent="-326569">
              <a:spcBef>
                <a:spcPts val="1200"/>
              </a:spcBef>
              <a:defRPr sz="2000"/>
            </a:lvl5pPr>
          </a:lstStyle>
          <a:p>
            <a:r>
              <a:t>Click to add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0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and two Content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6" name="Graphic 7" descr="Graphic 7"/>
          <p:cNvPicPr>
            <a:picLocks noChangeAspect="1"/>
          </p:cNvPicPr>
          <p:nvPr/>
        </p:nvPicPr>
        <p:blipFill>
          <a:blip r:embed="rId2"/>
          <a:srcRect l="18883" t="34408" r="46634" b="1"/>
          <a:stretch>
            <a:fillRect/>
          </a:stretch>
        </p:blipFill>
        <p:spPr>
          <a:xfrm rot="10800000">
            <a:off x="10506071" y="3984078"/>
            <a:ext cx="1685934" cy="287392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7" name="Graphic 8" descr="Graphic 8"/>
          <p:cNvPicPr>
            <a:picLocks noChangeAspect="1"/>
          </p:cNvPicPr>
          <p:nvPr/>
        </p:nvPicPr>
        <p:blipFill>
          <a:blip r:embed="rId3"/>
          <a:srcRect l="29718" t="47145" r="39388" b="8754"/>
          <a:stretch>
            <a:fillRect/>
          </a:stretch>
        </p:blipFill>
        <p:spPr>
          <a:xfrm rot="16200000" flipH="1">
            <a:off x="9781526" y="-311515"/>
            <a:ext cx="2098970" cy="2721991"/>
          </a:xfrm>
          <a:prstGeom prst="rect">
            <a:avLst/>
          </a:prstGeom>
          <a:ln w="12700">
            <a:miter lim="400000"/>
          </a:ln>
        </p:spPr>
      </p:pic>
      <p:sp>
        <p:nvSpPr>
          <p:cNvPr id="118" name="Click to add title"/>
          <p:cNvSpPr txBox="1">
            <a:spLocks noGrp="1"/>
          </p:cNvSpPr>
          <p:nvPr>
            <p:ph type="title" hasCustomPrompt="1"/>
          </p:nvPr>
        </p:nvSpPr>
        <p:spPr>
          <a:xfrm>
            <a:off x="891990" y="434223"/>
            <a:ext cx="9524998" cy="1499630"/>
          </a:xfrm>
          <a:prstGeom prst="rect">
            <a:avLst/>
          </a:prstGeom>
        </p:spPr>
        <p:txBody>
          <a:bodyPr/>
          <a:lstStyle/>
          <a:p>
            <a:r>
              <a:t>Click to add title</a:t>
            </a:r>
          </a:p>
        </p:txBody>
      </p:sp>
      <p:sp>
        <p:nvSpPr>
          <p:cNvPr id="119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914399" y="2022250"/>
            <a:ext cx="6257367" cy="3914910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1200"/>
              </a:spcBef>
              <a:buSzTx/>
              <a:buFontTx/>
              <a:buNone/>
              <a:defRPr sz="2000"/>
            </a:lvl1pPr>
            <a:lvl2pPr marL="228600" indent="-228600">
              <a:spcBef>
                <a:spcPts val="1200"/>
              </a:spcBef>
              <a:buFontTx/>
              <a:defRPr sz="2000"/>
            </a:lvl2pPr>
            <a:lvl3pPr marL="711200" indent="-254000">
              <a:spcBef>
                <a:spcPts val="1200"/>
              </a:spcBef>
              <a:buFontTx/>
              <a:defRPr sz="2000"/>
            </a:lvl3pPr>
            <a:lvl4pPr marL="971550" indent="-285750">
              <a:spcBef>
                <a:spcPts val="1200"/>
              </a:spcBef>
              <a:buFontTx/>
              <a:defRPr sz="2000"/>
            </a:lvl4pPr>
            <a:lvl5pPr marL="1200150" indent="-285750">
              <a:spcBef>
                <a:spcPts val="1200"/>
              </a:spcBef>
              <a:buFontTx/>
              <a:defRPr sz="2000"/>
            </a:lvl5pPr>
          </a:lstStyle>
          <a:p>
            <a:r>
              <a:t>Click to add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Click to add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Click to add title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losing 2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Click to add title"/>
          <p:cNvSpPr txBox="1">
            <a:spLocks noGrp="1"/>
          </p:cNvSpPr>
          <p:nvPr>
            <p:ph type="title" hasCustomPrompt="1"/>
          </p:nvPr>
        </p:nvSpPr>
        <p:spPr>
          <a:xfrm>
            <a:off x="6091515" y="374090"/>
            <a:ext cx="5057105" cy="3624985"/>
          </a:xfrm>
          <a:prstGeom prst="rect">
            <a:avLst/>
          </a:prstGeom>
        </p:spPr>
        <p:txBody>
          <a:bodyPr anchor="b"/>
          <a:lstStyle>
            <a:lvl1pPr>
              <a:defRPr sz="4800">
                <a:solidFill>
                  <a:srgbClr val="FFFFFF"/>
                </a:solidFill>
              </a:defRPr>
            </a:lvl1pPr>
          </a:lstStyle>
          <a:p>
            <a:r>
              <a:t>Click to add title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6091513" y="4172989"/>
            <a:ext cx="5057105" cy="2519369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0"/>
              </a:spcBef>
              <a:buSzTx/>
              <a:buFontTx/>
              <a:buNone/>
              <a:defRPr sz="2000">
                <a:solidFill>
                  <a:srgbClr val="FFFFFF"/>
                </a:solidFill>
              </a:defRPr>
            </a:lvl1pPr>
            <a:lvl2pPr marL="774700" indent="-317500">
              <a:spcBef>
                <a:spcPts val="0"/>
              </a:spcBef>
              <a:buFontTx/>
              <a:defRPr sz="2000">
                <a:solidFill>
                  <a:srgbClr val="FFFFFF"/>
                </a:solidFill>
              </a:defRPr>
            </a:lvl2pPr>
            <a:lvl3pPr marL="1271587" indent="-357187">
              <a:spcBef>
                <a:spcPts val="0"/>
              </a:spcBef>
              <a:buFontTx/>
              <a:defRPr sz="2000">
                <a:solidFill>
                  <a:srgbClr val="FFFFFF"/>
                </a:solidFill>
              </a:defRPr>
            </a:lvl3pPr>
            <a:lvl4pPr marL="1779814" indent="-408214">
              <a:spcBef>
                <a:spcPts val="0"/>
              </a:spcBef>
              <a:buFontTx/>
              <a:defRPr sz="2000">
                <a:solidFill>
                  <a:srgbClr val="FFFFFF"/>
                </a:solidFill>
              </a:defRPr>
            </a:lvl4pPr>
            <a:lvl5pPr marL="2114550" indent="-285750">
              <a:spcBef>
                <a:spcPts val="0"/>
              </a:spcBef>
              <a:buFontTx/>
              <a:defRPr sz="2000">
                <a:solidFill>
                  <a:srgbClr val="FFFFFF"/>
                </a:solidFill>
              </a:defRPr>
            </a:lvl5pPr>
          </a:lstStyle>
          <a:p>
            <a:r>
              <a:t>Click to add content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pic>
        <p:nvPicPr>
          <p:cNvPr id="137" name="Graphic 1" descr="Graphic 1"/>
          <p:cNvPicPr>
            <a:picLocks noChangeAspect="1"/>
          </p:cNvPicPr>
          <p:nvPr/>
        </p:nvPicPr>
        <p:blipFill>
          <a:blip r:embed="rId2"/>
          <a:srcRect l="4151" r="18576"/>
          <a:stretch>
            <a:fillRect/>
          </a:stretch>
        </p:blipFill>
        <p:spPr>
          <a:xfrm flipH="1">
            <a:off x="-4" y="0"/>
            <a:ext cx="5181607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13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8506330" y="6240782"/>
            <a:ext cx="231273" cy="231137"/>
          </a:xfrm>
          <a:prstGeom prst="rect">
            <a:avLst/>
          </a:prstGeom>
        </p:spPr>
        <p:txBody>
          <a:bodyPr/>
          <a:lstStyle>
            <a:lvl1pPr algn="r">
              <a:defRPr sz="9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2" descr="Graphic 2"/>
          <p:cNvPicPr>
            <a:picLocks noChangeAspect="1"/>
          </p:cNvPicPr>
          <p:nvPr/>
        </p:nvPicPr>
        <p:blipFill>
          <a:blip r:embed="rId13"/>
          <a:srcRect l="18883" t="18052" r="46634"/>
          <a:stretch>
            <a:fillRect/>
          </a:stretch>
        </p:blipFill>
        <p:spPr>
          <a:xfrm rot="5400000">
            <a:off x="9553763" y="-952311"/>
            <a:ext cx="1685934" cy="359055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Click to add title"/>
          <p:cNvSpPr txBox="1">
            <a:spLocks noGrp="1"/>
          </p:cNvSpPr>
          <p:nvPr>
            <p:ph type="title" hasCustomPrompt="1"/>
          </p:nvPr>
        </p:nvSpPr>
        <p:spPr>
          <a:xfrm>
            <a:off x="923544" y="584477"/>
            <a:ext cx="10354055" cy="12097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 anchor="ctr">
            <a:normAutofit/>
          </a:bodyPr>
          <a:lstStyle/>
          <a:p>
            <a:r>
              <a:t>Click to add title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6805083" y="2438400"/>
            <a:ext cx="4775201" cy="4419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914400" y="6259742"/>
            <a:ext cx="273652" cy="269237"/>
          </a:xfrm>
          <a:prstGeom prst="rect">
            <a:avLst/>
          </a:prstGeom>
          <a:ln w="12700">
            <a:miter lim="400000"/>
          </a:ln>
        </p:spPr>
        <p:txBody>
          <a:bodyPr wrap="none" lIns="45718" tIns="45718" rIns="45718" bIns="45718" anchor="ctr">
            <a:spAutoFit/>
          </a:bodyPr>
          <a:lstStyle>
            <a:lvl1pPr>
              <a:defRPr sz="1200">
                <a:latin typeface="Tenorite"/>
                <a:ea typeface="Tenorite"/>
                <a:cs typeface="Tenorite"/>
                <a:sym typeface="Tenorite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6" r:id="rId7"/>
    <p:sldLayoutId id="2147483658" r:id="rId8"/>
    <p:sldLayoutId id="2147483659" r:id="rId9"/>
    <p:sldLayoutId id="2147483660" r:id="rId10"/>
    <p:sldLayoutId id="2147483661" r:id="rId11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all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all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all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all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all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all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all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all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3200" b="0" i="0" u="none" strike="noStrike" cap="all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2pPr>
      <a:lvl3pPr marL="1234438" marR="0" indent="-320038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000000"/>
          </a:solidFill>
          <a:uFillTx/>
          <a:latin typeface="Tenorite"/>
          <a:ea typeface="Tenorite"/>
          <a:cs typeface="Tenorite"/>
          <a:sym typeface="Tenorite"/>
        </a:defRPr>
      </a:lvl9pPr>
    </p:bodyStyle>
    <p:otherStyle>
      <a:lvl1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enorite"/>
        </a:defRPr>
      </a:lvl1pPr>
      <a:lvl2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enorite"/>
        </a:defRPr>
      </a:lvl2pPr>
      <a:lvl3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enorite"/>
        </a:defRPr>
      </a:lvl3pPr>
      <a:lvl4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enorite"/>
        </a:defRPr>
      </a:lvl4pPr>
      <a:lvl5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enorite"/>
        </a:defRPr>
      </a:lvl5pPr>
      <a:lvl6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enorite"/>
        </a:defRPr>
      </a:lvl6pPr>
      <a:lvl7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enorite"/>
        </a:defRPr>
      </a:lvl7pPr>
      <a:lvl8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enorite"/>
        </a:defRPr>
      </a:lvl8pPr>
      <a:lvl9pPr marL="0" marR="0" indent="0" algn="l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Tenorit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itle 1"/>
          <p:cNvSpPr txBox="1">
            <a:spLocks noGrp="1"/>
          </p:cNvSpPr>
          <p:nvPr>
            <p:ph type="title"/>
          </p:nvPr>
        </p:nvSpPr>
        <p:spPr>
          <a:xfrm>
            <a:off x="6095998" y="2773681"/>
            <a:ext cx="5674367" cy="3200406"/>
          </a:xfrm>
          <a:prstGeom prst="rect">
            <a:avLst/>
          </a:prstGeom>
        </p:spPr>
        <p:txBody>
          <a:bodyPr/>
          <a:lstStyle/>
          <a:p>
            <a:r>
              <a:t>Pitch deck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Title 1"/>
          <p:cNvSpPr txBox="1">
            <a:spLocks noGrp="1"/>
          </p:cNvSpPr>
          <p:nvPr>
            <p:ph type="title"/>
          </p:nvPr>
        </p:nvSpPr>
        <p:spPr>
          <a:xfrm>
            <a:off x="914398" y="365125"/>
            <a:ext cx="10363204" cy="1603463"/>
          </a:xfrm>
          <a:prstGeom prst="rect">
            <a:avLst/>
          </a:prstGeom>
        </p:spPr>
        <p:txBody>
          <a:bodyPr/>
          <a:lstStyle/>
          <a:p>
            <a:r>
              <a:t>TODO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4" name="Content Placeholder 2"/>
              <p:cNvSpPr txBox="1">
                <a:spLocks noGrp="1"/>
              </p:cNvSpPr>
              <p:nvPr>
                <p:ph type="body" sz="half" idx="1"/>
              </p:nvPr>
            </p:nvSpPr>
            <p:spPr>
              <a:xfrm>
                <a:off x="187720" y="1968587"/>
                <a:ext cx="3995417" cy="4470626"/>
              </a:xfrm>
              <a:prstGeom prst="rect">
                <a:avLst/>
              </a:prstGeom>
            </p:spPr>
            <p:txBody>
              <a:bodyPr/>
              <a:lstStyle/>
              <a:p>
                <a:pPr marL="0" indent="0">
                  <a:buSzTx/>
                  <a:buNone/>
                  <a:defRPr sz="1200" b="1"/>
                </a:pPr>
                <a:r>
                  <a:t>Exact Part:</a:t>
                </a:r>
              </a:p>
              <a:p>
                <a:pPr>
                  <a:defRPr sz="1200"/>
                </a:pPr>
                <a:r>
                  <a:t>a description of the problem being solved. Show the difference between the decision and optimization version of the problem. An example of inputs and outputs is a good idea. (1.5 mins)</a:t>
                </a:r>
              </a:p>
              <a:p>
                <a:pPr>
                  <a:defRPr sz="1200"/>
                </a:pPr>
                <a:r>
                  <a:t>an explanation of the certifier process being polynomial. Including pseudo-code here is a good idea but make sure its clear that the </a:t>
                </a:r>
                <a:r>
                  <a:rPr i="1"/>
                  <a:t>certificate</a:t>
                </a:r>
                <a:r>
                  <a:t> can be verified in polynomial time.</a:t>
                </a:r>
              </a:p>
              <a:p>
                <a:pPr>
                  <a:defRPr sz="1200"/>
                </a:pPr>
                <a:r>
                  <a:t>a reduction from a known/accepted NP-hard problem (with examples graphically shown). It must be clear that the reduction takes place in a polynomial number of steps with respect to the problem’s input size.</a:t>
                </a:r>
              </a:p>
              <a:p>
                <a:pPr>
                  <a:defRPr sz="1200"/>
                </a:pPr>
                <a:r>
                  <a:t>an analytical (big </a:t>
                </a:r>
                <a14:m>
                  <m:oMath xmlns:m="http://schemas.openxmlformats.org/officeDocument/2006/math">
                    <m:r>
                      <a:rPr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𝒪</m:t>
                    </m:r>
                  </m:oMath>
                </a14:m>
                <a:r>
                  <a:t>) runtime analysis of your coded solution and showcase the code that is the dominant term (the code that drives the highest order term).</a:t>
                </a:r>
              </a:p>
              <a:p>
                <a:pPr>
                  <a:defRPr sz="1200"/>
                </a:pPr>
                <a:r>
                  <a:t>a wallclock (empirical) runtime analysis of your code on your test cases. This analysis must show input size on the X axis and runtime on the Y axis</a:t>
                </a:r>
              </a:p>
            </p:txBody>
          </p:sp>
        </mc:Choice>
        <mc:Fallback>
          <p:sp>
            <p:nvSpPr>
              <p:cNvPr id="224" name="Content Placeholder 2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187720" y="1968587"/>
                <a:ext cx="3995417" cy="4470626"/>
              </a:xfrm>
              <a:prstGeom prst="rect">
                <a:avLst/>
              </a:prstGeom>
              <a:blipFill>
                <a:blip r:embed="rId2"/>
                <a:stretch>
                  <a:fillRect l="-1221" t="-546" r="-213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5" name="Slide Number Placeholder 4"/>
          <p:cNvSpPr txBox="1">
            <a:spLocks noGrp="1"/>
          </p:cNvSpPr>
          <p:nvPr>
            <p:ph type="sldNum" sz="quarter" idx="4294967295"/>
          </p:nvPr>
        </p:nvSpPr>
        <p:spPr>
          <a:xfrm>
            <a:off x="914399" y="6259740"/>
            <a:ext cx="188894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</a:t>
            </a:fld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6" name="Content Placeholder 2"/>
              <p:cNvSpPr txBox="1"/>
              <p:nvPr/>
            </p:nvSpPr>
            <p:spPr>
              <a:xfrm>
                <a:off x="4334114" y="2022248"/>
                <a:ext cx="3903970" cy="447063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45718" tIns="45718" rIns="45718" bIns="45718">
                <a:normAutofit/>
              </a:bodyPr>
              <a:lstStyle/>
              <a:p>
                <a:pPr>
                  <a:lnSpc>
                    <a:spcPct val="90000"/>
                  </a:lnSpc>
                  <a:spcBef>
                    <a:spcPts val="1200"/>
                  </a:spcBef>
                  <a:defRPr sz="1200" b="1">
                    <a:latin typeface="Tenorite"/>
                    <a:ea typeface="Tenorite"/>
                    <a:cs typeface="Tenorite"/>
                    <a:sym typeface="Tenorite"/>
                  </a:defRPr>
                </a:pPr>
                <a:r>
                  <a:t>Approximation Part:</a:t>
                </a:r>
                <a:endParaRPr sz="2000"/>
              </a:p>
              <a:p>
                <a:pPr marL="228600" indent="-228600">
                  <a:lnSpc>
                    <a:spcPct val="90000"/>
                  </a:lnSpc>
                  <a:spcBef>
                    <a:spcPts val="1200"/>
                  </a:spcBef>
                  <a:buSzPct val="100000"/>
                  <a:buFont typeface="Arial"/>
                  <a:buChar char="•"/>
                  <a:defRPr sz="1200">
                    <a:latin typeface="Tenorite"/>
                    <a:ea typeface="Tenorite"/>
                    <a:cs typeface="Tenorite"/>
                    <a:sym typeface="Tenorite"/>
                  </a:defRPr>
                </a:pPr>
                <a:r>
                  <a:t>pseudocode for the approximation and a discussion of the strategy used (greedy, random, etc.)</a:t>
                </a:r>
                <a:endParaRPr sz="2000"/>
              </a:p>
              <a:p>
                <a:pPr marL="228600" indent="-228600">
                  <a:lnSpc>
                    <a:spcPct val="90000"/>
                  </a:lnSpc>
                  <a:spcBef>
                    <a:spcPts val="1200"/>
                  </a:spcBef>
                  <a:buSzPct val="100000"/>
                  <a:buFont typeface="Arial"/>
                  <a:buChar char="•"/>
                  <a:defRPr sz="1200">
                    <a:latin typeface="Tenorite"/>
                    <a:ea typeface="Tenorite"/>
                    <a:cs typeface="Tenorite"/>
                    <a:sym typeface="Tenorite"/>
                  </a:defRPr>
                </a:pPr>
                <a:r>
                  <a:t>analytical run time analysis (the worse case </a:t>
                </a:r>
                <a14:m>
                  <m:oMath xmlns:m="http://schemas.openxmlformats.org/officeDocument/2006/math">
                    <m:r>
                      <a:rPr sz="12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𝒪</m:t>
                    </m:r>
                  </m:oMath>
                </a14:m>
                <a:r>
                  <a:t> time) of your approximation algorithm</a:t>
                </a:r>
                <a:endParaRPr sz="2000"/>
              </a:p>
              <a:p>
                <a:pPr marL="228600" indent="-228600">
                  <a:lnSpc>
                    <a:spcPct val="90000"/>
                  </a:lnSpc>
                  <a:spcBef>
                    <a:spcPts val="1200"/>
                  </a:spcBef>
                  <a:buSzPct val="100000"/>
                  <a:buFont typeface="Arial"/>
                  <a:buChar char="•"/>
                  <a:defRPr sz="1200">
                    <a:latin typeface="Tenorite"/>
                    <a:ea typeface="Tenorite"/>
                    <a:cs typeface="Tenorite"/>
                    <a:sym typeface="Tenorite"/>
                  </a:defRPr>
                </a:pPr>
                <a:r>
                  <a:t>plots that illustrate the run-time (wall clock) performance of your exact solution versus the approximation solution on your test cases</a:t>
                </a:r>
                <a:endParaRPr sz="2000"/>
              </a:p>
              <a:p>
                <a:pPr marL="228600" indent="-228600">
                  <a:lnSpc>
                    <a:spcPct val="90000"/>
                  </a:lnSpc>
                  <a:spcBef>
                    <a:spcPts val="1200"/>
                  </a:spcBef>
                  <a:buSzPct val="100000"/>
                  <a:buFont typeface="Arial"/>
                  <a:buChar char="•"/>
                  <a:defRPr sz="1200">
                    <a:latin typeface="Tenorite"/>
                    <a:ea typeface="Tenorite"/>
                    <a:cs typeface="Tenorite"/>
                    <a:sym typeface="Tenorite"/>
                  </a:defRPr>
                </a:pPr>
                <a:r>
                  <a:t>plots that compare the result/solution of your exact solution versus the approximation on your test cases. This is where you show the </a:t>
                </a:r>
                <a:r>
                  <a:rPr b="1"/>
                  <a:t>value</a:t>
                </a:r>
                <a:r>
                  <a:t> achieved by both and see how well your approximation did versus the optimal solution.</a:t>
                </a:r>
              </a:p>
            </p:txBody>
          </p:sp>
        </mc:Choice>
        <mc:Fallback>
          <p:sp>
            <p:nvSpPr>
              <p:cNvPr id="226" name="Content Placeholder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34114" y="2022248"/>
                <a:ext cx="3903970" cy="4470630"/>
              </a:xfrm>
              <a:prstGeom prst="rect">
                <a:avLst/>
              </a:prstGeom>
              <a:blipFill>
                <a:blip r:embed="rId3"/>
                <a:stretch>
                  <a:fillRect l="-1250" t="-546" r="-203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7" name="Content Placeholder 2"/>
          <p:cNvSpPr txBox="1"/>
          <p:nvPr/>
        </p:nvSpPr>
        <p:spPr>
          <a:xfrm>
            <a:off x="8242310" y="2022248"/>
            <a:ext cx="3903970" cy="22490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pPr>
              <a:lnSpc>
                <a:spcPct val="90000"/>
              </a:lnSpc>
              <a:spcBef>
                <a:spcPts val="1200"/>
              </a:spcBef>
              <a:defRPr sz="1200" b="1">
                <a:latin typeface="Tenorite"/>
                <a:ea typeface="Tenorite"/>
                <a:cs typeface="Tenorite"/>
                <a:sym typeface="Tenorite"/>
              </a:defRPr>
            </a:pPr>
            <a:r>
              <a:rPr dirty="0"/>
              <a:t>Part E:</a:t>
            </a:r>
            <a:endParaRPr sz="2000" dirty="0"/>
          </a:p>
          <a:p>
            <a:pPr marL="228600" indent="-228600">
              <a:lnSpc>
                <a:spcPct val="90000"/>
              </a:lnSpc>
              <a:spcBef>
                <a:spcPts val="1200"/>
              </a:spcBef>
              <a:buSzPct val="100000"/>
              <a:buFont typeface="Arial"/>
              <a:buChar char="•"/>
              <a:defRPr sz="1200">
                <a:latin typeface="Tenorite"/>
                <a:ea typeface="Tenorite"/>
                <a:cs typeface="Tenorite"/>
                <a:sym typeface="Tenorite"/>
              </a:defRPr>
            </a:pPr>
            <a:r>
              <a:rPr dirty="0"/>
              <a:t>Talk about how you broke things</a:t>
            </a:r>
            <a:endParaRPr sz="2000" dirty="0"/>
          </a:p>
          <a:p>
            <a:pPr marL="228600" indent="-228600">
              <a:lnSpc>
                <a:spcPct val="90000"/>
              </a:lnSpc>
              <a:spcBef>
                <a:spcPts val="1200"/>
              </a:spcBef>
              <a:buSzPct val="100000"/>
              <a:buFont typeface="Arial"/>
              <a:buChar char="•"/>
              <a:defRPr sz="1200">
                <a:latin typeface="Tenorite"/>
                <a:ea typeface="Tenorite"/>
                <a:cs typeface="Tenorite"/>
                <a:sym typeface="Tenorite"/>
              </a:defRPr>
            </a:pPr>
            <a:r>
              <a:rPr dirty="0"/>
              <a:t>Talk about how you fixed things</a:t>
            </a:r>
            <a:endParaRPr sz="2000" dirty="0"/>
          </a:p>
          <a:p>
            <a:pPr marL="228600" indent="-228600">
              <a:lnSpc>
                <a:spcPct val="90000"/>
              </a:lnSpc>
              <a:spcBef>
                <a:spcPts val="1200"/>
              </a:spcBef>
              <a:buSzPct val="100000"/>
              <a:buFont typeface="Arial"/>
              <a:buChar char="•"/>
              <a:defRPr sz="1200">
                <a:latin typeface="Tenorite"/>
                <a:ea typeface="Tenorite"/>
                <a:cs typeface="Tenorite"/>
                <a:sym typeface="Tenorite"/>
              </a:defRPr>
            </a:pPr>
            <a:r>
              <a:rPr dirty="0"/>
              <a:t>What is your approximation weak on</a:t>
            </a:r>
            <a:endParaRPr sz="2000" dirty="0"/>
          </a:p>
          <a:p>
            <a:pPr marL="228600" indent="-228600">
              <a:lnSpc>
                <a:spcPct val="90000"/>
              </a:lnSpc>
              <a:spcBef>
                <a:spcPts val="1200"/>
              </a:spcBef>
              <a:buSzPct val="100000"/>
              <a:buFont typeface="Arial"/>
              <a:buChar char="•"/>
              <a:defRPr sz="1200">
                <a:latin typeface="Tenorite"/>
                <a:ea typeface="Tenorite"/>
                <a:cs typeface="Tenorite"/>
                <a:sym typeface="Tenorite"/>
              </a:defRPr>
            </a:pPr>
            <a:r>
              <a:rPr dirty="0"/>
              <a:t>How does adding more time improve things?</a:t>
            </a:r>
            <a:endParaRPr sz="2000" dirty="0"/>
          </a:p>
          <a:p>
            <a:pPr marL="228600" indent="-228600">
              <a:lnSpc>
                <a:spcPct val="90000"/>
              </a:lnSpc>
              <a:spcBef>
                <a:spcPts val="1200"/>
              </a:spcBef>
              <a:buSzPct val="100000"/>
              <a:buFont typeface="Arial"/>
              <a:buChar char="•"/>
              <a:defRPr sz="1200">
                <a:latin typeface="Tenorite"/>
                <a:ea typeface="Tenorite"/>
                <a:cs typeface="Tenorite"/>
                <a:sym typeface="Tenorite"/>
              </a:defRPr>
            </a:pPr>
            <a:r>
              <a:rPr dirty="0"/>
              <a:t>Conclude everything</a:t>
            </a:r>
          </a:p>
        </p:txBody>
      </p: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914399" y="6259740"/>
            <a:ext cx="188894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/>
          </a:p>
        </p:txBody>
      </p:sp>
      <p:grpSp>
        <p:nvGrpSpPr>
          <p:cNvPr id="152" name="LAX"/>
          <p:cNvGrpSpPr/>
          <p:nvPr/>
        </p:nvGrpSpPr>
        <p:grpSpPr>
          <a:xfrm>
            <a:off x="7442612" y="3081903"/>
            <a:ext cx="694193" cy="694193"/>
            <a:chOff x="0" y="0"/>
            <a:chExt cx="694191" cy="694191"/>
          </a:xfrm>
        </p:grpSpPr>
        <p:sp>
          <p:nvSpPr>
            <p:cNvPr id="150" name="Circle"/>
            <p:cNvSpPr/>
            <p:nvPr/>
          </p:nvSpPr>
          <p:spPr>
            <a:xfrm>
              <a:off x="-1" y="-1"/>
              <a:ext cx="694192" cy="694192"/>
            </a:xfrm>
            <a:prstGeom prst="ellipse">
              <a:avLst/>
            </a:prstGeom>
            <a:gradFill flip="none" rotWithShape="1">
              <a:gsLst>
                <a:gs pos="0">
                  <a:srgbClr val="1287F6"/>
                </a:gs>
                <a:gs pos="100000">
                  <a:schemeClr val="accent5">
                    <a:hueOff val="329330"/>
                    <a:satOff val="40776"/>
                    <a:lumOff val="24655"/>
                  </a:schemeClr>
                </a:gs>
              </a:gsLst>
              <a:lin ang="16976440" scaled="0"/>
            </a:gradFill>
            <a:ln w="9525" cap="flat">
              <a:solidFill>
                <a:srgbClr val="4F80EF"/>
              </a:solidFill>
              <a:prstDash val="solid"/>
              <a:rou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51" name="LAX"/>
            <p:cNvSpPr txBox="1"/>
            <p:nvPr/>
          </p:nvSpPr>
          <p:spPr>
            <a:xfrm>
              <a:off x="106423" y="208095"/>
              <a:ext cx="481342" cy="277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r>
                <a:t>LAX</a:t>
              </a:r>
            </a:p>
          </p:txBody>
        </p:sp>
      </p:grpSp>
      <p:grpSp>
        <p:nvGrpSpPr>
          <p:cNvPr id="155" name="JFK"/>
          <p:cNvGrpSpPr/>
          <p:nvPr/>
        </p:nvGrpSpPr>
        <p:grpSpPr>
          <a:xfrm>
            <a:off x="8857303" y="1614045"/>
            <a:ext cx="694193" cy="694192"/>
            <a:chOff x="0" y="0"/>
            <a:chExt cx="694191" cy="694191"/>
          </a:xfrm>
        </p:grpSpPr>
        <p:sp>
          <p:nvSpPr>
            <p:cNvPr id="153" name="Circle"/>
            <p:cNvSpPr/>
            <p:nvPr/>
          </p:nvSpPr>
          <p:spPr>
            <a:xfrm>
              <a:off x="-1" y="-1"/>
              <a:ext cx="694192" cy="694192"/>
            </a:xfrm>
            <a:prstGeom prst="ellipse">
              <a:avLst/>
            </a:prstGeom>
            <a:gradFill flip="none" rotWithShape="1">
              <a:gsLst>
                <a:gs pos="0">
                  <a:srgbClr val="1287F6"/>
                </a:gs>
                <a:gs pos="100000">
                  <a:schemeClr val="accent5">
                    <a:hueOff val="329330"/>
                    <a:satOff val="40776"/>
                    <a:lumOff val="24655"/>
                  </a:schemeClr>
                </a:gs>
              </a:gsLst>
              <a:lin ang="16976440" scaled="0"/>
            </a:gradFill>
            <a:ln w="9525" cap="flat">
              <a:solidFill>
                <a:srgbClr val="4F80EF"/>
              </a:solidFill>
              <a:prstDash val="solid"/>
              <a:rou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54" name="JFK"/>
            <p:cNvSpPr txBox="1"/>
            <p:nvPr/>
          </p:nvSpPr>
          <p:spPr>
            <a:xfrm>
              <a:off x="106423" y="208095"/>
              <a:ext cx="481342" cy="277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r>
                <a:t>JFK</a:t>
              </a:r>
            </a:p>
          </p:txBody>
        </p:sp>
      </p:grpSp>
      <p:grpSp>
        <p:nvGrpSpPr>
          <p:cNvPr id="158" name="MIA"/>
          <p:cNvGrpSpPr/>
          <p:nvPr/>
        </p:nvGrpSpPr>
        <p:grpSpPr>
          <a:xfrm>
            <a:off x="10271992" y="3081903"/>
            <a:ext cx="694193" cy="694193"/>
            <a:chOff x="0" y="0"/>
            <a:chExt cx="694191" cy="694191"/>
          </a:xfrm>
        </p:grpSpPr>
        <p:sp>
          <p:nvSpPr>
            <p:cNvPr id="156" name="Circle"/>
            <p:cNvSpPr/>
            <p:nvPr/>
          </p:nvSpPr>
          <p:spPr>
            <a:xfrm>
              <a:off x="-1" y="-1"/>
              <a:ext cx="694192" cy="694192"/>
            </a:xfrm>
            <a:prstGeom prst="ellipse">
              <a:avLst/>
            </a:prstGeom>
            <a:gradFill flip="none" rotWithShape="1">
              <a:gsLst>
                <a:gs pos="0">
                  <a:srgbClr val="1287F6"/>
                </a:gs>
                <a:gs pos="100000">
                  <a:schemeClr val="accent5">
                    <a:hueOff val="329330"/>
                    <a:satOff val="40776"/>
                    <a:lumOff val="24655"/>
                  </a:schemeClr>
                </a:gs>
              </a:gsLst>
              <a:lin ang="16976440" scaled="0"/>
            </a:gradFill>
            <a:ln w="9525" cap="flat">
              <a:solidFill>
                <a:srgbClr val="4F80EF"/>
              </a:solidFill>
              <a:prstDash val="solid"/>
              <a:rou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57" name="MIA"/>
            <p:cNvSpPr txBox="1"/>
            <p:nvPr/>
          </p:nvSpPr>
          <p:spPr>
            <a:xfrm>
              <a:off x="106423" y="208095"/>
              <a:ext cx="481341" cy="277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r>
                <a:t>MIA</a:t>
              </a:r>
            </a:p>
          </p:txBody>
        </p:sp>
      </p:grpSp>
      <p:grpSp>
        <p:nvGrpSpPr>
          <p:cNvPr id="161" name="HOU"/>
          <p:cNvGrpSpPr/>
          <p:nvPr/>
        </p:nvGrpSpPr>
        <p:grpSpPr>
          <a:xfrm>
            <a:off x="8857303" y="4549762"/>
            <a:ext cx="694193" cy="694192"/>
            <a:chOff x="0" y="0"/>
            <a:chExt cx="694191" cy="694191"/>
          </a:xfrm>
        </p:grpSpPr>
        <p:sp>
          <p:nvSpPr>
            <p:cNvPr id="159" name="Circle"/>
            <p:cNvSpPr/>
            <p:nvPr/>
          </p:nvSpPr>
          <p:spPr>
            <a:xfrm>
              <a:off x="-1" y="-1"/>
              <a:ext cx="694192" cy="694192"/>
            </a:xfrm>
            <a:prstGeom prst="ellipse">
              <a:avLst/>
            </a:prstGeom>
            <a:gradFill flip="none" rotWithShape="1">
              <a:gsLst>
                <a:gs pos="0">
                  <a:srgbClr val="1287F6"/>
                </a:gs>
                <a:gs pos="100000">
                  <a:schemeClr val="accent5">
                    <a:hueOff val="329330"/>
                    <a:satOff val="40776"/>
                    <a:lumOff val="24655"/>
                  </a:schemeClr>
                </a:gs>
              </a:gsLst>
              <a:lin ang="16976440" scaled="0"/>
            </a:gradFill>
            <a:ln w="9525" cap="flat">
              <a:solidFill>
                <a:srgbClr val="4F80EF"/>
              </a:solidFill>
              <a:prstDash val="solid"/>
              <a:rou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60" name="HOU"/>
            <p:cNvSpPr txBox="1"/>
            <p:nvPr/>
          </p:nvSpPr>
          <p:spPr>
            <a:xfrm>
              <a:off x="106423" y="208095"/>
              <a:ext cx="481342" cy="277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r>
                <a:t>HOU</a:t>
              </a:r>
            </a:p>
          </p:txBody>
        </p:sp>
      </p:grpSp>
      <p:sp>
        <p:nvSpPr>
          <p:cNvPr id="162" name="Line"/>
          <p:cNvSpPr/>
          <p:nvPr/>
        </p:nvSpPr>
        <p:spPr>
          <a:xfrm flipV="1">
            <a:off x="9434714" y="3671711"/>
            <a:ext cx="942985" cy="967095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63" name="Line"/>
          <p:cNvSpPr/>
          <p:nvPr/>
        </p:nvSpPr>
        <p:spPr>
          <a:xfrm flipV="1">
            <a:off x="7989561" y="2180991"/>
            <a:ext cx="945353" cy="945350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64" name="Line"/>
          <p:cNvSpPr/>
          <p:nvPr/>
        </p:nvSpPr>
        <p:spPr>
          <a:xfrm flipH="1" flipV="1">
            <a:off x="8049108" y="3661616"/>
            <a:ext cx="894032" cy="1000098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65" name="Line"/>
          <p:cNvSpPr/>
          <p:nvPr/>
        </p:nvSpPr>
        <p:spPr>
          <a:xfrm flipH="1" flipV="1">
            <a:off x="9475364" y="2181819"/>
            <a:ext cx="893838" cy="99920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66" name="Line"/>
          <p:cNvSpPr/>
          <p:nvPr/>
        </p:nvSpPr>
        <p:spPr>
          <a:xfrm flipH="1" flipV="1">
            <a:off x="9219408" y="2308044"/>
            <a:ext cx="104" cy="2237879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67" name="Line"/>
          <p:cNvSpPr/>
          <p:nvPr/>
        </p:nvSpPr>
        <p:spPr>
          <a:xfrm flipH="1">
            <a:off x="8140831" y="3415165"/>
            <a:ext cx="2127134" cy="5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168" name="2.475"/>
          <p:cNvSpPr txBox="1"/>
          <p:nvPr/>
        </p:nvSpPr>
        <p:spPr>
          <a:xfrm>
            <a:off x="7903016" y="2348333"/>
            <a:ext cx="625295" cy="3330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2.475</a:t>
            </a:r>
          </a:p>
        </p:txBody>
      </p:sp>
      <p:sp>
        <p:nvSpPr>
          <p:cNvPr id="169" name="1.09"/>
          <p:cNvSpPr txBox="1"/>
          <p:nvPr/>
        </p:nvSpPr>
        <p:spPr>
          <a:xfrm>
            <a:off x="10026467" y="2348333"/>
            <a:ext cx="509433" cy="3330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1.09</a:t>
            </a:r>
          </a:p>
        </p:txBody>
      </p:sp>
      <p:sp>
        <p:nvSpPr>
          <p:cNvPr id="170" name="1.39"/>
          <p:cNvSpPr txBox="1"/>
          <p:nvPr/>
        </p:nvSpPr>
        <p:spPr>
          <a:xfrm>
            <a:off x="7960945" y="4176576"/>
            <a:ext cx="509434" cy="3330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1.39</a:t>
            </a:r>
          </a:p>
        </p:txBody>
      </p:sp>
      <p:sp>
        <p:nvSpPr>
          <p:cNvPr id="171" name="1.1"/>
          <p:cNvSpPr txBox="1"/>
          <p:nvPr/>
        </p:nvSpPr>
        <p:spPr>
          <a:xfrm>
            <a:off x="10026467" y="4155256"/>
            <a:ext cx="393570" cy="3330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1.1</a:t>
            </a:r>
          </a:p>
        </p:txBody>
      </p:sp>
      <p:sp>
        <p:nvSpPr>
          <p:cNvPr id="172" name="1.74"/>
          <p:cNvSpPr txBox="1"/>
          <p:nvPr/>
        </p:nvSpPr>
        <p:spPr>
          <a:xfrm>
            <a:off x="9200429" y="2691187"/>
            <a:ext cx="509434" cy="3330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1.74</a:t>
            </a:r>
          </a:p>
        </p:txBody>
      </p:sp>
      <p:sp>
        <p:nvSpPr>
          <p:cNvPr id="173" name="2.342"/>
          <p:cNvSpPr txBox="1"/>
          <p:nvPr/>
        </p:nvSpPr>
        <p:spPr>
          <a:xfrm>
            <a:off x="8387994" y="3402465"/>
            <a:ext cx="625296" cy="3330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2.342</a:t>
            </a:r>
          </a:p>
        </p:txBody>
      </p:sp>
      <p:sp>
        <p:nvSpPr>
          <p:cNvPr id="174" name="Weights in 1K air miles"/>
          <p:cNvSpPr txBox="1"/>
          <p:nvPr/>
        </p:nvSpPr>
        <p:spPr>
          <a:xfrm>
            <a:off x="5141083" y="6227815"/>
            <a:ext cx="1909832" cy="3330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Weights in 1K miles</a:t>
            </a:r>
          </a:p>
        </p:txBody>
      </p:sp>
      <p:pic>
        <p:nvPicPr>
          <p:cNvPr id="175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9162" y="1970899"/>
            <a:ext cx="5184358" cy="291620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Slide Number Placeholder 1"/>
          <p:cNvSpPr txBox="1">
            <a:spLocks noGrp="1"/>
          </p:cNvSpPr>
          <p:nvPr>
            <p:ph type="sldNum" sz="quarter" idx="4294967295"/>
          </p:nvPr>
        </p:nvSpPr>
        <p:spPr>
          <a:xfrm>
            <a:off x="914399" y="6259740"/>
            <a:ext cx="188894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/>
          </a:p>
        </p:txBody>
      </p:sp>
      <p:grpSp>
        <p:nvGrpSpPr>
          <p:cNvPr id="180" name="LAX"/>
          <p:cNvGrpSpPr/>
          <p:nvPr/>
        </p:nvGrpSpPr>
        <p:grpSpPr>
          <a:xfrm>
            <a:off x="3548879" y="3081904"/>
            <a:ext cx="694193" cy="694192"/>
            <a:chOff x="0" y="0"/>
            <a:chExt cx="694191" cy="694191"/>
          </a:xfrm>
        </p:grpSpPr>
        <p:sp>
          <p:nvSpPr>
            <p:cNvPr id="178" name="Circle"/>
            <p:cNvSpPr/>
            <p:nvPr/>
          </p:nvSpPr>
          <p:spPr>
            <a:xfrm>
              <a:off x="-1" y="-1"/>
              <a:ext cx="694192" cy="694192"/>
            </a:xfrm>
            <a:prstGeom prst="ellipse">
              <a:avLst/>
            </a:prstGeom>
            <a:gradFill flip="none" rotWithShape="1">
              <a:gsLst>
                <a:gs pos="0">
                  <a:srgbClr val="1287F6"/>
                </a:gs>
                <a:gs pos="100000">
                  <a:schemeClr val="accent5">
                    <a:hueOff val="329330"/>
                    <a:satOff val="40776"/>
                    <a:lumOff val="24655"/>
                  </a:schemeClr>
                </a:gs>
              </a:gsLst>
              <a:lin ang="16976440" scaled="0"/>
            </a:gradFill>
            <a:ln w="9525" cap="flat">
              <a:solidFill>
                <a:srgbClr val="4F80EF"/>
              </a:solidFill>
              <a:prstDash val="solid"/>
              <a:rou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79" name="LAX"/>
            <p:cNvSpPr txBox="1"/>
            <p:nvPr/>
          </p:nvSpPr>
          <p:spPr>
            <a:xfrm>
              <a:off x="106423" y="208095"/>
              <a:ext cx="481342" cy="277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r>
                <a:t>LAX</a:t>
              </a:r>
            </a:p>
          </p:txBody>
        </p:sp>
      </p:grpSp>
      <p:grpSp>
        <p:nvGrpSpPr>
          <p:cNvPr id="183" name="JFK"/>
          <p:cNvGrpSpPr/>
          <p:nvPr/>
        </p:nvGrpSpPr>
        <p:grpSpPr>
          <a:xfrm>
            <a:off x="5748904" y="970328"/>
            <a:ext cx="694192" cy="694193"/>
            <a:chOff x="0" y="0"/>
            <a:chExt cx="694191" cy="694191"/>
          </a:xfrm>
        </p:grpSpPr>
        <p:sp>
          <p:nvSpPr>
            <p:cNvPr id="181" name="Circle"/>
            <p:cNvSpPr/>
            <p:nvPr/>
          </p:nvSpPr>
          <p:spPr>
            <a:xfrm>
              <a:off x="-1" y="-1"/>
              <a:ext cx="694192" cy="694192"/>
            </a:xfrm>
            <a:prstGeom prst="ellipse">
              <a:avLst/>
            </a:prstGeom>
            <a:gradFill flip="none" rotWithShape="1">
              <a:gsLst>
                <a:gs pos="0">
                  <a:srgbClr val="1287F6"/>
                </a:gs>
                <a:gs pos="100000">
                  <a:schemeClr val="accent5">
                    <a:hueOff val="329330"/>
                    <a:satOff val="40776"/>
                    <a:lumOff val="24655"/>
                  </a:schemeClr>
                </a:gs>
              </a:gsLst>
              <a:lin ang="16976440" scaled="0"/>
            </a:gradFill>
            <a:ln w="9525" cap="flat">
              <a:solidFill>
                <a:srgbClr val="4F80EF"/>
              </a:solidFill>
              <a:prstDash val="solid"/>
              <a:rou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82" name="JFK"/>
            <p:cNvSpPr txBox="1"/>
            <p:nvPr/>
          </p:nvSpPr>
          <p:spPr>
            <a:xfrm>
              <a:off x="106423" y="208095"/>
              <a:ext cx="481342" cy="277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r>
                <a:t>JFK</a:t>
              </a:r>
            </a:p>
          </p:txBody>
        </p:sp>
      </p:grpSp>
      <p:grpSp>
        <p:nvGrpSpPr>
          <p:cNvPr id="186" name="MIA"/>
          <p:cNvGrpSpPr/>
          <p:nvPr/>
        </p:nvGrpSpPr>
        <p:grpSpPr>
          <a:xfrm>
            <a:off x="7936054" y="3081904"/>
            <a:ext cx="694192" cy="694192"/>
            <a:chOff x="0" y="0"/>
            <a:chExt cx="694191" cy="694191"/>
          </a:xfrm>
        </p:grpSpPr>
        <p:sp>
          <p:nvSpPr>
            <p:cNvPr id="184" name="Circle"/>
            <p:cNvSpPr/>
            <p:nvPr/>
          </p:nvSpPr>
          <p:spPr>
            <a:xfrm>
              <a:off x="-1" y="-1"/>
              <a:ext cx="694192" cy="694192"/>
            </a:xfrm>
            <a:prstGeom prst="ellipse">
              <a:avLst/>
            </a:prstGeom>
            <a:gradFill flip="none" rotWithShape="1">
              <a:gsLst>
                <a:gs pos="0">
                  <a:srgbClr val="1287F6"/>
                </a:gs>
                <a:gs pos="100000">
                  <a:schemeClr val="accent5">
                    <a:hueOff val="329330"/>
                    <a:satOff val="40776"/>
                    <a:lumOff val="24655"/>
                  </a:schemeClr>
                </a:gs>
              </a:gsLst>
              <a:lin ang="16976440" scaled="0"/>
            </a:gradFill>
            <a:ln w="9525" cap="flat">
              <a:solidFill>
                <a:srgbClr val="4F80EF"/>
              </a:solidFill>
              <a:prstDash val="solid"/>
              <a:rou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85" name="MIA"/>
            <p:cNvSpPr txBox="1"/>
            <p:nvPr/>
          </p:nvSpPr>
          <p:spPr>
            <a:xfrm>
              <a:off x="106423" y="208095"/>
              <a:ext cx="481341" cy="277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r>
                <a:t>MIA</a:t>
              </a:r>
            </a:p>
          </p:txBody>
        </p:sp>
      </p:grpSp>
      <p:grpSp>
        <p:nvGrpSpPr>
          <p:cNvPr id="189" name="HOU"/>
          <p:cNvGrpSpPr/>
          <p:nvPr/>
        </p:nvGrpSpPr>
        <p:grpSpPr>
          <a:xfrm>
            <a:off x="5748904" y="5038987"/>
            <a:ext cx="694192" cy="694193"/>
            <a:chOff x="0" y="0"/>
            <a:chExt cx="694191" cy="694191"/>
          </a:xfrm>
        </p:grpSpPr>
        <p:sp>
          <p:nvSpPr>
            <p:cNvPr id="187" name="Circle"/>
            <p:cNvSpPr/>
            <p:nvPr/>
          </p:nvSpPr>
          <p:spPr>
            <a:xfrm>
              <a:off x="-1" y="-1"/>
              <a:ext cx="694192" cy="694192"/>
            </a:xfrm>
            <a:prstGeom prst="ellipse">
              <a:avLst/>
            </a:prstGeom>
            <a:gradFill flip="none" rotWithShape="1">
              <a:gsLst>
                <a:gs pos="0">
                  <a:srgbClr val="1287F6"/>
                </a:gs>
                <a:gs pos="100000">
                  <a:schemeClr val="accent5">
                    <a:hueOff val="329330"/>
                    <a:satOff val="40776"/>
                    <a:lumOff val="24655"/>
                  </a:schemeClr>
                </a:gs>
              </a:gsLst>
              <a:lin ang="16976440" scaled="0"/>
            </a:gradFill>
            <a:ln w="9525" cap="flat">
              <a:solidFill>
                <a:srgbClr val="4F80EF"/>
              </a:solidFill>
              <a:prstDash val="solid"/>
              <a:rou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88" name="HOU"/>
            <p:cNvSpPr txBox="1"/>
            <p:nvPr/>
          </p:nvSpPr>
          <p:spPr>
            <a:xfrm>
              <a:off x="106423" y="208095"/>
              <a:ext cx="481342" cy="277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r>
                <a:t>HOU</a:t>
              </a:r>
            </a:p>
          </p:txBody>
        </p:sp>
      </p:grpSp>
      <p:sp>
        <p:nvSpPr>
          <p:cNvPr id="190" name="Weights in 1K air miles"/>
          <p:cNvSpPr txBox="1"/>
          <p:nvPr/>
        </p:nvSpPr>
        <p:spPr>
          <a:xfrm>
            <a:off x="5154702" y="6227816"/>
            <a:ext cx="1882596" cy="33308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>
            <a:lvl1pPr>
              <a:defRPr>
                <a:latin typeface="+mn-lt"/>
                <a:ea typeface="+mn-ea"/>
                <a:cs typeface="+mn-cs"/>
                <a:sym typeface="Calibri"/>
              </a:defRPr>
            </a:lvl1pPr>
          </a:lstStyle>
          <a:p>
            <a:r>
              <a:t>“Can’t do it boss…”</a:t>
            </a:r>
          </a:p>
        </p:txBody>
      </p:sp>
      <p:grpSp>
        <p:nvGrpSpPr>
          <p:cNvPr id="193" name="JFK"/>
          <p:cNvGrpSpPr/>
          <p:nvPr/>
        </p:nvGrpSpPr>
        <p:grpSpPr>
          <a:xfrm>
            <a:off x="4295591" y="1547930"/>
            <a:ext cx="694193" cy="694193"/>
            <a:chOff x="0" y="0"/>
            <a:chExt cx="694191" cy="694191"/>
          </a:xfrm>
        </p:grpSpPr>
        <p:sp>
          <p:nvSpPr>
            <p:cNvPr id="191" name="Circle"/>
            <p:cNvSpPr/>
            <p:nvPr/>
          </p:nvSpPr>
          <p:spPr>
            <a:xfrm>
              <a:off x="-1" y="-1"/>
              <a:ext cx="694192" cy="694192"/>
            </a:xfrm>
            <a:prstGeom prst="ellipse">
              <a:avLst/>
            </a:prstGeom>
            <a:gradFill flip="none" rotWithShape="1">
              <a:gsLst>
                <a:gs pos="0">
                  <a:srgbClr val="1287F6"/>
                </a:gs>
                <a:gs pos="100000">
                  <a:schemeClr val="accent5">
                    <a:hueOff val="329330"/>
                    <a:satOff val="40776"/>
                    <a:lumOff val="24655"/>
                  </a:schemeClr>
                </a:gs>
              </a:gsLst>
              <a:lin ang="16976440" scaled="0"/>
            </a:gradFill>
            <a:ln w="9525" cap="flat">
              <a:solidFill>
                <a:srgbClr val="4F80EF"/>
              </a:solidFill>
              <a:prstDash val="solid"/>
              <a:rou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92" name="JFK"/>
            <p:cNvSpPr txBox="1"/>
            <p:nvPr/>
          </p:nvSpPr>
          <p:spPr>
            <a:xfrm>
              <a:off x="106423" y="208095"/>
              <a:ext cx="481342" cy="277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r>
                <a:t>JFK</a:t>
              </a:r>
            </a:p>
          </p:txBody>
        </p:sp>
      </p:grpSp>
      <p:grpSp>
        <p:nvGrpSpPr>
          <p:cNvPr id="196" name="JFK"/>
          <p:cNvGrpSpPr/>
          <p:nvPr/>
        </p:nvGrpSpPr>
        <p:grpSpPr>
          <a:xfrm>
            <a:off x="7202216" y="1547930"/>
            <a:ext cx="694193" cy="694193"/>
            <a:chOff x="0" y="0"/>
            <a:chExt cx="694191" cy="694191"/>
          </a:xfrm>
        </p:grpSpPr>
        <p:sp>
          <p:nvSpPr>
            <p:cNvPr id="194" name="Circle"/>
            <p:cNvSpPr/>
            <p:nvPr/>
          </p:nvSpPr>
          <p:spPr>
            <a:xfrm>
              <a:off x="-1" y="-1"/>
              <a:ext cx="694192" cy="694192"/>
            </a:xfrm>
            <a:prstGeom prst="ellipse">
              <a:avLst/>
            </a:prstGeom>
            <a:gradFill flip="none" rotWithShape="1">
              <a:gsLst>
                <a:gs pos="0">
                  <a:srgbClr val="1287F6"/>
                </a:gs>
                <a:gs pos="100000">
                  <a:schemeClr val="accent5">
                    <a:hueOff val="329330"/>
                    <a:satOff val="40776"/>
                    <a:lumOff val="24655"/>
                  </a:schemeClr>
                </a:gs>
              </a:gsLst>
              <a:lin ang="16976440" scaled="0"/>
            </a:gradFill>
            <a:ln w="9525" cap="flat">
              <a:solidFill>
                <a:srgbClr val="4F80EF"/>
              </a:solidFill>
              <a:prstDash val="solid"/>
              <a:rou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95" name="JFK"/>
            <p:cNvSpPr txBox="1"/>
            <p:nvPr/>
          </p:nvSpPr>
          <p:spPr>
            <a:xfrm>
              <a:off x="106423" y="208095"/>
              <a:ext cx="481342" cy="277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r>
                <a:t>JFK</a:t>
              </a:r>
            </a:p>
          </p:txBody>
        </p:sp>
      </p:grpSp>
      <p:grpSp>
        <p:nvGrpSpPr>
          <p:cNvPr id="199" name="JFK"/>
          <p:cNvGrpSpPr/>
          <p:nvPr/>
        </p:nvGrpSpPr>
        <p:grpSpPr>
          <a:xfrm>
            <a:off x="7202216" y="4395270"/>
            <a:ext cx="694193" cy="694193"/>
            <a:chOff x="0" y="0"/>
            <a:chExt cx="694191" cy="694191"/>
          </a:xfrm>
        </p:grpSpPr>
        <p:sp>
          <p:nvSpPr>
            <p:cNvPr id="197" name="Circle"/>
            <p:cNvSpPr/>
            <p:nvPr/>
          </p:nvSpPr>
          <p:spPr>
            <a:xfrm>
              <a:off x="-1" y="-1"/>
              <a:ext cx="694192" cy="694192"/>
            </a:xfrm>
            <a:prstGeom prst="ellipse">
              <a:avLst/>
            </a:prstGeom>
            <a:gradFill flip="none" rotWithShape="1">
              <a:gsLst>
                <a:gs pos="0">
                  <a:srgbClr val="1287F6"/>
                </a:gs>
                <a:gs pos="100000">
                  <a:schemeClr val="accent5">
                    <a:hueOff val="329330"/>
                    <a:satOff val="40776"/>
                    <a:lumOff val="24655"/>
                  </a:schemeClr>
                </a:gs>
              </a:gsLst>
              <a:lin ang="16976440" scaled="0"/>
            </a:gradFill>
            <a:ln w="9525" cap="flat">
              <a:solidFill>
                <a:srgbClr val="4F80EF"/>
              </a:solidFill>
              <a:prstDash val="solid"/>
              <a:rou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198" name="JFK"/>
            <p:cNvSpPr txBox="1"/>
            <p:nvPr/>
          </p:nvSpPr>
          <p:spPr>
            <a:xfrm>
              <a:off x="106423" y="208095"/>
              <a:ext cx="481342" cy="277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r>
                <a:t>JFK</a:t>
              </a:r>
            </a:p>
          </p:txBody>
        </p:sp>
      </p:grpSp>
      <p:grpSp>
        <p:nvGrpSpPr>
          <p:cNvPr id="202" name="JFK"/>
          <p:cNvGrpSpPr/>
          <p:nvPr/>
        </p:nvGrpSpPr>
        <p:grpSpPr>
          <a:xfrm>
            <a:off x="4295591" y="4395270"/>
            <a:ext cx="694193" cy="694193"/>
            <a:chOff x="0" y="0"/>
            <a:chExt cx="694191" cy="694191"/>
          </a:xfrm>
        </p:grpSpPr>
        <p:sp>
          <p:nvSpPr>
            <p:cNvPr id="200" name="Circle"/>
            <p:cNvSpPr/>
            <p:nvPr/>
          </p:nvSpPr>
          <p:spPr>
            <a:xfrm>
              <a:off x="-1" y="-1"/>
              <a:ext cx="694192" cy="694192"/>
            </a:xfrm>
            <a:prstGeom prst="ellipse">
              <a:avLst/>
            </a:prstGeom>
            <a:gradFill flip="none" rotWithShape="1">
              <a:gsLst>
                <a:gs pos="0">
                  <a:srgbClr val="1287F6"/>
                </a:gs>
                <a:gs pos="100000">
                  <a:schemeClr val="accent5">
                    <a:hueOff val="329330"/>
                    <a:satOff val="40776"/>
                    <a:lumOff val="24655"/>
                  </a:schemeClr>
                </a:gs>
              </a:gsLst>
              <a:lin ang="16976440" scaled="0"/>
            </a:gradFill>
            <a:ln w="9525" cap="flat">
              <a:solidFill>
                <a:srgbClr val="4F80EF"/>
              </a:solidFill>
              <a:prstDash val="solid"/>
              <a:round/>
            </a:ln>
            <a:effectLst>
              <a:outerShdw blurRad="63500" dist="25400" dir="5400000" rotWithShape="0">
                <a:srgbClr val="000000">
                  <a:alpha val="50000"/>
                </a:srgbClr>
              </a:outerShdw>
            </a:effectLst>
          </p:spPr>
          <p:txBody>
            <a:bodyPr wrap="square" lIns="45718" tIns="45718" rIns="45718" bIns="45718" numCol="1" anchor="ctr">
              <a:noAutofit/>
            </a:bodyPr>
            <a:lstStyle/>
            <a:p>
              <a:pPr algn="ctr">
                <a:defRPr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pPr>
              <a:endParaRPr/>
            </a:p>
          </p:txBody>
        </p:sp>
        <p:sp>
          <p:nvSpPr>
            <p:cNvPr id="201" name="JFK"/>
            <p:cNvSpPr txBox="1"/>
            <p:nvPr/>
          </p:nvSpPr>
          <p:spPr>
            <a:xfrm>
              <a:off x="106423" y="208095"/>
              <a:ext cx="481342" cy="277993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45718" tIns="45718" rIns="45718" bIns="45718" numCol="1" anchor="ctr">
              <a:spAutoFit/>
            </a:bodyPr>
            <a:lstStyle>
              <a:lvl1pPr algn="ctr">
                <a:defRPr sz="15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Calibri"/>
                </a:defRPr>
              </a:lvl1pPr>
            </a:lstStyle>
            <a:p>
              <a:r>
                <a:t>JFK</a:t>
              </a:r>
            </a:p>
          </p:txBody>
        </p:sp>
      </p:grpSp>
      <p:sp>
        <p:nvSpPr>
          <p:cNvPr id="203" name="Line"/>
          <p:cNvSpPr/>
          <p:nvPr/>
        </p:nvSpPr>
        <p:spPr>
          <a:xfrm flipH="1" flipV="1">
            <a:off x="4245530" y="3430563"/>
            <a:ext cx="3683268" cy="9833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04" name="Line"/>
          <p:cNvSpPr/>
          <p:nvPr/>
        </p:nvSpPr>
        <p:spPr>
          <a:xfrm flipH="1">
            <a:off x="4255650" y="2108531"/>
            <a:ext cx="3010632" cy="1312126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05" name="Line"/>
          <p:cNvSpPr/>
          <p:nvPr/>
        </p:nvSpPr>
        <p:spPr>
          <a:xfrm flipH="1">
            <a:off x="4246952" y="1609554"/>
            <a:ext cx="1651368" cy="1813502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  <p:sp>
        <p:nvSpPr>
          <p:cNvPr id="206" name="Line"/>
          <p:cNvSpPr/>
          <p:nvPr/>
        </p:nvSpPr>
        <p:spPr>
          <a:xfrm flipH="1">
            <a:off x="4255657" y="2241652"/>
            <a:ext cx="344756" cy="1174504"/>
          </a:xfrm>
          <a:prstGeom prst="line">
            <a:avLst/>
          </a:prstGeom>
          <a:ln w="25400">
            <a:solidFill>
              <a:srgbClr val="000000"/>
            </a:solidFill>
          </a:ln>
        </p:spPr>
        <p:txBody>
          <a:bodyPr lIns="45718" tIns="45718" rIns="45718" bIns="45718"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itle 6"/>
          <p:cNvSpPr txBox="1">
            <a:spLocks noGrp="1"/>
          </p:cNvSpPr>
          <p:nvPr>
            <p:ph type="title"/>
          </p:nvPr>
        </p:nvSpPr>
        <p:spPr>
          <a:xfrm>
            <a:off x="170522" y="821"/>
            <a:ext cx="5134663" cy="2689633"/>
          </a:xfrm>
          <a:prstGeom prst="rect">
            <a:avLst/>
          </a:prstGeom>
        </p:spPr>
        <p:txBody>
          <a:bodyPr/>
          <a:lstStyle/>
          <a:p>
            <a:r>
              <a:t>Certifier verification is polynomial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Title 1"/>
          <p:cNvSpPr txBox="1">
            <a:spLocks noGrp="1"/>
          </p:cNvSpPr>
          <p:nvPr>
            <p:ph type="title"/>
          </p:nvPr>
        </p:nvSpPr>
        <p:spPr>
          <a:xfrm>
            <a:off x="923540" y="584477"/>
            <a:ext cx="10354061" cy="1209767"/>
          </a:xfrm>
          <a:prstGeom prst="rect">
            <a:avLst/>
          </a:prstGeom>
        </p:spPr>
        <p:txBody>
          <a:bodyPr/>
          <a:lstStyle/>
          <a:p>
            <a:r>
              <a:rPr dirty="0"/>
              <a:t>REDUCTION FROM KNOWN NP-hard </a:t>
            </a:r>
            <a:r>
              <a:rPr dirty="0" err="1"/>
              <a:t>SOL</a:t>
            </a:r>
            <a:r>
              <a:rPr lang="en-US" dirty="0" err="1"/>
              <a:t>u</a:t>
            </a:r>
            <a:r>
              <a:rPr dirty="0" err="1"/>
              <a:t>t</a:t>
            </a:r>
            <a:r>
              <a:rPr lang="en-US" dirty="0" err="1"/>
              <a:t>io</a:t>
            </a:r>
            <a:r>
              <a:rPr dirty="0" err="1"/>
              <a:t>n</a:t>
            </a:r>
            <a:endParaRPr dirty="0"/>
          </a:p>
        </p:txBody>
      </p:sp>
      <p:sp>
        <p:nvSpPr>
          <p:cNvPr id="211" name="Slide Number Placeholder 3"/>
          <p:cNvSpPr txBox="1">
            <a:spLocks noGrp="1"/>
          </p:cNvSpPr>
          <p:nvPr>
            <p:ph type="sldNum" sz="quarter" idx="4294967295"/>
          </p:nvPr>
        </p:nvSpPr>
        <p:spPr>
          <a:xfrm>
            <a:off x="914399" y="6259740"/>
            <a:ext cx="188894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/>
          </a:p>
        </p:txBody>
      </p:sp>
      <p:sp>
        <p:nvSpPr>
          <p:cNvPr id="212" name="Reduce from hamiltonian cycle"/>
          <p:cNvSpPr txBox="1"/>
          <p:nvPr/>
        </p:nvSpPr>
        <p:spPr>
          <a:xfrm>
            <a:off x="5641192" y="3194094"/>
            <a:ext cx="3229750" cy="3708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45718" tIns="45718" rIns="45718" bIns="45718">
            <a:spAutoFit/>
          </a:bodyPr>
          <a:lstStyle/>
          <a:p>
            <a:r>
              <a:t>Reduce from hamiltonian cycle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itle 6"/>
          <p:cNvSpPr txBox="1">
            <a:spLocks noGrp="1"/>
          </p:cNvSpPr>
          <p:nvPr>
            <p:ph type="title"/>
          </p:nvPr>
        </p:nvSpPr>
        <p:spPr>
          <a:xfrm>
            <a:off x="6126479" y="1310638"/>
            <a:ext cx="4806001" cy="2689632"/>
          </a:xfrm>
          <a:prstGeom prst="rect">
            <a:avLst/>
          </a:prstGeom>
        </p:spPr>
        <p:txBody>
          <a:bodyPr/>
          <a:lstStyle/>
          <a:p>
            <a:r>
              <a:t>Analytical runtime Analysis</a:t>
            </a:r>
          </a:p>
        </p:txBody>
      </p:sp>
      <p:pic>
        <p:nvPicPr>
          <p:cNvPr id="215" name="Picture Placeholder 4" descr="Picture Placeholder 4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l="20394" r="20394"/>
          <a:stretch>
            <a:fillRect/>
          </a:stretch>
        </p:blipFill>
        <p:spPr>
          <a:xfrm>
            <a:off x="0" y="-10165"/>
            <a:ext cx="6096000" cy="6858007"/>
          </a:xfrm>
          <a:prstGeom prst="rect">
            <a:avLst/>
          </a:prstGeom>
        </p:spPr>
      </p:pic>
      <p:sp>
        <p:nvSpPr>
          <p:cNvPr id="216" name="Content Placeholder 7"/>
          <p:cNvSpPr txBox="1">
            <a:spLocks noGrp="1"/>
          </p:cNvSpPr>
          <p:nvPr>
            <p:ph type="body" sz="quarter" idx="1"/>
          </p:nvPr>
        </p:nvSpPr>
        <p:spPr>
          <a:xfrm>
            <a:off x="6126162" y="4172989"/>
            <a:ext cx="4806001" cy="2389742"/>
          </a:xfrm>
          <a:prstGeom prst="rect">
            <a:avLst/>
          </a:prstGeom>
        </p:spPr>
        <p:txBody>
          <a:bodyPr/>
          <a:lstStyle/>
          <a:p>
            <a:r>
              <a:t>First beautifully designed product that's both stylish and functional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Title 1"/>
          <p:cNvSpPr txBox="1">
            <a:spLocks noGrp="1"/>
          </p:cNvSpPr>
          <p:nvPr>
            <p:ph type="title"/>
          </p:nvPr>
        </p:nvSpPr>
        <p:spPr>
          <a:xfrm>
            <a:off x="914398" y="365125"/>
            <a:ext cx="10439401" cy="1617017"/>
          </a:xfrm>
          <a:prstGeom prst="rect">
            <a:avLst/>
          </a:prstGeom>
        </p:spPr>
        <p:txBody>
          <a:bodyPr/>
          <a:lstStyle/>
          <a:p>
            <a:r>
              <a:rPr dirty="0" err="1"/>
              <a:t>EMp</a:t>
            </a:r>
            <a:r>
              <a:rPr lang="en-US" dirty="0" err="1"/>
              <a:t>i</a:t>
            </a:r>
            <a:r>
              <a:rPr dirty="0" err="1"/>
              <a:t>rical</a:t>
            </a:r>
            <a:r>
              <a:rPr dirty="0"/>
              <a:t> runtime analysis</a:t>
            </a:r>
          </a:p>
        </p:txBody>
      </p:sp>
      <p:sp>
        <p:nvSpPr>
          <p:cNvPr id="219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914396" y="2022250"/>
            <a:ext cx="3310135" cy="3747181"/>
          </a:xfrm>
          <a:prstGeom prst="rect">
            <a:avLst/>
          </a:prstGeom>
        </p:spPr>
        <p:txBody>
          <a:bodyPr/>
          <a:lstStyle/>
          <a:p>
            <a:r>
              <a:t>Unique</a:t>
            </a:r>
          </a:p>
          <a:p>
            <a:r>
              <a:t>First to market</a:t>
            </a:r>
          </a:p>
          <a:p>
            <a:r>
              <a:t>Tested</a:t>
            </a:r>
          </a:p>
          <a:p>
            <a:r>
              <a:t>Authentic</a:t>
            </a:r>
          </a:p>
        </p:txBody>
      </p:sp>
      <p:sp>
        <p:nvSpPr>
          <p:cNvPr id="220" name="Content Placeholder 3"/>
          <p:cNvSpPr txBox="1"/>
          <p:nvPr/>
        </p:nvSpPr>
        <p:spPr>
          <a:xfrm>
            <a:off x="4648029" y="2018120"/>
            <a:ext cx="6660048" cy="37471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8" tIns="45718" rIns="45718" bIns="45718">
            <a:normAutofit/>
          </a:bodyPr>
          <a:lstStyle/>
          <a:p>
            <a:pPr marL="228600" indent="-228600">
              <a:lnSpc>
                <a:spcPct val="90000"/>
              </a:lnSpc>
              <a:spcBef>
                <a:spcPts val="1200"/>
              </a:spcBef>
              <a:buSzPct val="100000"/>
              <a:buFont typeface="Arial"/>
              <a:buChar char="•"/>
              <a:defRPr sz="2000">
                <a:latin typeface="Tenorite"/>
                <a:ea typeface="Tenorite"/>
                <a:cs typeface="Tenorite"/>
                <a:sym typeface="Tenorite"/>
              </a:defRPr>
            </a:pPr>
            <a:r>
              <a:t>Only product specifically dedicated to this niche market</a:t>
            </a:r>
          </a:p>
          <a:p>
            <a:pPr marL="228600" indent="-228600">
              <a:lnSpc>
                <a:spcPct val="90000"/>
              </a:lnSpc>
              <a:spcBef>
                <a:spcPts val="1200"/>
              </a:spcBef>
              <a:buSzPct val="100000"/>
              <a:buFont typeface="Arial"/>
              <a:buChar char="•"/>
              <a:defRPr sz="2000">
                <a:latin typeface="Tenorite"/>
                <a:ea typeface="Tenorite"/>
                <a:cs typeface="Tenorite"/>
                <a:sym typeface="Tenorite"/>
              </a:defRPr>
            </a:pPr>
            <a:r>
              <a:t>First beautifully designed product that's both stylish and functional</a:t>
            </a:r>
          </a:p>
          <a:p>
            <a:pPr marL="228600" indent="-228600">
              <a:lnSpc>
                <a:spcPct val="90000"/>
              </a:lnSpc>
              <a:spcBef>
                <a:spcPts val="1200"/>
              </a:spcBef>
              <a:buSzPct val="100000"/>
              <a:buFont typeface="Arial"/>
              <a:buChar char="•"/>
              <a:defRPr sz="2000">
                <a:latin typeface="Tenorite"/>
                <a:ea typeface="Tenorite"/>
                <a:cs typeface="Tenorite"/>
                <a:sym typeface="Tenorite"/>
              </a:defRPr>
            </a:pPr>
            <a:r>
              <a:t>Conducted testing with college students in the area</a:t>
            </a:r>
          </a:p>
          <a:p>
            <a:pPr marL="228600" indent="-228600">
              <a:lnSpc>
                <a:spcPct val="90000"/>
              </a:lnSpc>
              <a:spcBef>
                <a:spcPts val="1200"/>
              </a:spcBef>
              <a:buSzPct val="100000"/>
              <a:buFont typeface="Arial"/>
              <a:buChar char="•"/>
              <a:defRPr sz="2000">
                <a:latin typeface="Tenorite"/>
                <a:ea typeface="Tenorite"/>
                <a:cs typeface="Tenorite"/>
                <a:sym typeface="Tenorite"/>
              </a:defRPr>
            </a:pPr>
            <a:r>
              <a:t>Designed with the help and input of experts in the field </a:t>
            </a:r>
          </a:p>
        </p:txBody>
      </p:sp>
      <p:sp>
        <p:nvSpPr>
          <p:cNvPr id="221" name="Slide Number Placeholder 4"/>
          <p:cNvSpPr txBox="1">
            <a:spLocks noGrp="1"/>
          </p:cNvSpPr>
          <p:nvPr>
            <p:ph type="sldNum" sz="quarter" idx="4294967295"/>
          </p:nvPr>
        </p:nvSpPr>
        <p:spPr>
          <a:xfrm>
            <a:off x="914399" y="6259738"/>
            <a:ext cx="188894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itle 1"/>
          <p:cNvSpPr txBox="1">
            <a:spLocks noGrp="1"/>
          </p:cNvSpPr>
          <p:nvPr>
            <p:ph type="title"/>
          </p:nvPr>
        </p:nvSpPr>
        <p:spPr>
          <a:xfrm>
            <a:off x="914400" y="2580637"/>
            <a:ext cx="5181600" cy="3368828"/>
          </a:xfrm>
          <a:prstGeom prst="rect">
            <a:avLst/>
          </a:prstGeom>
        </p:spPr>
        <p:txBody>
          <a:bodyPr/>
          <a:lstStyle/>
          <a:p>
            <a:r>
              <a:t>Reduction</a:t>
            </a:r>
          </a:p>
        </p:txBody>
      </p:sp>
      <p:pic>
        <p:nvPicPr>
          <p:cNvPr id="230" name="Picture Placeholder 13" descr="Picture Placeholder 13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t="119" b="115"/>
          <a:stretch>
            <a:fillRect/>
          </a:stretch>
        </p:blipFill>
        <p:spPr>
          <a:xfrm>
            <a:off x="6085840" y="-10159"/>
            <a:ext cx="6116326" cy="686816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Title 1"/>
          <p:cNvSpPr txBox="1">
            <a:spLocks noGrp="1"/>
          </p:cNvSpPr>
          <p:nvPr>
            <p:ph type="title"/>
          </p:nvPr>
        </p:nvSpPr>
        <p:spPr>
          <a:xfrm>
            <a:off x="6095998" y="375281"/>
            <a:ext cx="4896684" cy="3624993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Enhancing the Approximate Solution</a:t>
            </a:r>
            <a:endParaRPr dirty="0"/>
          </a:p>
        </p:txBody>
      </p:sp>
      <p:pic>
        <p:nvPicPr>
          <p:cNvPr id="239" name="Picture Placeholder 4" descr="Picture Placeholder 4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t="12487" b="12487"/>
          <a:stretch>
            <a:fillRect/>
          </a:stretch>
        </p:blipFill>
        <p:spPr>
          <a:xfrm>
            <a:off x="0" y="0"/>
            <a:ext cx="6096000" cy="6858000"/>
          </a:xfrm>
          <a:prstGeom prst="rect">
            <a:avLst/>
          </a:prstGeom>
        </p:spPr>
      </p:pic>
      <p:sp>
        <p:nvSpPr>
          <p:cNvPr id="24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095998" y="4172989"/>
            <a:ext cx="4896684" cy="2309732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Featuring randomness</a:t>
            </a:r>
            <a:endParaRPr dirty="0"/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Title 1"/>
          <p:cNvSpPr txBox="1">
            <a:spLocks noGrp="1"/>
          </p:cNvSpPr>
          <p:nvPr>
            <p:ph type="title"/>
          </p:nvPr>
        </p:nvSpPr>
        <p:spPr>
          <a:xfrm>
            <a:off x="914399" y="365125"/>
            <a:ext cx="7273636" cy="164655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Where DO We Fall Short?</a:t>
            </a:r>
            <a:endParaRPr dirty="0"/>
          </a:p>
        </p:txBody>
      </p:sp>
      <p:sp>
        <p:nvSpPr>
          <p:cNvPr id="236" name="Slide Number Placeholder 3"/>
          <p:cNvSpPr txBox="1">
            <a:spLocks noGrp="1"/>
          </p:cNvSpPr>
          <p:nvPr>
            <p:ph type="sldNum" sz="quarter" idx="4294967295"/>
          </p:nvPr>
        </p:nvSpPr>
        <p:spPr>
          <a:xfrm>
            <a:off x="914399" y="6259740"/>
            <a:ext cx="262415" cy="269237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8962D4-C4FB-E106-8AC0-F23F1ECD5949}"/>
              </a:ext>
            </a:extLst>
          </p:cNvPr>
          <p:cNvSpPr txBox="1"/>
          <p:nvPr/>
        </p:nvSpPr>
        <p:spPr>
          <a:xfrm>
            <a:off x="914399" y="1822536"/>
            <a:ext cx="7496828" cy="184665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en-US" sz="3200" b="1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Tenorite" panose="00000500000000000000" pitchFamily="2" charset="0"/>
                <a:sym typeface="Helvetica"/>
              </a:rPr>
              <a:t>No randomness </a:t>
            </a: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Tenorite" panose="00000500000000000000" pitchFamily="2" charset="0"/>
                <a:sym typeface="Helvetica"/>
              </a:rPr>
              <a:t>limits graph exploration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3200" b="1" dirty="0">
                <a:solidFill>
                  <a:schemeClr val="tx1"/>
                </a:solidFill>
                <a:latin typeface="Tenorite" panose="00000500000000000000" pitchFamily="2" charset="0"/>
              </a:rPr>
              <a:t>Dependent </a:t>
            </a:r>
            <a:r>
              <a:rPr lang="en-US" sz="3200" dirty="0">
                <a:solidFill>
                  <a:schemeClr val="tx1"/>
                </a:solidFill>
                <a:latin typeface="Tenorite" panose="00000500000000000000" pitchFamily="2" charset="0"/>
              </a:rPr>
              <a:t>on </a:t>
            </a:r>
            <a:r>
              <a:rPr lang="en-US" sz="3200" b="1" dirty="0">
                <a:solidFill>
                  <a:schemeClr val="tx1"/>
                </a:solidFill>
                <a:latin typeface="Tenorite" panose="00000500000000000000" pitchFamily="2" charset="0"/>
              </a:rPr>
              <a:t>starting node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sz="3200" b="1" dirty="0">
                <a:solidFill>
                  <a:schemeClr val="tx1"/>
                </a:solidFill>
                <a:latin typeface="Tenorite" panose="00000500000000000000" pitchFamily="2" charset="0"/>
              </a:rPr>
              <a:t>Mutates a list</a:t>
            </a:r>
            <a:r>
              <a:rPr lang="en-US" sz="3200" dirty="0">
                <a:solidFill>
                  <a:schemeClr val="tx1"/>
                </a:solidFill>
                <a:latin typeface="Tenorite" panose="00000500000000000000" pitchFamily="2" charset="0"/>
              </a:rPr>
              <a:t> while iterating through it</a:t>
            </a:r>
            <a:endParaRPr lang="en-US" sz="3200" b="1" dirty="0">
              <a:solidFill>
                <a:schemeClr val="tx1"/>
              </a:solidFill>
              <a:latin typeface="Tenorite" panose="00000500000000000000" pitchFamily="2" charset="0"/>
            </a:endParaRP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sz="1800" b="1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Tenorite" panose="00000500000000000000" pitchFamily="2" charset="0"/>
              <a:sym typeface="Helvetica"/>
            </a:endParaRP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B474A-DDC9-D5C8-0B4A-EDE743008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Making Version 3.5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C8D55-71D7-A03C-60A9-1531FAA8AD79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914399" y="2022250"/>
            <a:ext cx="6413075" cy="3580751"/>
          </a:xfrm>
        </p:spPr>
        <p:txBody>
          <a:bodyPr>
            <a:normAutofit fontScale="85000" lnSpcReduction="20000"/>
          </a:bodyPr>
          <a:lstStyle/>
          <a:p>
            <a:r>
              <a:rPr lang="en-US" sz="3200" b="0" dirty="0"/>
              <a:t>It was – and is – </a:t>
            </a:r>
            <a:r>
              <a:rPr lang="en-US" sz="3200" dirty="0"/>
              <a:t>an iterative process</a:t>
            </a:r>
          </a:p>
          <a:p>
            <a:r>
              <a:rPr lang="en-US" sz="3200" dirty="0"/>
              <a:t>Randomly </a:t>
            </a:r>
            <a:r>
              <a:rPr lang="en-US" sz="3200" b="0" dirty="0"/>
              <a:t>determines:</a:t>
            </a:r>
          </a:p>
          <a:p>
            <a:pPr lvl="1"/>
            <a:r>
              <a:rPr lang="en-US" sz="3200" b="0" dirty="0"/>
              <a:t>Starting node</a:t>
            </a:r>
          </a:p>
          <a:p>
            <a:pPr lvl="1"/>
            <a:r>
              <a:rPr lang="en-US" sz="3200" b="0" dirty="0"/>
              <a:t>Min-weight neighbor to choose</a:t>
            </a:r>
          </a:p>
          <a:p>
            <a:pPr lvl="1"/>
            <a:r>
              <a:rPr lang="en-US" sz="3200" b="0" dirty="0"/>
              <a:t>Swapping endpoints in a segment.</a:t>
            </a:r>
          </a:p>
          <a:p>
            <a:r>
              <a:rPr lang="en-US" sz="3200" dirty="0"/>
              <a:t>Reorders output </a:t>
            </a:r>
            <a:r>
              <a:rPr lang="en-US" sz="3200" b="0" dirty="0"/>
              <a:t>path to be </a:t>
            </a:r>
            <a:r>
              <a:rPr lang="en-US" sz="3200" dirty="0"/>
              <a:t>consistent.</a:t>
            </a:r>
          </a:p>
          <a:p>
            <a:r>
              <a:rPr lang="en-US" sz="3200" dirty="0"/>
              <a:t>Iterates</a:t>
            </a:r>
            <a:r>
              <a:rPr lang="en-US" sz="3200" b="0" dirty="0"/>
              <a:t> on solution </a:t>
            </a:r>
            <a:r>
              <a:rPr lang="en-US" sz="3200" dirty="0"/>
              <a:t>by looping </a:t>
            </a:r>
            <a:r>
              <a:rPr lang="en-US" sz="3200" b="0" dirty="0"/>
              <a:t>several times.</a:t>
            </a:r>
          </a:p>
          <a:p>
            <a:pPr lvl="1"/>
            <a:endParaRPr lang="en-US" b="0" dirty="0"/>
          </a:p>
        </p:txBody>
      </p:sp>
    </p:spTree>
    <p:extLst>
      <p:ext uri="{BB962C8B-B14F-4D97-AF65-F5344CB8AC3E}">
        <p14:creationId xmlns:p14="http://schemas.microsoft.com/office/powerpoint/2010/main" val="1281462097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374804-5BF1-8B65-1E2B-5F098AEF3D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Title 6">
            <a:extLst>
              <a:ext uri="{FF2B5EF4-FFF2-40B4-BE49-F238E27FC236}">
                <a16:creationId xmlns:a16="http://schemas.microsoft.com/office/drawing/2014/main" id="{01B17243-6753-2262-2159-CAC2787467F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794" y="-379569"/>
            <a:ext cx="8875287" cy="2023698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Sample Problem: The </a:t>
            </a:r>
            <a:r>
              <a:rPr lang="en-US" dirty="0" err="1"/>
              <a:t>GRaph</a:t>
            </a:r>
            <a:endParaRPr dirty="0"/>
          </a:p>
        </p:txBody>
      </p:sp>
      <p:pic>
        <p:nvPicPr>
          <p:cNvPr id="3" name="Picture 2" descr="A diagram of a network&#10;&#10;AI-generated content may be incorrect.">
            <a:extLst>
              <a:ext uri="{FF2B5EF4-FFF2-40B4-BE49-F238E27FC236}">
                <a16:creationId xmlns:a16="http://schemas.microsoft.com/office/drawing/2014/main" id="{EBDEA9B4-DA91-F505-1975-77FF9B27F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5397" y="1552075"/>
            <a:ext cx="5127955" cy="512795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498377D-2D53-1673-9969-46FEDDA74444}"/>
              </a:ext>
            </a:extLst>
          </p:cNvPr>
          <p:cNvSpPr txBox="1"/>
          <p:nvPr/>
        </p:nvSpPr>
        <p:spPr>
          <a:xfrm>
            <a:off x="294573" y="1933127"/>
            <a:ext cx="6670824" cy="363329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US" sz="2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enorite"/>
                <a:sym typeface="Tenorite"/>
              </a:rPr>
              <a:t>Cheap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enorite"/>
                <a:sym typeface="Tenorite"/>
              </a:rPr>
              <a:t> edges </a:t>
            </a:r>
            <a:r>
              <a:rPr kumimoji="0" lang="en-US" sz="2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enorite"/>
                <a:sym typeface="Tenorite"/>
              </a:rPr>
              <a:t>inside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enorite"/>
                <a:sym typeface="Tenorite"/>
              </a:rPr>
              <a:t> each cluster</a:t>
            </a:r>
            <a:endParaRPr kumimoji="0" lang="en-US" sz="2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enorite"/>
              <a:sym typeface="Tenorite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lang="en-US" sz="2700" b="1" dirty="0">
                <a:latin typeface="Tenorite"/>
                <a:sym typeface="Tenorite"/>
              </a:rPr>
              <a:t>Inter-cluster edges </a:t>
            </a:r>
            <a:r>
              <a:rPr lang="en-US" sz="2700" dirty="0">
                <a:latin typeface="Tenorite"/>
                <a:sym typeface="Tenorite"/>
              </a:rPr>
              <a:t>designed to </a:t>
            </a:r>
            <a:r>
              <a:rPr lang="en-US" sz="2700" b="1" dirty="0">
                <a:latin typeface="Tenorite"/>
                <a:sym typeface="Tenorite"/>
              </a:rPr>
              <a:t>mislead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enorite"/>
                <a:sym typeface="Tenorite"/>
              </a:rPr>
              <a:t>:</a:t>
            </a:r>
          </a:p>
          <a:p>
            <a:pPr marL="711200" marR="0" lvl="1" indent="-2540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US" sz="2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enorite"/>
                <a:sym typeface="Tenorite"/>
              </a:rPr>
              <a:t>Cheap</a:t>
            </a: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enorite"/>
                <a:sym typeface="Tenorite"/>
              </a:rPr>
              <a:t> inter-cluster edges are </a:t>
            </a:r>
            <a:r>
              <a:rPr kumimoji="0" lang="en-US" sz="2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enorite"/>
                <a:sym typeface="Tenorite"/>
              </a:rPr>
              <a:t>bait</a:t>
            </a:r>
          </a:p>
          <a:p>
            <a:pPr marL="711200" marR="0" lvl="1" indent="-2540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kumimoji="0" lang="en-US" sz="27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enorite"/>
                <a:sym typeface="Tenorite"/>
              </a:rPr>
              <a:t>1000 weight </a:t>
            </a:r>
            <a:r>
              <a:rPr kumimoji="0" lang="en-US" sz="27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enorite"/>
                <a:sym typeface="Tenorite"/>
              </a:rPr>
              <a:t>trap edge</a:t>
            </a:r>
          </a:p>
          <a:p>
            <a:pPr marL="711200" marR="0" lvl="1" indent="-2540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lang="en-US" sz="2700" dirty="0">
                <a:latin typeface="Tenorite"/>
                <a:sym typeface="Tenorite"/>
              </a:rPr>
              <a:t>All other inter-cluster edges are </a:t>
            </a:r>
            <a:r>
              <a:rPr lang="en-US" sz="2700" b="1" dirty="0">
                <a:latin typeface="Tenorite"/>
                <a:sym typeface="Tenorite"/>
              </a:rPr>
              <a:t>moderately expensive</a:t>
            </a:r>
            <a:endParaRPr kumimoji="0" lang="en-US" sz="27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enorite"/>
              <a:sym typeface="Tenorite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/>
            </a:pPr>
            <a:r>
              <a:rPr lang="en-US" sz="2700" b="1" dirty="0">
                <a:latin typeface="Tenorite"/>
                <a:sym typeface="Tenorite"/>
              </a:rPr>
              <a:t>Optimal path: </a:t>
            </a:r>
            <a:r>
              <a:rPr lang="en-US" sz="2700" dirty="0">
                <a:latin typeface="Tenorite"/>
                <a:sym typeface="Tenorite"/>
              </a:rPr>
              <a:t>length of 12.6</a:t>
            </a:r>
            <a:endParaRPr kumimoji="0" lang="en-US" sz="270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enorite"/>
              <a:sym typeface="Tenorite"/>
            </a:endParaRPr>
          </a:p>
        </p:txBody>
      </p:sp>
    </p:spTree>
    <p:extLst>
      <p:ext uri="{BB962C8B-B14F-4D97-AF65-F5344CB8AC3E}">
        <p14:creationId xmlns:p14="http://schemas.microsoft.com/office/powerpoint/2010/main" val="1254337600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75384B-3A2B-12F3-1E3E-12E3ED6D9D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Problem: The Results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B150248-C21B-1B88-AF90-A808B76502C6}"/>
              </a:ext>
            </a:extLst>
          </p:cNvPr>
          <p:cNvSpPr txBox="1"/>
          <p:nvPr/>
        </p:nvSpPr>
        <p:spPr>
          <a:xfrm>
            <a:off x="834620" y="1828800"/>
            <a:ext cx="5332977" cy="923326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8" tIns="45718" rIns="45718" bIns="45718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TODO: make into a graph or something</a:t>
            </a:r>
          </a:p>
          <a:p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Run exact, </a:t>
            </a:r>
            <a:r>
              <a:rPr kumimoji="0" lang="en-US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approx</a:t>
            </a:r>
            <a:r>
              <a:rPr kumimoji="0" lang="en-US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+mj-lt"/>
                <a:ea typeface="+mj-ea"/>
                <a:cs typeface="+mj-cs"/>
                <a:sym typeface="Helvetica"/>
              </a:rPr>
              <a:t>, and v3.5 100 times each </a:t>
            </a:r>
            <a:r>
              <a:rPr lang="en-US" dirty="0"/>
              <a:t>and (bar) graph the different results it yields</a:t>
            </a:r>
            <a:endParaRPr kumimoji="0" lang="en-US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+mj-lt"/>
              <a:ea typeface="+mj-ea"/>
              <a:cs typeface="+mj-cs"/>
              <a:sym typeface="Helvetica"/>
            </a:endParaRPr>
          </a:p>
        </p:txBody>
      </p:sp>
    </p:spTree>
    <p:extLst>
      <p:ext uri="{BB962C8B-B14F-4D97-AF65-F5344CB8AC3E}">
        <p14:creationId xmlns:p14="http://schemas.microsoft.com/office/powerpoint/2010/main" val="3443122600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684A44-84DE-EB03-8FE6-9CF2834C26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6BF35-0324-D005-2624-86A589D94A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Sample Problem: The Runtimes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446827-CAE3-2A24-DF02-E75B1021BBBB}"/>
              </a:ext>
            </a:extLst>
          </p:cNvPr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r>
              <a:rPr lang="en-US" dirty="0"/>
              <a:t>TODO: make a graph. </a:t>
            </a:r>
            <a:r>
              <a:rPr lang="en-US" dirty="0">
                <a:sym typeface="Helvetica"/>
              </a:rPr>
              <a:t>Run exact, approx., and v3.5 100 times and (bar) graph the runtimes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9303541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EB93B2-4477-13DE-EB18-24E488CF44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Takeaways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A5579E-AB4B-CBBA-3713-4AB6907E3B93}"/>
              </a:ext>
            </a:extLst>
          </p:cNvPr>
          <p:cNvSpPr>
            <a:spLocks noGrp="1"/>
          </p:cNvSpPr>
          <p:nvPr>
            <p:ph type="body" sz="half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872888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FA0F71-904A-7254-14E9-B5516C1C0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</a:t>
            </a:r>
          </a:p>
        </p:txBody>
      </p:sp>
    </p:spTree>
    <p:extLst>
      <p:ext uri="{BB962C8B-B14F-4D97-AF65-F5344CB8AC3E}">
        <p14:creationId xmlns:p14="http://schemas.microsoft.com/office/powerpoint/2010/main" val="3230001884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" name="Graphic 2" descr="Graphic 2"/>
          <p:cNvPicPr>
            <a:picLocks noChangeAspect="1"/>
          </p:cNvPicPr>
          <p:nvPr/>
        </p:nvPicPr>
        <p:blipFill>
          <a:blip r:embed="rId2"/>
          <a:srcRect l="4151" r="18576"/>
          <a:stretch>
            <a:fillRect/>
          </a:stretch>
        </p:blipFill>
        <p:spPr>
          <a:xfrm flipH="1">
            <a:off x="-4" y="0"/>
            <a:ext cx="5181607" cy="6858000"/>
          </a:xfrm>
          <a:prstGeom prst="rect">
            <a:avLst/>
          </a:prstGeom>
          <a:ln w="12700">
            <a:miter lim="400000"/>
          </a:ln>
        </p:spPr>
      </p:pic>
      <p:sp>
        <p:nvSpPr>
          <p:cNvPr id="263" name="Title 6"/>
          <p:cNvSpPr txBox="1">
            <a:spLocks noGrp="1"/>
          </p:cNvSpPr>
          <p:nvPr>
            <p:ph type="title"/>
          </p:nvPr>
        </p:nvSpPr>
        <p:spPr>
          <a:xfrm>
            <a:off x="6091515" y="374086"/>
            <a:ext cx="5057105" cy="3624993"/>
          </a:xfrm>
          <a:prstGeom prst="rect">
            <a:avLst/>
          </a:prstGeom>
        </p:spPr>
        <p:txBody>
          <a:bodyPr/>
          <a:lstStyle/>
          <a:p>
            <a:r>
              <a:t>Thank you</a:t>
            </a:r>
          </a:p>
        </p:txBody>
      </p:sp>
      <p:sp>
        <p:nvSpPr>
          <p:cNvPr id="264" name="Content Placeholder 9"/>
          <p:cNvSpPr txBox="1">
            <a:spLocks noGrp="1"/>
          </p:cNvSpPr>
          <p:nvPr>
            <p:ph type="body" sz="quarter" idx="1"/>
          </p:nvPr>
        </p:nvSpPr>
        <p:spPr>
          <a:xfrm>
            <a:off x="6091513" y="4172989"/>
            <a:ext cx="5057107" cy="2519369"/>
          </a:xfrm>
          <a:prstGeom prst="rect">
            <a:avLst/>
          </a:prstGeom>
        </p:spPr>
        <p:txBody>
          <a:bodyPr/>
          <a:lstStyle/>
          <a:p>
            <a:r>
              <a:t>Brita Tamm</a:t>
            </a:r>
          </a:p>
          <a:p>
            <a:r>
              <a:t>502-555-0152</a:t>
            </a:r>
          </a:p>
          <a:p>
            <a:r>
              <a:t>brita@firstupconsultants.com</a:t>
            </a:r>
          </a:p>
          <a:p>
            <a:r>
              <a:t>www.firstupconsultants.com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Custom">
  <a:themeElements>
    <a:clrScheme name="Cust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Custom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Cust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Custom">
  <a:themeElements>
    <a:clrScheme name="Custom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Custom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Custom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elvetica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82</TotalTime>
  <Words>599</Words>
  <Application>Microsoft Office PowerPoint</Application>
  <PresentationFormat>Widescreen</PresentationFormat>
  <Paragraphs>93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Cambria Math</vt:lpstr>
      <vt:lpstr>Helvetica</vt:lpstr>
      <vt:lpstr>Tenorite</vt:lpstr>
      <vt:lpstr>Custom</vt:lpstr>
      <vt:lpstr>Pitch deck</vt:lpstr>
      <vt:lpstr>TODO</vt:lpstr>
      <vt:lpstr>PowerPoint Presentation</vt:lpstr>
      <vt:lpstr>PowerPoint Presentation</vt:lpstr>
      <vt:lpstr>Certifier verification is polynomial</vt:lpstr>
      <vt:lpstr>REDUCTION FROM KNOWN NP-hard SOLution</vt:lpstr>
      <vt:lpstr>Analytical runtime Analysis</vt:lpstr>
      <vt:lpstr>EMpirical runtime analysis</vt:lpstr>
      <vt:lpstr>Reduction</vt:lpstr>
      <vt:lpstr>Enhancing the Approximate Solution</vt:lpstr>
      <vt:lpstr>Where DO We Fall Short?</vt:lpstr>
      <vt:lpstr>Making Version 3.5</vt:lpstr>
      <vt:lpstr>Sample Problem: The GRaph</vt:lpstr>
      <vt:lpstr>Sample Problem: The Results</vt:lpstr>
      <vt:lpstr>Sample Problem: The Runtimes</vt:lpstr>
      <vt:lpstr>Takeaways</vt:lpstr>
      <vt:lpstr>Conclusions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Crawford, Dorian - crawf2dj</cp:lastModifiedBy>
  <cp:revision>3</cp:revision>
  <dcterms:modified xsi:type="dcterms:W3CDTF">2025-12-02T06:07:32Z</dcterms:modified>
</cp:coreProperties>
</file>
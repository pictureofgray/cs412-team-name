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6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23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5"/>
            <a:ext cx="5867404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33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8553447" y="-39571"/>
            <a:ext cx="5867405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125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4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4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>
          <p:sp>
            <p:nvSpPr>
              <p:cNvPr id="139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>
          <p:sp>
            <p:nvSpPr>
              <p:cNvPr id="14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Content Placeholder 2"/>
          <p:cNvSpPr txBox="1"/>
          <p:nvPr/>
        </p:nvSpPr>
        <p:spPr>
          <a:xfrm>
            <a:off x="8242310" y="2022248"/>
            <a:ext cx="3903970" cy="2249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grpSp>
        <p:nvGrpSpPr>
          <p:cNvPr id="147" name="LAX"/>
          <p:cNvGrpSpPr/>
          <p:nvPr/>
        </p:nvGrpSpPr>
        <p:grpSpPr>
          <a:xfrm>
            <a:off x="7178088" y="3081901"/>
            <a:ext cx="694197" cy="694197"/>
            <a:chOff x="0" y="0"/>
            <a:chExt cx="694195" cy="694195"/>
          </a:xfrm>
        </p:grpSpPr>
        <p:sp>
          <p:nvSpPr>
            <p:cNvPr id="1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6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150" name="JFK"/>
          <p:cNvGrpSpPr/>
          <p:nvPr/>
        </p:nvGrpSpPr>
        <p:grpSpPr>
          <a:xfrm>
            <a:off x="8592779" y="1614043"/>
            <a:ext cx="694197" cy="694197"/>
            <a:chOff x="0" y="0"/>
            <a:chExt cx="694195" cy="694195"/>
          </a:xfrm>
        </p:grpSpPr>
        <p:sp>
          <p:nvSpPr>
            <p:cNvPr id="14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9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153" name="MIA"/>
          <p:cNvGrpSpPr/>
          <p:nvPr/>
        </p:nvGrpSpPr>
        <p:grpSpPr>
          <a:xfrm>
            <a:off x="10007468" y="3081901"/>
            <a:ext cx="694197" cy="694197"/>
            <a:chOff x="0" y="0"/>
            <a:chExt cx="694195" cy="694195"/>
          </a:xfrm>
        </p:grpSpPr>
        <p:sp>
          <p:nvSpPr>
            <p:cNvPr id="15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2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56" name="HOU"/>
          <p:cNvGrpSpPr/>
          <p:nvPr/>
        </p:nvGrpSpPr>
        <p:grpSpPr>
          <a:xfrm>
            <a:off x="8592779" y="4549760"/>
            <a:ext cx="694197" cy="694197"/>
            <a:chOff x="0" y="0"/>
            <a:chExt cx="694195" cy="694195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5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57" name="Line"/>
          <p:cNvSpPr/>
          <p:nvPr/>
        </p:nvSpPr>
        <p:spPr>
          <a:xfrm flipV="1">
            <a:off x="9170193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8" name="Line"/>
          <p:cNvSpPr/>
          <p:nvPr/>
        </p:nvSpPr>
        <p:spPr>
          <a:xfrm flipV="1">
            <a:off x="7725039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9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0" name="Line"/>
          <p:cNvSpPr/>
          <p:nvPr/>
        </p:nvSpPr>
        <p:spPr>
          <a:xfrm flipH="1" flipV="1">
            <a:off x="9210842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1" name="Line"/>
          <p:cNvSpPr/>
          <p:nvPr/>
        </p:nvSpPr>
        <p:spPr>
          <a:xfrm flipH="1" flipV="1">
            <a:off x="8954889" y="2308044"/>
            <a:ext cx="104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 flipH="1">
            <a:off x="7876309" y="3415165"/>
            <a:ext cx="2127137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3" name="2.475"/>
          <p:cNvSpPr txBox="1"/>
          <p:nvPr/>
        </p:nvSpPr>
        <p:spPr>
          <a:xfrm>
            <a:off x="7638494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164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165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166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167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168" name="2.342"/>
          <p:cNvSpPr txBox="1"/>
          <p:nvPr/>
        </p:nvSpPr>
        <p:spPr>
          <a:xfrm>
            <a:off x="8123473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169" name="Weights in 1K air miles"/>
          <p:cNvSpPr txBox="1"/>
          <p:nvPr/>
        </p:nvSpPr>
        <p:spPr>
          <a:xfrm>
            <a:off x="5141083" y="6096677"/>
            <a:ext cx="1909831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Weights in 1K miles</a:t>
            </a:r>
          </a:p>
        </p:txBody>
      </p:sp>
      <p:pic>
        <p:nvPicPr>
          <p:cNvPr id="1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31" y="2110905"/>
            <a:ext cx="4686558" cy="263619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p:sp>
        <p:nvSpPr>
          <p:cNvPr id="172" name="Decision vs. Optimization"/>
          <p:cNvSpPr txBox="1"/>
          <p:nvPr/>
        </p:nvSpPr>
        <p:spPr>
          <a:xfrm>
            <a:off x="8168858" y="901800"/>
            <a:ext cx="154204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TSP-D vs. TSP-O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grpSp>
        <p:nvGrpSpPr>
          <p:cNvPr id="177" name="LAX"/>
          <p:cNvGrpSpPr/>
          <p:nvPr/>
        </p:nvGrpSpPr>
        <p:grpSpPr>
          <a:xfrm>
            <a:off x="1772218" y="3076313"/>
            <a:ext cx="694197" cy="694197"/>
            <a:chOff x="0" y="0"/>
            <a:chExt cx="694195" cy="694195"/>
          </a:xfrm>
        </p:grpSpPr>
        <p:sp>
          <p:nvSpPr>
            <p:cNvPr id="175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6" name="G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G</a:t>
              </a:r>
            </a:p>
          </p:txBody>
        </p:sp>
      </p:grpSp>
      <p:grpSp>
        <p:nvGrpSpPr>
          <p:cNvPr id="180" name="JFK"/>
          <p:cNvGrpSpPr/>
          <p:nvPr/>
        </p:nvGrpSpPr>
        <p:grpSpPr>
          <a:xfrm>
            <a:off x="3972243" y="1130409"/>
            <a:ext cx="694197" cy="694197"/>
            <a:chOff x="0" y="0"/>
            <a:chExt cx="694195" cy="694195"/>
          </a:xfrm>
        </p:grpSpPr>
        <p:sp>
          <p:nvSpPr>
            <p:cNvPr id="17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" name="A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A</a:t>
              </a:r>
            </a:p>
          </p:txBody>
        </p:sp>
      </p:grpSp>
      <p:grpSp>
        <p:nvGrpSpPr>
          <p:cNvPr id="183" name="MIA"/>
          <p:cNvGrpSpPr/>
          <p:nvPr/>
        </p:nvGrpSpPr>
        <p:grpSpPr>
          <a:xfrm>
            <a:off x="6159394" y="3076313"/>
            <a:ext cx="694197" cy="694197"/>
            <a:chOff x="0" y="0"/>
            <a:chExt cx="694195" cy="694195"/>
          </a:xfrm>
        </p:grpSpPr>
        <p:sp>
          <p:nvSpPr>
            <p:cNvPr id="18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C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C</a:t>
              </a:r>
            </a:p>
          </p:txBody>
        </p:sp>
      </p:grpSp>
      <p:grpSp>
        <p:nvGrpSpPr>
          <p:cNvPr id="186" name="HOU"/>
          <p:cNvGrpSpPr/>
          <p:nvPr/>
        </p:nvGrpSpPr>
        <p:grpSpPr>
          <a:xfrm>
            <a:off x="3972243" y="5033395"/>
            <a:ext cx="694197" cy="694197"/>
            <a:chOff x="0" y="0"/>
            <a:chExt cx="694195" cy="694195"/>
          </a:xfrm>
        </p:grpSpPr>
        <p:sp>
          <p:nvSpPr>
            <p:cNvPr id="18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" name="E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E</a:t>
              </a:r>
            </a:p>
          </p:txBody>
        </p:sp>
      </p:grpSp>
      <p:sp>
        <p:nvSpPr>
          <p:cNvPr id="187" name="Weights in 1K air miles"/>
          <p:cNvSpPr txBox="1"/>
          <p:nvPr/>
        </p:nvSpPr>
        <p:spPr>
          <a:xfrm>
            <a:off x="5154702" y="6227814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“Can’t do it boss…”</a:t>
            </a:r>
          </a:p>
        </p:txBody>
      </p:sp>
      <p:grpSp>
        <p:nvGrpSpPr>
          <p:cNvPr id="190" name="JFK"/>
          <p:cNvGrpSpPr/>
          <p:nvPr/>
        </p:nvGrpSpPr>
        <p:grpSpPr>
          <a:xfrm>
            <a:off x="2518929" y="1774126"/>
            <a:ext cx="694197" cy="694197"/>
            <a:chOff x="0" y="0"/>
            <a:chExt cx="694195" cy="694195"/>
          </a:xfrm>
        </p:grpSpPr>
        <p:sp>
          <p:nvSpPr>
            <p:cNvPr id="18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9" name="H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56" y="1774126"/>
            <a:ext cx="694197" cy="694197"/>
            <a:chOff x="0" y="0"/>
            <a:chExt cx="694195" cy="694195"/>
          </a:xfrm>
        </p:grpSpPr>
        <p:sp>
          <p:nvSpPr>
            <p:cNvPr id="19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2" name="B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B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5425556" y="4389678"/>
            <a:ext cx="694197" cy="694197"/>
            <a:chOff x="0" y="0"/>
            <a:chExt cx="694195" cy="694195"/>
          </a:xfrm>
        </p:grpSpPr>
        <p:sp>
          <p:nvSpPr>
            <p:cNvPr id="19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5" name="D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D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2518929" y="4389678"/>
            <a:ext cx="694197" cy="694197"/>
            <a:chOff x="0" y="0"/>
            <a:chExt cx="694195" cy="694195"/>
          </a:xfrm>
        </p:grpSpPr>
        <p:sp>
          <p:nvSpPr>
            <p:cNvPr id="197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8" name="F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F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0" name="Text"/>
              <p:cNvSpPr txBox="1"/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sz="2900"/>
              </a:p>
            </p:txBody>
          </p:sp>
        </mc:Choice>
        <mc:Fallback>
          <p:sp>
            <p:nvSpPr>
              <p:cNvPr id="20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blipFill>
                <a:blip r:embed="rId2"/>
                <a:stretch>
                  <a:fillRect r="-1796" b="-3809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Text"/>
              <p:cNvSpPr txBox="1"/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=40,320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20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blipFill>
                <a:blip r:embed="rId3"/>
                <a:stretch>
                  <a:fillRect l="-7216" r="-14948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Text"/>
              <p:cNvSpPr txBox="1"/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=362,880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20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blipFill>
                <a:blip r:embed="rId4"/>
                <a:stretch>
                  <a:fillRect l="-6573" r="-15023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Line"/>
          <p:cNvSpPr/>
          <p:nvPr/>
        </p:nvSpPr>
        <p:spPr>
          <a:xfrm>
            <a:off x="2281717" y="3731139"/>
            <a:ext cx="392068" cy="71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5991914" y="3751553"/>
            <a:ext cx="392876" cy="714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>
            <a:off x="3170716" y="4912240"/>
            <a:ext cx="802463" cy="398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H="1">
            <a:off x="4654731" y="4912240"/>
            <a:ext cx="812063" cy="3739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7" name="Hamiltonian Cycles"/>
          <p:cNvSpPr txBox="1"/>
          <p:nvPr/>
        </p:nvSpPr>
        <p:spPr>
          <a:xfrm>
            <a:off x="8074741" y="1328078"/>
            <a:ext cx="2999242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sz="2000"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Hamiltonian Cycles</a:t>
            </a:r>
          </a:p>
        </p:txBody>
      </p:sp>
      <p:sp>
        <p:nvSpPr>
          <p:cNvPr id="208" name="Line"/>
          <p:cNvSpPr/>
          <p:nvPr/>
        </p:nvSpPr>
        <p:spPr>
          <a:xfrm flipH="1" flipV="1">
            <a:off x="2465612" y="3423409"/>
            <a:ext cx="3693504" cy="111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9" name="Line"/>
          <p:cNvSpPr/>
          <p:nvPr/>
        </p:nvSpPr>
        <p:spPr>
          <a:xfrm flipH="1">
            <a:off x="2285850" y="2409290"/>
            <a:ext cx="387920" cy="71074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0" name="Line"/>
          <p:cNvSpPr/>
          <p:nvPr/>
        </p:nvSpPr>
        <p:spPr>
          <a:xfrm>
            <a:off x="5991914" y="2391993"/>
            <a:ext cx="402674" cy="699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1" name="Line"/>
          <p:cNvSpPr/>
          <p:nvPr/>
        </p:nvSpPr>
        <p:spPr>
          <a:xfrm flipV="1">
            <a:off x="3170716" y="1540552"/>
            <a:ext cx="803778" cy="4017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2" name="Line"/>
          <p:cNvSpPr/>
          <p:nvPr/>
        </p:nvSpPr>
        <p:spPr>
          <a:xfrm flipH="1" flipV="1">
            <a:off x="4656616" y="1550887"/>
            <a:ext cx="806903" cy="4093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3" name="Line"/>
          <p:cNvSpPr/>
          <p:nvPr/>
        </p:nvSpPr>
        <p:spPr>
          <a:xfrm flipV="1">
            <a:off x="4317817" y="1819125"/>
            <a:ext cx="19449" cy="32089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4" name="Line"/>
          <p:cNvSpPr/>
          <p:nvPr/>
        </p:nvSpPr>
        <p:spPr>
          <a:xfrm flipH="1" flipV="1">
            <a:off x="3108237" y="2371494"/>
            <a:ext cx="2420552" cy="21196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5" name="Line"/>
          <p:cNvSpPr/>
          <p:nvPr/>
        </p:nvSpPr>
        <p:spPr>
          <a:xfrm flipH="1">
            <a:off x="3113883" y="2356531"/>
            <a:ext cx="2405155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6" name="Line"/>
          <p:cNvSpPr/>
          <p:nvPr/>
        </p:nvSpPr>
        <p:spPr>
          <a:xfrm>
            <a:off x="4522230" y="1756578"/>
            <a:ext cx="1717287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7" name="Line"/>
          <p:cNvSpPr/>
          <p:nvPr/>
        </p:nvSpPr>
        <p:spPr>
          <a:xfrm>
            <a:off x="4423341" y="1813925"/>
            <a:ext cx="1206972" cy="26068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 flipH="1">
            <a:off x="3023815" y="1811098"/>
            <a:ext cx="1209151" cy="2618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2410390" y="1742948"/>
            <a:ext cx="1675107" cy="1483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 flipH="1">
            <a:off x="5766999" y="2465079"/>
            <a:ext cx="4367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 flipH="1">
            <a:off x="2863845" y="2471284"/>
            <a:ext cx="2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2" name="Line"/>
          <p:cNvSpPr/>
          <p:nvPr/>
        </p:nvSpPr>
        <p:spPr>
          <a:xfrm flipH="1">
            <a:off x="4523620" y="2455752"/>
            <a:ext cx="1153208" cy="263973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3" name="Line"/>
          <p:cNvSpPr/>
          <p:nvPr/>
        </p:nvSpPr>
        <p:spPr>
          <a:xfrm>
            <a:off x="2994213" y="2443597"/>
            <a:ext cx="1121860" cy="26552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Line"/>
          <p:cNvSpPr/>
          <p:nvPr/>
        </p:nvSpPr>
        <p:spPr>
          <a:xfrm flipH="1">
            <a:off x="2458296" y="2265877"/>
            <a:ext cx="3002936" cy="107266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Line"/>
          <p:cNvSpPr/>
          <p:nvPr/>
        </p:nvSpPr>
        <p:spPr>
          <a:xfrm>
            <a:off x="3192053" y="2253176"/>
            <a:ext cx="2976882" cy="10710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Line"/>
          <p:cNvSpPr/>
          <p:nvPr/>
        </p:nvSpPr>
        <p:spPr>
          <a:xfrm flipH="1" flipV="1">
            <a:off x="3211641" y="2109341"/>
            <a:ext cx="2215401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7" name="Line"/>
          <p:cNvSpPr/>
          <p:nvPr/>
        </p:nvSpPr>
        <p:spPr>
          <a:xfrm flipH="1" flipV="1">
            <a:off x="3210080" y="4724715"/>
            <a:ext cx="2216982" cy="21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8" name="Line"/>
          <p:cNvSpPr/>
          <p:nvPr/>
        </p:nvSpPr>
        <p:spPr>
          <a:xfrm flipH="1">
            <a:off x="3185753" y="3591900"/>
            <a:ext cx="3017763" cy="10129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9" name="Line"/>
          <p:cNvSpPr/>
          <p:nvPr/>
        </p:nvSpPr>
        <p:spPr>
          <a:xfrm>
            <a:off x="2429098" y="3581428"/>
            <a:ext cx="3026706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0" name="Line"/>
          <p:cNvSpPr/>
          <p:nvPr/>
        </p:nvSpPr>
        <p:spPr>
          <a:xfrm flipV="1">
            <a:off x="4616852" y="3693278"/>
            <a:ext cx="1665533" cy="14988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1" name="Line"/>
          <p:cNvSpPr/>
          <p:nvPr/>
        </p:nvSpPr>
        <p:spPr>
          <a:xfrm flipH="1" flipV="1">
            <a:off x="2373764" y="3660269"/>
            <a:ext cx="1672391" cy="15060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Text"/>
              <p:cNvSpPr txBox="1"/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=3,628,800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23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blipFill>
                <a:blip r:embed="rId5"/>
                <a:stretch>
                  <a:fillRect l="-5303" r="-10227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Text"/>
              <p:cNvSpPr txBox="1"/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≈9.332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157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23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blipFill>
                <a:blip r:embed="rId6"/>
                <a:stretch>
                  <a:fillRect l="-5054" r="-15162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4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LAX"/>
          <p:cNvGrpSpPr/>
          <p:nvPr/>
        </p:nvGrpSpPr>
        <p:grpSpPr>
          <a:xfrm>
            <a:off x="4334211" y="3081901"/>
            <a:ext cx="694197" cy="694197"/>
            <a:chOff x="0" y="0"/>
            <a:chExt cx="694195" cy="694195"/>
          </a:xfrm>
        </p:grpSpPr>
        <p:sp>
          <p:nvSpPr>
            <p:cNvPr id="236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37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41" name="JFK"/>
          <p:cNvGrpSpPr/>
          <p:nvPr/>
        </p:nvGrpSpPr>
        <p:grpSpPr>
          <a:xfrm>
            <a:off x="5748901" y="1614043"/>
            <a:ext cx="694197" cy="694197"/>
            <a:chOff x="0" y="0"/>
            <a:chExt cx="694195" cy="694195"/>
          </a:xfrm>
        </p:grpSpPr>
        <p:sp>
          <p:nvSpPr>
            <p:cNvPr id="239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0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44" name="MIA"/>
          <p:cNvGrpSpPr/>
          <p:nvPr/>
        </p:nvGrpSpPr>
        <p:grpSpPr>
          <a:xfrm>
            <a:off x="7163591" y="3081901"/>
            <a:ext cx="694197" cy="694197"/>
            <a:chOff x="0" y="0"/>
            <a:chExt cx="694195" cy="694195"/>
          </a:xfrm>
        </p:grpSpPr>
        <p:sp>
          <p:nvSpPr>
            <p:cNvPr id="242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3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47" name="HOU"/>
          <p:cNvGrpSpPr/>
          <p:nvPr/>
        </p:nvGrpSpPr>
        <p:grpSpPr>
          <a:xfrm>
            <a:off x="5748901" y="4549760"/>
            <a:ext cx="694197" cy="694197"/>
            <a:chOff x="0" y="0"/>
            <a:chExt cx="694195" cy="694195"/>
          </a:xfrm>
        </p:grpSpPr>
        <p:sp>
          <p:nvSpPr>
            <p:cNvPr id="2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6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48" name="Line"/>
          <p:cNvSpPr/>
          <p:nvPr/>
        </p:nvSpPr>
        <p:spPr>
          <a:xfrm flipV="1">
            <a:off x="6326315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49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0" name="Line"/>
          <p:cNvSpPr/>
          <p:nvPr/>
        </p:nvSpPr>
        <p:spPr>
          <a:xfrm flipH="1" flipV="1">
            <a:off x="4940711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1" name="Line"/>
          <p:cNvSpPr/>
          <p:nvPr/>
        </p:nvSpPr>
        <p:spPr>
          <a:xfrm flipH="1" flipV="1">
            <a:off x="6366966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2" name="Line"/>
          <p:cNvSpPr/>
          <p:nvPr/>
        </p:nvSpPr>
        <p:spPr>
          <a:xfrm flipH="1" flipV="1">
            <a:off x="6111010" y="2308044"/>
            <a:ext cx="105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3" name="Line"/>
          <p:cNvSpPr/>
          <p:nvPr/>
        </p:nvSpPr>
        <p:spPr>
          <a:xfrm flipH="1">
            <a:off x="5032433" y="3415165"/>
            <a:ext cx="2127135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4" name="2.475"/>
          <p:cNvSpPr txBox="1"/>
          <p:nvPr/>
        </p:nvSpPr>
        <p:spPr>
          <a:xfrm>
            <a:off x="4794617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55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256" name="1.39"/>
          <p:cNvSpPr txBox="1"/>
          <p:nvPr/>
        </p:nvSpPr>
        <p:spPr>
          <a:xfrm>
            <a:off x="4852546" y="4176576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257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258" name="1.74"/>
          <p:cNvSpPr txBox="1"/>
          <p:nvPr/>
        </p:nvSpPr>
        <p:spPr>
          <a:xfrm>
            <a:off x="6092030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59" name="2.342"/>
          <p:cNvSpPr txBox="1"/>
          <p:nvPr/>
        </p:nvSpPr>
        <p:spPr>
          <a:xfrm>
            <a:off x="5279595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60" name="✅ “MIA HOU NYC LA MIA“…"/>
          <p:cNvSpPr txBox="1"/>
          <p:nvPr/>
        </p:nvSpPr>
        <p:spPr>
          <a:xfrm>
            <a:off x="337739" y="2793649"/>
            <a:ext cx="3683156" cy="127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61" name="Title 6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r>
              <a:t>Polynomial verification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264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267" name="Hamiltonian Cycle"/>
          <p:cNvGrpSpPr/>
          <p:nvPr/>
        </p:nvGrpSpPr>
        <p:grpSpPr>
          <a:xfrm>
            <a:off x="2284994" y="5029549"/>
            <a:ext cx="1654579" cy="903719"/>
            <a:chOff x="0" y="0"/>
            <a:chExt cx="1654578" cy="903717"/>
          </a:xfrm>
        </p:grpSpPr>
        <p:sp>
          <p:nvSpPr>
            <p:cNvPr id="265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Hamiltonian Cycle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Hamiltonian Cycle</a:t>
              </a:r>
            </a:p>
          </p:txBody>
        </p:sp>
      </p:grpSp>
      <p:grpSp>
        <p:nvGrpSpPr>
          <p:cNvPr id="270" name="LAX"/>
          <p:cNvGrpSpPr/>
          <p:nvPr/>
        </p:nvGrpSpPr>
        <p:grpSpPr>
          <a:xfrm>
            <a:off x="1668932" y="2683311"/>
            <a:ext cx="694197" cy="694197"/>
            <a:chOff x="0" y="0"/>
            <a:chExt cx="694195" cy="694195"/>
          </a:xfrm>
        </p:grpSpPr>
        <p:sp>
          <p:nvSpPr>
            <p:cNvPr id="26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73" name="JFK"/>
          <p:cNvGrpSpPr/>
          <p:nvPr/>
        </p:nvGrpSpPr>
        <p:grpSpPr>
          <a:xfrm>
            <a:off x="2765185" y="1578617"/>
            <a:ext cx="694197" cy="694197"/>
            <a:chOff x="0" y="0"/>
            <a:chExt cx="694195" cy="694195"/>
          </a:xfrm>
        </p:grpSpPr>
        <p:sp>
          <p:nvSpPr>
            <p:cNvPr id="27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76" name="MIA"/>
          <p:cNvGrpSpPr/>
          <p:nvPr/>
        </p:nvGrpSpPr>
        <p:grpSpPr>
          <a:xfrm>
            <a:off x="3870706" y="2683311"/>
            <a:ext cx="694197" cy="694197"/>
            <a:chOff x="0" y="0"/>
            <a:chExt cx="694195" cy="694195"/>
          </a:xfrm>
        </p:grpSpPr>
        <p:sp>
          <p:nvSpPr>
            <p:cNvPr id="27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79" name="HOU"/>
          <p:cNvGrpSpPr/>
          <p:nvPr/>
        </p:nvGrpSpPr>
        <p:grpSpPr>
          <a:xfrm>
            <a:off x="2765185" y="3778436"/>
            <a:ext cx="694197" cy="694197"/>
            <a:chOff x="0" y="0"/>
            <a:chExt cx="694195" cy="694195"/>
          </a:xfrm>
        </p:grpSpPr>
        <p:sp>
          <p:nvSpPr>
            <p:cNvPr id="27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80" name="Line"/>
          <p:cNvSpPr/>
          <p:nvPr/>
        </p:nvSpPr>
        <p:spPr>
          <a:xfrm flipV="1">
            <a:off x="2241620" y="2145980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1" name="Line"/>
          <p:cNvSpPr/>
          <p:nvPr/>
        </p:nvSpPr>
        <p:spPr>
          <a:xfrm flipV="1">
            <a:off x="3100750" y="2278134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2" name="Line"/>
          <p:cNvSpPr/>
          <p:nvPr/>
        </p:nvSpPr>
        <p:spPr>
          <a:xfrm flipV="1">
            <a:off x="3366161" y="3283158"/>
            <a:ext cx="610069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3" name="Line"/>
          <p:cNvSpPr/>
          <p:nvPr/>
        </p:nvSpPr>
        <p:spPr>
          <a:xfrm flipH="1" flipV="1">
            <a:off x="2362192" y="3030409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4" name="2.475"/>
          <p:cNvSpPr txBox="1"/>
          <p:nvPr/>
        </p:nvSpPr>
        <p:spPr>
          <a:xfrm>
            <a:off x="1888864" y="213012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85" name="1.74"/>
          <p:cNvSpPr txBox="1"/>
          <p:nvPr/>
        </p:nvSpPr>
        <p:spPr>
          <a:xfrm>
            <a:off x="3094431" y="2306429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86" name="2.342"/>
          <p:cNvSpPr txBox="1"/>
          <p:nvPr/>
        </p:nvSpPr>
        <p:spPr>
          <a:xfrm>
            <a:off x="2412941" y="3045185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3707863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grpSp>
        <p:nvGrpSpPr>
          <p:cNvPr id="290" name="LAX"/>
          <p:cNvGrpSpPr/>
          <p:nvPr/>
        </p:nvGrpSpPr>
        <p:grpSpPr>
          <a:xfrm>
            <a:off x="7627096" y="2688095"/>
            <a:ext cx="694197" cy="694197"/>
            <a:chOff x="0" y="0"/>
            <a:chExt cx="694195" cy="694195"/>
          </a:xfrm>
        </p:grpSpPr>
        <p:sp>
          <p:nvSpPr>
            <p:cNvPr id="28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93" name="JFK"/>
          <p:cNvGrpSpPr/>
          <p:nvPr/>
        </p:nvGrpSpPr>
        <p:grpSpPr>
          <a:xfrm>
            <a:off x="8723348" y="1583401"/>
            <a:ext cx="694197" cy="694197"/>
            <a:chOff x="0" y="0"/>
            <a:chExt cx="694195" cy="694195"/>
          </a:xfrm>
        </p:grpSpPr>
        <p:sp>
          <p:nvSpPr>
            <p:cNvPr id="29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96" name="MIA"/>
          <p:cNvGrpSpPr/>
          <p:nvPr/>
        </p:nvGrpSpPr>
        <p:grpSpPr>
          <a:xfrm>
            <a:off x="9828871" y="2688096"/>
            <a:ext cx="694197" cy="694197"/>
            <a:chOff x="0" y="0"/>
            <a:chExt cx="694195" cy="694195"/>
          </a:xfrm>
        </p:grpSpPr>
        <p:sp>
          <p:nvSpPr>
            <p:cNvPr id="29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99" name="HOU"/>
          <p:cNvGrpSpPr/>
          <p:nvPr/>
        </p:nvGrpSpPr>
        <p:grpSpPr>
          <a:xfrm>
            <a:off x="8723348" y="3783221"/>
            <a:ext cx="694197" cy="694197"/>
            <a:chOff x="0" y="0"/>
            <a:chExt cx="694195" cy="694195"/>
          </a:xfrm>
        </p:grpSpPr>
        <p:sp>
          <p:nvSpPr>
            <p:cNvPr id="29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300" name="Line"/>
          <p:cNvSpPr/>
          <p:nvPr/>
        </p:nvSpPr>
        <p:spPr>
          <a:xfrm flipV="1">
            <a:off x="8199784" y="2150765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Line"/>
          <p:cNvSpPr/>
          <p:nvPr/>
        </p:nvSpPr>
        <p:spPr>
          <a:xfrm flipV="1">
            <a:off x="9058913" y="2282918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Line"/>
          <p:cNvSpPr/>
          <p:nvPr/>
        </p:nvSpPr>
        <p:spPr>
          <a:xfrm flipV="1">
            <a:off x="9324326" y="3287943"/>
            <a:ext cx="610069" cy="6133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Line"/>
          <p:cNvSpPr/>
          <p:nvPr/>
        </p:nvSpPr>
        <p:spPr>
          <a:xfrm flipH="1" flipV="1">
            <a:off x="8320355" y="3035194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2.475"/>
          <p:cNvSpPr txBox="1"/>
          <p:nvPr/>
        </p:nvSpPr>
        <p:spPr>
          <a:xfrm>
            <a:off x="7847028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305" name="1.74"/>
          <p:cNvSpPr txBox="1"/>
          <p:nvPr/>
        </p:nvSpPr>
        <p:spPr>
          <a:xfrm>
            <a:off x="9052594" y="231121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306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307" name="1.1"/>
          <p:cNvSpPr txBox="1"/>
          <p:nvPr/>
        </p:nvSpPr>
        <p:spPr>
          <a:xfrm>
            <a:off x="9666027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308" name="Line"/>
          <p:cNvSpPr/>
          <p:nvPr/>
        </p:nvSpPr>
        <p:spPr>
          <a:xfrm flipH="1" flipV="1">
            <a:off x="9352338" y="2145981"/>
            <a:ext cx="604902" cy="6126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1.74"/>
              <p:cNvSpPr txBox="1"/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309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blipFill>
                <a:blip r:embed="rId2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Line"/>
          <p:cNvSpPr/>
          <p:nvPr/>
        </p:nvSpPr>
        <p:spPr>
          <a:xfrm flipH="1" flipV="1">
            <a:off x="8182122" y="3305661"/>
            <a:ext cx="604902" cy="6126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1.74"/>
              <p:cNvSpPr txBox="1"/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311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blipFill>
                <a:blip r:embed="rId3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2" name="Line"/>
          <p:cNvSpPr/>
          <p:nvPr/>
        </p:nvSpPr>
        <p:spPr>
          <a:xfrm>
            <a:off x="5168212" y="3030410"/>
            <a:ext cx="1846308" cy="2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5" name="Traveling Salesman"/>
          <p:cNvGrpSpPr/>
          <p:nvPr/>
        </p:nvGrpSpPr>
        <p:grpSpPr>
          <a:xfrm>
            <a:off x="8243158" y="5029549"/>
            <a:ext cx="1654579" cy="903719"/>
            <a:chOff x="0" y="0"/>
            <a:chExt cx="1654578" cy="903717"/>
          </a:xfrm>
        </p:grpSpPr>
        <p:sp>
          <p:nvSpPr>
            <p:cNvPr id="313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4" name="Traveling Salesman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Traveling Salesman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sp>
        <p:nvSpPr>
          <p:cNvPr id="318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pic>
        <p:nvPicPr>
          <p:cNvPr id="319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/>
          <a:srcRect t="5399" b="19332"/>
          <a:stretch>
            <a:fillRect/>
          </a:stretch>
        </p:blipFill>
        <p:spPr>
          <a:xfrm>
            <a:off x="2548928" y="2202411"/>
            <a:ext cx="7094333" cy="2161853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Equation"/>
              <p:cNvSpPr txBox="1"/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32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blipFill>
                <a:blip r:embed="rId3"/>
                <a:stretch>
                  <a:fillRect r="-12195" b="-152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Equation"/>
              <p:cNvSpPr txBox="1"/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!∙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>
          <p:sp>
            <p:nvSpPr>
              <p:cNvPr id="3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blipFill>
                <a:blip r:embed="rId3"/>
                <a:stretch>
                  <a:fillRect b="-3606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Title 1"/>
          <p:cNvSpPr txBox="1"/>
          <p:nvPr/>
        </p:nvSpPr>
        <p:spPr>
          <a:xfrm>
            <a:off x="151728" y="113540"/>
            <a:ext cx="5602753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>
              <a:lnSpc>
                <a:spcPct val="90000"/>
              </a:lnSpc>
              <a:defRPr sz="3200" cap="all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Analytical runtime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sp>
        <p:nvSpPr>
          <p:cNvPr id="327" name="Title 1"/>
          <p:cNvSpPr txBox="1">
            <a:spLocks noGrp="1"/>
          </p:cNvSpPr>
          <p:nvPr>
            <p:ph type="title"/>
          </p:nvPr>
        </p:nvSpPr>
        <p:spPr>
          <a:xfrm>
            <a:off x="151727" y="113540"/>
            <a:ext cx="6344747" cy="647783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pic>
        <p:nvPicPr>
          <p:cNvPr id="328" name="emperial.png" descr="emp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512" y="912385"/>
            <a:ext cx="6710976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>
            <a:spLocks noGrp="1"/>
          </p:cNvSpPr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253999" y="1901737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32" name="TextBox 9"/>
          <p:cNvSpPr txBox="1"/>
          <p:nvPr/>
        </p:nvSpPr>
        <p:spPr>
          <a:xfrm>
            <a:off x="6235701" y="330025"/>
            <a:ext cx="5060951" cy="1209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t>Two heuristics used in combination: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br/>
            <a:r>
              <a:t>1. Nearest Neighbor (Greedy)</a:t>
            </a:r>
            <a:br/>
            <a:r>
              <a:t>2. Two-Opt (Randomness, local optimal swap)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5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Heuristic #1: Nearest Neighbor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Heuristic #2: Two-Opt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343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4716381" cy="3747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0"/>
            </a:pPr>
            <a:r>
              <a:t>Discuss problem instance where approximation does not achieve the optimal value. Use illustrations. </a:t>
            </a:r>
          </a:p>
          <a:p>
            <a:pPr marL="0" indent="0">
              <a:buSzTx/>
              <a:buNone/>
              <a:defRPr b="0"/>
            </a:pPr>
            <a:r>
              <a:t>– 3 points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run time (wall clock)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6" name="Tex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914398" y="2022250"/>
                <a:ext cx="5181603" cy="3914910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</a:pPr>
                <a:r>
                  <a:t>Provide wallclock runtime results comparing the </a:t>
                </a:r>
                <a:r>
                  <a:rPr i="1"/>
                  <a:t>exact</a:t>
                </a:r>
                <a:r>
                  <a:t> and </a:t>
                </a:r>
                <a:r>
                  <a:rPr i="1"/>
                  <a:t>approx</a:t>
                </a:r>
                <a:r>
                  <a:t> solutions on one plot.</a:t>
                </a:r>
              </a:p>
              <a:p>
                <a:pPr marL="0" indent="0">
                  <a:buSzTx/>
                  <a:buNone/>
                </a:pPr>
                <a:r>
                  <a:t>plots that illustrate the run-time (wall clock) performance of your exact solution versus the approximation solution on your test cases</a:t>
                </a:r>
              </a:p>
              <a:p>
                <a:pPr marL="0" indent="0">
                  <a:buSzTx/>
                  <a:buNone/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</a:p>
              <a:p>
                <a:pPr marL="0" indent="0">
                  <a:buSzTx/>
                  <a:buNone/>
                </a:pPr>
                <a:endParaRPr/>
              </a:p>
              <a:p>
                <a:pPr>
                  <a:buFontTx/>
                  <a:buChar char="-"/>
                </a:pPr>
                <a:r>
                  <a:t>6 points</a:t>
                </a:r>
              </a:p>
            </p:txBody>
          </p:sp>
        </mc:Choice>
        <mc:Fallback>
          <p:sp>
            <p:nvSpPr>
              <p:cNvPr id="346" name="Tex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914398" y="2022250"/>
                <a:ext cx="5181603" cy="3914910"/>
              </a:xfrm>
              <a:prstGeom prst="rect">
                <a:avLst/>
              </a:prstGeom>
              <a:blipFill>
                <a:blip r:embed="rId2"/>
                <a:stretch>
                  <a:fillRect l="-2118" t="-1713" r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lower Bound</a:t>
            </a:r>
          </a:p>
        </p:txBody>
      </p:sp>
      <p:sp>
        <p:nvSpPr>
          <p:cNvPr id="34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8" y="2022250"/>
            <a:ext cx="5181603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Discuss a lower bound for your solution and show the delta to this lower bound (from the value you computed) for large problem instances you created for </a:t>
            </a:r>
            <a:r>
              <a:rPr i="1"/>
              <a:t>run_examples.sh</a:t>
            </a:r>
          </a:p>
          <a:p>
            <a:pPr marL="0" indent="0">
              <a:buSzTx/>
              <a:buNone/>
            </a:pPr>
            <a:r>
              <a:t>- 6 points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>
            <a:spLocks noGrp="1"/>
          </p:cNvSpPr>
          <p:nvPr>
            <p:ph type="title"/>
          </p:nvPr>
        </p:nvSpPr>
        <p:spPr>
          <a:xfrm>
            <a:off x="553450" y="418786"/>
            <a:ext cx="10900614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compare results</a:t>
            </a:r>
          </a:p>
        </p:txBody>
      </p:sp>
      <p:sp>
        <p:nvSpPr>
          <p:cNvPr id="352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6196265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le 6"/>
          <p:cNvSpPr txBox="1">
            <a:spLocks noGrp="1"/>
          </p:cNvSpPr>
          <p:nvPr>
            <p:ph type="title"/>
          </p:nvPr>
        </p:nvSpPr>
        <p:spPr>
          <a:xfrm>
            <a:off x="170522" y="820"/>
            <a:ext cx="5134663" cy="2689635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2" cy="1209767"/>
          </a:xfrm>
          <a:prstGeom prst="rect">
            <a:avLst/>
          </a:prstGeom>
        </p:spPr>
        <p:txBody>
          <a:bodyPr/>
          <a:lstStyle/>
          <a:p>
            <a:r>
              <a:t>REDUCTION FROM KNOWN NP-hard SOLution</a:t>
            </a:r>
          </a:p>
        </p:txBody>
      </p:sp>
      <p:sp>
        <p:nvSpPr>
          <p:cNvPr id="35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  <p:sp>
        <p:nvSpPr>
          <p:cNvPr id="358" name="Reduce from hamiltonian cycle"/>
          <p:cNvSpPr txBox="1"/>
          <p:nvPr/>
        </p:nvSpPr>
        <p:spPr>
          <a:xfrm>
            <a:off x="5641192" y="3194093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pic>
        <p:nvPicPr>
          <p:cNvPr id="361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62" name="Text Placeholder 4"/>
          <p:cNvSpPr txBox="1">
            <a:spLocks noGrp="1"/>
          </p:cNvSpPr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sp>
        <p:nvSpPr>
          <p:cNvPr id="36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5" y="2022250"/>
            <a:ext cx="3310137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366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367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pic>
        <p:nvPicPr>
          <p:cNvPr id="370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>
            <a:spLocks noGrp="1"/>
          </p:cNvSpPr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r>
              <a:t>Enhancing the Approximate Solution</a:t>
            </a:r>
          </a:p>
        </p:txBody>
      </p:sp>
      <p:sp>
        <p:nvSpPr>
          <p:cNvPr id="373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r>
              <a:t>Featuring randomness</a:t>
            </a:r>
          </a:p>
        </p:txBody>
      </p:sp>
      <p:pic>
        <p:nvPicPr>
          <p:cNvPr id="374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Where DO We Fall Short?</a:t>
            </a:r>
          </a:p>
        </p:txBody>
      </p:sp>
      <p:sp>
        <p:nvSpPr>
          <p:cNvPr id="37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23</a:t>
            </a:fld>
            <a:endParaRPr/>
          </a:p>
        </p:txBody>
      </p:sp>
      <p:sp>
        <p:nvSpPr>
          <p:cNvPr id="378" name="TextBox 1"/>
          <p:cNvSpPr txBox="1"/>
          <p:nvPr/>
        </p:nvSpPr>
        <p:spPr>
          <a:xfrm>
            <a:off x="914399" y="1822536"/>
            <a:ext cx="7496827" cy="250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3.5, “Zenith”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A64BE6-966A-DEE1-97F6-4A4305731850}"/>
              </a:ext>
            </a:extLst>
          </p:cNvPr>
          <p:cNvCxnSpPr>
            <a:cxnSpLocks/>
          </p:cNvCxnSpPr>
          <p:nvPr/>
        </p:nvCxnSpPr>
        <p:spPr>
          <a:xfrm flipV="1">
            <a:off x="9561308" y="2000632"/>
            <a:ext cx="0" cy="3086867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C963B5-A4D1-FBB1-1546-7A891E0067E5}"/>
              </a:ext>
            </a:extLst>
          </p:cNvPr>
          <p:cNvCxnSpPr/>
          <p:nvPr/>
        </p:nvCxnSpPr>
        <p:spPr>
          <a:xfrm>
            <a:off x="9438569" y="294571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14BC32-7700-2F94-D390-BB10C1BF92E9}"/>
              </a:ext>
            </a:extLst>
          </p:cNvPr>
          <p:cNvCxnSpPr/>
          <p:nvPr/>
        </p:nvCxnSpPr>
        <p:spPr>
          <a:xfrm>
            <a:off x="7855246" y="2380098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0BB086-1E4F-9CD9-D280-6F499A1A3E16}"/>
              </a:ext>
            </a:extLst>
          </p:cNvPr>
          <p:cNvCxnSpPr/>
          <p:nvPr/>
        </p:nvCxnSpPr>
        <p:spPr>
          <a:xfrm>
            <a:off x="7805127" y="359227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A10FA5-B9A4-D094-7543-47AE2B85EA75}"/>
              </a:ext>
            </a:extLst>
          </p:cNvPr>
          <p:cNvCxnSpPr/>
          <p:nvPr/>
        </p:nvCxnSpPr>
        <p:spPr>
          <a:xfrm>
            <a:off x="9518863" y="4321546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214F5A-59C9-8916-2CA4-3FAF61979506}"/>
              </a:ext>
            </a:extLst>
          </p:cNvPr>
          <p:cNvCxnSpPr/>
          <p:nvPr/>
        </p:nvCxnSpPr>
        <p:spPr>
          <a:xfrm>
            <a:off x="7805127" y="482988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59735D-8570-E230-1966-8F81BEB35C2F}"/>
              </a:ext>
            </a:extLst>
          </p:cNvPr>
          <p:cNvSpPr txBox="1"/>
          <p:nvPr/>
        </p:nvSpPr>
        <p:spPr>
          <a:xfrm>
            <a:off x="7724328" y="1977448"/>
            <a:ext cx="1915736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Approx. 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08D522-7FD6-D006-EE0F-9FBD7AAE4A55}"/>
              </a:ext>
            </a:extLst>
          </p:cNvPr>
          <p:cNvSpPr txBox="1"/>
          <p:nvPr/>
        </p:nvSpPr>
        <p:spPr>
          <a:xfrm>
            <a:off x="9561308" y="2560068"/>
            <a:ext cx="2535565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v2, limited randomness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B0C26F-13A3-680A-DFAF-029417908281}"/>
              </a:ext>
            </a:extLst>
          </p:cNvPr>
          <p:cNvSpPr txBox="1"/>
          <p:nvPr/>
        </p:nvSpPr>
        <p:spPr>
          <a:xfrm>
            <a:off x="8037306" y="3174737"/>
            <a:ext cx="1602758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v2.5, iteration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C6147-132C-7303-D367-AFFE730A083F}"/>
              </a:ext>
            </a:extLst>
          </p:cNvPr>
          <p:cNvSpPr txBox="1"/>
          <p:nvPr/>
        </p:nvSpPr>
        <p:spPr>
          <a:xfrm>
            <a:off x="9603753" y="3935896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v3, more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ra</a:t>
            </a:r>
            <a:r>
              <a:rPr lang="en-US" dirty="0" err="1"/>
              <a:t>ndomess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D506B-8681-567D-88DE-18D967B84FC9}"/>
              </a:ext>
            </a:extLst>
          </p:cNvPr>
          <p:cNvSpPr txBox="1"/>
          <p:nvPr/>
        </p:nvSpPr>
        <p:spPr>
          <a:xfrm>
            <a:off x="7449696" y="4468451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/>
              <a:t>v3.5, more iteration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AB2B5B-DC82-4A02-D969-CC330EA887CC}"/>
              </a:ext>
            </a:extLst>
          </p:cNvPr>
          <p:cNvSpPr txBox="1"/>
          <p:nvPr/>
        </p:nvSpPr>
        <p:spPr>
          <a:xfrm>
            <a:off x="8249023" y="4829887"/>
            <a:ext cx="75638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i="1" dirty="0"/>
              <a:t>Zenith</a:t>
            </a:r>
            <a:endParaRPr kumimoji="0" lang="en-US" sz="1800" b="0" i="1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6"/>
          <p:cNvSpPr txBox="1">
            <a:spLocks noGrp="1"/>
          </p:cNvSpPr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r>
              <a:t>Sample Problem: The GRaph</a:t>
            </a:r>
          </a:p>
        </p:txBody>
      </p:sp>
      <p:pic>
        <p:nvPicPr>
          <p:cNvPr id="384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397" y="1552075"/>
            <a:ext cx="5127956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TextBox 9"/>
          <p:cNvSpPr txBox="1"/>
          <p:nvPr/>
        </p:nvSpPr>
        <p:spPr>
          <a:xfrm>
            <a:off x="294573" y="1933126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Results</a:t>
            </a:r>
          </a:p>
        </p:txBody>
      </p:sp>
      <p:sp>
        <p:nvSpPr>
          <p:cNvPr id="388" name="TextBox 3"/>
          <p:cNvSpPr txBox="1"/>
          <p:nvPr/>
        </p:nvSpPr>
        <p:spPr>
          <a:xfrm>
            <a:off x="834620" y="1828799"/>
            <a:ext cx="5332977" cy="929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TODO: make into a graph or something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Run exact, approx, and v3.5 100 times each and (bar) graph the different results it yields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Runtimes</a:t>
            </a:r>
          </a:p>
        </p:txBody>
      </p:sp>
      <p:sp>
        <p:nvSpPr>
          <p:cNvPr id="39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8" y="2022250"/>
            <a:ext cx="6257369" cy="3914910"/>
          </a:xfrm>
          <a:prstGeom prst="rect">
            <a:avLst/>
          </a:prstGeom>
        </p:spPr>
        <p:txBody>
          <a:bodyPr/>
          <a:lstStyle/>
          <a:p>
            <a:r>
              <a:t>TODO: make a graph. Run exact, approx., and v3.5 100 times and (bar) graph the runtimes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Takeaways</a:t>
            </a:r>
          </a:p>
        </p:txBody>
      </p:sp>
      <p:sp>
        <p:nvSpPr>
          <p:cNvPr id="394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11363"/>
            <a:ext cx="7273640" cy="4155761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itle 1"/>
          <p:cNvSpPr txBox="1">
            <a:spLocks noGrp="1"/>
          </p:cNvSpPr>
          <p:nvPr>
            <p:ph type="title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</p:spPr>
        <p:txBody>
          <a:bodyPr/>
          <a:lstStyle/>
          <a:p>
            <a:r>
              <a:t>Conclusions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9" name="Title 6"/>
          <p:cNvSpPr txBox="1">
            <a:spLocks noGrp="1"/>
          </p:cNvSpPr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r>
              <a:t>Questions?</a:t>
            </a:r>
          </a:p>
        </p:txBody>
      </p:sp>
      <p:sp>
        <p:nvSpPr>
          <p:cNvPr id="400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916</Words>
  <Application>Microsoft Office PowerPoint</Application>
  <PresentationFormat>Widescreen</PresentationFormat>
  <Paragraphs>167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Tenorite</vt:lpstr>
      <vt:lpstr>Custom</vt:lpstr>
      <vt:lpstr>Pitch deck</vt:lpstr>
      <vt:lpstr>TODO</vt:lpstr>
      <vt:lpstr>TSP</vt:lpstr>
      <vt:lpstr>Tsp</vt:lpstr>
      <vt:lpstr>Polynomial verification</vt:lpstr>
      <vt:lpstr>NP-HARD Reduction</vt:lpstr>
      <vt:lpstr>NP-HARD Reduction</vt:lpstr>
      <vt:lpstr>PowerPoint Presentation</vt:lpstr>
      <vt:lpstr>Empirical runtime analysis</vt:lpstr>
      <vt:lpstr>Approximate Solution</vt:lpstr>
      <vt:lpstr>Approximate Solution</vt:lpstr>
      <vt:lpstr>Approximate Solution</vt:lpstr>
      <vt:lpstr>Approximate Solution – non-Optimal test case</vt:lpstr>
      <vt:lpstr>Approximate vs exact solution – run time (wall clock)</vt:lpstr>
      <vt:lpstr>Approximate vs exact solution – lower Bound</vt:lpstr>
      <vt:lpstr>Approximate vs exact solution – compare results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3.5, “Zenith”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Crawford, Dorian - crawf2dj</cp:lastModifiedBy>
  <cp:revision>1</cp:revision>
  <dcterms:modified xsi:type="dcterms:W3CDTF">2025-12-02T18:56:39Z</dcterms:modified>
</cp:coreProperties>
</file>
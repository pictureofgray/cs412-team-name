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18"/>
  </p:notesMasterIdLst>
  <p:handoutMasterIdLst>
    <p:handoutMasterId r:id="rId19"/>
  </p:handoutMasterIdLst>
  <p:sldIdLst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24" r:id="rId15"/>
    <p:sldId id="325" r:id="rId16"/>
    <p:sldId id="309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5388" autoAdjust="0"/>
  </p:normalViewPr>
  <p:slideViewPr>
    <p:cSldViewPr snapToGrid="0">
      <p:cViewPr varScale="1">
        <p:scale>
          <a:sx n="105" d="100"/>
          <a:sy n="105" d="100"/>
        </p:scale>
        <p:origin x="164" y="68"/>
      </p:cViewPr>
      <p:guideLst>
        <p:guide orient="horz" pos="3360"/>
        <p:guide pos="3840"/>
      </p:guideLst>
    </p:cSldViewPr>
  </p:slideViewPr>
  <p:outlineViewPr>
    <p:cViewPr>
      <p:scale>
        <a:sx n="33" d="100"/>
        <a:sy n="33" d="100"/>
      </p:scale>
      <p:origin x="0" y="-12672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commentAuthors" Target="comment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11/17/2025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11/17/2025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1378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969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85505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60335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12420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4728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51265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42295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5656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00108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9238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17676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B9A9E5-4F7F-4A7D-9DE1-899232329269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99665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4.svg"/><Relationship Id="rId4" Type="http://schemas.openxmlformats.org/officeDocument/2006/relationships/image" Target="../media/image15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74996-9779-1D0F-B5C6-7FE85FFF1EF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2773681"/>
            <a:ext cx="5674360" cy="3200400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6B97173-A601-1D66-1651-4FE0D76A0B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454" t="1728"/>
          <a:stretch/>
        </p:blipFill>
        <p:spPr>
          <a:xfrm>
            <a:off x="-1" y="0"/>
            <a:ext cx="8264995" cy="532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08473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>
            <a:extLst>
              <a:ext uri="{FF2B5EF4-FFF2-40B4-BE49-F238E27FC236}">
                <a16:creationId xmlns:a16="http://schemas.microsoft.com/office/drawing/2014/main" id="{0DFB311A-EAAD-7656-C753-E8C7399485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4533" t="18691" r="1" b="-131"/>
          <a:stretch/>
        </p:blipFill>
        <p:spPr>
          <a:xfrm rot="5400000">
            <a:off x="7851419" y="-1244552"/>
            <a:ext cx="3096029" cy="5585137"/>
          </a:xfrm>
          <a:custGeom>
            <a:avLst/>
            <a:gdLst>
              <a:gd name="connsiteX0" fmla="*/ 0 w 1756624"/>
              <a:gd name="connsiteY0" fmla="*/ 0 h 6858000"/>
              <a:gd name="connsiteX1" fmla="*/ 1756624 w 1756624"/>
              <a:gd name="connsiteY1" fmla="*/ 0 h 6858000"/>
              <a:gd name="connsiteX2" fmla="*/ 1756624 w 1756624"/>
              <a:gd name="connsiteY2" fmla="*/ 6858000 h 6858000"/>
              <a:gd name="connsiteX3" fmla="*/ 0 w 175662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6624" h="6858000">
                <a:moveTo>
                  <a:pt x="0" y="0"/>
                </a:moveTo>
                <a:lnTo>
                  <a:pt x="1756624" y="0"/>
                </a:lnTo>
                <a:lnTo>
                  <a:pt x="17566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1612F0DE-D367-10BB-1F71-60AA6527CA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4151" r="18577"/>
          <a:stretch/>
        </p:blipFill>
        <p:spPr>
          <a:xfrm>
            <a:off x="7010400" y="0"/>
            <a:ext cx="51816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4F5799-FC34-2F2D-D11E-9B472CAF06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315533"/>
            <a:ext cx="5181600" cy="237686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575025C-084B-CD7A-F546-0E13BA13CFEF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400" y="2844800"/>
            <a:ext cx="5181600" cy="3128963"/>
          </a:xfrm>
        </p:spPr>
        <p:txBody>
          <a:bodyPr>
            <a:normAutofit/>
          </a:bodyPr>
          <a:lstStyle>
            <a:lvl1pPr marL="0" indent="0">
              <a:lnSpc>
                <a:spcPct val="120000"/>
              </a:lnSpc>
              <a:buNone/>
              <a:defRPr sz="2000"/>
            </a:lvl1pPr>
            <a:lvl2pPr>
              <a:lnSpc>
                <a:spcPct val="120000"/>
              </a:lnSpc>
              <a:defRPr sz="1800"/>
            </a:lvl2pPr>
            <a:lvl3pPr>
              <a:lnSpc>
                <a:spcPct val="120000"/>
              </a:lnSpc>
              <a:defRPr sz="1600"/>
            </a:lvl3pPr>
            <a:lvl4pPr>
              <a:lnSpc>
                <a:spcPct val="120000"/>
              </a:lnSpc>
              <a:defRPr sz="1400"/>
            </a:lvl4pPr>
            <a:lvl5pPr>
              <a:lnSpc>
                <a:spcPct val="120000"/>
              </a:lnSpc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750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B5DE041D-A3BF-94FF-029C-719D4DADA2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3300" t="13815"/>
          <a:stretch/>
        </p:blipFill>
        <p:spPr>
          <a:xfrm>
            <a:off x="0" y="-1"/>
            <a:ext cx="4239206" cy="37761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DEE605D-0584-F71C-A97D-B672F13E391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2580640"/>
            <a:ext cx="5181600" cy="3368819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9AF635C-89E6-F6EF-FA6A-417A9A84BF4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85840" y="-10159"/>
            <a:ext cx="6116320" cy="6868160"/>
          </a:xfrm>
          <a:custGeom>
            <a:avLst/>
            <a:gdLst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0 w 6116320"/>
              <a:gd name="connsiteY3" fmla="*/ 6880225 h 6880225"/>
              <a:gd name="connsiteX4" fmla="*/ 0 w 6116320"/>
              <a:gd name="connsiteY4" fmla="*/ 0 h 6880225"/>
              <a:gd name="connsiteX0" fmla="*/ 0 w 6116320"/>
              <a:gd name="connsiteY0" fmla="*/ 0 h 6880225"/>
              <a:gd name="connsiteX1" fmla="*/ 6116320 w 6116320"/>
              <a:gd name="connsiteY1" fmla="*/ 0 h 6880225"/>
              <a:gd name="connsiteX2" fmla="*/ 6116320 w 6116320"/>
              <a:gd name="connsiteY2" fmla="*/ 6880225 h 6880225"/>
              <a:gd name="connsiteX3" fmla="*/ 2052320 w 6116320"/>
              <a:gd name="connsiteY3" fmla="*/ 6880225 h 6880225"/>
              <a:gd name="connsiteX4" fmla="*/ 0 w 6116320"/>
              <a:gd name="connsiteY4" fmla="*/ 0 h 6880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116320" h="6880225">
                <a:moveTo>
                  <a:pt x="0" y="0"/>
                </a:moveTo>
                <a:lnTo>
                  <a:pt x="6116320" y="0"/>
                </a:lnTo>
                <a:lnTo>
                  <a:pt x="6116320" y="6880225"/>
                </a:lnTo>
                <a:lnTo>
                  <a:pt x="2052320" y="6880225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36789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view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2B74EE53-DB22-C27E-074F-A7129585F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158" t="-5374" b="78533"/>
          <a:stretch/>
        </p:blipFill>
        <p:spPr>
          <a:xfrm rot="10800000">
            <a:off x="6324600" y="0"/>
            <a:ext cx="5867400" cy="164732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78AEF0C-FA4B-8C23-0132-5529EC244F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26480" y="1310639"/>
            <a:ext cx="4805997" cy="2689629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B3DD4867-9B0B-647C-1F78-5E50BF30F08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1016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405384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6096000" y="0"/>
                </a:lnTo>
                <a:lnTo>
                  <a:pt x="405384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FF4D65D-965A-5E86-4D91-C72D1D03A8B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26163" y="4172990"/>
            <a:ext cx="4805997" cy="2389736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6365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04C9F686-E069-3B60-9625-01EE6A41D7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5239"/>
          <a:stretch/>
        </p:blipFill>
        <p:spPr>
          <a:xfrm flipH="1">
            <a:off x="9135414" y="0"/>
            <a:ext cx="3056586" cy="6858000"/>
          </a:xfrm>
          <a:custGeom>
            <a:avLst/>
            <a:gdLst>
              <a:gd name="connsiteX0" fmla="*/ 4284372 w 4284372"/>
              <a:gd name="connsiteY0" fmla="*/ 0 h 6858000"/>
              <a:gd name="connsiteX1" fmla="*/ 0 w 4284372"/>
              <a:gd name="connsiteY1" fmla="*/ 0 h 6858000"/>
              <a:gd name="connsiteX2" fmla="*/ 0 w 4284372"/>
              <a:gd name="connsiteY2" fmla="*/ 6858000 h 6858000"/>
              <a:gd name="connsiteX3" fmla="*/ 4284372 w 4284372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84372" h="6858000">
                <a:moveTo>
                  <a:pt x="4284372" y="0"/>
                </a:moveTo>
                <a:lnTo>
                  <a:pt x="0" y="0"/>
                </a:lnTo>
                <a:lnTo>
                  <a:pt x="0" y="6858000"/>
                </a:lnTo>
                <a:lnTo>
                  <a:pt x="4284372" y="6858000"/>
                </a:lnTo>
                <a:close/>
              </a:path>
            </a:pathLst>
          </a:cu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D7227F9-50F9-820B-69B7-924C02120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2330"/>
          <a:stretch/>
        </p:blipFill>
        <p:spPr>
          <a:xfrm>
            <a:off x="7810500" y="3025140"/>
            <a:ext cx="4381500" cy="383286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48D1E69-316E-A8E1-7ADA-040A0E4907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7273637" cy="164655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61069CA0-E0AB-99C6-10DB-13AAC019DD7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11363"/>
            <a:ext cx="7273638" cy="4155757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213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left Image 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phic 5">
            <a:extLst>
              <a:ext uri="{FF2B5EF4-FFF2-40B4-BE49-F238E27FC236}">
                <a16:creationId xmlns:a16="http://schemas.microsoft.com/office/drawing/2014/main" id="{4589277D-BC14-E7E0-5822-5575F563E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8039100" y="228600"/>
            <a:ext cx="4381500" cy="39243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FDB1BDE-C8F3-ACC0-740B-CBD812877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28597A3-47D0-F393-55D9-07FFD951F39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  <a:custGeom>
            <a:avLst/>
            <a:gdLst>
              <a:gd name="connsiteX0" fmla="*/ 0 w 6096000"/>
              <a:gd name="connsiteY0" fmla="*/ 0 h 6858000"/>
              <a:gd name="connsiteX1" fmla="*/ 609600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0 w 6096000"/>
              <a:gd name="connsiteY3" fmla="*/ 6858000 h 6858000"/>
              <a:gd name="connsiteX4" fmla="*/ 0 w 6096000"/>
              <a:gd name="connsiteY4" fmla="*/ 0 h 6858000"/>
              <a:gd name="connsiteX0" fmla="*/ 586 w 6096586"/>
              <a:gd name="connsiteY0" fmla="*/ 0 h 6858000"/>
              <a:gd name="connsiteX1" fmla="*/ 4054426 w 6096586"/>
              <a:gd name="connsiteY1" fmla="*/ 0 h 6858000"/>
              <a:gd name="connsiteX2" fmla="*/ 6096586 w 6096586"/>
              <a:gd name="connsiteY2" fmla="*/ 6858000 h 6858000"/>
              <a:gd name="connsiteX3" fmla="*/ 586 w 6096586"/>
              <a:gd name="connsiteY3" fmla="*/ 6858000 h 6858000"/>
              <a:gd name="connsiteX4" fmla="*/ 586 w 6096586"/>
              <a:gd name="connsiteY4" fmla="*/ 3669792 h 6858000"/>
              <a:gd name="connsiteX5" fmla="*/ 586 w 6096586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  <a:gd name="connsiteX0" fmla="*/ 0 w 6096000"/>
              <a:gd name="connsiteY0" fmla="*/ 0 h 6858000"/>
              <a:gd name="connsiteX1" fmla="*/ 4053840 w 6096000"/>
              <a:gd name="connsiteY1" fmla="*/ 0 h 6858000"/>
              <a:gd name="connsiteX2" fmla="*/ 6096000 w 6096000"/>
              <a:gd name="connsiteY2" fmla="*/ 6858000 h 6858000"/>
              <a:gd name="connsiteX3" fmla="*/ 950976 w 6096000"/>
              <a:gd name="connsiteY3" fmla="*/ 6858000 h 6858000"/>
              <a:gd name="connsiteX4" fmla="*/ 0 w 6096000"/>
              <a:gd name="connsiteY4" fmla="*/ 3669792 h 6858000"/>
              <a:gd name="connsiteX5" fmla="*/ 0 w 60960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4053840" y="0"/>
                </a:lnTo>
                <a:lnTo>
                  <a:pt x="6096000" y="6858000"/>
                </a:lnTo>
                <a:lnTo>
                  <a:pt x="950976" y="6858000"/>
                </a:lnTo>
                <a:lnTo>
                  <a:pt x="0" y="3669792"/>
                </a:lnTo>
                <a:lnTo>
                  <a:pt x="0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Content Placeholder 10">
            <a:extLst>
              <a:ext uri="{FF2B5EF4-FFF2-40B4-BE49-F238E27FC236}">
                <a16:creationId xmlns:a16="http://schemas.microsoft.com/office/drawing/2014/main" id="{4BF260CE-C6E3-AE7A-DB8E-A72A1CF5B54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0" y="4172990"/>
            <a:ext cx="4896677" cy="2309726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>
                <a:solidFill>
                  <a:schemeClr val="bg1"/>
                </a:solidFill>
              </a:defRPr>
            </a:lvl1pPr>
            <a:lvl2pPr marL="7429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001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91114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6E20435-B9A5-359D-133D-5D3EED409C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55" t="41988" r="53993" b="33420"/>
          <a:stretch/>
        </p:blipFill>
        <p:spPr>
          <a:xfrm rot="10800000">
            <a:off x="9198864" y="-5"/>
            <a:ext cx="2993136" cy="1517907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7B99CAE4-AA9B-52BA-7DE8-8245CE705D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5445" t="24819" r="46503"/>
          <a:stretch/>
        </p:blipFill>
        <p:spPr>
          <a:xfrm rot="16200000">
            <a:off x="961221" y="4525179"/>
            <a:ext cx="1371600" cy="3294042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28DFE681-710B-6FE5-B8E0-3BC9DB9F1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1" cy="1629601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3FE383D3-6A16-1891-FF52-470B26B94042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74B5EB04-CA6E-7417-56DF-A55B21E94B7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84891" y="2022250"/>
            <a:ext cx="499270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792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A783FA55-EF1D-66CF-8FD5-29086D71E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81" t="40714" r="61027" b="44471"/>
          <a:stretch/>
        </p:blipFill>
        <p:spPr>
          <a:xfrm rot="10800000" flipV="1">
            <a:off x="-26830" y="5950040"/>
            <a:ext cx="2513521" cy="9144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542CEFED-8DE0-0155-A5B6-A44051A6D0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57FC493E-284F-ADBA-D92D-883CAB13AD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8" y="365125"/>
            <a:ext cx="10439401" cy="161701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4B8B2035-4AA9-D25E-9F15-3ED36F734D1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31012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>
              <a:spcBef>
                <a:spcPts val="0"/>
              </a:spcBef>
              <a:spcAft>
                <a:spcPts val="1200"/>
              </a:spcAft>
              <a:defRPr sz="1800" b="1"/>
            </a:lvl2pPr>
            <a:lvl3pPr>
              <a:spcBef>
                <a:spcPts val="0"/>
              </a:spcBef>
              <a:spcAft>
                <a:spcPts val="1200"/>
              </a:spcAft>
              <a:defRPr sz="1600" b="1"/>
            </a:lvl3pPr>
            <a:lvl4pPr>
              <a:spcBef>
                <a:spcPts val="0"/>
              </a:spcBef>
              <a:spcAft>
                <a:spcPts val="1200"/>
              </a:spcAft>
              <a:defRPr sz="1400" b="1"/>
            </a:lvl4pPr>
            <a:lvl5pPr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6A694422-6B3E-3D80-AC41-FD1CED52ACA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602310" y="2018120"/>
            <a:ext cx="6751489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/>
            </a:lvl1pPr>
            <a:lvl2pPr>
              <a:spcBef>
                <a:spcPts val="0"/>
              </a:spcBef>
              <a:spcAft>
                <a:spcPts val="1200"/>
              </a:spcAft>
              <a:defRPr sz="1800"/>
            </a:lvl2pPr>
            <a:lvl3pPr>
              <a:spcBef>
                <a:spcPts val="0"/>
              </a:spcBef>
              <a:spcAft>
                <a:spcPts val="1200"/>
              </a:spcAft>
              <a:defRPr sz="1600"/>
            </a:lvl3pPr>
            <a:lvl4pPr>
              <a:spcBef>
                <a:spcPts val="0"/>
              </a:spcBef>
              <a:spcAft>
                <a:spcPts val="1200"/>
              </a:spcAft>
              <a:defRPr sz="1400"/>
            </a:lvl4pPr>
            <a:lvl5pPr>
              <a:spcBef>
                <a:spcPts val="0"/>
              </a:spcBef>
              <a:spcAft>
                <a:spcPts val="1200"/>
              </a:spcAft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2813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right 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48DBD2A1-633E-7A22-751B-5CEFCA93F2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7703" t="485" b="67543"/>
          <a:stretch/>
        </p:blipFill>
        <p:spPr>
          <a:xfrm rot="5400000">
            <a:off x="-115162" y="115164"/>
            <a:ext cx="1895058" cy="166473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3E7BF4D0-D641-9859-157D-B9094EF3DA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6385" y="446313"/>
            <a:ext cx="5179615" cy="144874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10">
            <a:extLst>
              <a:ext uri="{FF2B5EF4-FFF2-40B4-BE49-F238E27FC236}">
                <a16:creationId xmlns:a16="http://schemas.microsoft.com/office/drawing/2014/main" id="{115AE488-757F-4C5A-7733-85C1D1EA98D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5181600" cy="374718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39DD264F-42B5-DBB0-9839-DB4C6827ED7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76950" y="0"/>
            <a:ext cx="6115050" cy="6868886"/>
          </a:xfrm>
          <a:custGeom>
            <a:avLst/>
            <a:gdLst>
              <a:gd name="connsiteX0" fmla="*/ 0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0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6858000 h 6858000"/>
              <a:gd name="connsiteX3" fmla="*/ 0 w 6115050"/>
              <a:gd name="connsiteY3" fmla="*/ 6858000 h 6858000"/>
              <a:gd name="connsiteX4" fmla="*/ 2024742 w 6115050"/>
              <a:gd name="connsiteY4" fmla="*/ 0 h 6858000"/>
              <a:gd name="connsiteX0" fmla="*/ 2024742 w 6115050"/>
              <a:gd name="connsiteY0" fmla="*/ 0 h 6858000"/>
              <a:gd name="connsiteX1" fmla="*/ 6115050 w 6115050"/>
              <a:gd name="connsiteY1" fmla="*/ 0 h 6858000"/>
              <a:gd name="connsiteX2" fmla="*/ 6115050 w 6115050"/>
              <a:gd name="connsiteY2" fmla="*/ 3603171 h 6858000"/>
              <a:gd name="connsiteX3" fmla="*/ 6115050 w 6115050"/>
              <a:gd name="connsiteY3" fmla="*/ 6858000 h 6858000"/>
              <a:gd name="connsiteX4" fmla="*/ 0 w 6115050"/>
              <a:gd name="connsiteY4" fmla="*/ 6858000 h 6858000"/>
              <a:gd name="connsiteX5" fmla="*/ 2024742 w 6115050"/>
              <a:gd name="connsiteY5" fmla="*/ 0 h 6858000"/>
              <a:gd name="connsiteX0" fmla="*/ 2024742 w 6115050"/>
              <a:gd name="connsiteY0" fmla="*/ 0 h 6868886"/>
              <a:gd name="connsiteX1" fmla="*/ 6115050 w 6115050"/>
              <a:gd name="connsiteY1" fmla="*/ 0 h 6868886"/>
              <a:gd name="connsiteX2" fmla="*/ 6115050 w 6115050"/>
              <a:gd name="connsiteY2" fmla="*/ 3603171 h 6868886"/>
              <a:gd name="connsiteX3" fmla="*/ 5157107 w 6115050"/>
              <a:gd name="connsiteY3" fmla="*/ 6868886 h 6868886"/>
              <a:gd name="connsiteX4" fmla="*/ 0 w 6115050"/>
              <a:gd name="connsiteY4" fmla="*/ 6858000 h 6868886"/>
              <a:gd name="connsiteX5" fmla="*/ 2024742 w 6115050"/>
              <a:gd name="connsiteY5" fmla="*/ 0 h 6868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115050" h="6868886">
                <a:moveTo>
                  <a:pt x="2024742" y="0"/>
                </a:moveTo>
                <a:lnTo>
                  <a:pt x="6115050" y="0"/>
                </a:lnTo>
                <a:lnTo>
                  <a:pt x="6115050" y="3603171"/>
                </a:lnTo>
                <a:lnTo>
                  <a:pt x="5157107" y="6868886"/>
                </a:lnTo>
                <a:lnTo>
                  <a:pt x="0" y="6858000"/>
                </a:lnTo>
                <a:lnTo>
                  <a:pt x="2024742" y="0"/>
                </a:lnTo>
                <a:close/>
              </a:path>
            </a:pathLst>
          </a:custGeo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70084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BE5D17C7-3503-7305-8191-20863B738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55824" b="26760"/>
          <a:stretch/>
        </p:blipFill>
        <p:spPr>
          <a:xfrm>
            <a:off x="9229725" y="1835240"/>
            <a:ext cx="2962275" cy="502276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76E1AE6-3E01-1CBD-CAEC-11056D00AD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43413" y="1835240"/>
            <a:ext cx="7000875" cy="42798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E28F03-2149-7C50-779B-6A2D8D789A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60903" r="75060" b="10347"/>
          <a:stretch/>
        </p:blipFill>
        <p:spPr>
          <a:xfrm rot="16200000">
            <a:off x="149650" y="-149653"/>
            <a:ext cx="1672375" cy="197167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CA4CAE4E-4252-8471-C50B-1DD5AFBFEC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399" y="365125"/>
            <a:ext cx="10363202" cy="1603462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E493CE42-5465-91AC-A1F4-A4821AE37A9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3299013" cy="3914910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0"/>
            </a:lvl1pPr>
            <a:lvl2pPr>
              <a:spcBef>
                <a:spcPts val="0"/>
              </a:spcBef>
              <a:spcAft>
                <a:spcPts val="1200"/>
              </a:spcAft>
              <a:defRPr sz="1800" b="0"/>
            </a:lvl2pPr>
            <a:lvl3pPr>
              <a:spcBef>
                <a:spcPts val="0"/>
              </a:spcBef>
              <a:spcAft>
                <a:spcPts val="1200"/>
              </a:spcAft>
              <a:defRPr sz="1600" b="0"/>
            </a:lvl3pPr>
            <a:lvl4pPr>
              <a:spcBef>
                <a:spcPts val="0"/>
              </a:spcBef>
              <a:spcAft>
                <a:spcPts val="1200"/>
              </a:spcAft>
              <a:defRPr sz="1400" b="0"/>
            </a:lvl4pPr>
            <a:lvl5pPr>
              <a:spcBef>
                <a:spcPts val="0"/>
              </a:spcBef>
              <a:spcAft>
                <a:spcPts val="1200"/>
              </a:spcAft>
              <a:defRPr sz="14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able Placeholder 12">
            <a:extLst>
              <a:ext uri="{FF2B5EF4-FFF2-40B4-BE49-F238E27FC236}">
                <a16:creationId xmlns:a16="http://schemas.microsoft.com/office/drawing/2014/main" id="{156A00B1-F3E3-B7FF-58F4-61DE3EF07C07}"/>
              </a:ext>
            </a:extLst>
          </p:cNvPr>
          <p:cNvSpPr>
            <a:spLocks noGrp="1"/>
          </p:cNvSpPr>
          <p:nvPr>
            <p:ph type="tbl" sz="quarter" idx="11" hasCustomPrompt="1"/>
          </p:nvPr>
        </p:nvSpPr>
        <p:spPr>
          <a:xfrm>
            <a:off x="4602163" y="2017713"/>
            <a:ext cx="6675437" cy="3932237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 dirty="0"/>
              <a:t>Click icon to insert table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6214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3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13A42171-0D82-07BF-4667-498861CC2A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34408" r="46636" b="1"/>
          <a:stretch/>
        </p:blipFill>
        <p:spPr>
          <a:xfrm flipH="1" flipV="1">
            <a:off x="10506072" y="3984078"/>
            <a:ext cx="1685928" cy="2873921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13C71A0D-EE6D-54C4-71DE-04BE28558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29718" t="47145" r="39389" b="8754"/>
          <a:stretch/>
        </p:blipFill>
        <p:spPr>
          <a:xfrm rot="5400000" flipV="1">
            <a:off x="9781526" y="-311511"/>
            <a:ext cx="2098964" cy="2721985"/>
          </a:xfrm>
          <a:prstGeom prst="rect">
            <a:avLst/>
          </a:prstGeom>
        </p:spPr>
      </p:pic>
      <p:sp>
        <p:nvSpPr>
          <p:cNvPr id="10" name="Title 9">
            <a:extLst>
              <a:ext uri="{FF2B5EF4-FFF2-40B4-BE49-F238E27FC236}">
                <a16:creationId xmlns:a16="http://schemas.microsoft.com/office/drawing/2014/main" id="{3F82FA92-501B-5A05-E15F-2FB9BCEBE31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1990" y="434225"/>
            <a:ext cx="9524998" cy="1499627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B463EEE0-BE31-122C-586C-8BA8D90371E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14399" y="2022250"/>
            <a:ext cx="6257366" cy="391491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spcAft>
                <a:spcPts val="1200"/>
              </a:spcAft>
              <a:buNone/>
              <a:defRPr sz="2000" b="0"/>
            </a:lvl1pPr>
            <a:lvl2pPr marL="228600">
              <a:spcBef>
                <a:spcPts val="0"/>
              </a:spcBef>
              <a:spcAft>
                <a:spcPts val="1200"/>
              </a:spcAft>
              <a:defRPr sz="2000" b="0"/>
            </a:lvl2pPr>
            <a:lvl3pPr marL="685800">
              <a:spcBef>
                <a:spcPts val="0"/>
              </a:spcBef>
              <a:spcAft>
                <a:spcPts val="1200"/>
              </a:spcAft>
              <a:defRPr sz="1800" b="0"/>
            </a:lvl3pPr>
            <a:lvl4pPr marL="914400">
              <a:spcBef>
                <a:spcPts val="0"/>
              </a:spcBef>
              <a:spcAft>
                <a:spcPts val="1200"/>
              </a:spcAft>
              <a:defRPr sz="1600" b="0"/>
            </a:lvl4pPr>
            <a:lvl5pPr marL="1143000">
              <a:spcBef>
                <a:spcPts val="0"/>
              </a:spcBef>
              <a:spcAft>
                <a:spcPts val="1200"/>
              </a:spcAft>
              <a:defRPr sz="1600" b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52C157D5-2C68-BA6A-033B-A4CC016CA68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7967475" y="2018119"/>
            <a:ext cx="2449514" cy="3931919"/>
          </a:xfrm>
        </p:spPr>
        <p:txBody>
          <a:bodyPr>
            <a:normAutofit/>
          </a:bodyPr>
          <a:lstStyle>
            <a:lvl1pPr>
              <a:spcBef>
                <a:spcPts val="0"/>
              </a:spcBef>
              <a:spcAft>
                <a:spcPts val="1200"/>
              </a:spcAft>
              <a:defRPr sz="2000" b="1"/>
            </a:lvl1pPr>
            <a:lvl2pPr marL="411480">
              <a:spcBef>
                <a:spcPts val="0"/>
              </a:spcBef>
              <a:spcAft>
                <a:spcPts val="1200"/>
              </a:spcAft>
              <a:defRPr sz="1800" b="1"/>
            </a:lvl2pPr>
            <a:lvl3pPr marL="502920">
              <a:spcBef>
                <a:spcPts val="0"/>
              </a:spcBef>
              <a:spcAft>
                <a:spcPts val="1200"/>
              </a:spcAft>
              <a:defRPr sz="1600" b="1"/>
            </a:lvl3pPr>
            <a:lvl4pPr marL="594360">
              <a:spcBef>
                <a:spcPts val="0"/>
              </a:spcBef>
              <a:spcAft>
                <a:spcPts val="1200"/>
              </a:spcAft>
              <a:defRPr sz="1400" b="1"/>
            </a:lvl4pPr>
            <a:lvl5pPr marL="685800">
              <a:spcBef>
                <a:spcPts val="0"/>
              </a:spcBef>
              <a:spcAft>
                <a:spcPts val="1200"/>
              </a:spcAft>
              <a:defRPr sz="1400" b="1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98423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15CC9A46-E0E7-B31D-3E27-6F4303A45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8883" t="18052" r="46636"/>
          <a:stretch/>
        </p:blipFill>
        <p:spPr>
          <a:xfrm rot="16200000" flipH="1" flipV="1">
            <a:off x="9553763" y="-952310"/>
            <a:ext cx="1685928" cy="3590547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767669DC-4C7F-9B50-FCC0-F2AF5B2A95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23545" y="584477"/>
            <a:ext cx="10354052" cy="1209765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BEF581C2-7562-2E21-E6DD-20AEFC43AABC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923545" y="2009775"/>
            <a:ext cx="10354052" cy="393192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B9B66675-D8A5-0062-EB51-C8069A2C3C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3842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3A3E8B6-2BD8-19E0-7F51-7A25EF836F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1515" y="374090"/>
            <a:ext cx="5057104" cy="3624984"/>
          </a:xfrm>
        </p:spPr>
        <p:txBody>
          <a:bodyPr anchor="b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1F96043-F6A4-F581-7DB8-96138F0E401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91514" y="4172989"/>
            <a:ext cx="5057103" cy="2519363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aseline="0">
                <a:solidFill>
                  <a:schemeClr val="bg1"/>
                </a:solidFill>
              </a:defRPr>
            </a:lvl1pPr>
            <a:lvl2pPr marL="7429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800" baseline="0">
                <a:solidFill>
                  <a:schemeClr val="bg1"/>
                </a:solidFill>
              </a:defRPr>
            </a:lvl2pPr>
            <a:lvl3pPr marL="12001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600" baseline="0">
                <a:solidFill>
                  <a:schemeClr val="bg1"/>
                </a:solidFill>
              </a:defRPr>
            </a:lvl3pPr>
            <a:lvl4pPr marL="1657350" indent="-2857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400" baseline="0">
                <a:solidFill>
                  <a:schemeClr val="bg1"/>
                </a:solidFill>
              </a:defRPr>
            </a:lvl4pPr>
            <a:lvl5pPr marL="2000250" indent="-17145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805DE67-EFB0-F6F3-6C08-2FE90284C3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0347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12" r:id="rId6"/>
    <p:sldLayoutId id="2147483713" r:id="rId7"/>
    <p:sldLayoutId id="2147483714" r:id="rId8"/>
    <p:sldLayoutId id="2147483715" r:id="rId9"/>
    <p:sldLayoutId id="2147483716" r:id="rId10"/>
    <p:sldLayoutId id="2147483717" r:id="rId11"/>
    <p:sldLayoutId id="2147483718" r:id="rId12"/>
    <p:sldLayoutId id="2147483706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40D96-BFFB-05BD-30ED-0352500CD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2773681"/>
            <a:ext cx="5674360" cy="3200400"/>
          </a:xfrm>
        </p:spPr>
        <p:txBody>
          <a:bodyPr/>
          <a:lstStyle/>
          <a:p>
            <a:r>
              <a:rPr lang="en-US" dirty="0"/>
              <a:t>Pitch deck</a:t>
            </a:r>
          </a:p>
        </p:txBody>
      </p:sp>
    </p:spTree>
    <p:extLst>
      <p:ext uri="{BB962C8B-B14F-4D97-AF65-F5344CB8AC3E}">
        <p14:creationId xmlns:p14="http://schemas.microsoft.com/office/powerpoint/2010/main" val="2945390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474D05E-8A36-8D9F-519E-DB514A69D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15533"/>
            <a:ext cx="5181600" cy="2376868"/>
          </a:xfrm>
        </p:spPr>
        <p:txBody>
          <a:bodyPr/>
          <a:lstStyle/>
          <a:p>
            <a:r>
              <a:rPr lang="en-US"/>
              <a:t>About us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0C1E08-E337-110E-DB8E-41BA4A3341A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400" y="2844800"/>
            <a:ext cx="5181600" cy="3128963"/>
          </a:xfrm>
        </p:spPr>
        <p:txBody>
          <a:bodyPr/>
          <a:lstStyle/>
          <a:p>
            <a:r>
              <a:rPr lang="en-US" dirty="0"/>
              <a:t>At Contoso, we empower organizations to foster collaborative thinking to further drive workplace innovation. By closing the loop and leveraging agile frameworks, we help business grow organically and foster a consumer first mindset.</a:t>
            </a: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0255621-1D81-03E6-507B-CB20E07035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0594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6FD5F-786B-1974-5F47-94CA02CFA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80640"/>
            <a:ext cx="5181600" cy="3368819"/>
          </a:xfrm>
        </p:spPr>
        <p:txBody>
          <a:bodyPr/>
          <a:lstStyle/>
          <a:p>
            <a:r>
              <a:rPr lang="en-US" dirty="0"/>
              <a:t>Company overview</a:t>
            </a:r>
          </a:p>
        </p:txBody>
      </p:sp>
      <p:pic>
        <p:nvPicPr>
          <p:cNvPr id="14" name="Picture Placeholder 13" descr="A person looking at a piece of paper">
            <a:extLst>
              <a:ext uri="{FF2B5EF4-FFF2-40B4-BE49-F238E27FC236}">
                <a16:creationId xmlns:a16="http://schemas.microsoft.com/office/drawing/2014/main" id="{F28819F3-7D3B-EB42-24FD-3C0BBC5963B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19" b="119"/>
          <a:stretch/>
        </p:blipFill>
        <p:spPr>
          <a:xfrm>
            <a:off x="6085840" y="-10159"/>
            <a:ext cx="6116320" cy="6868160"/>
          </a:xfrm>
        </p:spPr>
      </p:pic>
    </p:spTree>
    <p:extLst>
      <p:ext uri="{BB962C8B-B14F-4D97-AF65-F5344CB8AC3E}">
        <p14:creationId xmlns:p14="http://schemas.microsoft.com/office/powerpoint/2010/main" val="4293742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DD59383-E6CD-CF57-B9CF-5820B1CECE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0" y="1310639"/>
            <a:ext cx="4805997" cy="2689629"/>
          </a:xfrm>
        </p:spPr>
        <p:txBody>
          <a:bodyPr/>
          <a:lstStyle/>
          <a:p>
            <a:r>
              <a:rPr lang="en-US" dirty="0"/>
              <a:t>Product overview</a:t>
            </a:r>
          </a:p>
        </p:txBody>
      </p:sp>
      <p:pic>
        <p:nvPicPr>
          <p:cNvPr id="5" name="Picture Placeholder 4" descr="A person smelling a small glass bottle">
            <a:extLst>
              <a:ext uri="{FF2B5EF4-FFF2-40B4-BE49-F238E27FC236}">
                <a16:creationId xmlns:a16="http://schemas.microsoft.com/office/drawing/2014/main" id="{95D91661-037A-ECB3-7904-2C3843A98D95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20394" r="20394"/>
          <a:stretch/>
        </p:blipFill>
        <p:spPr>
          <a:xfrm>
            <a:off x="0" y="-10160"/>
            <a:ext cx="6096000" cy="6858000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672BC8-D7EC-066C-9025-5F29713D849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126163" y="4172990"/>
            <a:ext cx="4805997" cy="2389736"/>
          </a:xfrm>
        </p:spPr>
        <p:txBody>
          <a:bodyPr/>
          <a:lstStyle/>
          <a:p>
            <a:r>
              <a:rPr lang="en-US" dirty="0"/>
              <a:t>First beautifully designed product that's both stylish and functional</a:t>
            </a:r>
          </a:p>
        </p:txBody>
      </p:sp>
    </p:spTree>
    <p:extLst>
      <p:ext uri="{BB962C8B-B14F-4D97-AF65-F5344CB8AC3E}">
        <p14:creationId xmlns:p14="http://schemas.microsoft.com/office/powerpoint/2010/main" val="561765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4F0B-A6EB-861C-1C34-CAA9BDE478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Problem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97739-E0DF-24F3-7886-013A799A52C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Market gap</a:t>
            </a:r>
            <a:r>
              <a:rPr lang="en-US" sz="2000" cap="none" dirty="0"/>
              <a:t>: few, if any, products on the market help customers like we do</a:t>
            </a:r>
            <a:endParaRPr lang="en-US" sz="2000" cap="none" dirty="0">
              <a:cs typeface="Calibri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Customers</a:t>
            </a:r>
            <a:r>
              <a:rPr lang="en-US" sz="2000" cap="none" dirty="0"/>
              <a:t>: 66% of US consumers spend money on multiple products that only partially resolves their issue</a:t>
            </a: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Financials</a:t>
            </a:r>
            <a:r>
              <a:rPr lang="en-US" sz="2000" cap="none" dirty="0"/>
              <a:t>: </a:t>
            </a:r>
            <a:r>
              <a:rPr lang="en-US" sz="2000" cap="none" dirty="0">
                <a:ea typeface="+mn-lt"/>
                <a:cs typeface="+mn-lt"/>
              </a:rPr>
              <a:t>millennials account for about a quarter of the $48 billion spent on other products in 2018</a:t>
            </a:r>
            <a:endParaRPr lang="en-US" sz="2000" cap="none" dirty="0">
              <a:cs typeface="Calibri" panose="020F0502020204030204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Costs</a:t>
            </a:r>
            <a:r>
              <a:rPr lang="en-US" sz="2000" cap="none" dirty="0"/>
              <a:t>: loss of productivity costing consumers thousands of dollars </a:t>
            </a:r>
            <a:endParaRPr lang="en-US" sz="2000" cap="none" dirty="0">
              <a:cs typeface="Calibri" panose="020F0502020204030204"/>
            </a:endParaRPr>
          </a:p>
          <a:p>
            <a:pPr marL="228600" indent="-228600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b="1" cap="none" dirty="0"/>
              <a:t>Usability</a:t>
            </a:r>
            <a:r>
              <a:rPr lang="en-US" sz="2000" cap="none" dirty="0"/>
              <a:t>: customers want something easy to use that helps make their life easier </a:t>
            </a:r>
            <a:endParaRPr lang="en-US" sz="2000" cap="none" dirty="0"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E0D061-7327-A55C-AF6A-A95C24DD8B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00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08221-C29B-07A3-B569-B8B466B10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5285"/>
            <a:ext cx="4896678" cy="3624984"/>
          </a:xfrm>
        </p:spPr>
        <p:txBody>
          <a:bodyPr/>
          <a:lstStyle/>
          <a:p>
            <a:r>
              <a:rPr lang="en-US" dirty="0"/>
              <a:t>Product benefits</a:t>
            </a:r>
          </a:p>
        </p:txBody>
      </p:sp>
      <p:pic>
        <p:nvPicPr>
          <p:cNvPr id="5" name="Picture Placeholder 4" descr="A person standing in a greenhouse">
            <a:extLst>
              <a:ext uri="{FF2B5EF4-FFF2-40B4-BE49-F238E27FC236}">
                <a16:creationId xmlns:a16="http://schemas.microsoft.com/office/drawing/2014/main" id="{EE30546E-D63D-6DD8-4DA7-41DD51A44C2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t="12487" b="12487"/>
          <a:stretch/>
        </p:blipFill>
        <p:spPr>
          <a:xfrm>
            <a:off x="0" y="0"/>
            <a:ext cx="6096000" cy="6858000"/>
          </a:xfr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EA7D4-8B96-5A0E-252E-6B8E8B1CF17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096000" y="4172990"/>
            <a:ext cx="4896677" cy="2309726"/>
          </a:xfrm>
        </p:spPr>
        <p:txBody>
          <a:bodyPr/>
          <a:lstStyle/>
          <a:p>
            <a:r>
              <a:rPr lang="en-US" noProof="1"/>
              <a:t>Online store and market swap</a:t>
            </a:r>
          </a:p>
        </p:txBody>
      </p:sp>
    </p:spTree>
    <p:extLst>
      <p:ext uri="{BB962C8B-B14F-4D97-AF65-F5344CB8AC3E}">
        <p14:creationId xmlns:p14="http://schemas.microsoft.com/office/powerpoint/2010/main" val="1760417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2D586-3F7C-3202-E4F4-1F65B9A7D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1" cy="1629601"/>
          </a:xfrm>
        </p:spPr>
        <p:txBody>
          <a:bodyPr/>
          <a:lstStyle/>
          <a:p>
            <a:r>
              <a:rPr lang="en-US" dirty="0"/>
              <a:t>Our competition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5DADF2-8E4D-6C0E-0FA2-C5228AF29C1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4992709" cy="3747180"/>
          </a:xfrm>
        </p:spPr>
        <p:txBody>
          <a:bodyPr/>
          <a:lstStyle/>
          <a:p>
            <a:r>
              <a:rPr lang="en-US" noProof="1"/>
              <a:t>Our product is priced below that of other companies on the market</a:t>
            </a:r>
          </a:p>
          <a:p>
            <a:r>
              <a:rPr lang="en-US" noProof="1"/>
              <a:t>Design is simple and easy to use, compared to the complex designs of the competitors</a:t>
            </a:r>
          </a:p>
          <a:p>
            <a:r>
              <a:rPr lang="en-US" noProof="1"/>
              <a:t>Affordability is the main draw for our consumers to our product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FADA2D-CE7A-511E-45B9-EAF4FA520E34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84891" y="2022250"/>
            <a:ext cx="4992709" cy="3747180"/>
          </a:xfrm>
        </p:spPr>
        <p:txBody>
          <a:bodyPr/>
          <a:lstStyle/>
          <a:p>
            <a:r>
              <a:rPr lang="en-US" noProof="1"/>
              <a:t>Company A product is more expensive</a:t>
            </a:r>
          </a:p>
          <a:p>
            <a:r>
              <a:rPr lang="en-US" noProof="1"/>
              <a:t>Companies B &amp; C product is expensive and inconvenient to use</a:t>
            </a:r>
          </a:p>
          <a:p>
            <a:r>
              <a:rPr lang="en-US" noProof="1"/>
              <a:t>Companies D &amp; E product is affordable, but inconvenient to use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4FFC83-A1E8-FCEA-2C47-38C5ADAEA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034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BDB0AE-5ADD-1975-6BDD-386089250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8" y="365125"/>
            <a:ext cx="10439401" cy="1617017"/>
          </a:xfrm>
        </p:spPr>
        <p:txBody>
          <a:bodyPr/>
          <a:lstStyle/>
          <a:p>
            <a:r>
              <a:rPr lang="en-US" dirty="0"/>
              <a:t>Product overview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4C67C-D286-74AE-086C-3E45FF9D954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310129" cy="3747180"/>
          </a:xfrm>
        </p:spPr>
        <p:txBody>
          <a:bodyPr/>
          <a:lstStyle/>
          <a:p>
            <a:r>
              <a:rPr lang="en-US" dirty="0"/>
              <a:t>Unique</a:t>
            </a:r>
          </a:p>
          <a:p>
            <a:r>
              <a:rPr lang="en-US" dirty="0"/>
              <a:t>First to market</a:t>
            </a:r>
          </a:p>
          <a:p>
            <a:r>
              <a:rPr lang="en-US" dirty="0"/>
              <a:t>Tested</a:t>
            </a:r>
          </a:p>
          <a:p>
            <a:r>
              <a:rPr lang="en-US" dirty="0"/>
              <a:t>Authentic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1C2F4A-ABC8-39B2-B7BB-36C02B7A4540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602310" y="2018120"/>
            <a:ext cx="6751489" cy="3747180"/>
          </a:xfrm>
        </p:spPr>
        <p:txBody>
          <a:bodyPr/>
          <a:lstStyle/>
          <a:p>
            <a:r>
              <a:rPr lang="en-US" dirty="0"/>
              <a:t>Only product specifically dedicated to this niche market</a:t>
            </a:r>
          </a:p>
          <a:p>
            <a:r>
              <a:rPr lang="en-US" dirty="0"/>
              <a:t>First beautifully designed product that's both stylish and functional</a:t>
            </a:r>
          </a:p>
          <a:p>
            <a:r>
              <a:rPr lang="en-US" dirty="0"/>
              <a:t>Conducted testing with college students in the area</a:t>
            </a:r>
          </a:p>
          <a:p>
            <a:r>
              <a:rPr lang="en-US" dirty="0"/>
              <a:t>Designed with the help and input of experts in the field 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27E5DB-AFB6-9088-87C9-1F671C0B03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96996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EAA13-E02F-EB47-E510-E3F48A95F8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385" y="446313"/>
            <a:ext cx="5179615" cy="1448747"/>
          </a:xfrm>
        </p:spPr>
        <p:txBody>
          <a:bodyPr/>
          <a:lstStyle/>
          <a:p>
            <a:r>
              <a:rPr lang="en-US" dirty="0"/>
              <a:t>Growth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26637-007F-EC9E-F644-AAFBA0900F3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5181600" cy="3747180"/>
          </a:xfrm>
        </p:spPr>
        <p:txBody>
          <a:bodyPr/>
          <a:lstStyle/>
          <a:p>
            <a:r>
              <a:rPr lang="en-US" b="1" dirty="0"/>
              <a:t>Feb 20XX: </a:t>
            </a:r>
            <a:r>
              <a:rPr lang="en-US" dirty="0"/>
              <a:t>roll out product to high profile or top-level participants to help establish the product</a:t>
            </a:r>
          </a:p>
          <a:p>
            <a:r>
              <a:rPr lang="en-US" b="1" dirty="0"/>
              <a:t>May 20XX: </a:t>
            </a:r>
            <a:r>
              <a:rPr lang="en-US" dirty="0"/>
              <a:t>release the product to the public and monitor press release and social media accounts</a:t>
            </a:r>
          </a:p>
          <a:p>
            <a:r>
              <a:rPr lang="en-US" b="1" dirty="0"/>
              <a:t>Oct 20XX: </a:t>
            </a:r>
            <a:r>
              <a:rPr lang="en-US" dirty="0"/>
              <a:t>gather feedback and adjust product design as necessary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930B-FB1B-543D-6828-8C31F30BBD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18" name="Picture Placeholder 17" descr="Two people looking at their phones">
            <a:extLst>
              <a:ext uri="{FF2B5EF4-FFF2-40B4-BE49-F238E27FC236}">
                <a16:creationId xmlns:a16="http://schemas.microsoft.com/office/drawing/2014/main" id="{1609D79A-E8EF-302E-E8CA-07C644CE0E0F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3"/>
          <a:srcRect l="81" r="81"/>
          <a:stretch/>
        </p:blipFill>
        <p:spPr>
          <a:xfrm>
            <a:off x="6076950" y="0"/>
            <a:ext cx="6115050" cy="6868886"/>
          </a:xfrm>
        </p:spPr>
      </p:pic>
    </p:spTree>
    <p:extLst>
      <p:ext uri="{BB962C8B-B14F-4D97-AF65-F5344CB8AC3E}">
        <p14:creationId xmlns:p14="http://schemas.microsoft.com/office/powerpoint/2010/main" val="15174470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62B2F-534F-A196-1186-33D282CE3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99" y="365125"/>
            <a:ext cx="10363202" cy="1603462"/>
          </a:xfrm>
        </p:spPr>
        <p:txBody>
          <a:bodyPr/>
          <a:lstStyle/>
          <a:p>
            <a:r>
              <a:rPr lang="en-US" dirty="0"/>
              <a:t>Market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71586-1388-197C-1294-83D4DD85293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3299013" cy="3914910"/>
          </a:xfrm>
        </p:spPr>
        <p:txBody>
          <a:bodyPr/>
          <a:lstStyle/>
          <a:p>
            <a:r>
              <a:rPr lang="en-US" dirty="0"/>
              <a:t>Opportunity to build</a:t>
            </a:r>
          </a:p>
          <a:p>
            <a:r>
              <a:rPr lang="en-US" dirty="0"/>
              <a:t>Fully inclusive market</a:t>
            </a:r>
          </a:p>
          <a:p>
            <a:r>
              <a:rPr lang="en-US" dirty="0"/>
              <a:t>Total addressable market</a:t>
            </a:r>
          </a:p>
          <a:p>
            <a:r>
              <a:rPr lang="en-US" noProof="1"/>
              <a:t>Freedom to invent</a:t>
            </a:r>
            <a:endParaRPr lang="en-US" dirty="0"/>
          </a:p>
          <a:p>
            <a:r>
              <a:rPr lang="en-US" noProof="1"/>
              <a:t>Selectively inclusive market</a:t>
            </a:r>
          </a:p>
          <a:p>
            <a:r>
              <a:rPr lang="en-US" noProof="1"/>
              <a:t>Serviceable available market</a:t>
            </a:r>
          </a:p>
        </p:txBody>
      </p:sp>
      <p:graphicFrame>
        <p:nvGraphicFramePr>
          <p:cNvPr id="6" name="Table 11">
            <a:extLst>
              <a:ext uri="{FF2B5EF4-FFF2-40B4-BE49-F238E27FC236}">
                <a16:creationId xmlns:a16="http://schemas.microsoft.com/office/drawing/2014/main" id="{2EE5D6E7-8306-54E8-220A-099D3B755FFE}"/>
              </a:ext>
            </a:extLst>
          </p:cNvPr>
          <p:cNvGraphicFramePr>
            <a:graphicFrameLocks noGrp="1"/>
          </p:cNvGraphicFramePr>
          <p:nvPr>
            <p:ph type="tbl" sz="quarter" idx="11"/>
            <p:extLst>
              <p:ext uri="{D42A27DB-BD31-4B8C-83A1-F6EECF244321}">
                <p14:modId xmlns:p14="http://schemas.microsoft.com/office/powerpoint/2010/main" val="2564561545"/>
              </p:ext>
            </p:extLst>
          </p:nvPr>
        </p:nvGraphicFramePr>
        <p:xfrm>
          <a:off x="4602163" y="2017713"/>
          <a:ext cx="6675294" cy="392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5272">
                  <a:extLst>
                    <a:ext uri="{9D8B030D-6E8A-4147-A177-3AD203B41FA5}">
                      <a16:colId xmlns:a16="http://schemas.microsoft.com/office/drawing/2014/main" val="3233966979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158840958"/>
                    </a:ext>
                  </a:extLst>
                </a:gridCol>
                <a:gridCol w="1085272">
                  <a:extLst>
                    <a:ext uri="{9D8B030D-6E8A-4147-A177-3AD203B41FA5}">
                      <a16:colId xmlns:a16="http://schemas.microsoft.com/office/drawing/2014/main" val="1014947327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2653728004"/>
                    </a:ext>
                  </a:extLst>
                </a:gridCol>
                <a:gridCol w="1709739">
                  <a:extLst>
                    <a:ext uri="{9D8B030D-6E8A-4147-A177-3AD203B41FA5}">
                      <a16:colId xmlns:a16="http://schemas.microsoft.com/office/drawing/2014/main" val="4218738779"/>
                    </a:ext>
                  </a:extLst>
                </a:gridCol>
              </a:tblGrid>
              <a:tr h="785097">
                <a:tc>
                  <a:txBody>
                    <a:bodyPr/>
                    <a:lstStyle/>
                    <a:p>
                      <a:pPr algn="l"/>
                      <a:endParaRPr lang="en-US" sz="18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Clients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Orders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Gross revenue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Net revenue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213590700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1100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$10,000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$7,000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830826746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$20,000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$16,000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2517333721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300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$30,000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$25,000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21589815"/>
                  </a:ext>
                </a:extLst>
              </a:tr>
              <a:tr h="785097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20XX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400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$40,000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$30,000</a:t>
                      </a:r>
                      <a:endParaRPr lang="ru-RU" sz="1800" dirty="0">
                        <a:solidFill>
                          <a:schemeClr val="tx1"/>
                        </a:solidFill>
                      </a:endParaRPr>
                    </a:p>
                  </a:txBody>
                  <a:tcPr marL="95186" marR="95186" marT="47593" marB="47593" anchor="ctr"/>
                </a:tc>
                <a:extLst>
                  <a:ext uri="{0D108BD9-81ED-4DB2-BD59-A6C34878D82A}">
                    <a16:rowId xmlns:a16="http://schemas.microsoft.com/office/drawing/2014/main" val="3345832805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6EF25-1A43-B685-800B-85D36602EF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2614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86DBB-D0DC-05D4-788C-E10EEF6B4A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1990" y="434225"/>
            <a:ext cx="9524998" cy="1499627"/>
          </a:xfrm>
        </p:spPr>
        <p:txBody>
          <a:bodyPr/>
          <a:lstStyle/>
          <a:p>
            <a:r>
              <a:rPr lang="en-US" dirty="0"/>
              <a:t>Solution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E41F64-E350-1F21-8A57-E740F48F313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399" y="2022250"/>
            <a:ext cx="6257366" cy="3914910"/>
          </a:xfrm>
        </p:spPr>
        <p:txBody>
          <a:bodyPr/>
          <a:lstStyle/>
          <a:p>
            <a:r>
              <a:rPr lang="en-US" dirty="0"/>
              <a:t>Our product makes consumer lives easier, and no other product on the market offers the same features</a:t>
            </a:r>
          </a:p>
          <a:p>
            <a:pPr lvl="1"/>
            <a:r>
              <a:rPr lang="en-US" dirty="0"/>
              <a:t>Gen Z (18-25 years old)</a:t>
            </a:r>
          </a:p>
          <a:p>
            <a:pPr lvl="1"/>
            <a:r>
              <a:rPr lang="en-US" dirty="0"/>
              <a:t>Reduce expenses for replacement products </a:t>
            </a:r>
          </a:p>
          <a:p>
            <a:pPr lvl="1"/>
            <a:r>
              <a:rPr lang="en-US" dirty="0"/>
              <a:t>Simple design that gives customers the targeted information they need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35AC68-D86C-E73B-5402-F22C9F54DC0C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7967475" y="2018119"/>
            <a:ext cx="2449514" cy="3931919"/>
          </a:xfrm>
        </p:spPr>
        <p:txBody>
          <a:bodyPr/>
          <a:lstStyle/>
          <a:p>
            <a:r>
              <a:rPr lang="en-US" dirty="0"/>
              <a:t>Close the gap</a:t>
            </a:r>
          </a:p>
          <a:p>
            <a:r>
              <a:rPr lang="en-US" dirty="0"/>
              <a:t>Target audience </a:t>
            </a:r>
          </a:p>
          <a:p>
            <a:r>
              <a:rPr lang="en-US" dirty="0"/>
              <a:t>Cost savings</a:t>
            </a:r>
          </a:p>
          <a:p>
            <a:r>
              <a:rPr lang="en-US" dirty="0"/>
              <a:t>Easy to use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9D2502-F7A7-039F-01A0-59462ADFF6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40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ECED9-3D31-C7EF-C4E5-0D218F611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3545" y="584477"/>
            <a:ext cx="10354052" cy="1209765"/>
          </a:xfrm>
        </p:spPr>
        <p:txBody>
          <a:bodyPr/>
          <a:lstStyle/>
          <a:p>
            <a:r>
              <a:rPr lang="en-US" dirty="0"/>
              <a:t>Financials</a:t>
            </a:r>
          </a:p>
        </p:txBody>
      </p:sp>
      <p:graphicFrame>
        <p:nvGraphicFramePr>
          <p:cNvPr id="5" name="Table 9">
            <a:extLst>
              <a:ext uri="{FF2B5EF4-FFF2-40B4-BE49-F238E27FC236}">
                <a16:creationId xmlns:a16="http://schemas.microsoft.com/office/drawing/2014/main" id="{B782709C-FC0C-E355-9C94-A8EE025BAC7B}"/>
              </a:ext>
            </a:extLst>
          </p:cNvPr>
          <p:cNvGraphicFramePr>
            <a:graphicFrameLocks noGrp="1"/>
          </p:cNvGraphicFramePr>
          <p:nvPr>
            <p:ph type="tbl" sz="quarter" idx="10"/>
            <p:extLst>
              <p:ext uri="{D42A27DB-BD31-4B8C-83A1-F6EECF244321}">
                <p14:modId xmlns:p14="http://schemas.microsoft.com/office/powerpoint/2010/main" val="829977845"/>
              </p:ext>
            </p:extLst>
          </p:nvPr>
        </p:nvGraphicFramePr>
        <p:xfrm>
          <a:off x="923925" y="2009775"/>
          <a:ext cx="10363201" cy="3934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4555">
                  <a:extLst>
                    <a:ext uri="{9D8B030D-6E8A-4147-A177-3AD203B41FA5}">
                      <a16:colId xmlns:a16="http://schemas.microsoft.com/office/drawing/2014/main" val="3446012419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40526463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935352797"/>
                    </a:ext>
                  </a:extLst>
                </a:gridCol>
                <a:gridCol w="2012882">
                  <a:extLst>
                    <a:ext uri="{9D8B030D-6E8A-4147-A177-3AD203B41FA5}">
                      <a16:colId xmlns:a16="http://schemas.microsoft.com/office/drawing/2014/main" val="1218263486"/>
                    </a:ext>
                  </a:extLst>
                </a:gridCol>
              </a:tblGrid>
              <a:tr h="562010"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1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2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Year 3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0773105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Income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42911372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Users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1,600,000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4339392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Sales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16,000,000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71146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Average price per sale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75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80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90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98944196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lvl="1"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Revenue @ 15%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5,625,000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48,000,000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0" u="none" strike="noStrike" dirty="0">
                          <a:solidFill>
                            <a:schemeClr val="tx1"/>
                          </a:solidFill>
                          <a:effectLst/>
                        </a:rPr>
                        <a:t>216,000,000</a:t>
                      </a:r>
                      <a:endParaRPr lang="en-US" sz="18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61606819"/>
                  </a:ext>
                </a:extLst>
              </a:tr>
              <a:tr h="562010"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Gross profit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288000"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5,625,000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48,000,000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216,000,000</a:t>
                      </a:r>
                      <a:endParaRPr lang="en-US" sz="1800" b="1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120011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E50FF3-CE3C-DDFB-B8EA-5BA1668A10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6246254"/>
            <a:ext cx="631065" cy="296214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3500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77B52831-0916-294C-0ACB-9774B9805D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4151" r="18577"/>
          <a:stretch/>
        </p:blipFill>
        <p:spPr>
          <a:xfrm flipH="1">
            <a:off x="0" y="0"/>
            <a:ext cx="5181600" cy="685800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82E216E-9EE0-9D3F-D692-083F575A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1515" y="374090"/>
            <a:ext cx="5057104" cy="3624984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F398FDD-E639-CF6A-B875-443655F2B3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1514" y="4172989"/>
            <a:ext cx="5057103" cy="2519363"/>
          </a:xfrm>
        </p:spPr>
        <p:txBody>
          <a:bodyPr/>
          <a:lstStyle/>
          <a:p>
            <a:r>
              <a:rPr lang="en-US" dirty="0"/>
              <a:t>Brita Tamm</a:t>
            </a:r>
          </a:p>
          <a:p>
            <a:r>
              <a:rPr lang="en-US" dirty="0"/>
              <a:t>502-555-0152</a:t>
            </a:r>
          </a:p>
          <a:p>
            <a:r>
              <a:rPr lang="en-US" dirty="0"/>
              <a:t>brita@firstupconsultants.com</a:t>
            </a:r>
          </a:p>
          <a:p>
            <a:r>
              <a:rPr lang="en-US" dirty="0"/>
              <a:t>www.firstupconsultants.com</a:t>
            </a:r>
          </a:p>
        </p:txBody>
      </p:sp>
    </p:spTree>
    <p:extLst>
      <p:ext uri="{BB962C8B-B14F-4D97-AF65-F5344CB8AC3E}">
        <p14:creationId xmlns:p14="http://schemas.microsoft.com/office/powerpoint/2010/main" val="769932640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22318419_win32_SL_V9" id="{8502042B-488E-4F33-AD20-77B40A1BC1AA}" vid="{A90C26AF-23CA-48C5-BFF9-84DC7B1C917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B045227-5724-4DBF-9712-031B1BFB2C3C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7B39BD0-040C-43BE-B0E4-512B09E8003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22457D9-12AC-4794-A05E-F1B90FCD8D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{87954F13-7132-4645-BED6-9AE9B5A6DFFC}TF44172dc5-d19e-4d2a-aaf3-e2c69a283fd81f4275d0_win32-950e754c5494</Template>
  <TotalTime>0</TotalTime>
  <Words>477</Words>
  <Application>Microsoft Office PowerPoint</Application>
  <PresentationFormat>Widescreen</PresentationFormat>
  <Paragraphs>125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Tenorite</vt:lpstr>
      <vt:lpstr>Custom</vt:lpstr>
      <vt:lpstr>Pitch deck</vt:lpstr>
      <vt:lpstr>About us</vt:lpstr>
      <vt:lpstr>Company overview</vt:lpstr>
      <vt:lpstr>Product overview</vt:lpstr>
      <vt:lpstr>Problem </vt:lpstr>
      <vt:lpstr>Product benefits</vt:lpstr>
      <vt:lpstr>Our competition</vt:lpstr>
      <vt:lpstr>Product overview </vt:lpstr>
      <vt:lpstr>Growth strategy</vt:lpstr>
      <vt:lpstr>Market overview</vt:lpstr>
      <vt:lpstr>Solution</vt:lpstr>
      <vt:lpstr>Financials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Crawford, Dorian - crawf2dj</dc:creator>
  <cp:lastModifiedBy>Crawford, Dorian - crawf2dj</cp:lastModifiedBy>
  <cp:revision>1</cp:revision>
  <dcterms:created xsi:type="dcterms:W3CDTF">2025-11-17T14:19:36Z</dcterms:created>
  <dcterms:modified xsi:type="dcterms:W3CDTF">2025-11-17T14:20:25Z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
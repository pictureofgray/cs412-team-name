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7" r:id="rId11"/>
    <p:sldId id="266" r:id="rId12"/>
    <p:sldId id="273" r:id="rId13"/>
    <p:sldId id="274" r:id="rId14"/>
    <p:sldId id="275" r:id="rId15"/>
    <p:sldId id="276" r:id="rId16"/>
    <p:sldId id="278" r:id="rId17"/>
    <p:sldId id="279" r:id="rId18"/>
    <p:sldId id="272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7" y="0"/>
            <a:ext cx="8265003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30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6" cy="68681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4"/>
            <a:ext cx="5867404" cy="1317509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40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1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1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5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62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8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85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13"/>
          <p:cNvSpPr/>
          <p:nvPr/>
        </p:nvSpPr>
        <p:spPr>
          <a:xfrm>
            <a:off x="4443412" y="1835237"/>
            <a:ext cx="7000876" cy="427981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106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6"/>
            <a:ext cx="1672378" cy="1971678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4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0" cy="2721991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19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6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37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3"/>
          <a:srcRect l="18883" t="18052" r="46634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8" r:id="rId8"/>
    <p:sldLayoutId id="2147483659" r:id="rId9"/>
    <p:sldLayoutId id="2147483660" r:id="rId10"/>
    <p:sldLayoutId id="2147483661" r:id="rId11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6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 xmlns="">
          <p:sp>
            <p:nvSpPr>
              <p:cNvPr id="224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 xmlns="">
          <p:sp>
            <p:nvSpPr>
              <p:cNvPr id="22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7" name="Content Placeholder 2"/>
          <p:cNvSpPr txBox="1"/>
          <p:nvPr/>
        </p:nvSpPr>
        <p:spPr>
          <a:xfrm>
            <a:off x="8242310" y="2022248"/>
            <a:ext cx="3903970" cy="22490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Part E: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broke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Talk about how you fixed things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What is your approximation weak on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How does adding more time improve things?</a:t>
            </a:r>
            <a:endParaRPr sz="2000" dirty="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rPr dirty="0"/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152" name="LAX"/>
          <p:cNvGrpSpPr/>
          <p:nvPr/>
        </p:nvGrpSpPr>
        <p:grpSpPr>
          <a:xfrm>
            <a:off x="7442612" y="3081903"/>
            <a:ext cx="694193" cy="694193"/>
            <a:chOff x="0" y="0"/>
            <a:chExt cx="694191" cy="694191"/>
          </a:xfrm>
        </p:grpSpPr>
        <p:sp>
          <p:nvSpPr>
            <p:cNvPr id="150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51" name="LAX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LAX</a:t>
              </a:r>
            </a:p>
          </p:txBody>
        </p:sp>
      </p:grpSp>
      <p:grpSp>
        <p:nvGrpSpPr>
          <p:cNvPr id="155" name="JFK"/>
          <p:cNvGrpSpPr/>
          <p:nvPr/>
        </p:nvGrpSpPr>
        <p:grpSpPr>
          <a:xfrm>
            <a:off x="8857303" y="1614045"/>
            <a:ext cx="694193" cy="694192"/>
            <a:chOff x="0" y="0"/>
            <a:chExt cx="694191" cy="694191"/>
          </a:xfrm>
        </p:grpSpPr>
        <p:sp>
          <p:nvSpPr>
            <p:cNvPr id="153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54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JFK</a:t>
              </a:r>
            </a:p>
          </p:txBody>
        </p:sp>
      </p:grpSp>
      <p:grpSp>
        <p:nvGrpSpPr>
          <p:cNvPr id="158" name="MIA"/>
          <p:cNvGrpSpPr/>
          <p:nvPr/>
        </p:nvGrpSpPr>
        <p:grpSpPr>
          <a:xfrm>
            <a:off x="10271992" y="3081903"/>
            <a:ext cx="694193" cy="694193"/>
            <a:chOff x="0" y="0"/>
            <a:chExt cx="694191" cy="694191"/>
          </a:xfrm>
        </p:grpSpPr>
        <p:sp>
          <p:nvSpPr>
            <p:cNvPr id="156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57" name="MIA"/>
            <p:cNvSpPr txBox="1"/>
            <p:nvPr/>
          </p:nvSpPr>
          <p:spPr>
            <a:xfrm>
              <a:off x="106423" y="208095"/>
              <a:ext cx="48134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161" name="HOU"/>
          <p:cNvGrpSpPr/>
          <p:nvPr/>
        </p:nvGrpSpPr>
        <p:grpSpPr>
          <a:xfrm>
            <a:off x="8857303" y="4549762"/>
            <a:ext cx="694193" cy="694192"/>
            <a:chOff x="0" y="0"/>
            <a:chExt cx="694191" cy="694191"/>
          </a:xfrm>
        </p:grpSpPr>
        <p:sp>
          <p:nvSpPr>
            <p:cNvPr id="159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60" name="HOU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162" name="Line"/>
          <p:cNvSpPr/>
          <p:nvPr/>
        </p:nvSpPr>
        <p:spPr>
          <a:xfrm flipV="1">
            <a:off x="9434714" y="3671711"/>
            <a:ext cx="942985" cy="96709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3" name="Line"/>
          <p:cNvSpPr/>
          <p:nvPr/>
        </p:nvSpPr>
        <p:spPr>
          <a:xfrm flipV="1">
            <a:off x="7989561" y="2180991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4" name="Line"/>
          <p:cNvSpPr/>
          <p:nvPr/>
        </p:nvSpPr>
        <p:spPr>
          <a:xfrm flipH="1" flipV="1">
            <a:off x="8049108" y="3661616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5" name="Line"/>
          <p:cNvSpPr/>
          <p:nvPr/>
        </p:nvSpPr>
        <p:spPr>
          <a:xfrm flipH="1" flipV="1">
            <a:off x="9475364" y="2181819"/>
            <a:ext cx="893838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6" name="Line"/>
          <p:cNvSpPr/>
          <p:nvPr/>
        </p:nvSpPr>
        <p:spPr>
          <a:xfrm flipH="1" flipV="1">
            <a:off x="9219408" y="2308044"/>
            <a:ext cx="104" cy="223787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7" name="Line"/>
          <p:cNvSpPr/>
          <p:nvPr/>
        </p:nvSpPr>
        <p:spPr>
          <a:xfrm flipH="1">
            <a:off x="8140831" y="3415165"/>
            <a:ext cx="2127134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8" name="2.475"/>
          <p:cNvSpPr txBox="1"/>
          <p:nvPr/>
        </p:nvSpPr>
        <p:spPr>
          <a:xfrm>
            <a:off x="7903016" y="2348333"/>
            <a:ext cx="6252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2.475</a:t>
            </a:r>
          </a:p>
        </p:txBody>
      </p:sp>
      <p:sp>
        <p:nvSpPr>
          <p:cNvPr id="169" name="1.09"/>
          <p:cNvSpPr txBox="1"/>
          <p:nvPr/>
        </p:nvSpPr>
        <p:spPr>
          <a:xfrm>
            <a:off x="10026467" y="2348333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1.09</a:t>
            </a:r>
          </a:p>
        </p:txBody>
      </p:sp>
      <p:sp>
        <p:nvSpPr>
          <p:cNvPr id="170" name="1.39"/>
          <p:cNvSpPr txBox="1"/>
          <p:nvPr/>
        </p:nvSpPr>
        <p:spPr>
          <a:xfrm>
            <a:off x="7960945" y="4176576"/>
            <a:ext cx="509434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1.39</a:t>
            </a:r>
          </a:p>
        </p:txBody>
      </p:sp>
      <p:sp>
        <p:nvSpPr>
          <p:cNvPr id="171" name="1.1"/>
          <p:cNvSpPr txBox="1"/>
          <p:nvPr/>
        </p:nvSpPr>
        <p:spPr>
          <a:xfrm>
            <a:off x="10026467" y="4155256"/>
            <a:ext cx="393570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1.1</a:t>
            </a:r>
          </a:p>
        </p:txBody>
      </p:sp>
      <p:sp>
        <p:nvSpPr>
          <p:cNvPr id="172" name="1.74"/>
          <p:cNvSpPr txBox="1"/>
          <p:nvPr/>
        </p:nvSpPr>
        <p:spPr>
          <a:xfrm>
            <a:off x="9200429" y="2691187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1.74</a:t>
            </a:r>
          </a:p>
        </p:txBody>
      </p:sp>
      <p:sp>
        <p:nvSpPr>
          <p:cNvPr id="173" name="2.342"/>
          <p:cNvSpPr txBox="1"/>
          <p:nvPr/>
        </p:nvSpPr>
        <p:spPr>
          <a:xfrm>
            <a:off x="8387994" y="3402465"/>
            <a:ext cx="625296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2.342</a:t>
            </a:r>
          </a:p>
        </p:txBody>
      </p:sp>
      <p:sp>
        <p:nvSpPr>
          <p:cNvPr id="174" name="Weights in 1K air miles"/>
          <p:cNvSpPr txBox="1"/>
          <p:nvPr/>
        </p:nvSpPr>
        <p:spPr>
          <a:xfrm>
            <a:off x="5141083" y="6227815"/>
            <a:ext cx="1909832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Weights in 1K miles</a:t>
            </a:r>
          </a:p>
        </p:txBody>
      </p:sp>
      <p:pic>
        <p:nvPicPr>
          <p:cNvPr id="175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2" y="1970899"/>
            <a:ext cx="5184358" cy="2916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lide Number Placeholder 1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grpSp>
        <p:nvGrpSpPr>
          <p:cNvPr id="180" name="LAX"/>
          <p:cNvGrpSpPr/>
          <p:nvPr/>
        </p:nvGrpSpPr>
        <p:grpSpPr>
          <a:xfrm>
            <a:off x="3548879" y="3081904"/>
            <a:ext cx="694193" cy="694192"/>
            <a:chOff x="0" y="0"/>
            <a:chExt cx="694191" cy="694191"/>
          </a:xfrm>
        </p:grpSpPr>
        <p:sp>
          <p:nvSpPr>
            <p:cNvPr id="178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79" name="LAX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LAX</a:t>
              </a:r>
            </a:p>
          </p:txBody>
        </p:sp>
      </p:grpSp>
      <p:grpSp>
        <p:nvGrpSpPr>
          <p:cNvPr id="183" name="JFK"/>
          <p:cNvGrpSpPr/>
          <p:nvPr/>
        </p:nvGrpSpPr>
        <p:grpSpPr>
          <a:xfrm>
            <a:off x="5748904" y="970328"/>
            <a:ext cx="694192" cy="694193"/>
            <a:chOff x="0" y="0"/>
            <a:chExt cx="694191" cy="694191"/>
          </a:xfrm>
        </p:grpSpPr>
        <p:sp>
          <p:nvSpPr>
            <p:cNvPr id="181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82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JFK</a:t>
              </a:r>
            </a:p>
          </p:txBody>
        </p:sp>
      </p:grpSp>
      <p:grpSp>
        <p:nvGrpSpPr>
          <p:cNvPr id="186" name="MIA"/>
          <p:cNvGrpSpPr/>
          <p:nvPr/>
        </p:nvGrpSpPr>
        <p:grpSpPr>
          <a:xfrm>
            <a:off x="7936054" y="3081904"/>
            <a:ext cx="694192" cy="694192"/>
            <a:chOff x="0" y="0"/>
            <a:chExt cx="694191" cy="694191"/>
          </a:xfrm>
        </p:grpSpPr>
        <p:sp>
          <p:nvSpPr>
            <p:cNvPr id="184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85" name="MIA"/>
            <p:cNvSpPr txBox="1"/>
            <p:nvPr/>
          </p:nvSpPr>
          <p:spPr>
            <a:xfrm>
              <a:off x="106423" y="208095"/>
              <a:ext cx="48134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189" name="HOU"/>
          <p:cNvGrpSpPr/>
          <p:nvPr/>
        </p:nvGrpSpPr>
        <p:grpSpPr>
          <a:xfrm>
            <a:off x="5748904" y="5038987"/>
            <a:ext cx="694192" cy="694193"/>
            <a:chOff x="0" y="0"/>
            <a:chExt cx="694191" cy="694191"/>
          </a:xfrm>
        </p:grpSpPr>
        <p:sp>
          <p:nvSpPr>
            <p:cNvPr id="187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88" name="HOU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190" name="Weights in 1K air miles"/>
          <p:cNvSpPr txBox="1"/>
          <p:nvPr/>
        </p:nvSpPr>
        <p:spPr>
          <a:xfrm>
            <a:off x="5154702" y="6227816"/>
            <a:ext cx="1882596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r>
              <a:t>“Can’t do it boss…”</a:t>
            </a:r>
          </a:p>
        </p:txBody>
      </p:sp>
      <p:grpSp>
        <p:nvGrpSpPr>
          <p:cNvPr id="193" name="JFK"/>
          <p:cNvGrpSpPr/>
          <p:nvPr/>
        </p:nvGrpSpPr>
        <p:grpSpPr>
          <a:xfrm>
            <a:off x="4295591" y="1547930"/>
            <a:ext cx="694193" cy="694193"/>
            <a:chOff x="0" y="0"/>
            <a:chExt cx="694191" cy="694191"/>
          </a:xfrm>
        </p:grpSpPr>
        <p:sp>
          <p:nvSpPr>
            <p:cNvPr id="191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92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JFK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7202216" y="1547930"/>
            <a:ext cx="694193" cy="694193"/>
            <a:chOff x="0" y="0"/>
            <a:chExt cx="694191" cy="694191"/>
          </a:xfrm>
        </p:grpSpPr>
        <p:sp>
          <p:nvSpPr>
            <p:cNvPr id="194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95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JFK</a:t>
              </a:r>
            </a:p>
          </p:txBody>
        </p:sp>
      </p:grpSp>
      <p:grpSp>
        <p:nvGrpSpPr>
          <p:cNvPr id="199" name="JFK"/>
          <p:cNvGrpSpPr/>
          <p:nvPr/>
        </p:nvGrpSpPr>
        <p:grpSpPr>
          <a:xfrm>
            <a:off x="7202216" y="4395270"/>
            <a:ext cx="694193" cy="694193"/>
            <a:chOff x="0" y="0"/>
            <a:chExt cx="694191" cy="694191"/>
          </a:xfrm>
        </p:grpSpPr>
        <p:sp>
          <p:nvSpPr>
            <p:cNvPr id="197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198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JFK</a:t>
              </a:r>
            </a:p>
          </p:txBody>
        </p:sp>
      </p:grpSp>
      <p:grpSp>
        <p:nvGrpSpPr>
          <p:cNvPr id="202" name="JFK"/>
          <p:cNvGrpSpPr/>
          <p:nvPr/>
        </p:nvGrpSpPr>
        <p:grpSpPr>
          <a:xfrm>
            <a:off x="4295591" y="4395270"/>
            <a:ext cx="694193" cy="694193"/>
            <a:chOff x="0" y="0"/>
            <a:chExt cx="694191" cy="694191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  <a:endParaRPr/>
            </a:p>
          </p:txBody>
        </p:sp>
        <p:sp>
          <p:nvSpPr>
            <p:cNvPr id="201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r>
                <a:t>JFK</a:t>
              </a:r>
            </a:p>
          </p:txBody>
        </p:sp>
      </p:grpSp>
      <p:sp>
        <p:nvSpPr>
          <p:cNvPr id="203" name="Line"/>
          <p:cNvSpPr/>
          <p:nvPr/>
        </p:nvSpPr>
        <p:spPr>
          <a:xfrm flipH="1" flipV="1">
            <a:off x="4245530" y="3430563"/>
            <a:ext cx="3683268" cy="983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4" name="Line"/>
          <p:cNvSpPr/>
          <p:nvPr/>
        </p:nvSpPr>
        <p:spPr>
          <a:xfrm flipH="1">
            <a:off x="4255650" y="2108531"/>
            <a:ext cx="3010632" cy="131212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5" name="Line"/>
          <p:cNvSpPr/>
          <p:nvPr/>
        </p:nvSpPr>
        <p:spPr>
          <a:xfrm flipH="1">
            <a:off x="4246952" y="1609554"/>
            <a:ext cx="1651368" cy="181350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6" name="Line"/>
          <p:cNvSpPr/>
          <p:nvPr/>
        </p:nvSpPr>
        <p:spPr>
          <a:xfrm flipH="1">
            <a:off x="4255657" y="2241652"/>
            <a:ext cx="344756" cy="11745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/>
          <p:cNvSpPr txBox="1">
            <a:spLocks noGrp="1"/>
          </p:cNvSpPr>
          <p:nvPr>
            <p:ph type="title"/>
          </p:nvPr>
        </p:nvSpPr>
        <p:spPr>
          <a:xfrm>
            <a:off x="170522" y="821"/>
            <a:ext cx="5134663" cy="2689633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1" cy="1209767"/>
          </a:xfrm>
          <a:prstGeom prst="rect">
            <a:avLst/>
          </a:prstGeom>
        </p:spPr>
        <p:txBody>
          <a:bodyPr/>
          <a:lstStyle/>
          <a:p>
            <a:r>
              <a:rPr dirty="0"/>
              <a:t>REDUCTION FROM KNOWN NP-hard </a:t>
            </a:r>
            <a:r>
              <a:rPr dirty="0" err="1"/>
              <a:t>SOL</a:t>
            </a:r>
            <a:r>
              <a:rPr lang="en-US" dirty="0" err="1"/>
              <a:t>u</a:t>
            </a:r>
            <a:r>
              <a:rPr dirty="0" err="1"/>
              <a:t>t</a:t>
            </a:r>
            <a:r>
              <a:rPr lang="en-US" dirty="0" err="1"/>
              <a:t>io</a:t>
            </a:r>
            <a:r>
              <a:rPr dirty="0" err="1"/>
              <a:t>n</a:t>
            </a:r>
            <a:endParaRPr dirty="0"/>
          </a:p>
        </p:txBody>
      </p:sp>
      <p:sp>
        <p:nvSpPr>
          <p:cNvPr id="211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212" name="Reduce from hamiltonian cycle"/>
          <p:cNvSpPr txBox="1"/>
          <p:nvPr/>
        </p:nvSpPr>
        <p:spPr>
          <a:xfrm>
            <a:off x="5641192" y="3194094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F8D110-88BD-4881-1DD1-6CF61E078C93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3A082-2862-A5EB-C120-8B04477040A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rPr dirty="0"/>
              <a:t>Empirical runtime analysis</a:t>
            </a:r>
          </a:p>
        </p:txBody>
      </p:sp>
      <p:sp>
        <p:nvSpPr>
          <p:cNvPr id="219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6" y="2022250"/>
            <a:ext cx="3310135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220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221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8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2538D6-E31D-AED9-1B91-B09DC74C130F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itle 1"/>
          <p:cNvSpPr txBox="1">
            <a:spLocks noGrp="1"/>
          </p:cNvSpPr>
          <p:nvPr>
            <p:ph type="title"/>
          </p:nvPr>
        </p:nvSpPr>
        <p:spPr>
          <a:xfrm>
            <a:off x="6095998" y="375281"/>
            <a:ext cx="4896684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Enhancing the Approximate Solution</a:t>
            </a:r>
            <a:endParaRPr dirty="0"/>
          </a:p>
        </p:txBody>
      </p:sp>
      <p:sp>
        <p:nvSpPr>
          <p:cNvPr id="240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4" cy="2309732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Featuring randomness</a:t>
            </a:r>
            <a:endParaRPr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241C9-1D5D-86DE-8E30-A4F1D6C3D3EE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Where DO We Fall Short?</a:t>
            </a:r>
            <a:endParaRPr dirty="0"/>
          </a:p>
        </p:txBody>
      </p:sp>
      <p:sp>
        <p:nvSpPr>
          <p:cNvPr id="236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62415" cy="269237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8962D4-C4FB-E106-8AC0-F23F1ECD5949}"/>
              </a:ext>
            </a:extLst>
          </p:cNvPr>
          <p:cNvSpPr txBox="1"/>
          <p:nvPr/>
        </p:nvSpPr>
        <p:spPr>
          <a:xfrm>
            <a:off x="914399" y="1822536"/>
            <a:ext cx="7496828" cy="184665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No randomness </a:t>
            </a:r>
            <a:r>
              <a:rPr kumimoji="0" lang="en-US" sz="32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Tenorite" panose="00000500000000000000" pitchFamily="2" charset="0"/>
                <a:sym typeface="Helvetica"/>
              </a:rPr>
              <a:t>limits graph exploration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Dependent 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on </a:t>
            </a: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starting node</a:t>
            </a: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3200" b="1" dirty="0">
                <a:solidFill>
                  <a:schemeClr val="tx1"/>
                </a:solidFill>
                <a:latin typeface="Tenorite" panose="00000500000000000000" pitchFamily="2" charset="0"/>
              </a:rPr>
              <a:t>Mutates a list</a:t>
            </a:r>
            <a:r>
              <a:rPr lang="en-US" sz="3200" dirty="0">
                <a:solidFill>
                  <a:schemeClr val="tx1"/>
                </a:solidFill>
                <a:latin typeface="Tenorite" panose="00000500000000000000" pitchFamily="2" charset="0"/>
              </a:rPr>
              <a:t> while iterating through it</a:t>
            </a:r>
            <a:endParaRPr lang="en-US" sz="3200" b="1" dirty="0">
              <a:solidFill>
                <a:schemeClr val="tx1"/>
              </a:solidFill>
              <a:latin typeface="Tenorite" panose="00000500000000000000" pitchFamily="2" charset="0"/>
            </a:endParaRPr>
          </a:p>
          <a:p>
            <a:pPr marL="285750" marR="0" indent="-28575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sz="18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Tenorite" panose="00000500000000000000" pitchFamily="2" charset="0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74804-5BF1-8B65-1E2B-5F098AEF3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>
            <a:extLst>
              <a:ext uri="{FF2B5EF4-FFF2-40B4-BE49-F238E27FC236}">
                <a16:creationId xmlns:a16="http://schemas.microsoft.com/office/drawing/2014/main" id="{01B17243-6753-2262-2159-CAC2787467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794" y="-379569"/>
            <a:ext cx="8875287" cy="2023698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Problem: The </a:t>
            </a:r>
            <a:r>
              <a:rPr lang="en-US" dirty="0" err="1"/>
              <a:t>GRaph</a:t>
            </a:r>
            <a:endParaRPr dirty="0"/>
          </a:p>
        </p:txBody>
      </p:sp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EBDEA9B4-DA91-F505-1975-77FF9B27F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5397" y="1552075"/>
            <a:ext cx="5127955" cy="51279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498377D-2D53-1673-9969-46FEDDA74444}"/>
              </a:ext>
            </a:extLst>
          </p:cNvPr>
          <p:cNvSpPr txBox="1"/>
          <p:nvPr/>
        </p:nvSpPr>
        <p:spPr>
          <a:xfrm>
            <a:off x="294573" y="1933127"/>
            <a:ext cx="6670824" cy="36332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edges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inside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each cluster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Inter-cluster edges </a:t>
            </a:r>
            <a:r>
              <a:rPr lang="en-US" sz="2700" dirty="0">
                <a:latin typeface="Tenorite"/>
                <a:sym typeface="Tenorite"/>
              </a:rPr>
              <a:t>designed to </a:t>
            </a:r>
            <a:r>
              <a:rPr lang="en-US" sz="2700" b="1" dirty="0">
                <a:latin typeface="Tenorite"/>
                <a:sym typeface="Tenorite"/>
              </a:rPr>
              <a:t>mislead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: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Cheap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 inter-cluster edges are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bait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1000 weight </a:t>
            </a:r>
            <a:r>
              <a:rPr kumimoji="0" lang="en-US" sz="27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/>
                <a:sym typeface="Tenorite"/>
              </a:rPr>
              <a:t>trap edge</a:t>
            </a:r>
          </a:p>
          <a:p>
            <a:pPr marL="711200" marR="0" lvl="1" indent="-2540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dirty="0">
                <a:latin typeface="Tenorite"/>
                <a:sym typeface="Tenorite"/>
              </a:rPr>
              <a:t>All other inter-cluster edges are </a:t>
            </a:r>
            <a:r>
              <a:rPr lang="en-US" sz="2700" b="1" dirty="0">
                <a:latin typeface="Tenorite"/>
                <a:sym typeface="Tenorite"/>
              </a:rPr>
              <a:t>moderately expensive</a:t>
            </a:r>
            <a:endParaRPr kumimoji="0" lang="en-US" sz="27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/>
            </a:pPr>
            <a:r>
              <a:rPr lang="en-US" sz="2700" b="1" dirty="0">
                <a:latin typeface="Tenorite"/>
                <a:sym typeface="Tenorite"/>
              </a:rPr>
              <a:t>Optimal path: </a:t>
            </a:r>
            <a:r>
              <a:rPr lang="en-US" sz="2700" dirty="0">
                <a:latin typeface="Tenorite"/>
                <a:sym typeface="Tenorite"/>
              </a:rPr>
              <a:t>length of 12.6</a:t>
            </a:r>
            <a:endParaRPr kumimoji="0" lang="en-US" sz="27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/>
              <a:sym typeface="Tenorite"/>
            </a:endParaRPr>
          </a:p>
        </p:txBody>
      </p:sp>
    </p:spTree>
    <p:extLst>
      <p:ext uri="{BB962C8B-B14F-4D97-AF65-F5344CB8AC3E}">
        <p14:creationId xmlns:p14="http://schemas.microsoft.com/office/powerpoint/2010/main" val="125433760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384B-3A2B-12F3-1E3E-12E3ED6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50248-C21B-1B88-AF90-A808B76502C6}"/>
              </a:ext>
            </a:extLst>
          </p:cNvPr>
          <p:cNvSpPr txBox="1"/>
          <p:nvPr/>
        </p:nvSpPr>
        <p:spPr>
          <a:xfrm>
            <a:off x="834620" y="1828800"/>
            <a:ext cx="5332977" cy="92332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TODO: make into a graph or something</a:t>
            </a:r>
          </a:p>
          <a:p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Run exact,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</a:t>
            </a: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, and v3.5 100 times each </a:t>
            </a:r>
            <a:r>
              <a:rPr lang="en-US" dirty="0"/>
              <a:t>and (bar) graph the different results it yields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43122600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84A44-84DE-EB03-8FE6-9CF2834C2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6BF35-0324-D005-2624-86A589D94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Problem: The Runtimes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446827-CAE3-2A24-DF02-E75B1021BBBB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dirty="0"/>
              <a:t>TODO: make a graph. </a:t>
            </a:r>
            <a:r>
              <a:rPr lang="en-US" dirty="0">
                <a:sym typeface="Helvetica"/>
              </a:rPr>
              <a:t>Run exact, approx., and v3.5 100 times and (bar) graph the runtimes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303541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B93B2-4477-13DE-EB18-24E488CF4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A5579E-AB4B-CBBA-3713-4AB6907E3B93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872888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A0F71-904A-7254-14E9-B5516C1C0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230001884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Title 6"/>
          <p:cNvSpPr txBox="1">
            <a:spLocks noGrp="1"/>
          </p:cNvSpPr>
          <p:nvPr>
            <p:ph type="title"/>
          </p:nvPr>
        </p:nvSpPr>
        <p:spPr>
          <a:xfrm>
            <a:off x="6091515" y="374086"/>
            <a:ext cx="5057105" cy="362499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Questions?</a:t>
            </a:r>
            <a:endParaRPr dirty="0"/>
          </a:p>
        </p:txBody>
      </p:sp>
      <p:sp>
        <p:nvSpPr>
          <p:cNvPr id="264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69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575</Words>
  <Application>Microsoft Office PowerPoint</Application>
  <PresentationFormat>Widescreen</PresentationFormat>
  <Paragraphs>88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Cambria Math</vt:lpstr>
      <vt:lpstr>Helvetica</vt:lpstr>
      <vt:lpstr>Tenorite</vt:lpstr>
      <vt:lpstr>Custom</vt:lpstr>
      <vt:lpstr>Pitch deck</vt:lpstr>
      <vt:lpstr>TODO</vt:lpstr>
      <vt:lpstr>PowerPoint Presentation</vt:lpstr>
      <vt:lpstr>PowerPoint Presentation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</vt:lpstr>
      <vt:lpstr>Sample Problem: The GRaph</vt:lpstr>
      <vt:lpstr>Sample Problem: The Results</vt:lpstr>
      <vt:lpstr>Sample Problem: The Runtimes</vt:lpstr>
      <vt:lpstr>Takeaways</vt:lpstr>
      <vt:lpstr>Conclusions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Crawford, Dorian - crawf2dj</cp:lastModifiedBy>
  <cp:revision>4</cp:revision>
  <dcterms:modified xsi:type="dcterms:W3CDTF">2025-12-02T16:02:46Z</dcterms:modified>
</cp:coreProperties>
</file>
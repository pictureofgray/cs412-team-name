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6F5F3"/>
          </a:solidFill>
        </a:fill>
      </a:tcStyle>
    </a:wholeTbl>
    <a:band2H>
      <a:tcTxStyle b="def" i="def"/>
      <a:tcStyle>
        <a:tcBdr/>
        <a:fill>
          <a:solidFill>
            <a:srgbClr val="FBFAF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0E0E0"/>
          </a:solidFill>
        </a:fill>
      </a:tcStyle>
    </a:wholeTbl>
    <a:band2H>
      <a:tcTxStyle b="def" i="def"/>
      <a:tcStyle>
        <a:tcBdr/>
        <a:fill>
          <a:solidFill>
            <a:srgbClr val="F0F0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4E2CE"/>
          </a:solidFill>
        </a:fill>
      </a:tcStyle>
    </a:wholeTbl>
    <a:band2H>
      <a:tcTxStyle b="def" i="def"/>
      <a:tcStyle>
        <a:tcBdr/>
        <a:fill>
          <a:solidFill>
            <a:srgbClr val="EBF1E8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Shape 133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34" name="Shape 134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j-lt"/>
        <a:ea typeface="+mj-ea"/>
        <a:cs typeface="+mj-cs"/>
        <a:sym typeface="Calibri"/>
      </a:defRPr>
    </a:lvl1pPr>
    <a:lvl2pPr indent="228600" latinLnBrk="0">
      <a:defRPr sz="1200">
        <a:latin typeface="+mj-lt"/>
        <a:ea typeface="+mj-ea"/>
        <a:cs typeface="+mj-cs"/>
        <a:sym typeface="Calibri"/>
      </a:defRPr>
    </a:lvl2pPr>
    <a:lvl3pPr indent="457200" latinLnBrk="0">
      <a:defRPr sz="1200">
        <a:latin typeface="+mj-lt"/>
        <a:ea typeface="+mj-ea"/>
        <a:cs typeface="+mj-cs"/>
        <a:sym typeface="Calibri"/>
      </a:defRPr>
    </a:lvl3pPr>
    <a:lvl4pPr indent="685800" latinLnBrk="0">
      <a:defRPr sz="1200">
        <a:latin typeface="+mj-lt"/>
        <a:ea typeface="+mj-ea"/>
        <a:cs typeface="+mj-cs"/>
        <a:sym typeface="Calibri"/>
      </a:defRPr>
    </a:lvl4pPr>
    <a:lvl5pPr indent="914400" latinLnBrk="0">
      <a:defRPr sz="1200">
        <a:latin typeface="+mj-lt"/>
        <a:ea typeface="+mj-ea"/>
        <a:cs typeface="+mj-cs"/>
        <a:sym typeface="Calibri"/>
      </a:defRPr>
    </a:lvl5pPr>
    <a:lvl6pPr indent="1143000" latinLnBrk="0">
      <a:defRPr sz="1200">
        <a:latin typeface="+mj-lt"/>
        <a:ea typeface="+mj-ea"/>
        <a:cs typeface="+mj-cs"/>
        <a:sym typeface="Calibri"/>
      </a:defRPr>
    </a:lvl6pPr>
    <a:lvl7pPr indent="1371600" latinLnBrk="0">
      <a:defRPr sz="1200">
        <a:latin typeface="+mj-lt"/>
        <a:ea typeface="+mj-ea"/>
        <a:cs typeface="+mj-cs"/>
        <a:sym typeface="Calibri"/>
      </a:defRPr>
    </a:lvl7pPr>
    <a:lvl8pPr indent="1600200" latinLnBrk="0">
      <a:defRPr sz="1200">
        <a:latin typeface="+mj-lt"/>
        <a:ea typeface="+mj-ea"/>
        <a:cs typeface="+mj-cs"/>
        <a:sym typeface="Calibri"/>
      </a:defRPr>
    </a:lvl8pPr>
    <a:lvl9pPr indent="1828800" latinLnBrk="0">
      <a:defRPr sz="1200">
        <a:latin typeface="+mj-lt"/>
        <a:ea typeface="+mj-ea"/>
        <a:cs typeface="+mj-cs"/>
        <a:sym typeface="Calibri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Click to add title"/>
          <p:cNvSpPr txBox="1"/>
          <p:nvPr>
            <p:ph type="title" hasCustomPrompt="1"/>
          </p:nvPr>
        </p:nvSpPr>
        <p:spPr>
          <a:xfrm>
            <a:off x="6096000" y="2773681"/>
            <a:ext cx="5674360" cy="3200403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pic>
        <p:nvPicPr>
          <p:cNvPr id="13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8454" t="1727" r="0" b="0"/>
          <a:stretch>
            <a:fillRect/>
          </a:stretch>
        </p:blipFill>
        <p:spPr>
          <a:xfrm>
            <a:off x="-8" y="0"/>
            <a:ext cx="8265005" cy="5320146"/>
          </a:xfrm>
          <a:prstGeom prst="rect">
            <a:avLst/>
          </a:prstGeom>
          <a:ln w="12700">
            <a:miter lim="400000"/>
          </a:ln>
        </p:spPr>
      </p:pic>
      <p:sp>
        <p:nvSpPr>
          <p:cNvPr id="1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Section Title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6" descr="Graphic 6"/>
          <p:cNvPicPr>
            <a:picLocks noChangeAspect="1"/>
          </p:cNvPicPr>
          <p:nvPr/>
        </p:nvPicPr>
        <p:blipFill>
          <a:blip r:embed="rId2">
            <a:extLst/>
          </a:blip>
          <a:srcRect l="13300" t="13815" r="0" b="0"/>
          <a:stretch>
            <a:fillRect/>
          </a:stretch>
        </p:blipFill>
        <p:spPr>
          <a:xfrm>
            <a:off x="0" y="-1"/>
            <a:ext cx="4239206" cy="3776194"/>
          </a:xfrm>
          <a:prstGeom prst="rect">
            <a:avLst/>
          </a:prstGeom>
          <a:ln w="12700">
            <a:miter lim="400000"/>
          </a:ln>
        </p:spPr>
      </p:pic>
      <p:sp>
        <p:nvSpPr>
          <p:cNvPr id="22" name="Click to add title"/>
          <p:cNvSpPr txBox="1"/>
          <p:nvPr>
            <p:ph type="title" hasCustomPrompt="1"/>
          </p:nvPr>
        </p:nvSpPr>
        <p:spPr>
          <a:xfrm>
            <a:off x="914400" y="2580638"/>
            <a:ext cx="5181600" cy="3368824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23" name="Picture Placeholder 8"/>
          <p:cNvSpPr/>
          <p:nvPr>
            <p:ph type="pic" idx="21"/>
          </p:nvPr>
        </p:nvSpPr>
        <p:spPr>
          <a:xfrm>
            <a:off x="6085840" y="-10165"/>
            <a:ext cx="6116327" cy="6868169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24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6324598" y="-5"/>
            <a:ext cx="5867404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32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33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34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3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35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5239" t="0" r="0" b="0"/>
          <a:stretch>
            <a:fillRect/>
          </a:stretch>
        </p:blipFill>
        <p:spPr>
          <a:xfrm flipH="1">
            <a:off x="9135412" y="0"/>
            <a:ext cx="3056592" cy="6858000"/>
          </a:xfrm>
          <a:prstGeom prst="rect">
            <a:avLst/>
          </a:prstGeom>
          <a:ln w="12700">
            <a:miter lim="400000"/>
          </a:ln>
        </p:spPr>
      </p:pic>
      <p:pic>
        <p:nvPicPr>
          <p:cNvPr id="43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0" t="0" r="0" b="2330"/>
          <a:stretch>
            <a:fillRect/>
          </a:stretch>
        </p:blipFill>
        <p:spPr>
          <a:xfrm>
            <a:off x="7810500" y="3025140"/>
            <a:ext cx="4381500" cy="3832860"/>
          </a:xfrm>
          <a:prstGeom prst="rect">
            <a:avLst/>
          </a:prstGeom>
          <a:ln w="12700">
            <a:miter lim="400000"/>
          </a:ln>
        </p:spPr>
      </p:pic>
      <p:sp>
        <p:nvSpPr>
          <p:cNvPr id="44" name="Click to add title"/>
          <p:cNvSpPr txBox="1"/>
          <p:nvPr>
            <p:ph type="title" hasCustomPrompt="1"/>
          </p:nvPr>
        </p:nvSpPr>
        <p:spPr>
          <a:xfrm>
            <a:off x="914399" y="365125"/>
            <a:ext cx="7273637" cy="1646555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45" name="Body Level One…"/>
          <p:cNvSpPr txBox="1"/>
          <p:nvPr>
            <p:ph type="body" sz="half" idx="1" hasCustomPrompt="1"/>
          </p:nvPr>
        </p:nvSpPr>
        <p:spPr>
          <a:xfrm>
            <a:off x="914399" y="2011363"/>
            <a:ext cx="7273640" cy="415576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46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left Imag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raphic 5" descr="Graphic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 rot="16200000">
            <a:off x="8039100" y="228599"/>
            <a:ext cx="4381500" cy="3924302"/>
          </a:xfrm>
          <a:prstGeom prst="rect">
            <a:avLst/>
          </a:prstGeom>
          <a:ln w="12700">
            <a:miter lim="400000"/>
          </a:ln>
        </p:spPr>
      </p:pic>
      <p:sp>
        <p:nvSpPr>
          <p:cNvPr id="54" name="Title Text"/>
          <p:cNvSpPr txBox="1"/>
          <p:nvPr>
            <p:ph type="title"/>
          </p:nvPr>
        </p:nvSpPr>
        <p:spPr>
          <a:xfrm>
            <a:off x="6096000" y="375283"/>
            <a:ext cx="4896678" cy="3624989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Title Text</a:t>
            </a:r>
          </a:p>
        </p:txBody>
      </p:sp>
      <p:sp>
        <p:nvSpPr>
          <p:cNvPr id="55" name="Picture Placeholder 10"/>
          <p:cNvSpPr/>
          <p:nvPr>
            <p:ph type="pic" idx="21"/>
          </p:nvPr>
        </p:nvSpPr>
        <p:spPr>
          <a:xfrm>
            <a:off x="0" y="0"/>
            <a:ext cx="6096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56" name="Body Level One…"/>
          <p:cNvSpPr txBox="1"/>
          <p:nvPr>
            <p:ph type="body" sz="quarter" idx="1" hasCustomPrompt="1"/>
          </p:nvPr>
        </p:nvSpPr>
        <p:spPr>
          <a:xfrm>
            <a:off x="6096000" y="4172989"/>
            <a:ext cx="4896678" cy="2309731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237014" indent="-408214">
              <a:spcBef>
                <a:spcPts val="120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57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981" t="40714" r="61027" b="44471"/>
          <a:stretch>
            <a:fillRect/>
          </a:stretch>
        </p:blipFill>
        <p:spPr>
          <a:xfrm flipH="1">
            <a:off x="-26833" y="5950039"/>
            <a:ext cx="2513530" cy="914407"/>
          </a:xfrm>
          <a:prstGeom prst="rect">
            <a:avLst/>
          </a:prstGeom>
          <a:ln w="12700">
            <a:miter lim="400000"/>
          </a:ln>
        </p:spPr>
      </p:pic>
      <p:pic>
        <p:nvPicPr>
          <p:cNvPr id="65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66" name="Click to add title"/>
          <p:cNvSpPr txBox="1"/>
          <p:nvPr>
            <p:ph type="title" hasCustomPrompt="1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67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310129" cy="3747181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b="1" sz="2000"/>
            </a:lvl1pPr>
            <a:lvl2pPr marL="711200" indent="-254000">
              <a:spcBef>
                <a:spcPts val="1200"/>
              </a:spcBef>
              <a:defRPr b="1" sz="2000"/>
            </a:lvl2pPr>
            <a:lvl3pPr marL="1200150" indent="-285750">
              <a:spcBef>
                <a:spcPts val="1200"/>
              </a:spcBef>
              <a:defRPr b="1" sz="2000"/>
            </a:lvl3pPr>
            <a:lvl4pPr marL="1698169" indent="-326569">
              <a:spcBef>
                <a:spcPts val="1200"/>
              </a:spcBef>
              <a:defRPr b="1" sz="2000"/>
            </a:lvl4pPr>
            <a:lvl5pPr marL="2155369" indent="-326569">
              <a:spcBef>
                <a:spcPts val="1200"/>
              </a:spcBef>
              <a:defRPr b="1"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68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Content and Tab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0" t="0" r="55824" b="26760"/>
          <a:stretch>
            <a:fillRect/>
          </a:stretch>
        </p:blipFill>
        <p:spPr>
          <a:xfrm>
            <a:off x="9229725" y="1835239"/>
            <a:ext cx="2962276" cy="5022761"/>
          </a:xfrm>
          <a:prstGeom prst="rect">
            <a:avLst/>
          </a:prstGeom>
          <a:ln w="12700">
            <a:miter lim="400000"/>
          </a:ln>
        </p:spPr>
      </p:pic>
      <p:sp>
        <p:nvSpPr>
          <p:cNvPr id="76" name="Rectangle 13"/>
          <p:cNvSpPr/>
          <p:nvPr/>
        </p:nvSpPr>
        <p:spPr>
          <a:xfrm>
            <a:off x="4443412" y="1835236"/>
            <a:ext cx="7000876" cy="4279815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>
                <a:solidFill>
                  <a:srgbClr val="FFFFFF"/>
                </a:solidFill>
                <a:latin typeface="Tenorite"/>
                <a:ea typeface="Tenorite"/>
                <a:cs typeface="Tenorite"/>
                <a:sym typeface="Tenorite"/>
              </a:defRPr>
            </a:pPr>
          </a:p>
        </p:txBody>
      </p:sp>
      <p:pic>
        <p:nvPicPr>
          <p:cNvPr id="77" name="Graphic 8" descr="Graphic 8"/>
          <p:cNvPicPr>
            <a:picLocks noChangeAspect="1"/>
          </p:cNvPicPr>
          <p:nvPr/>
        </p:nvPicPr>
        <p:blipFill>
          <a:blip r:embed="rId2">
            <a:extLst/>
          </a:blip>
          <a:srcRect l="0" t="60903" r="75060" b="10346"/>
          <a:stretch>
            <a:fillRect/>
          </a:stretch>
        </p:blipFill>
        <p:spPr>
          <a:xfrm rot="16200000">
            <a:off x="149648" y="-149657"/>
            <a:ext cx="1672378" cy="1971679"/>
          </a:xfrm>
          <a:prstGeom prst="rect">
            <a:avLst/>
          </a:prstGeom>
          <a:ln w="12700">
            <a:miter lim="400000"/>
          </a:ln>
        </p:spPr>
      </p:pic>
      <p:sp>
        <p:nvSpPr>
          <p:cNvPr id="78" name="Click to add title"/>
          <p:cNvSpPr txBox="1"/>
          <p:nvPr>
            <p:ph type="title" hasCustomPrompt="1"/>
          </p:nvPr>
        </p:nvSpPr>
        <p:spPr>
          <a:xfrm>
            <a:off x="914399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79" name="Body Level One…"/>
          <p:cNvSpPr txBox="1"/>
          <p:nvPr>
            <p:ph type="body" sz="quarter" idx="1" hasCustomPrompt="1"/>
          </p:nvPr>
        </p:nvSpPr>
        <p:spPr>
          <a:xfrm>
            <a:off x="914399" y="2022250"/>
            <a:ext cx="3299015" cy="3914910"/>
          </a:xfrm>
          <a:prstGeom prst="rect">
            <a:avLst/>
          </a:prstGeom>
        </p:spPr>
        <p:txBody>
          <a:bodyPr/>
          <a:lstStyle>
            <a:lvl1pPr>
              <a:spcBef>
                <a:spcPts val="1200"/>
              </a:spcBef>
              <a:defRPr sz="2000"/>
            </a:lvl1pPr>
            <a:lvl2pPr marL="711200" indent="-254000">
              <a:spcBef>
                <a:spcPts val="1200"/>
              </a:spcBef>
              <a:defRPr sz="2000"/>
            </a:lvl2pPr>
            <a:lvl3pPr marL="1200150" indent="-285750">
              <a:spcBef>
                <a:spcPts val="1200"/>
              </a:spcBef>
              <a:defRPr sz="2000"/>
            </a:lvl3pPr>
            <a:lvl4pPr marL="1698169" indent="-326569">
              <a:spcBef>
                <a:spcPts val="1200"/>
              </a:spcBef>
              <a:defRPr sz="2000"/>
            </a:lvl4pPr>
            <a:lvl5pPr marL="2155369" indent="-326569">
              <a:spcBef>
                <a:spcPts val="1200"/>
              </a:spcBef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80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Title and two Content 3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8883" t="34408" r="46634" b="1"/>
          <a:stretch>
            <a:fillRect/>
          </a:stretch>
        </p:blipFill>
        <p:spPr>
          <a:xfrm rot="10800000">
            <a:off x="10506071" y="3984078"/>
            <a:ext cx="1685935" cy="2873926"/>
          </a:xfrm>
          <a:prstGeom prst="rect">
            <a:avLst/>
          </a:prstGeom>
          <a:ln w="12700">
            <a:miter lim="400000"/>
          </a:ln>
        </p:spPr>
      </p:pic>
      <p:pic>
        <p:nvPicPr>
          <p:cNvPr id="88" name="Graphic 8" descr="Graphic 8"/>
          <p:cNvPicPr>
            <a:picLocks noChangeAspect="1"/>
          </p:cNvPicPr>
          <p:nvPr/>
        </p:nvPicPr>
        <p:blipFill>
          <a:blip r:embed="rId3">
            <a:extLst/>
          </a:blip>
          <a:srcRect l="29718" t="47145" r="39388" b="8754"/>
          <a:stretch>
            <a:fillRect/>
          </a:stretch>
        </p:blipFill>
        <p:spPr>
          <a:xfrm flipH="1" rot="16200000">
            <a:off x="9781526" y="-311515"/>
            <a:ext cx="2098971" cy="2721992"/>
          </a:xfrm>
          <a:prstGeom prst="rect">
            <a:avLst/>
          </a:prstGeom>
          <a:ln w="12700">
            <a:miter lim="400000"/>
          </a:ln>
        </p:spPr>
      </p:pic>
      <p:sp>
        <p:nvSpPr>
          <p:cNvPr id="89" name="Click to add title"/>
          <p:cNvSpPr txBox="1"/>
          <p:nvPr>
            <p:ph type="title" hasCustomPrompt="1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0" name="Body Level One…"/>
          <p:cNvSpPr txBox="1"/>
          <p:nvPr>
            <p:ph type="body" sz="half" idx="1" hasCustomPrompt="1"/>
          </p:nvPr>
        </p:nvSpPr>
        <p:spPr>
          <a:xfrm>
            <a:off x="914399" y="2022250"/>
            <a:ext cx="6257367" cy="391491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1200"/>
              </a:spcBef>
              <a:buSzTx/>
              <a:buFontTx/>
              <a:buNone/>
              <a:defRPr sz="2000"/>
            </a:lvl1pPr>
            <a:lvl2pPr marL="228600" indent="-228600">
              <a:spcBef>
                <a:spcPts val="1200"/>
              </a:spcBef>
              <a:buFontTx/>
              <a:defRPr sz="2000"/>
            </a:lvl2pPr>
            <a:lvl3pPr marL="711200" indent="-254000">
              <a:spcBef>
                <a:spcPts val="1200"/>
              </a:spcBef>
              <a:buFontTx/>
              <a:defRPr sz="2000"/>
            </a:lvl3pPr>
            <a:lvl4pPr marL="971550" indent="-285750">
              <a:spcBef>
                <a:spcPts val="1200"/>
              </a:spcBef>
              <a:buFontTx/>
              <a:defRPr sz="2000"/>
            </a:lvl4pPr>
            <a:lvl5pPr marL="1200150" indent="-285750">
              <a:spcBef>
                <a:spcPts val="1200"/>
              </a:spcBef>
              <a:buFontTx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91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Click to add title"/>
          <p:cNvSpPr txBox="1"/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Click to add title</a:t>
            </a:r>
          </a:p>
        </p:txBody>
      </p:sp>
      <p:sp>
        <p:nvSpPr>
          <p:cNvPr id="99" name="Slide Numb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Closing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Click to add title"/>
          <p:cNvSpPr txBox="1"/>
          <p:nvPr>
            <p:ph type="title" hasCustomPrompt="1"/>
          </p:nvPr>
        </p:nvSpPr>
        <p:spPr>
          <a:xfrm>
            <a:off x="6091515" y="374090"/>
            <a:ext cx="5057105" cy="3624985"/>
          </a:xfrm>
          <a:prstGeom prst="rect">
            <a:avLst/>
          </a:prstGeom>
        </p:spPr>
        <p:txBody>
          <a:bodyPr anchor="b"/>
          <a:lstStyle>
            <a:lvl1pPr>
              <a:defRPr sz="4800">
                <a:solidFill>
                  <a:srgbClr val="FFFFFF"/>
                </a:solidFill>
              </a:defRPr>
            </a:lvl1pPr>
          </a:lstStyle>
          <a:p>
            <a:pPr/>
            <a:r>
              <a:t>Click to add title</a:t>
            </a:r>
          </a:p>
        </p:txBody>
      </p:sp>
      <p:sp>
        <p:nvSpPr>
          <p:cNvPr id="107" name="Body Level One…"/>
          <p:cNvSpPr txBox="1"/>
          <p:nvPr>
            <p:ph type="body" sz="quarter" idx="1" hasCustomPrompt="1"/>
          </p:nvPr>
        </p:nvSpPr>
        <p:spPr>
          <a:xfrm>
            <a:off x="6091513" y="4172989"/>
            <a:ext cx="5057105" cy="2519370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SzTx/>
              <a:buFontTx/>
              <a:buNone/>
              <a:defRPr sz="2000">
                <a:solidFill>
                  <a:srgbClr val="FFFFFF"/>
                </a:solidFill>
              </a:defRPr>
            </a:lvl1pPr>
            <a:lvl2pPr marL="774700" indent="-31750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2pPr>
            <a:lvl3pPr marL="1271587" indent="-357187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3pPr>
            <a:lvl4pPr marL="1779814" indent="-408214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4pPr>
            <a:lvl5pPr marL="2114550" indent="-285750">
              <a:spcBef>
                <a:spcPts val="0"/>
              </a:spcBef>
              <a:buFontTx/>
              <a:defRPr sz="2000">
                <a:solidFill>
                  <a:srgbClr val="FFFFFF"/>
                </a:solidFill>
              </a:defRPr>
            </a:lvl5pPr>
          </a:lstStyle>
          <a:p>
            <a:pPr/>
            <a:r>
              <a:t>Click to add content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pic>
        <p:nvPicPr>
          <p:cNvPr id="108" name="Graphic 1" descr="Graphic 1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109" name="Slide Number"/>
          <p:cNvSpPr txBox="1"/>
          <p:nvPr>
            <p:ph type="sldNum" sz="quarter" idx="2"/>
          </p:nvPr>
        </p:nvSpPr>
        <p:spPr>
          <a:xfrm>
            <a:off x="8506330" y="6240782"/>
            <a:ext cx="231273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Overview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raphic 7" descr="Graphic 7"/>
          <p:cNvPicPr>
            <a:picLocks noChangeAspect="1"/>
          </p:cNvPicPr>
          <p:nvPr/>
        </p:nvPicPr>
        <p:blipFill>
          <a:blip r:embed="rId2">
            <a:extLst/>
          </a:blip>
          <a:srcRect l="15158" t="0" r="0" b="78533"/>
          <a:stretch>
            <a:fillRect/>
          </a:stretch>
        </p:blipFill>
        <p:spPr>
          <a:xfrm rot="10800000">
            <a:off x="8553447" y="-39571"/>
            <a:ext cx="5867405" cy="1317511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Click to add title"/>
          <p:cNvSpPr txBox="1"/>
          <p:nvPr>
            <p:ph type="title" hasCustomPrompt="1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 anchor="b"/>
          <a:lstStyle>
            <a:lvl1pPr>
              <a:defRPr sz="4800"/>
            </a:lvl1pPr>
          </a:lstStyle>
          <a:p>
            <a:pPr/>
            <a:r>
              <a:t>Click to add title</a:t>
            </a:r>
          </a:p>
        </p:txBody>
      </p:sp>
      <p:sp>
        <p:nvSpPr>
          <p:cNvPr id="125" name="Picture Placeholder 11"/>
          <p:cNvSpPr/>
          <p:nvPr>
            <p:ph type="pic" idx="21"/>
          </p:nvPr>
        </p:nvSpPr>
        <p:spPr>
          <a:xfrm>
            <a:off x="0" y="-10165"/>
            <a:ext cx="6096000" cy="6858007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pPr/>
          </a:p>
        </p:txBody>
      </p:sp>
      <p:sp>
        <p:nvSpPr>
          <p:cNvPr id="126" name="Body Level One…"/>
          <p:cNvSpPr txBox="1"/>
          <p:nvPr>
            <p:ph type="body" sz="quarter" idx="1" hasCustomPrompt="1"/>
          </p:nvPr>
        </p:nvSpPr>
        <p:spPr>
          <a:xfrm>
            <a:off x="6126162" y="4172989"/>
            <a:ext cx="4806001" cy="2389744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2000"/>
            </a:lvl1pPr>
            <a:lvl2pPr marL="0" indent="0">
              <a:buSzTx/>
              <a:buFontTx/>
              <a:buNone/>
              <a:defRPr sz="2000"/>
            </a:lvl2pPr>
            <a:lvl3pPr marL="0" indent="0">
              <a:buSzTx/>
              <a:buFontTx/>
              <a:buNone/>
              <a:defRPr sz="2000"/>
            </a:lvl3pPr>
            <a:lvl4pPr marL="0" indent="0">
              <a:buSzTx/>
              <a:buFontTx/>
              <a:buNone/>
              <a:defRPr sz="2000"/>
            </a:lvl4pPr>
            <a:lvl5pPr marL="0" indent="0">
              <a:buSzTx/>
              <a:buFontTx/>
              <a:buNone/>
              <a:defRPr sz="2000"/>
            </a:lvl5pPr>
          </a:lstStyle>
          <a:p>
            <a:pPr/>
            <a:r>
              <a:t>Click to add text</a:t>
            </a:r>
          </a:p>
          <a:p>
            <a:pPr lvl="1"/>
            <a:r>
              <a:t/>
            </a:r>
          </a:p>
          <a:p>
            <a:pPr lvl="2"/>
            <a:r>
              <a:t/>
            </a:r>
          </a:p>
          <a:p>
            <a:pPr lvl="3"/>
            <a:r>
              <a:t/>
            </a:r>
          </a:p>
          <a:p>
            <a:pPr lvl="4"/>
            <a:r>
              <a:t/>
            </a:r>
          </a:p>
        </p:txBody>
      </p:sp>
      <p:sp>
        <p:nvSpPr>
          <p:cNvPr id="127" name="Slide Number"/>
          <p:cNvSpPr txBox="1"/>
          <p:nvPr>
            <p:ph type="sldNum" sz="quarter" idx="2"/>
          </p:nvPr>
        </p:nvSpPr>
        <p:spPr>
          <a:xfrm>
            <a:off x="8506329" y="6240782"/>
            <a:ext cx="231274" cy="231137"/>
          </a:xfrm>
          <a:prstGeom prst="rect">
            <a:avLst/>
          </a:prstGeom>
        </p:spPr>
        <p:txBody>
          <a:bodyPr/>
          <a:lstStyle>
            <a:lvl1pPr algn="r">
              <a:defRPr sz="9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Relationship Id="rId10" Type="http://schemas.openxmlformats.org/officeDocument/2006/relationships/slideLayout" Target="../slideLayouts/slideLayout8.xml"/><Relationship Id="rId11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1.xml"/><Relationship Id="rId14" Type="http://schemas.openxmlformats.org/officeDocument/2006/relationships/slideLayout" Target="../slideLayouts/slideLayout12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18883" t="18052" r="46634" b="0"/>
          <a:stretch>
            <a:fillRect/>
          </a:stretch>
        </p:blipFill>
        <p:spPr>
          <a:xfrm rot="5400000">
            <a:off x="9553763" y="-952311"/>
            <a:ext cx="1685935" cy="359055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Click to add title"/>
          <p:cNvSpPr txBox="1"/>
          <p:nvPr>
            <p:ph type="title" hasCustomPrompt="1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/>
          <a:p>
            <a:pPr/>
            <a:r>
              <a:t>Click to add title</a:t>
            </a:r>
          </a:p>
        </p:txBody>
      </p:sp>
      <p:sp>
        <p:nvSpPr>
          <p:cNvPr id="4" name="Body Level One…"/>
          <p:cNvSpPr txBox="1"/>
          <p:nvPr>
            <p:ph type="body" idx="1"/>
          </p:nvPr>
        </p:nvSpPr>
        <p:spPr>
          <a:xfrm>
            <a:off x="6805083" y="2438400"/>
            <a:ext cx="4775201" cy="44196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/>
            <a:r>
              <a:t>Body Level One</a:t>
            </a:r>
          </a:p>
          <a:p>
            <a:pPr lvl="1"/>
            <a:r>
              <a:t>Body Level Two</a:t>
            </a:r>
          </a:p>
          <a:p>
            <a:pPr lvl="2"/>
            <a:r>
              <a:t>Body Level Three</a:t>
            </a:r>
          </a:p>
          <a:p>
            <a:pPr lvl="3"/>
            <a:r>
              <a:t>Body Level Four</a:t>
            </a:r>
          </a:p>
          <a:p>
            <a:pPr lvl="4"/>
            <a:r>
              <a:t>Body Level Five</a:t>
            </a:r>
          </a:p>
        </p:txBody>
      </p:sp>
      <p:sp>
        <p:nvSpPr>
          <p:cNvPr id="5" name="Slide Number"/>
          <p:cNvSpPr txBox="1"/>
          <p:nvPr>
            <p:ph type="sldNum" sz="quarter" idx="2"/>
          </p:nvPr>
        </p:nvSpPr>
        <p:spPr>
          <a:xfrm>
            <a:off x="914400" y="6259742"/>
            <a:ext cx="273652" cy="2692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defRPr sz="1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0" marR="0" indent="0" algn="l" defTabSz="9144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all" i="0" spc="0" strike="noStrike" sz="32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titleStyle>
    <p:bodyStyle>
      <a:lvl1pPr marL="228600" marR="0" indent="-228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1pPr>
      <a:lvl2pPr marL="723900" marR="0" indent="-2667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2pPr>
      <a:lvl3pPr marL="1234438" marR="0" indent="-320038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3pPr>
      <a:lvl4pPr marL="1727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4pPr>
      <a:lvl5pPr marL="21844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5pPr>
      <a:lvl6pPr marL="26416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6pPr>
      <a:lvl7pPr marL="30988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7pPr>
      <a:lvl8pPr marL="35560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8pPr>
      <a:lvl9pPr marL="4013200" marR="0" indent="-355600" algn="l" defTabSz="914400" rtl="0" latinLnBrk="0">
        <a:lnSpc>
          <a:spcPct val="9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2800" u="none">
          <a:solidFill>
            <a:srgbClr val="000000"/>
          </a:solidFill>
          <a:uFillTx/>
          <a:latin typeface="Tenorite"/>
          <a:ea typeface="Tenorite"/>
          <a:cs typeface="Tenorite"/>
          <a:sym typeface="Tenorite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Tenorite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2.png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3.png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</Relationships>
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</Relationships>
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/Relationships>
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Title 1"/>
          <p:cNvSpPr txBox="1"/>
          <p:nvPr>
            <p:ph type="title"/>
          </p:nvPr>
        </p:nvSpPr>
        <p:spPr>
          <a:xfrm>
            <a:off x="6095998" y="2773681"/>
            <a:ext cx="5674367" cy="3200407"/>
          </a:xfrm>
          <a:prstGeom prst="rect">
            <a:avLst/>
          </a:prstGeom>
        </p:spPr>
        <p:txBody>
          <a:bodyPr/>
          <a:lstStyle/>
          <a:p>
            <a:pPr/>
            <a:r>
              <a:t>Pitch deck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itle 1"/>
          <p:cNvSpPr txBox="1"/>
          <p:nvPr>
            <p:ph type="title"/>
          </p:nvPr>
        </p:nvSpPr>
        <p:spPr>
          <a:xfrm>
            <a:off x="914398" y="365125"/>
            <a:ext cx="10363204" cy="1603463"/>
          </a:xfrm>
          <a:prstGeom prst="rect">
            <a:avLst/>
          </a:prstGeom>
        </p:spPr>
        <p:txBody>
          <a:bodyPr/>
          <a:lstStyle/>
          <a:p>
            <a:pPr/>
            <a:r>
              <a:t>TODO</a:t>
            </a:r>
          </a:p>
        </p:txBody>
      </p:sp>
      <p:sp>
        <p:nvSpPr>
          <p:cNvPr id="139" name="Content Placeholder 2"/>
          <p:cNvSpPr txBox="1"/>
          <p:nvPr>
            <p:ph type="body" sz="half" idx="1"/>
          </p:nvPr>
        </p:nvSpPr>
        <p:spPr>
          <a:xfrm>
            <a:off x="187720" y="1968587"/>
            <a:ext cx="3995417" cy="4470626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1" sz="1200"/>
            </a:pPr>
            <a:r>
              <a:t>Exact Part:</a:t>
            </a:r>
          </a:p>
          <a:p>
            <a:pPr>
              <a:defRPr sz="1200"/>
            </a:pPr>
            <a:r>
              <a:t>a description of the problem being solved. Show the difference between the decision and optimization version of the problem. An example of inputs and outputs is a good idea. (1.5 mins)</a:t>
            </a:r>
          </a:p>
          <a:p>
            <a:pPr>
              <a:defRPr sz="1200"/>
            </a:pPr>
            <a:r>
              <a:t>an explanation of the certifier process being polynomial. Including pseudo-code here is a good idea but make sure its clear that the </a:t>
            </a:r>
            <a:r>
              <a:rPr i="1"/>
              <a:t>certificate</a:t>
            </a:r>
            <a:r>
              <a:t> can be verified in polynomial time.</a:t>
            </a:r>
          </a:p>
          <a:p>
            <a:pPr>
              <a:defRPr sz="1200"/>
            </a:pPr>
            <a:r>
              <a:t>a reduction from a known/accepted NP-hard problem (with examples graphically shown). It must be clear that the reduction takes place in a polynomial number of steps with respect to the problem’s input size.</a:t>
            </a:r>
          </a:p>
          <a:p>
            <a:pPr>
              <a:defRPr sz="1200"/>
            </a:pPr>
            <a:r>
              <a:t>an analytical (big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) runtime analysis of your coded solution and showcase the code that is the dominant term (the code that drives the highest order term).</a:t>
            </a:r>
          </a:p>
          <a:p>
            <a:pPr>
              <a:defRPr sz="1200"/>
            </a:pPr>
            <a:r>
              <a:t>a wallclock (empirical) runtime analysis of your code on your test cases. This analysis must show input size on the X axis and runtime on the Y axis</a:t>
            </a:r>
          </a:p>
        </p:txBody>
      </p:sp>
      <p:sp>
        <p:nvSpPr>
          <p:cNvPr id="140" name="Slide Number Placeholder 4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141" name="Content Placeholder 2"/>
          <p:cNvSpPr txBox="1"/>
          <p:nvPr/>
        </p:nvSpPr>
        <p:spPr>
          <a:xfrm>
            <a:off x="4334114" y="2022248"/>
            <a:ext cx="3903970" cy="447063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Approximation Part: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pseudocode for the approximation and a discussion of the strategy used (greedy, random, etc.)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analytical run time analysis (the worse case </a:t>
            </a:r>
            <a14:m>
              <m:oMath>
                <m:r>
                  <a:rPr xmlns:a="http://schemas.openxmlformats.org/drawingml/2006/main" sz="12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 time) of your approximation algorithm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illustrate the run-time (wall clock) performance of your exact solution versus the approximation solution on your test cases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  <p:sp>
        <p:nvSpPr>
          <p:cNvPr id="142" name="Content Placeholder 2"/>
          <p:cNvSpPr txBox="1"/>
          <p:nvPr/>
        </p:nvSpPr>
        <p:spPr>
          <a:xfrm>
            <a:off x="8242310" y="2022248"/>
            <a:ext cx="3903970" cy="22490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>
              <a:lnSpc>
                <a:spcPct val="90000"/>
              </a:lnSpc>
              <a:spcBef>
                <a:spcPts val="1200"/>
              </a:spcBef>
              <a:defRPr b="1" sz="1200">
                <a:latin typeface="Tenorite"/>
                <a:ea typeface="Tenorite"/>
                <a:cs typeface="Tenorite"/>
                <a:sym typeface="Tenorite"/>
              </a:defRPr>
            </a:pPr>
            <a:r>
              <a:t>Part E: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broke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Talk about how you fixed things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What is your approximation weak on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How does adding more time improve things?</a:t>
            </a:r>
            <a:endParaRPr sz="2000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1200">
                <a:latin typeface="Tenorite"/>
                <a:ea typeface="Tenorite"/>
                <a:cs typeface="Tenorite"/>
                <a:sym typeface="Tenorite"/>
              </a:defRPr>
            </a:pPr>
            <a:r>
              <a:t>Conclude everything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47" name="LAX"/>
          <p:cNvGrpSpPr/>
          <p:nvPr/>
        </p:nvGrpSpPr>
        <p:grpSpPr>
          <a:xfrm>
            <a:off x="7178088" y="3081901"/>
            <a:ext cx="694197" cy="694197"/>
            <a:chOff x="0" y="0"/>
            <a:chExt cx="694195" cy="694195"/>
          </a:xfrm>
        </p:grpSpPr>
        <p:sp>
          <p:nvSpPr>
            <p:cNvPr id="1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6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150" name="JFK"/>
          <p:cNvGrpSpPr/>
          <p:nvPr/>
        </p:nvGrpSpPr>
        <p:grpSpPr>
          <a:xfrm>
            <a:off x="8592779" y="1614043"/>
            <a:ext cx="694197" cy="694197"/>
            <a:chOff x="0" y="0"/>
            <a:chExt cx="694195" cy="694195"/>
          </a:xfrm>
        </p:grpSpPr>
        <p:sp>
          <p:nvSpPr>
            <p:cNvPr id="14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49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153" name="MIA"/>
          <p:cNvGrpSpPr/>
          <p:nvPr/>
        </p:nvGrpSpPr>
        <p:grpSpPr>
          <a:xfrm>
            <a:off x="10007468" y="3081901"/>
            <a:ext cx="694197" cy="694197"/>
            <a:chOff x="0" y="0"/>
            <a:chExt cx="694195" cy="694195"/>
          </a:xfrm>
        </p:grpSpPr>
        <p:sp>
          <p:nvSpPr>
            <p:cNvPr id="15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2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156" name="HOU"/>
          <p:cNvGrpSpPr/>
          <p:nvPr/>
        </p:nvGrpSpPr>
        <p:grpSpPr>
          <a:xfrm>
            <a:off x="8592779" y="4549760"/>
            <a:ext cx="694197" cy="694197"/>
            <a:chOff x="0" y="0"/>
            <a:chExt cx="694195" cy="694195"/>
          </a:xfrm>
        </p:grpSpPr>
        <p:sp>
          <p:nvSpPr>
            <p:cNvPr id="15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55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157" name="Line"/>
          <p:cNvSpPr/>
          <p:nvPr/>
        </p:nvSpPr>
        <p:spPr>
          <a:xfrm flipV="1">
            <a:off x="9170193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8" name="Line"/>
          <p:cNvSpPr/>
          <p:nvPr/>
        </p:nvSpPr>
        <p:spPr>
          <a:xfrm flipV="1">
            <a:off x="7725039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59" name="Line"/>
          <p:cNvSpPr/>
          <p:nvPr/>
        </p:nvSpPr>
        <p:spPr>
          <a:xfrm flipH="1" flipV="1">
            <a:off x="7784588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0" name="Line"/>
          <p:cNvSpPr/>
          <p:nvPr/>
        </p:nvSpPr>
        <p:spPr>
          <a:xfrm flipH="1" flipV="1">
            <a:off x="9210842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1" name="Line"/>
          <p:cNvSpPr/>
          <p:nvPr/>
        </p:nvSpPr>
        <p:spPr>
          <a:xfrm flipH="1" flipV="1">
            <a:off x="8954889" y="2308044"/>
            <a:ext cx="104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2" name="Line"/>
          <p:cNvSpPr/>
          <p:nvPr/>
        </p:nvSpPr>
        <p:spPr>
          <a:xfrm flipH="1">
            <a:off x="7876309" y="3415165"/>
            <a:ext cx="2127137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63" name="2.475"/>
          <p:cNvSpPr txBox="1"/>
          <p:nvPr/>
        </p:nvSpPr>
        <p:spPr>
          <a:xfrm>
            <a:off x="7638494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164" name="1.09"/>
          <p:cNvSpPr txBox="1"/>
          <p:nvPr/>
        </p:nvSpPr>
        <p:spPr>
          <a:xfrm>
            <a:off x="9761946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1.09</a:t>
            </a:r>
          </a:p>
        </p:txBody>
      </p:sp>
      <p:sp>
        <p:nvSpPr>
          <p:cNvPr id="165" name="1.39"/>
          <p:cNvSpPr txBox="1"/>
          <p:nvPr/>
        </p:nvSpPr>
        <p:spPr>
          <a:xfrm>
            <a:off x="7696424" y="4176576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1.39</a:t>
            </a:r>
          </a:p>
        </p:txBody>
      </p:sp>
      <p:sp>
        <p:nvSpPr>
          <p:cNvPr id="166" name="1.1"/>
          <p:cNvSpPr txBox="1"/>
          <p:nvPr/>
        </p:nvSpPr>
        <p:spPr>
          <a:xfrm>
            <a:off x="9761946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167" name="1.74"/>
          <p:cNvSpPr txBox="1"/>
          <p:nvPr/>
        </p:nvSpPr>
        <p:spPr>
          <a:xfrm>
            <a:off x="8935908" y="2691187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168" name="2.342"/>
          <p:cNvSpPr txBox="1"/>
          <p:nvPr/>
        </p:nvSpPr>
        <p:spPr>
          <a:xfrm>
            <a:off x="8123473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169" name="Weights in 1K air miles"/>
          <p:cNvSpPr txBox="1"/>
          <p:nvPr/>
        </p:nvSpPr>
        <p:spPr>
          <a:xfrm>
            <a:off x="5141083" y="6096677"/>
            <a:ext cx="1909831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Weights in 1K miles</a:t>
            </a:r>
          </a:p>
        </p:txBody>
      </p:sp>
      <p:pic>
        <p:nvPicPr>
          <p:cNvPr id="170" name="pasted-movie.png" descr="pasted-movie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65231" y="2110905"/>
            <a:ext cx="4686558" cy="2636191"/>
          </a:xfrm>
          <a:prstGeom prst="rect">
            <a:avLst/>
          </a:prstGeom>
          <a:ln w="12700">
            <a:miter lim="400000"/>
          </a:ln>
        </p:spPr>
      </p:pic>
      <p:sp>
        <p:nvSpPr>
          <p:cNvPr id="171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  <p:sp>
        <p:nvSpPr>
          <p:cNvPr id="172" name="Decision vs. Optimization"/>
          <p:cNvSpPr txBox="1"/>
          <p:nvPr/>
        </p:nvSpPr>
        <p:spPr>
          <a:xfrm>
            <a:off x="8168858" y="901800"/>
            <a:ext cx="154204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TSP-D vs. TSP-O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Slide Number Placeholder 1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177" name="LAX"/>
          <p:cNvGrpSpPr/>
          <p:nvPr/>
        </p:nvGrpSpPr>
        <p:grpSpPr>
          <a:xfrm>
            <a:off x="1772218" y="3076313"/>
            <a:ext cx="694197" cy="694197"/>
            <a:chOff x="0" y="0"/>
            <a:chExt cx="694195" cy="694195"/>
          </a:xfrm>
        </p:grpSpPr>
        <p:sp>
          <p:nvSpPr>
            <p:cNvPr id="175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6" name="G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G</a:t>
              </a:r>
            </a:p>
          </p:txBody>
        </p:sp>
      </p:grpSp>
      <p:grpSp>
        <p:nvGrpSpPr>
          <p:cNvPr id="180" name="JFK"/>
          <p:cNvGrpSpPr/>
          <p:nvPr/>
        </p:nvGrpSpPr>
        <p:grpSpPr>
          <a:xfrm>
            <a:off x="3972243" y="1130409"/>
            <a:ext cx="694197" cy="694197"/>
            <a:chOff x="0" y="0"/>
            <a:chExt cx="694195" cy="694195"/>
          </a:xfrm>
        </p:grpSpPr>
        <p:sp>
          <p:nvSpPr>
            <p:cNvPr id="17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79" name="A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A</a:t>
              </a:r>
            </a:p>
          </p:txBody>
        </p:sp>
      </p:grpSp>
      <p:grpSp>
        <p:nvGrpSpPr>
          <p:cNvPr id="183" name="MIA"/>
          <p:cNvGrpSpPr/>
          <p:nvPr/>
        </p:nvGrpSpPr>
        <p:grpSpPr>
          <a:xfrm>
            <a:off x="6159394" y="3076313"/>
            <a:ext cx="694197" cy="694197"/>
            <a:chOff x="0" y="0"/>
            <a:chExt cx="694195" cy="694195"/>
          </a:xfrm>
        </p:grpSpPr>
        <p:sp>
          <p:nvSpPr>
            <p:cNvPr id="18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2" name="C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C</a:t>
              </a:r>
            </a:p>
          </p:txBody>
        </p:sp>
      </p:grpSp>
      <p:grpSp>
        <p:nvGrpSpPr>
          <p:cNvPr id="186" name="HOU"/>
          <p:cNvGrpSpPr/>
          <p:nvPr/>
        </p:nvGrpSpPr>
        <p:grpSpPr>
          <a:xfrm>
            <a:off x="3972243" y="5033395"/>
            <a:ext cx="694197" cy="694197"/>
            <a:chOff x="0" y="0"/>
            <a:chExt cx="694195" cy="694195"/>
          </a:xfrm>
        </p:grpSpPr>
        <p:sp>
          <p:nvSpPr>
            <p:cNvPr id="18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5" name="E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E</a:t>
              </a:r>
            </a:p>
          </p:txBody>
        </p:sp>
      </p:grpSp>
      <p:sp>
        <p:nvSpPr>
          <p:cNvPr id="187" name="Weights in 1K air miles"/>
          <p:cNvSpPr txBox="1"/>
          <p:nvPr/>
        </p:nvSpPr>
        <p:spPr>
          <a:xfrm>
            <a:off x="5154702" y="6227814"/>
            <a:ext cx="1882595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“Can’t do it boss…”</a:t>
            </a:r>
          </a:p>
        </p:txBody>
      </p:sp>
      <p:grpSp>
        <p:nvGrpSpPr>
          <p:cNvPr id="190" name="JFK"/>
          <p:cNvGrpSpPr/>
          <p:nvPr/>
        </p:nvGrpSpPr>
        <p:grpSpPr>
          <a:xfrm>
            <a:off x="2518929" y="1774126"/>
            <a:ext cx="694197" cy="694197"/>
            <a:chOff x="0" y="0"/>
            <a:chExt cx="694195" cy="694195"/>
          </a:xfrm>
        </p:grpSpPr>
        <p:sp>
          <p:nvSpPr>
            <p:cNvPr id="188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89" name="H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</a:t>
              </a:r>
            </a:p>
          </p:txBody>
        </p:sp>
      </p:grpSp>
      <p:grpSp>
        <p:nvGrpSpPr>
          <p:cNvPr id="193" name="JFK"/>
          <p:cNvGrpSpPr/>
          <p:nvPr/>
        </p:nvGrpSpPr>
        <p:grpSpPr>
          <a:xfrm>
            <a:off x="5425556" y="1774126"/>
            <a:ext cx="694197" cy="694197"/>
            <a:chOff x="0" y="0"/>
            <a:chExt cx="694195" cy="694195"/>
          </a:xfrm>
        </p:grpSpPr>
        <p:sp>
          <p:nvSpPr>
            <p:cNvPr id="191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2" name="B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B</a:t>
              </a:r>
            </a:p>
          </p:txBody>
        </p:sp>
      </p:grpSp>
      <p:grpSp>
        <p:nvGrpSpPr>
          <p:cNvPr id="196" name="JFK"/>
          <p:cNvGrpSpPr/>
          <p:nvPr/>
        </p:nvGrpSpPr>
        <p:grpSpPr>
          <a:xfrm>
            <a:off x="5425556" y="4389678"/>
            <a:ext cx="694197" cy="694197"/>
            <a:chOff x="0" y="0"/>
            <a:chExt cx="694195" cy="694195"/>
          </a:xfrm>
        </p:grpSpPr>
        <p:sp>
          <p:nvSpPr>
            <p:cNvPr id="194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5" name="D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D</a:t>
              </a:r>
            </a:p>
          </p:txBody>
        </p:sp>
      </p:grpSp>
      <p:grpSp>
        <p:nvGrpSpPr>
          <p:cNvPr id="199" name="JFK"/>
          <p:cNvGrpSpPr/>
          <p:nvPr/>
        </p:nvGrpSpPr>
        <p:grpSpPr>
          <a:xfrm>
            <a:off x="2518929" y="4389678"/>
            <a:ext cx="694197" cy="694197"/>
            <a:chOff x="0" y="0"/>
            <a:chExt cx="694195" cy="694195"/>
          </a:xfrm>
        </p:grpSpPr>
        <p:sp>
          <p:nvSpPr>
            <p:cNvPr id="197" name="Circle"/>
            <p:cNvSpPr/>
            <p:nvPr/>
          </p:nvSpPr>
          <p:spPr>
            <a:xfrm>
              <a:off x="0" y="0"/>
              <a:ext cx="694196" cy="694196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198" name="F"/>
            <p:cNvSpPr txBox="1"/>
            <p:nvPr/>
          </p:nvSpPr>
          <p:spPr>
            <a:xfrm>
              <a:off x="106425" y="180555"/>
              <a:ext cx="481345" cy="333085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F</a:t>
              </a:r>
            </a:p>
          </p:txBody>
        </p:sp>
      </p:grpSp>
      <p:sp>
        <p:nvSpPr>
          <p:cNvPr id="200" name="Text"/>
          <p:cNvSpPr txBox="1"/>
          <p:nvPr/>
        </p:nvSpPr>
        <p:spPr>
          <a:xfrm>
            <a:off x="8951880" y="1893863"/>
            <a:ext cx="1015351" cy="255601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C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2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</m:oMath>
              </m:oMathPara>
            </a14:m>
            <a:endParaRPr sz="2900"/>
          </a:p>
        </p:txBody>
      </p:sp>
      <p:sp>
        <p:nvSpPr>
          <p:cNvPr id="201" name="Text"/>
          <p:cNvSpPr txBox="1"/>
          <p:nvPr/>
        </p:nvSpPr>
        <p:spPr>
          <a:xfrm>
            <a:off x="8919067" y="2961440"/>
            <a:ext cx="1179335" cy="225844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8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40,320</m:t>
                  </m:r>
                </m:oMath>
              </m:oMathPara>
            </a14:m>
            <a:endParaRPr sz="1900"/>
          </a:p>
        </p:txBody>
      </p:sp>
      <p:sp>
        <p:nvSpPr>
          <p:cNvPr id="202" name="Text"/>
          <p:cNvSpPr txBox="1"/>
          <p:nvPr/>
        </p:nvSpPr>
        <p:spPr>
          <a:xfrm>
            <a:off x="8919067" y="3439178"/>
            <a:ext cx="1299985" cy="229145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9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362,880</m:t>
                  </m:r>
                </m:oMath>
              </m:oMathPara>
            </a14:m>
            <a:endParaRPr sz="1900"/>
          </a:p>
        </p:txBody>
      </p:sp>
      <p:sp>
        <p:nvSpPr>
          <p:cNvPr id="203" name="Line"/>
          <p:cNvSpPr/>
          <p:nvPr/>
        </p:nvSpPr>
        <p:spPr>
          <a:xfrm>
            <a:off x="2281717" y="3731139"/>
            <a:ext cx="392068" cy="71831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4" name="Line"/>
          <p:cNvSpPr/>
          <p:nvPr/>
        </p:nvSpPr>
        <p:spPr>
          <a:xfrm flipH="1">
            <a:off x="5991914" y="3751553"/>
            <a:ext cx="392876" cy="714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5" name="Line"/>
          <p:cNvSpPr/>
          <p:nvPr/>
        </p:nvSpPr>
        <p:spPr>
          <a:xfrm>
            <a:off x="3170716" y="4912240"/>
            <a:ext cx="802463" cy="39835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6" name="Line"/>
          <p:cNvSpPr/>
          <p:nvPr/>
        </p:nvSpPr>
        <p:spPr>
          <a:xfrm flipH="1">
            <a:off x="4654731" y="4912240"/>
            <a:ext cx="812063" cy="3739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7" name="Hamiltonian Cycles"/>
          <p:cNvSpPr txBox="1"/>
          <p:nvPr/>
        </p:nvSpPr>
        <p:spPr>
          <a:xfrm>
            <a:off x="8074741" y="1328078"/>
            <a:ext cx="2999242" cy="3962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 algn="ctr">
              <a:lnSpc>
                <a:spcPct val="90000"/>
              </a:lnSpc>
              <a:spcBef>
                <a:spcPts val="1200"/>
              </a:spcBef>
              <a:defRPr b="1" sz="20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Hamiltonian Cycles</a:t>
            </a:r>
          </a:p>
        </p:txBody>
      </p:sp>
      <p:sp>
        <p:nvSpPr>
          <p:cNvPr id="208" name="Line"/>
          <p:cNvSpPr/>
          <p:nvPr/>
        </p:nvSpPr>
        <p:spPr>
          <a:xfrm flipH="1" flipV="1">
            <a:off x="2465612" y="3423409"/>
            <a:ext cx="3693504" cy="111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09" name="Line"/>
          <p:cNvSpPr/>
          <p:nvPr/>
        </p:nvSpPr>
        <p:spPr>
          <a:xfrm flipH="1">
            <a:off x="2285850" y="2409290"/>
            <a:ext cx="387920" cy="71074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0" name="Line"/>
          <p:cNvSpPr/>
          <p:nvPr/>
        </p:nvSpPr>
        <p:spPr>
          <a:xfrm>
            <a:off x="5991914" y="2391993"/>
            <a:ext cx="402674" cy="69904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1" name="Line"/>
          <p:cNvSpPr/>
          <p:nvPr/>
        </p:nvSpPr>
        <p:spPr>
          <a:xfrm flipV="1">
            <a:off x="3170716" y="1540552"/>
            <a:ext cx="803778" cy="40170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2" name="Line"/>
          <p:cNvSpPr/>
          <p:nvPr/>
        </p:nvSpPr>
        <p:spPr>
          <a:xfrm flipH="1" flipV="1">
            <a:off x="4656616" y="1550887"/>
            <a:ext cx="806903" cy="40931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3" name="Line"/>
          <p:cNvSpPr/>
          <p:nvPr/>
        </p:nvSpPr>
        <p:spPr>
          <a:xfrm flipV="1">
            <a:off x="4317817" y="1819125"/>
            <a:ext cx="19449" cy="320891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4" name="Line"/>
          <p:cNvSpPr/>
          <p:nvPr/>
        </p:nvSpPr>
        <p:spPr>
          <a:xfrm flipH="1" flipV="1">
            <a:off x="3108237" y="2371494"/>
            <a:ext cx="2420552" cy="211965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5" name="Line"/>
          <p:cNvSpPr/>
          <p:nvPr/>
        </p:nvSpPr>
        <p:spPr>
          <a:xfrm flipH="1">
            <a:off x="3113883" y="2356531"/>
            <a:ext cx="2405155" cy="2134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6" name="Line"/>
          <p:cNvSpPr/>
          <p:nvPr/>
        </p:nvSpPr>
        <p:spPr>
          <a:xfrm>
            <a:off x="4522230" y="1756578"/>
            <a:ext cx="1717287" cy="14445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7" name="Line"/>
          <p:cNvSpPr/>
          <p:nvPr/>
        </p:nvSpPr>
        <p:spPr>
          <a:xfrm>
            <a:off x="4423341" y="1813925"/>
            <a:ext cx="1206972" cy="26068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e"/>
          <p:cNvSpPr/>
          <p:nvPr/>
        </p:nvSpPr>
        <p:spPr>
          <a:xfrm flipH="1">
            <a:off x="3023815" y="1811098"/>
            <a:ext cx="1209151" cy="261845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Line"/>
          <p:cNvSpPr/>
          <p:nvPr/>
        </p:nvSpPr>
        <p:spPr>
          <a:xfrm flipH="1">
            <a:off x="2410390" y="1742948"/>
            <a:ext cx="1675107" cy="148358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0" name="Line"/>
          <p:cNvSpPr/>
          <p:nvPr/>
        </p:nvSpPr>
        <p:spPr>
          <a:xfrm flipH="1">
            <a:off x="5766999" y="2465079"/>
            <a:ext cx="4367" cy="192653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1" name="Line"/>
          <p:cNvSpPr/>
          <p:nvPr/>
        </p:nvSpPr>
        <p:spPr>
          <a:xfrm flipH="1">
            <a:off x="2863845" y="2471284"/>
            <a:ext cx="2" cy="191539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2" name="Line"/>
          <p:cNvSpPr/>
          <p:nvPr/>
        </p:nvSpPr>
        <p:spPr>
          <a:xfrm flipH="1">
            <a:off x="4523620" y="2455752"/>
            <a:ext cx="1153208" cy="263973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3" name="Line"/>
          <p:cNvSpPr/>
          <p:nvPr/>
        </p:nvSpPr>
        <p:spPr>
          <a:xfrm>
            <a:off x="2994213" y="2443597"/>
            <a:ext cx="1121860" cy="265529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4" name="Line"/>
          <p:cNvSpPr/>
          <p:nvPr/>
        </p:nvSpPr>
        <p:spPr>
          <a:xfrm flipH="1">
            <a:off x="2458296" y="2265877"/>
            <a:ext cx="3002936" cy="107266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5" name="Line"/>
          <p:cNvSpPr/>
          <p:nvPr/>
        </p:nvSpPr>
        <p:spPr>
          <a:xfrm>
            <a:off x="3192053" y="2253176"/>
            <a:ext cx="2976882" cy="107101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6" name="Line"/>
          <p:cNvSpPr/>
          <p:nvPr/>
        </p:nvSpPr>
        <p:spPr>
          <a:xfrm flipH="1" flipV="1">
            <a:off x="3211641" y="2109341"/>
            <a:ext cx="2215401" cy="2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7" name="Line"/>
          <p:cNvSpPr/>
          <p:nvPr/>
        </p:nvSpPr>
        <p:spPr>
          <a:xfrm flipH="1" flipV="1">
            <a:off x="3210080" y="4724715"/>
            <a:ext cx="2216982" cy="214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8" name="Line"/>
          <p:cNvSpPr/>
          <p:nvPr/>
        </p:nvSpPr>
        <p:spPr>
          <a:xfrm flipH="1">
            <a:off x="3185753" y="3591900"/>
            <a:ext cx="3017763" cy="1012959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29" name="Line"/>
          <p:cNvSpPr/>
          <p:nvPr/>
        </p:nvSpPr>
        <p:spPr>
          <a:xfrm>
            <a:off x="2429098" y="3581428"/>
            <a:ext cx="3026706" cy="101295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0" name="Line"/>
          <p:cNvSpPr/>
          <p:nvPr/>
        </p:nvSpPr>
        <p:spPr>
          <a:xfrm flipV="1">
            <a:off x="4616852" y="3693278"/>
            <a:ext cx="1665533" cy="149880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1" name="Line"/>
          <p:cNvSpPr/>
          <p:nvPr/>
        </p:nvSpPr>
        <p:spPr>
          <a:xfrm flipH="1" flipV="1">
            <a:off x="2373764" y="3660269"/>
            <a:ext cx="1672391" cy="150604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32" name="Text"/>
          <p:cNvSpPr txBox="1"/>
          <p:nvPr/>
        </p:nvSpPr>
        <p:spPr>
          <a:xfrm>
            <a:off x="8919067" y="3909888"/>
            <a:ext cx="1606838" cy="227773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=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3,628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,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800</m:t>
                  </m:r>
                </m:oMath>
              </m:oMathPara>
            </a14:m>
            <a:endParaRPr sz="1900"/>
          </a:p>
        </p:txBody>
      </p:sp>
      <p:sp>
        <p:nvSpPr>
          <p:cNvPr id="233" name="Text"/>
          <p:cNvSpPr txBox="1"/>
          <p:nvPr/>
        </p:nvSpPr>
        <p:spPr>
          <a:xfrm>
            <a:off x="8947470" y="4379188"/>
            <a:ext cx="1692581" cy="228739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sSub>
                    <m:e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C</m:t>
                      </m:r>
                    </m:e>
                    <m:sub>
                      <m:r>
                        <a:rPr xmlns:a="http://schemas.openxmlformats.org/drawingml/2006/main" sz="19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100</m:t>
                      </m:r>
                    </m:sub>
                  </m:sSub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≈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9.332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e</m:t>
                  </m:r>
                  <m: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157</m:t>
                  </m:r>
                </m:oMath>
              </m:oMathPara>
            </a14:m>
            <a:endParaRPr sz="1900"/>
          </a:p>
        </p:txBody>
      </p:sp>
      <p:sp>
        <p:nvSpPr>
          <p:cNvPr id="234" name="Tsp"/>
          <p:cNvSpPr txBox="1"/>
          <p:nvPr>
            <p:ph type="title" idx="4294967295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Tsp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8" name="LAX"/>
          <p:cNvGrpSpPr/>
          <p:nvPr/>
        </p:nvGrpSpPr>
        <p:grpSpPr>
          <a:xfrm>
            <a:off x="4334211" y="3081901"/>
            <a:ext cx="694197" cy="694197"/>
            <a:chOff x="0" y="0"/>
            <a:chExt cx="694195" cy="694195"/>
          </a:xfrm>
        </p:grpSpPr>
        <p:sp>
          <p:nvSpPr>
            <p:cNvPr id="236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37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41" name="JFK"/>
          <p:cNvGrpSpPr/>
          <p:nvPr/>
        </p:nvGrpSpPr>
        <p:grpSpPr>
          <a:xfrm>
            <a:off x="5748901" y="1614043"/>
            <a:ext cx="694197" cy="694197"/>
            <a:chOff x="0" y="0"/>
            <a:chExt cx="694195" cy="694195"/>
          </a:xfrm>
        </p:grpSpPr>
        <p:sp>
          <p:nvSpPr>
            <p:cNvPr id="239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0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44" name="MIA"/>
          <p:cNvGrpSpPr/>
          <p:nvPr/>
        </p:nvGrpSpPr>
        <p:grpSpPr>
          <a:xfrm>
            <a:off x="7163591" y="3081901"/>
            <a:ext cx="694197" cy="694197"/>
            <a:chOff x="0" y="0"/>
            <a:chExt cx="694195" cy="694195"/>
          </a:xfrm>
        </p:grpSpPr>
        <p:sp>
          <p:nvSpPr>
            <p:cNvPr id="242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3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47" name="HOU"/>
          <p:cNvGrpSpPr/>
          <p:nvPr/>
        </p:nvGrpSpPr>
        <p:grpSpPr>
          <a:xfrm>
            <a:off x="5748901" y="4549760"/>
            <a:ext cx="694197" cy="694197"/>
            <a:chOff x="0" y="0"/>
            <a:chExt cx="694195" cy="694195"/>
          </a:xfrm>
        </p:grpSpPr>
        <p:sp>
          <p:nvSpPr>
            <p:cNvPr id="245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46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48" name="Line"/>
          <p:cNvSpPr/>
          <p:nvPr/>
        </p:nvSpPr>
        <p:spPr>
          <a:xfrm flipV="1">
            <a:off x="6326315" y="3671711"/>
            <a:ext cx="942987" cy="96709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49" name="Line"/>
          <p:cNvSpPr/>
          <p:nvPr/>
        </p:nvSpPr>
        <p:spPr>
          <a:xfrm flipV="1">
            <a:off x="4881162" y="2180992"/>
            <a:ext cx="945353" cy="945350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0" name="Line"/>
          <p:cNvSpPr/>
          <p:nvPr/>
        </p:nvSpPr>
        <p:spPr>
          <a:xfrm flipH="1" flipV="1">
            <a:off x="4940711" y="3661617"/>
            <a:ext cx="894032" cy="1000098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1" name="Line"/>
          <p:cNvSpPr/>
          <p:nvPr/>
        </p:nvSpPr>
        <p:spPr>
          <a:xfrm flipH="1" flipV="1">
            <a:off x="6366966" y="2181820"/>
            <a:ext cx="893840" cy="9992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2" name="Line"/>
          <p:cNvSpPr/>
          <p:nvPr/>
        </p:nvSpPr>
        <p:spPr>
          <a:xfrm flipH="1" flipV="1">
            <a:off x="6111010" y="2308044"/>
            <a:ext cx="105" cy="2237881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3" name="Line"/>
          <p:cNvSpPr/>
          <p:nvPr/>
        </p:nvSpPr>
        <p:spPr>
          <a:xfrm flipH="1">
            <a:off x="5032433" y="3415165"/>
            <a:ext cx="2127135" cy="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54" name="2.475"/>
          <p:cNvSpPr txBox="1"/>
          <p:nvPr/>
        </p:nvSpPr>
        <p:spPr>
          <a:xfrm>
            <a:off x="4794617" y="234833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255" name="1.09"/>
          <p:cNvSpPr txBox="1"/>
          <p:nvPr/>
        </p:nvSpPr>
        <p:spPr>
          <a:xfrm>
            <a:off x="6918069" y="2348333"/>
            <a:ext cx="509433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1.09</a:t>
            </a:r>
          </a:p>
        </p:txBody>
      </p:sp>
      <p:sp>
        <p:nvSpPr>
          <p:cNvPr id="256" name="1.39"/>
          <p:cNvSpPr txBox="1"/>
          <p:nvPr/>
        </p:nvSpPr>
        <p:spPr>
          <a:xfrm>
            <a:off x="4852546" y="4176576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1.39</a:t>
            </a:r>
          </a:p>
        </p:txBody>
      </p:sp>
      <p:sp>
        <p:nvSpPr>
          <p:cNvPr id="257" name="1.1"/>
          <p:cNvSpPr txBox="1"/>
          <p:nvPr/>
        </p:nvSpPr>
        <p:spPr>
          <a:xfrm>
            <a:off x="6918069" y="4155256"/>
            <a:ext cx="393570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258" name="1.74"/>
          <p:cNvSpPr txBox="1"/>
          <p:nvPr/>
        </p:nvSpPr>
        <p:spPr>
          <a:xfrm>
            <a:off x="6092030" y="2691187"/>
            <a:ext cx="509434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259" name="2.342"/>
          <p:cNvSpPr txBox="1"/>
          <p:nvPr/>
        </p:nvSpPr>
        <p:spPr>
          <a:xfrm>
            <a:off x="5279595" y="3402465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260" name="✅ “MIA HOU NYC LA MIA“…"/>
          <p:cNvSpPr txBox="1"/>
          <p:nvPr/>
        </p:nvSpPr>
        <p:spPr>
          <a:xfrm>
            <a:off x="337739" y="2793649"/>
            <a:ext cx="3683156" cy="12707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>
              <a:defRPr sz="2200"/>
            </a:pPr>
            <a:r>
              <a:t>✅ “MIA HOU NYC LA MIA“</a:t>
            </a:r>
          </a:p>
          <a:p>
            <a:pPr>
              <a:defRPr sz="2200"/>
            </a:pPr>
          </a:p>
          <a:p>
            <a:pPr>
              <a:defRPr sz="2200"/>
            </a:pPr>
            <a:r>
              <a:t>❌ “MIA NYC LA NYC HOU MIA”</a:t>
            </a:r>
          </a:p>
        </p:txBody>
      </p:sp>
      <p:sp>
        <p:nvSpPr>
          <p:cNvPr id="261" name="Title 6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 anchor="ctr"/>
          <a:lstStyle>
            <a:lvl1pPr defTabSz="786383">
              <a:defRPr sz="3100"/>
            </a:lvl1pPr>
          </a:lstStyle>
          <a:p>
            <a:pPr/>
            <a:r>
              <a:t>Polynomial verification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sp>
        <p:nvSpPr>
          <p:cNvPr id="264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grpSp>
        <p:nvGrpSpPr>
          <p:cNvPr id="267" name="Hamiltonian Cycle"/>
          <p:cNvGrpSpPr/>
          <p:nvPr/>
        </p:nvGrpSpPr>
        <p:grpSpPr>
          <a:xfrm>
            <a:off x="2284994" y="5029549"/>
            <a:ext cx="1654579" cy="903719"/>
            <a:chOff x="0" y="0"/>
            <a:chExt cx="1654578" cy="903717"/>
          </a:xfrm>
        </p:grpSpPr>
        <p:sp>
          <p:nvSpPr>
            <p:cNvPr id="265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6" name="Hamiltonian Cycle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Hamiltonian Cycle</a:t>
              </a:r>
            </a:p>
          </p:txBody>
        </p:sp>
      </p:grpSp>
      <p:grpSp>
        <p:nvGrpSpPr>
          <p:cNvPr id="270" name="LAX"/>
          <p:cNvGrpSpPr/>
          <p:nvPr/>
        </p:nvGrpSpPr>
        <p:grpSpPr>
          <a:xfrm>
            <a:off x="1668932" y="2683311"/>
            <a:ext cx="694197" cy="694197"/>
            <a:chOff x="0" y="0"/>
            <a:chExt cx="694195" cy="694195"/>
          </a:xfrm>
        </p:grpSpPr>
        <p:sp>
          <p:nvSpPr>
            <p:cNvPr id="26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6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73" name="JFK"/>
          <p:cNvGrpSpPr/>
          <p:nvPr/>
        </p:nvGrpSpPr>
        <p:grpSpPr>
          <a:xfrm>
            <a:off x="2765185" y="1578617"/>
            <a:ext cx="694197" cy="694197"/>
            <a:chOff x="0" y="0"/>
            <a:chExt cx="694195" cy="694195"/>
          </a:xfrm>
        </p:grpSpPr>
        <p:sp>
          <p:nvSpPr>
            <p:cNvPr id="27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76" name="MIA"/>
          <p:cNvGrpSpPr/>
          <p:nvPr/>
        </p:nvGrpSpPr>
        <p:grpSpPr>
          <a:xfrm>
            <a:off x="3870706" y="2683311"/>
            <a:ext cx="694197" cy="694197"/>
            <a:chOff x="0" y="0"/>
            <a:chExt cx="694195" cy="694195"/>
          </a:xfrm>
        </p:grpSpPr>
        <p:sp>
          <p:nvSpPr>
            <p:cNvPr id="27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79" name="HOU"/>
          <p:cNvGrpSpPr/>
          <p:nvPr/>
        </p:nvGrpSpPr>
        <p:grpSpPr>
          <a:xfrm>
            <a:off x="2765185" y="3778436"/>
            <a:ext cx="694197" cy="694197"/>
            <a:chOff x="0" y="0"/>
            <a:chExt cx="694195" cy="694195"/>
          </a:xfrm>
        </p:grpSpPr>
        <p:sp>
          <p:nvSpPr>
            <p:cNvPr id="27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7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280" name="Line"/>
          <p:cNvSpPr/>
          <p:nvPr/>
        </p:nvSpPr>
        <p:spPr>
          <a:xfrm flipV="1">
            <a:off x="2241620" y="2145980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1" name="Line"/>
          <p:cNvSpPr/>
          <p:nvPr/>
        </p:nvSpPr>
        <p:spPr>
          <a:xfrm flipV="1">
            <a:off x="3100750" y="2278134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2" name="Line"/>
          <p:cNvSpPr/>
          <p:nvPr/>
        </p:nvSpPr>
        <p:spPr>
          <a:xfrm flipV="1">
            <a:off x="3366161" y="3283158"/>
            <a:ext cx="610069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3" name="Line"/>
          <p:cNvSpPr/>
          <p:nvPr/>
        </p:nvSpPr>
        <p:spPr>
          <a:xfrm flipH="1" flipV="1">
            <a:off x="2362192" y="3030409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84" name="2.475"/>
          <p:cNvSpPr txBox="1"/>
          <p:nvPr/>
        </p:nvSpPr>
        <p:spPr>
          <a:xfrm>
            <a:off x="1888864" y="2130123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285" name="1.74"/>
          <p:cNvSpPr txBox="1"/>
          <p:nvPr/>
        </p:nvSpPr>
        <p:spPr>
          <a:xfrm>
            <a:off x="3094431" y="2306429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286" name="2.342"/>
          <p:cNvSpPr txBox="1"/>
          <p:nvPr/>
        </p:nvSpPr>
        <p:spPr>
          <a:xfrm>
            <a:off x="2412941" y="3045185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287" name="1.1"/>
          <p:cNvSpPr txBox="1"/>
          <p:nvPr/>
        </p:nvSpPr>
        <p:spPr>
          <a:xfrm>
            <a:off x="3707863" y="3603959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grpSp>
        <p:nvGrpSpPr>
          <p:cNvPr id="290" name="LAX"/>
          <p:cNvGrpSpPr/>
          <p:nvPr/>
        </p:nvGrpSpPr>
        <p:grpSpPr>
          <a:xfrm>
            <a:off x="7627096" y="2688095"/>
            <a:ext cx="694197" cy="694197"/>
            <a:chOff x="0" y="0"/>
            <a:chExt cx="694195" cy="694195"/>
          </a:xfrm>
        </p:grpSpPr>
        <p:sp>
          <p:nvSpPr>
            <p:cNvPr id="288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89" name="LAX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LA</a:t>
              </a:r>
            </a:p>
          </p:txBody>
        </p:sp>
      </p:grpSp>
      <p:grpSp>
        <p:nvGrpSpPr>
          <p:cNvPr id="293" name="JFK"/>
          <p:cNvGrpSpPr/>
          <p:nvPr/>
        </p:nvGrpSpPr>
        <p:grpSpPr>
          <a:xfrm>
            <a:off x="8723348" y="1583401"/>
            <a:ext cx="694197" cy="694197"/>
            <a:chOff x="0" y="0"/>
            <a:chExt cx="694195" cy="694195"/>
          </a:xfrm>
        </p:grpSpPr>
        <p:sp>
          <p:nvSpPr>
            <p:cNvPr id="291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92" name="JFK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NYC</a:t>
              </a:r>
            </a:p>
          </p:txBody>
        </p:sp>
      </p:grpSp>
      <p:grpSp>
        <p:nvGrpSpPr>
          <p:cNvPr id="296" name="MIA"/>
          <p:cNvGrpSpPr/>
          <p:nvPr/>
        </p:nvGrpSpPr>
        <p:grpSpPr>
          <a:xfrm>
            <a:off x="9828871" y="2688096"/>
            <a:ext cx="694197" cy="694197"/>
            <a:chOff x="0" y="0"/>
            <a:chExt cx="694195" cy="694195"/>
          </a:xfrm>
        </p:grpSpPr>
        <p:sp>
          <p:nvSpPr>
            <p:cNvPr id="294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95" name="MIA"/>
            <p:cNvSpPr txBox="1"/>
            <p:nvPr/>
          </p:nvSpPr>
          <p:spPr>
            <a:xfrm>
              <a:off x="106424" y="208096"/>
              <a:ext cx="481344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MIA</a:t>
              </a:r>
            </a:p>
          </p:txBody>
        </p:sp>
      </p:grpSp>
      <p:grpSp>
        <p:nvGrpSpPr>
          <p:cNvPr id="299" name="HOU"/>
          <p:cNvGrpSpPr/>
          <p:nvPr/>
        </p:nvGrpSpPr>
        <p:grpSpPr>
          <a:xfrm>
            <a:off x="8723348" y="3783221"/>
            <a:ext cx="694197" cy="694197"/>
            <a:chOff x="0" y="0"/>
            <a:chExt cx="694195" cy="694195"/>
          </a:xfrm>
        </p:grpSpPr>
        <p:sp>
          <p:nvSpPr>
            <p:cNvPr id="297" name="Circle"/>
            <p:cNvSpPr/>
            <p:nvPr/>
          </p:nvSpPr>
          <p:spPr>
            <a:xfrm>
              <a:off x="-1" y="-1"/>
              <a:ext cx="694197" cy="694197"/>
            </a:xfrm>
            <a:prstGeom prst="ellipse">
              <a:avLst/>
            </a:prstGeom>
            <a:gradFill flip="none" rotWithShape="1">
              <a:gsLst>
                <a:gs pos="0">
                  <a:srgbClr val="1287F6"/>
                </a:gs>
                <a:gs pos="100000">
                  <a:schemeClr val="accent5">
                    <a:hueOff val="329330"/>
                    <a:satOff val="40776"/>
                    <a:lumOff val="24655"/>
                  </a:schemeClr>
                </a:gs>
              </a:gsLst>
              <a:lin ang="16976440" scaled="0"/>
            </a:gradFill>
            <a:ln w="9525" cap="flat">
              <a:solidFill>
                <a:srgbClr val="4F80EF"/>
              </a:solidFill>
              <a:prstDash val="solid"/>
              <a:round/>
            </a:ln>
            <a:effectLst>
              <a:outerShdw sx="100000" sy="100000" kx="0" ky="0" algn="b" rotWithShape="0" blurRad="63500" dist="25400" dir="5400000">
                <a:srgbClr val="000000">
                  <a:alpha val="50000"/>
                </a:srgbClr>
              </a:outerShdw>
            </a:effectLst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298" name="HOU"/>
            <p:cNvSpPr txBox="1"/>
            <p:nvPr/>
          </p:nvSpPr>
          <p:spPr>
            <a:xfrm>
              <a:off x="106424" y="208096"/>
              <a:ext cx="481345" cy="27799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 sz="1500">
                  <a:solidFill>
                    <a:srgbClr val="FFFFFF"/>
                  </a:solidFill>
                </a:defRPr>
              </a:lvl1pPr>
            </a:lstStyle>
            <a:p>
              <a:pPr/>
              <a:r>
                <a:t>HOU</a:t>
              </a:r>
            </a:p>
          </p:txBody>
        </p:sp>
      </p:grpSp>
      <p:sp>
        <p:nvSpPr>
          <p:cNvPr id="300" name="Line"/>
          <p:cNvSpPr/>
          <p:nvPr/>
        </p:nvSpPr>
        <p:spPr>
          <a:xfrm flipV="1">
            <a:off x="8199784" y="2150765"/>
            <a:ext cx="587101" cy="61335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1" name="Line"/>
          <p:cNvSpPr/>
          <p:nvPr/>
        </p:nvSpPr>
        <p:spPr>
          <a:xfrm flipV="1">
            <a:off x="9058913" y="2282918"/>
            <a:ext cx="20526" cy="1500044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2" name="Line"/>
          <p:cNvSpPr/>
          <p:nvPr/>
        </p:nvSpPr>
        <p:spPr>
          <a:xfrm flipV="1">
            <a:off x="9324326" y="3287943"/>
            <a:ext cx="610069" cy="613357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3" name="Line"/>
          <p:cNvSpPr/>
          <p:nvPr/>
        </p:nvSpPr>
        <p:spPr>
          <a:xfrm flipH="1" flipV="1">
            <a:off x="8320355" y="3035194"/>
            <a:ext cx="1500184" cy="3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4" name="2.475"/>
          <p:cNvSpPr txBox="1"/>
          <p:nvPr/>
        </p:nvSpPr>
        <p:spPr>
          <a:xfrm>
            <a:off x="7847028" y="2134907"/>
            <a:ext cx="625295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2.475</a:t>
            </a:r>
          </a:p>
        </p:txBody>
      </p:sp>
      <p:sp>
        <p:nvSpPr>
          <p:cNvPr id="305" name="1.74"/>
          <p:cNvSpPr txBox="1"/>
          <p:nvPr/>
        </p:nvSpPr>
        <p:spPr>
          <a:xfrm>
            <a:off x="9052594" y="2311213"/>
            <a:ext cx="509433" cy="33308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1.74</a:t>
            </a:r>
          </a:p>
        </p:txBody>
      </p:sp>
      <p:sp>
        <p:nvSpPr>
          <p:cNvPr id="306" name="2.342"/>
          <p:cNvSpPr txBox="1"/>
          <p:nvPr/>
        </p:nvSpPr>
        <p:spPr>
          <a:xfrm>
            <a:off x="8371105" y="3049970"/>
            <a:ext cx="625296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2.342</a:t>
            </a:r>
          </a:p>
        </p:txBody>
      </p:sp>
      <p:sp>
        <p:nvSpPr>
          <p:cNvPr id="307" name="1.1"/>
          <p:cNvSpPr txBox="1"/>
          <p:nvPr/>
        </p:nvSpPr>
        <p:spPr>
          <a:xfrm>
            <a:off x="9666027" y="3608744"/>
            <a:ext cx="393571" cy="3330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/>
          <a:p>
            <a:pPr/>
            <a:r>
              <a:t>1.1</a:t>
            </a:r>
          </a:p>
        </p:txBody>
      </p:sp>
      <p:sp>
        <p:nvSpPr>
          <p:cNvPr id="308" name="Line"/>
          <p:cNvSpPr/>
          <p:nvPr/>
        </p:nvSpPr>
        <p:spPr>
          <a:xfrm flipH="1" flipV="1">
            <a:off x="9352338" y="2145981"/>
            <a:ext cx="604902" cy="612605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09" name="1.74"/>
          <p:cNvSpPr txBox="1"/>
          <p:nvPr/>
        </p:nvSpPr>
        <p:spPr>
          <a:xfrm>
            <a:off x="9666027" y="2135639"/>
            <a:ext cx="189181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310" name="Line"/>
          <p:cNvSpPr/>
          <p:nvPr/>
        </p:nvSpPr>
        <p:spPr>
          <a:xfrm flipH="1" flipV="1">
            <a:off x="8182122" y="3305661"/>
            <a:ext cx="604902" cy="612606"/>
          </a:xfrm>
          <a:prstGeom prst="line">
            <a:avLst/>
          </a:prstGeom>
          <a:ln w="25400">
            <a:solidFill>
              <a:srgbClr val="000000"/>
            </a:solidFill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311" name="1.74"/>
          <p:cNvSpPr txBox="1"/>
          <p:nvPr/>
        </p:nvSpPr>
        <p:spPr>
          <a:xfrm>
            <a:off x="8138522" y="3660121"/>
            <a:ext cx="189180" cy="103760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m:rPr>
                      <m:sty m:val="p"/>
                    </m:rPr>
                    <a:rPr xmlns:a="http://schemas.openxmlformats.org/drawingml/2006/main" sz="19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∞</m:t>
                  </m:r>
                </m:oMath>
              </m:oMathPara>
            </a14:m>
            <a:endParaRPr sz="1900"/>
          </a:p>
        </p:txBody>
      </p:sp>
      <p:sp>
        <p:nvSpPr>
          <p:cNvPr id="312" name="Line"/>
          <p:cNvSpPr/>
          <p:nvPr/>
        </p:nvSpPr>
        <p:spPr>
          <a:xfrm>
            <a:off x="5168212" y="3030410"/>
            <a:ext cx="1846308" cy="2"/>
          </a:xfrm>
          <a:prstGeom prst="line">
            <a:avLst/>
          </a:prstGeom>
          <a:ln w="152400">
            <a:solidFill>
              <a:srgbClr val="0000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grpSp>
        <p:nvGrpSpPr>
          <p:cNvPr id="315" name="Traveling Salesman"/>
          <p:cNvGrpSpPr/>
          <p:nvPr/>
        </p:nvGrpSpPr>
        <p:grpSpPr>
          <a:xfrm>
            <a:off x="8243158" y="5029549"/>
            <a:ext cx="1654579" cy="903719"/>
            <a:chOff x="0" y="0"/>
            <a:chExt cx="1654578" cy="903717"/>
          </a:xfrm>
        </p:grpSpPr>
        <p:sp>
          <p:nvSpPr>
            <p:cNvPr id="313" name="Rectangle"/>
            <p:cNvSpPr/>
            <p:nvPr/>
          </p:nvSpPr>
          <p:spPr>
            <a:xfrm>
              <a:off x="-1" y="0"/>
              <a:ext cx="1654580" cy="903718"/>
            </a:xfrm>
            <a:prstGeom prst="rect">
              <a:avLst/>
            </a:prstGeom>
            <a:solidFill>
              <a:srgbClr val="84B4DF"/>
            </a:solidFill>
            <a:ln w="9525" cap="flat">
              <a:solidFill>
                <a:srgbClr val="4B5AB6"/>
              </a:solidFill>
              <a:prstDash val="solid"/>
              <a:round/>
            </a:ln>
            <a:effectLst/>
          </p:spPr>
          <p:txBody>
            <a:bodyPr wrap="square" lIns="45718" tIns="45718" rIns="45718" bIns="45718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</a:p>
          </p:txBody>
        </p:sp>
        <p:sp>
          <p:nvSpPr>
            <p:cNvPr id="314" name="Traveling Salesman"/>
            <p:cNvSpPr txBox="1"/>
            <p:nvPr/>
          </p:nvSpPr>
          <p:spPr>
            <a:xfrm>
              <a:off x="4762" y="139267"/>
              <a:ext cx="1645054" cy="625184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45718" tIns="45718" rIns="45718" bIns="45718" numCol="1" anchor="ctr">
              <a:spAutoFit/>
            </a:bodyPr>
            <a:lstStyle>
              <a:lvl1pPr algn="ctr">
                <a:defRPr>
                  <a:solidFill>
                    <a:srgbClr val="FFFFFF"/>
                  </a:solidFill>
                </a:defRPr>
              </a:lvl1pPr>
            </a:lstStyle>
            <a:p>
              <a:pPr/>
              <a:r>
                <a:t>Traveling Salesman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Title 1"/>
          <p:cNvSpPr txBox="1"/>
          <p:nvPr>
            <p:ph type="title"/>
          </p:nvPr>
        </p:nvSpPr>
        <p:spPr>
          <a:xfrm>
            <a:off x="151728" y="113540"/>
            <a:ext cx="5602753" cy="647783"/>
          </a:xfrm>
          <a:prstGeom prst="rect">
            <a:avLst/>
          </a:prstGeom>
        </p:spPr>
        <p:txBody>
          <a:bodyPr/>
          <a:lstStyle/>
          <a:p>
            <a:pPr/>
            <a:r>
              <a:t>NP-HARD Reduction</a:t>
            </a:r>
          </a:p>
        </p:txBody>
      </p:sp>
      <p:sp>
        <p:nvSpPr>
          <p:cNvPr id="318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pic>
        <p:nvPicPr>
          <p:cNvPr id="319" name="Screenshot 2025-11-26 at 4.34.41 PM.png" descr="Screenshot 2025-11-26 at 4.34.41 PM.png"/>
          <p:cNvPicPr>
            <a:picLocks noChangeAspect="1"/>
          </p:cNvPicPr>
          <p:nvPr/>
        </p:nvPicPr>
        <p:blipFill>
          <a:blip r:embed="rId2">
            <a:extLst/>
          </a:blip>
          <a:srcRect l="0" t="5399" r="0" b="19332"/>
          <a:stretch>
            <a:fillRect/>
          </a:stretch>
        </p:blipFill>
        <p:spPr>
          <a:xfrm>
            <a:off x="2548928" y="2202411"/>
            <a:ext cx="7094333" cy="2161853"/>
          </a:xfrm>
          <a:prstGeom prst="rect">
            <a:avLst/>
          </a:prstGeom>
          <a:ln w="12700">
            <a:miter lim="400000"/>
          </a:ln>
        </p:spPr>
      </p:pic>
      <p:sp>
        <p:nvSpPr>
          <p:cNvPr id="320" name="Equation"/>
          <p:cNvSpPr txBox="1"/>
          <p:nvPr/>
        </p:nvSpPr>
        <p:spPr>
          <a:xfrm>
            <a:off x="5597723" y="4880681"/>
            <a:ext cx="996554" cy="443442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O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sSup>
                    <m:e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V</m:t>
                      </m:r>
                    </m:e>
                    <m:sup>
                      <m:r>
                        <a:rPr xmlns:a="http://schemas.openxmlformats.org/drawingml/2006/main" sz="3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2" name="Screenshot 2025-11-26 at 5.28.10 PM.png" descr="Screenshot 2025-11-26 at 5.28.10 PM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820446" y="1519393"/>
            <a:ext cx="6551108" cy="3819215"/>
          </a:xfrm>
          <a:prstGeom prst="rect">
            <a:avLst/>
          </a:prstGeom>
          <a:ln w="12700">
            <a:miter lim="400000"/>
          </a:ln>
        </p:spPr>
      </p:pic>
      <p:sp>
        <p:nvSpPr>
          <p:cNvPr id="323" name="Equation"/>
          <p:cNvSpPr txBox="1"/>
          <p:nvPr/>
        </p:nvSpPr>
        <p:spPr>
          <a:xfrm>
            <a:off x="5276910" y="5792587"/>
            <a:ext cx="1638179" cy="368326"/>
          </a:xfrm>
          <a:prstGeom prst="rect">
            <a:avLst/>
          </a:prstGeom>
          <a:ln w="12700">
            <a:miter lim="400000"/>
          </a:ln>
        </p:spPr>
        <p:txBody>
          <a:bodyPr wrap="none" lIns="0" tIns="0" rIns="0" bIns="0">
            <a:spAutoFit/>
          </a:bodyPr>
          <a:lstStyle/>
          <a:p>
            <a:pPr latinLnBrk="1"/>
            <a14:m>
              <m:oMathPara>
                <m:oMathParaPr>
                  <m:jc m:val="centerGroup"/>
                </m:oMathParaPr>
                <m:oMath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O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(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!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∙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V</m:t>
                  </m:r>
                  <m:r>
                    <a:rPr xmlns:a="http://schemas.openxmlformats.org/drawingml/2006/main" sz="3400" i="1">
                      <a:solidFill>
                        <a:srgbClr val="000000"/>
                      </a:solidFill>
                      <a:latin typeface="Cambria Math" panose="02040503050406030204" pitchFamily="18" charset="0"/>
                    </a:rPr>
                    <m:t>)</m:t>
                  </m:r>
                </m:oMath>
              </m:oMathPara>
            </a14:m>
            <a:endParaRPr sz="3400"/>
          </a:p>
        </p:txBody>
      </p:sp>
      <p:sp>
        <p:nvSpPr>
          <p:cNvPr id="324" name="Title 1"/>
          <p:cNvSpPr txBox="1"/>
          <p:nvPr/>
        </p:nvSpPr>
        <p:spPr>
          <a:xfrm>
            <a:off x="151728" y="113540"/>
            <a:ext cx="5602753" cy="64778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>
            <a:normAutofit fontScale="100000" lnSpcReduction="0"/>
          </a:bodyPr>
          <a:lstStyle>
            <a:lvl1pPr>
              <a:lnSpc>
                <a:spcPct val="90000"/>
              </a:lnSpc>
              <a:defRPr cap="all" sz="3200">
                <a:latin typeface="Tenorite"/>
                <a:ea typeface="Tenorite"/>
                <a:cs typeface="Tenorite"/>
                <a:sym typeface="Tenorite"/>
              </a:defRPr>
            </a:lvl1pPr>
          </a:lstStyle>
          <a:p>
            <a:pPr/>
            <a:r>
              <a:t>Analytical runtime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bg>
      <p:bgPr>
        <a:solidFill>
          <a:srgbClr val="CDC4B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Slide Number Placeholder 4"/>
          <p:cNvSpPr txBox="1"/>
          <p:nvPr>
            <p:ph type="sldNum" sz="quarter" idx="4294967295"/>
          </p:nvPr>
        </p:nvSpPr>
        <p:spPr>
          <a:xfrm>
            <a:off x="914399" y="6259738"/>
            <a:ext cx="188894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27" name="Title 1"/>
          <p:cNvSpPr txBox="1"/>
          <p:nvPr>
            <p:ph type="title"/>
          </p:nvPr>
        </p:nvSpPr>
        <p:spPr>
          <a:xfrm>
            <a:off x="151727" y="113540"/>
            <a:ext cx="6344747" cy="647783"/>
          </a:xfrm>
          <a:prstGeom prst="rect">
            <a:avLst/>
          </a:prstGeom>
        </p:spPr>
        <p:txBody>
          <a:bodyPr/>
          <a:lstStyle/>
          <a:p>
            <a:pPr/>
            <a:r>
              <a:t>Empirical runtime analysis</a:t>
            </a:r>
          </a:p>
        </p:txBody>
      </p:sp>
      <p:pic>
        <p:nvPicPr>
          <p:cNvPr id="328" name="emperial.png" descr="emperial.png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740512" y="912385"/>
            <a:ext cx="6710976" cy="5033230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Title 1"/>
          <p:cNvSpPr txBox="1"/>
          <p:nvPr>
            <p:ph type="title"/>
          </p:nvPr>
        </p:nvSpPr>
        <p:spPr>
          <a:xfrm>
            <a:off x="895349" y="376638"/>
            <a:ext cx="7273636" cy="963932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31" name="Text Placeholder 2"/>
          <p:cNvSpPr txBox="1"/>
          <p:nvPr>
            <p:ph type="body" sz="half" idx="1"/>
          </p:nvPr>
        </p:nvSpPr>
        <p:spPr>
          <a:xfrm>
            <a:off x="253999" y="1901737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332" name="TextBox 9"/>
          <p:cNvSpPr txBox="1"/>
          <p:nvPr/>
        </p:nvSpPr>
        <p:spPr>
          <a:xfrm>
            <a:off x="6235701" y="330025"/>
            <a:ext cx="5060951" cy="12090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 b="1">
                <a:latin typeface="+mn-lt"/>
                <a:ea typeface="+mn-ea"/>
                <a:cs typeface="+mn-cs"/>
                <a:sym typeface="Helvetica"/>
              </a:defRPr>
            </a:pPr>
            <a:r>
              <a:t>Two heuristics used in combination: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br/>
            <a:r>
              <a:t>1. Nearest Neighbor (Greedy)</a:t>
            </a:r>
            <a:br/>
            <a:r>
              <a:t>2. Two-Opt (Randomness, local optimal swap)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Title 1"/>
          <p:cNvSpPr txBox="1"/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35" name="Text Placeholder 2"/>
          <p:cNvSpPr txBox="1"/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336" name="TextBox 3"/>
          <p:cNvSpPr txBox="1"/>
          <p:nvPr/>
        </p:nvSpPr>
        <p:spPr>
          <a:xfrm>
            <a:off x="450850" y="990599"/>
            <a:ext cx="53975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Heuristic #1: Nearest Neighbor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Title 1"/>
          <p:cNvSpPr txBox="1"/>
          <p:nvPr>
            <p:ph type="title"/>
          </p:nvPr>
        </p:nvSpPr>
        <p:spPr>
          <a:xfrm>
            <a:off x="361949" y="126361"/>
            <a:ext cx="7273636" cy="963932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</a:t>
            </a:r>
          </a:p>
        </p:txBody>
      </p:sp>
      <p:sp>
        <p:nvSpPr>
          <p:cNvPr id="339" name="Text Placeholder 2"/>
          <p:cNvSpPr txBox="1"/>
          <p:nvPr>
            <p:ph type="body" sz="half" idx="1"/>
          </p:nvPr>
        </p:nvSpPr>
        <p:spPr>
          <a:xfrm>
            <a:off x="361949" y="1619249"/>
            <a:ext cx="5334001" cy="4579625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>
                <a:latin typeface="Courier New"/>
                <a:ea typeface="Courier New"/>
                <a:cs typeface="Courier New"/>
                <a:sym typeface="Courier New"/>
              </a:defRPr>
            </a:pPr>
          </a:p>
        </p:txBody>
      </p:sp>
      <p:sp>
        <p:nvSpPr>
          <p:cNvPr id="340" name="TextBox 3"/>
          <p:cNvSpPr txBox="1"/>
          <p:nvPr/>
        </p:nvSpPr>
        <p:spPr>
          <a:xfrm>
            <a:off x="450850" y="990599"/>
            <a:ext cx="539750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Heuristic #2: Two-Opt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Title 1"/>
          <p:cNvSpPr txBox="1"/>
          <p:nvPr>
            <p:ph type="title"/>
          </p:nvPr>
        </p:nvSpPr>
        <p:spPr>
          <a:xfrm>
            <a:off x="228596" y="280059"/>
            <a:ext cx="10439404" cy="1617018"/>
          </a:xfrm>
          <a:prstGeom prst="rect">
            <a:avLst/>
          </a:prstGeom>
        </p:spPr>
        <p:txBody>
          <a:bodyPr/>
          <a:lstStyle/>
          <a:p>
            <a:pPr/>
            <a:r>
              <a:t>Approximate Solution – non-Optimal test case</a:t>
            </a:r>
          </a:p>
        </p:txBody>
      </p:sp>
      <p:sp>
        <p:nvSpPr>
          <p:cNvPr id="343" name="Text Placeholder 2"/>
          <p:cNvSpPr txBox="1"/>
          <p:nvPr>
            <p:ph type="body" sz="half" idx="1"/>
          </p:nvPr>
        </p:nvSpPr>
        <p:spPr>
          <a:xfrm>
            <a:off x="914399" y="2022250"/>
            <a:ext cx="4716381" cy="3747181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  <a:defRPr b="0"/>
            </a:pPr>
            <a:r>
              <a:t>Discuss problem instance where approximation does not achieve the optimal value. Use illustrations. </a:t>
            </a:r>
          </a:p>
          <a:p>
            <a:pPr marL="0" indent="0">
              <a:buSzTx/>
              <a:buNone/>
              <a:defRPr b="0"/>
            </a:pPr>
            <a:r>
              <a:t>– 3 points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Title 1"/>
          <p:cNvSpPr txBox="1"/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run time (wall clock)</a:t>
            </a:r>
          </a:p>
        </p:txBody>
      </p:sp>
      <p:sp>
        <p:nvSpPr>
          <p:cNvPr id="346" name="Text Placeholder 2"/>
          <p:cNvSpPr txBox="1"/>
          <p:nvPr>
            <p:ph type="body" sz="half" idx="1"/>
          </p:nvPr>
        </p:nvSpPr>
        <p:spPr>
          <a:xfrm>
            <a:off x="914398" y="2022250"/>
            <a:ext cx="5181603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Provide wallclock runtime results comparing the </a:t>
            </a:r>
            <a:r>
              <a:rPr i="1"/>
              <a:t>exact</a:t>
            </a:r>
            <a:r>
              <a:t> and </a:t>
            </a:r>
            <a:r>
              <a:rPr i="1"/>
              <a:t>approx</a:t>
            </a:r>
            <a:r>
              <a:t> solutions on one plot.</a:t>
            </a:r>
          </a:p>
          <a:p>
            <a:pPr marL="0" indent="0">
              <a:buSzTx/>
              <a:buNone/>
            </a:pPr>
            <a:r>
              <a:t>plots that illustrate the run-time (wall clock) performance of your exact solution versus the approximation solution on your test cases</a:t>
            </a:r>
          </a:p>
          <a:p>
            <a:pPr marL="0" indent="0">
              <a:buSzTx/>
              <a:buNone/>
            </a:pPr>
            <a:r>
              <a:t>analytical run time analysis (the worse case </a:t>
            </a:r>
            <a14:m>
              <m:oMath>
                <m:r>
                  <a:rPr xmlns:a="http://schemas.openxmlformats.org/drawingml/2006/main" sz="2000" i="1">
                    <a:solidFill>
                      <a:srgbClr val="000000"/>
                    </a:solidFill>
                    <a:latin typeface="Cambria Math" panose="02040503050406030204" pitchFamily="18" charset="0"/>
                  </a:rPr>
                  <m:t>𝒪</m:t>
                </m:r>
              </m:oMath>
            </a14:m>
            <a:r>
              <a:t> time) of your approximation algorithm</a:t>
            </a:r>
          </a:p>
          <a:p>
            <a:pPr marL="0" indent="0">
              <a:buSzTx/>
              <a:buNone/>
            </a:pPr>
          </a:p>
          <a:p>
            <a:pPr>
              <a:buFontTx/>
              <a:buChar char="-"/>
            </a:pPr>
            <a:r>
              <a:t>6 points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Title 1"/>
          <p:cNvSpPr txBox="1"/>
          <p:nvPr>
            <p:ph type="title"/>
          </p:nvPr>
        </p:nvSpPr>
        <p:spPr>
          <a:xfrm>
            <a:off x="421104" y="418786"/>
            <a:ext cx="11947360" cy="1603464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lower Bound</a:t>
            </a:r>
          </a:p>
        </p:txBody>
      </p:sp>
      <p:sp>
        <p:nvSpPr>
          <p:cNvPr id="349" name="Text Placeholder 2"/>
          <p:cNvSpPr txBox="1"/>
          <p:nvPr>
            <p:ph type="body" sz="half" idx="1"/>
          </p:nvPr>
        </p:nvSpPr>
        <p:spPr>
          <a:xfrm>
            <a:off x="914398" y="2022250"/>
            <a:ext cx="5181603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Discuss a lower bound for your solution and show the delta to this lower bound (from the value you computed) for large problem instances you created for </a:t>
            </a:r>
            <a:r>
              <a:rPr i="1"/>
              <a:t>run_examples.sh</a:t>
            </a:r>
            <a:endParaRPr i="1"/>
          </a:p>
          <a:p>
            <a:pPr marL="0" indent="0">
              <a:buSzTx/>
              <a:buNone/>
            </a:pPr>
            <a:r>
              <a:t>- 6 points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Title 1"/>
          <p:cNvSpPr txBox="1"/>
          <p:nvPr>
            <p:ph type="title"/>
          </p:nvPr>
        </p:nvSpPr>
        <p:spPr>
          <a:xfrm>
            <a:off x="553450" y="418786"/>
            <a:ext cx="10900614" cy="1603464"/>
          </a:xfrm>
          <a:prstGeom prst="rect">
            <a:avLst/>
          </a:prstGeom>
        </p:spPr>
        <p:txBody>
          <a:bodyPr/>
          <a:lstStyle/>
          <a:p>
            <a:pPr/>
            <a:r>
              <a:t>Approximate vs exact solution – compare results</a:t>
            </a:r>
          </a:p>
        </p:txBody>
      </p:sp>
      <p:sp>
        <p:nvSpPr>
          <p:cNvPr id="352" name="Text Placeholder 2"/>
          <p:cNvSpPr txBox="1"/>
          <p:nvPr>
            <p:ph type="body" sz="half" idx="1"/>
          </p:nvPr>
        </p:nvSpPr>
        <p:spPr>
          <a:xfrm>
            <a:off x="914399" y="2022250"/>
            <a:ext cx="6196265" cy="3914910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None/>
            </a:pPr>
            <a:r>
              <a:t>plots that compare the result/solution of your exact solution versus the approximation on your test cases. This is where you show the </a:t>
            </a:r>
            <a:r>
              <a:rPr b="1"/>
              <a:t>value</a:t>
            </a:r>
            <a:r>
              <a:t> achieved by both and see how well your approximation did versus the optimal solution.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Title 6"/>
          <p:cNvSpPr txBox="1"/>
          <p:nvPr>
            <p:ph type="title"/>
          </p:nvPr>
        </p:nvSpPr>
        <p:spPr>
          <a:xfrm>
            <a:off x="170522" y="820"/>
            <a:ext cx="5134663" cy="2689635"/>
          </a:xfrm>
          <a:prstGeom prst="rect">
            <a:avLst/>
          </a:prstGeom>
        </p:spPr>
        <p:txBody>
          <a:bodyPr/>
          <a:lstStyle/>
          <a:p>
            <a:pPr/>
            <a:r>
              <a:t>Certifier verification is polynomial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Title 1"/>
          <p:cNvSpPr txBox="1"/>
          <p:nvPr>
            <p:ph type="title"/>
          </p:nvPr>
        </p:nvSpPr>
        <p:spPr>
          <a:xfrm>
            <a:off x="923540" y="584477"/>
            <a:ext cx="10354062" cy="1209767"/>
          </a:xfrm>
          <a:prstGeom prst="rect">
            <a:avLst/>
          </a:prstGeom>
        </p:spPr>
        <p:txBody>
          <a:bodyPr/>
          <a:lstStyle/>
          <a:p>
            <a:pPr/>
            <a:r>
              <a:t>REDUCTION FROM KNOWN NP-hard SOL</a:t>
            </a:r>
            <a:r>
              <a:t>u</a:t>
            </a:r>
            <a:r>
              <a:t>t</a:t>
            </a:r>
            <a:r>
              <a:t>io</a:t>
            </a:r>
            <a:r>
              <a:t>n</a:t>
            </a:r>
          </a:p>
        </p:txBody>
      </p:sp>
      <p:sp>
        <p:nvSpPr>
          <p:cNvPr id="357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58" name="Reduce from hamiltonian cycle"/>
          <p:cNvSpPr txBox="1"/>
          <p:nvPr/>
        </p:nvSpPr>
        <p:spPr>
          <a:xfrm>
            <a:off x="5641192" y="3194093"/>
            <a:ext cx="3229750" cy="3708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8" tIns="45718" rIns="45718" bIns="45718">
            <a:spAutoFit/>
          </a:bodyPr>
          <a:lstStyle>
            <a:lvl1pPr>
              <a:defRPr>
                <a:latin typeface="+mn-lt"/>
                <a:ea typeface="+mn-ea"/>
                <a:cs typeface="+mn-cs"/>
                <a:sym typeface="Helvetica"/>
              </a:defRPr>
            </a:lvl1pPr>
          </a:lstStyle>
          <a:p>
            <a:pPr/>
            <a:r>
              <a:t>Reduce from hamiltonian cycle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Title 6"/>
          <p:cNvSpPr txBox="1"/>
          <p:nvPr>
            <p:ph type="title"/>
          </p:nvPr>
        </p:nvSpPr>
        <p:spPr>
          <a:xfrm>
            <a:off x="6126479" y="1310638"/>
            <a:ext cx="4806001" cy="2689632"/>
          </a:xfrm>
          <a:prstGeom prst="rect">
            <a:avLst/>
          </a:prstGeom>
        </p:spPr>
        <p:txBody>
          <a:bodyPr/>
          <a:lstStyle/>
          <a:p>
            <a:pPr/>
            <a:r>
              <a:t>Analytical runtime Analysis</a:t>
            </a:r>
          </a:p>
        </p:txBody>
      </p:sp>
      <p:pic>
        <p:nvPicPr>
          <p:cNvPr id="361" name="Picture Placeholder 2" descr="Picture Placeholder 2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  <p:sp>
        <p:nvSpPr>
          <p:cNvPr id="362" name="Text Placeholder 4"/>
          <p:cNvSpPr txBox="1"/>
          <p:nvPr>
            <p:ph type="body" sz="quarter" idx="1"/>
          </p:nvPr>
        </p:nvSpPr>
        <p:spPr>
          <a:xfrm>
            <a:off x="6126162" y="4172989"/>
            <a:ext cx="4806001" cy="2389742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Title 1"/>
          <p:cNvSpPr txBox="1"/>
          <p:nvPr>
            <p:ph type="title"/>
          </p:nvPr>
        </p:nvSpPr>
        <p:spPr>
          <a:xfrm>
            <a:off x="914398" y="365125"/>
            <a:ext cx="10439401" cy="1617017"/>
          </a:xfrm>
          <a:prstGeom prst="rect">
            <a:avLst/>
          </a:prstGeom>
        </p:spPr>
        <p:txBody>
          <a:bodyPr/>
          <a:lstStyle/>
          <a:p>
            <a:pPr/>
            <a:r>
              <a:t>Empirical runtime analysis</a:t>
            </a:r>
          </a:p>
        </p:txBody>
      </p:sp>
      <p:sp>
        <p:nvSpPr>
          <p:cNvPr id="365" name="Content Placeholder 2"/>
          <p:cNvSpPr txBox="1"/>
          <p:nvPr>
            <p:ph type="body" sz="quarter" idx="1"/>
          </p:nvPr>
        </p:nvSpPr>
        <p:spPr>
          <a:xfrm>
            <a:off x="914395" y="2022250"/>
            <a:ext cx="3310137" cy="3747181"/>
          </a:xfrm>
          <a:prstGeom prst="rect">
            <a:avLst/>
          </a:prstGeom>
        </p:spPr>
        <p:txBody>
          <a:bodyPr/>
          <a:lstStyle/>
          <a:p>
            <a:pPr/>
            <a:r>
              <a:t>Unique</a:t>
            </a:r>
          </a:p>
          <a:p>
            <a:pPr/>
            <a:r>
              <a:t>First to market</a:t>
            </a:r>
          </a:p>
          <a:p>
            <a:pPr/>
            <a:r>
              <a:t>Tested</a:t>
            </a:r>
          </a:p>
          <a:p>
            <a:pPr/>
            <a:r>
              <a:t>Authentic</a:t>
            </a:r>
          </a:p>
        </p:txBody>
      </p:sp>
      <p:sp>
        <p:nvSpPr>
          <p:cNvPr id="366" name="Content Placeholder 3"/>
          <p:cNvSpPr txBox="1"/>
          <p:nvPr/>
        </p:nvSpPr>
        <p:spPr>
          <a:xfrm>
            <a:off x="4648029" y="2018120"/>
            <a:ext cx="6660048" cy="374718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normAutofit fontScale="100000" lnSpcReduction="0"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Only product specifically dedicated to this niche market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First beautifully designed product that's both stylish and functional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Conducted testing with college students in the area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000">
                <a:latin typeface="Tenorite"/>
                <a:ea typeface="Tenorite"/>
                <a:cs typeface="Tenorite"/>
                <a:sym typeface="Tenorite"/>
              </a:defRPr>
            </a:pPr>
            <a:r>
              <a:t>Designed with the help and input of experts in the field </a:t>
            </a:r>
          </a:p>
        </p:txBody>
      </p:sp>
      <p:sp>
        <p:nvSpPr>
          <p:cNvPr id="367" name="Slide Number Placeholder 4"/>
          <p:cNvSpPr txBox="1"/>
          <p:nvPr>
            <p:ph type="sldNum" sz="quarter" idx="4294967295"/>
          </p:nvPr>
        </p:nvSpPr>
        <p:spPr>
          <a:xfrm>
            <a:off x="914399" y="6259738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Title 1"/>
          <p:cNvSpPr txBox="1"/>
          <p:nvPr>
            <p:ph type="title"/>
          </p:nvPr>
        </p:nvSpPr>
        <p:spPr>
          <a:xfrm>
            <a:off x="914400" y="2580637"/>
            <a:ext cx="5181600" cy="3368829"/>
          </a:xfrm>
          <a:prstGeom prst="rect">
            <a:avLst/>
          </a:prstGeom>
        </p:spPr>
        <p:txBody>
          <a:bodyPr/>
          <a:lstStyle/>
          <a:p>
            <a:pPr/>
            <a:r>
              <a:t>Reduction</a:t>
            </a:r>
          </a:p>
        </p:txBody>
      </p:sp>
      <p:pic>
        <p:nvPicPr>
          <p:cNvPr id="370" name="Picture Placeholder 2" descr="Picture Placeholder 2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itle 1"/>
          <p:cNvSpPr txBox="1"/>
          <p:nvPr>
            <p:ph type="title"/>
          </p:nvPr>
        </p:nvSpPr>
        <p:spPr>
          <a:xfrm>
            <a:off x="6095998" y="375280"/>
            <a:ext cx="4896685" cy="3624995"/>
          </a:xfrm>
          <a:prstGeom prst="rect">
            <a:avLst/>
          </a:prstGeom>
        </p:spPr>
        <p:txBody>
          <a:bodyPr/>
          <a:lstStyle/>
          <a:p>
            <a:pPr/>
            <a:r>
              <a:t>Enhancing the Approximate Solution</a:t>
            </a:r>
          </a:p>
        </p:txBody>
      </p:sp>
      <p:sp>
        <p:nvSpPr>
          <p:cNvPr id="373" name="Content Placeholder 2"/>
          <p:cNvSpPr txBox="1"/>
          <p:nvPr>
            <p:ph type="body" sz="quarter" idx="1"/>
          </p:nvPr>
        </p:nvSpPr>
        <p:spPr>
          <a:xfrm>
            <a:off x="6095998" y="4172989"/>
            <a:ext cx="4896685" cy="2309733"/>
          </a:xfrm>
          <a:prstGeom prst="rect">
            <a:avLst/>
          </a:prstGeom>
        </p:spPr>
        <p:txBody>
          <a:bodyPr/>
          <a:lstStyle/>
          <a:p>
            <a:pPr/>
            <a:r>
              <a:t>Featuring randomness</a:t>
            </a:r>
          </a:p>
        </p:txBody>
      </p:sp>
      <p:pic>
        <p:nvPicPr>
          <p:cNvPr id="374" name="Picture Placeholder 2" descr="Picture Placeholder 2"/>
          <p:cNvPicPr>
            <a:picLocks noChangeAspect="1"/>
          </p:cNvPicPr>
          <p:nvPr>
            <p:ph type="pic" idx="21"/>
          </p:nvPr>
        </p:nvPicPr>
        <p:blipFill>
          <a:blip r:embed="rId2">
            <a:extLst/>
          </a:blip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Where DO We Fall Short?</a:t>
            </a:r>
          </a:p>
        </p:txBody>
      </p:sp>
      <p:sp>
        <p:nvSpPr>
          <p:cNvPr id="377" name="Slide Number Placeholder 3"/>
          <p:cNvSpPr txBox="1"/>
          <p:nvPr>
            <p:ph type="sldNum" sz="quarter" idx="4294967295"/>
          </p:nvPr>
        </p:nvSpPr>
        <p:spPr>
          <a:xfrm>
            <a:off x="914399" y="6259740"/>
            <a:ext cx="273652" cy="269237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/>
          <a:p>
            <a:pPr/>
            <a:fld id="{86CB4B4D-7CA3-9044-876B-883B54F8677D}" type="slidenum"/>
          </a:p>
        </p:txBody>
      </p:sp>
      <p:sp>
        <p:nvSpPr>
          <p:cNvPr id="378" name="TextBox 1"/>
          <p:cNvSpPr txBox="1"/>
          <p:nvPr/>
        </p:nvSpPr>
        <p:spPr>
          <a:xfrm>
            <a:off x="914399" y="1822536"/>
            <a:ext cx="7496827" cy="25044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No randomness </a:t>
            </a:r>
            <a:r>
              <a:rPr b="0"/>
              <a:t>limits graph exploration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Dependent </a:t>
            </a:r>
            <a:r>
              <a:rPr b="0"/>
              <a:t>on </a:t>
            </a:r>
            <a:r>
              <a:t>starting node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marL="285750" indent="-285750">
              <a:buSzPct val="100000"/>
              <a:buFont typeface="Arial"/>
              <a:buChar char="•"/>
              <a:defRPr b="1" sz="3200">
                <a:latin typeface="Tenorite"/>
                <a:ea typeface="Tenorite"/>
                <a:cs typeface="Tenorite"/>
                <a:sym typeface="Tenorite"/>
              </a:defRPr>
            </a:pPr>
            <a:r>
              <a:t>Mutates a list</a:t>
            </a:r>
            <a:r>
              <a:rPr b="0"/>
              <a:t> while iterating through it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Title 1"/>
          <p:cNvSpPr txBox="1"/>
          <p:nvPr>
            <p:ph type="title"/>
          </p:nvPr>
        </p:nvSpPr>
        <p:spPr>
          <a:xfrm>
            <a:off x="914396" y="365125"/>
            <a:ext cx="10439404" cy="1617017"/>
          </a:xfrm>
          <a:prstGeom prst="rect">
            <a:avLst/>
          </a:prstGeom>
        </p:spPr>
        <p:txBody>
          <a:bodyPr/>
          <a:lstStyle/>
          <a:p>
            <a:pPr/>
            <a:r>
              <a:t>Making Version 3.5</a:t>
            </a:r>
          </a:p>
        </p:txBody>
      </p:sp>
      <p:sp>
        <p:nvSpPr>
          <p:cNvPr id="381" name="Text Placeholder 2"/>
          <p:cNvSpPr txBox="1"/>
          <p:nvPr>
            <p:ph type="body" sz="half" idx="1"/>
          </p:nvPr>
        </p:nvSpPr>
        <p:spPr>
          <a:xfrm>
            <a:off x="914398" y="2022249"/>
            <a:ext cx="6413077" cy="3580752"/>
          </a:xfrm>
          <a:prstGeom prst="rect">
            <a:avLst/>
          </a:prstGeom>
        </p:spPr>
        <p:txBody>
          <a:bodyPr/>
          <a:lstStyle/>
          <a:p>
            <a:pPr marL="224027" indent="-224027" defTabSz="896111">
              <a:lnSpc>
                <a:spcPct val="72000"/>
              </a:lnSpc>
              <a:spcBef>
                <a:spcPts val="1100"/>
              </a:spcBef>
              <a:defRPr b="0" sz="2646"/>
            </a:pPr>
            <a:r>
              <a:t>It was – and is – </a:t>
            </a:r>
            <a:r>
              <a:rPr b="1"/>
              <a:t>an iterative process</a:t>
            </a:r>
            <a:endParaRPr sz="1666"/>
          </a:p>
          <a:p>
            <a:pPr marL="224027" indent="-224027" defTabSz="896111">
              <a:lnSpc>
                <a:spcPct val="72000"/>
              </a:lnSpc>
              <a:spcBef>
                <a:spcPts val="1100"/>
              </a:spcBef>
              <a:defRPr sz="2646"/>
            </a:pPr>
            <a:r>
              <a:t>Randomly </a:t>
            </a:r>
            <a:r>
              <a:rPr b="0"/>
              <a:t>determines:</a:t>
            </a:r>
            <a:endParaRPr sz="1666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46"/>
            </a:pPr>
            <a:r>
              <a:t>Starting node</a:t>
            </a:r>
            <a:endParaRPr sz="1666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46"/>
            </a:pPr>
            <a:r>
              <a:t>Min-weight neighbor to choose</a:t>
            </a:r>
            <a:endParaRPr sz="1666"/>
          </a:p>
          <a:p>
            <a:pPr lvl="1" marL="696976" indent="-248920" defTabSz="896111">
              <a:lnSpc>
                <a:spcPct val="72000"/>
              </a:lnSpc>
              <a:spcBef>
                <a:spcPts val="1100"/>
              </a:spcBef>
              <a:defRPr b="0" sz="2646"/>
            </a:pPr>
            <a:r>
              <a:t>Swapping endpoints in a segment.</a:t>
            </a:r>
            <a:endParaRPr sz="1666"/>
          </a:p>
          <a:p>
            <a:pPr marL="224027" indent="-224027" defTabSz="896111">
              <a:lnSpc>
                <a:spcPct val="72000"/>
              </a:lnSpc>
              <a:spcBef>
                <a:spcPts val="1100"/>
              </a:spcBef>
              <a:defRPr sz="2646"/>
            </a:pPr>
            <a:r>
              <a:t>Reorders output </a:t>
            </a:r>
            <a:r>
              <a:rPr b="0"/>
              <a:t>path to be </a:t>
            </a:r>
            <a:r>
              <a:t>consistent.</a:t>
            </a:r>
            <a:endParaRPr sz="1666"/>
          </a:p>
          <a:p>
            <a:pPr marL="224027" indent="-224027" defTabSz="896111">
              <a:lnSpc>
                <a:spcPct val="72000"/>
              </a:lnSpc>
              <a:spcBef>
                <a:spcPts val="1100"/>
              </a:spcBef>
              <a:defRPr sz="2646"/>
            </a:pPr>
            <a:r>
              <a:t>Iterates</a:t>
            </a:r>
            <a:r>
              <a:rPr b="0"/>
              <a:t> on solution </a:t>
            </a:r>
            <a:r>
              <a:t>by looping </a:t>
            </a:r>
            <a:r>
              <a:rPr b="0"/>
              <a:t>several times.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Title 6"/>
          <p:cNvSpPr txBox="1"/>
          <p:nvPr>
            <p:ph type="title"/>
          </p:nvPr>
        </p:nvSpPr>
        <p:spPr>
          <a:xfrm>
            <a:off x="60794" y="-379570"/>
            <a:ext cx="8875287" cy="2023699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GRaph</a:t>
            </a:r>
          </a:p>
        </p:txBody>
      </p:sp>
      <p:pic>
        <p:nvPicPr>
          <p:cNvPr id="384" name="Picture 2" descr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6965397" y="1552075"/>
            <a:ext cx="5127956" cy="5127955"/>
          </a:xfrm>
          <a:prstGeom prst="rect">
            <a:avLst/>
          </a:prstGeom>
          <a:ln w="12700">
            <a:miter lim="400000"/>
          </a:ln>
        </p:spPr>
      </p:pic>
      <p:sp>
        <p:nvSpPr>
          <p:cNvPr id="385" name="TextBox 9"/>
          <p:cNvSpPr txBox="1"/>
          <p:nvPr/>
        </p:nvSpPr>
        <p:spPr>
          <a:xfrm>
            <a:off x="294573" y="1933126"/>
            <a:ext cx="6670824" cy="382015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edges </a:t>
            </a:r>
            <a:r>
              <a:t>inside</a:t>
            </a:r>
            <a:r>
              <a:rPr b="0"/>
              <a:t> each cluster</a:t>
            </a:r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Inter-cluster edges </a:t>
            </a:r>
            <a:r>
              <a:rPr b="0"/>
              <a:t>designed to </a:t>
            </a:r>
            <a:r>
              <a:t>mislead</a:t>
            </a:r>
            <a:r>
              <a:rPr b="0"/>
              <a:t>: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Cheap</a:t>
            </a:r>
            <a:r>
              <a:rPr b="0"/>
              <a:t> inter-cluster edges are </a:t>
            </a:r>
            <a:r>
              <a:t>bait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1000 weight </a:t>
            </a:r>
            <a:r>
              <a:rPr b="1"/>
              <a:t>trap edge</a:t>
            </a:r>
            <a:endParaRPr>
              <a:latin typeface="+mn-lt"/>
              <a:ea typeface="+mn-ea"/>
              <a:cs typeface="+mn-cs"/>
              <a:sym typeface="Helvetica"/>
            </a:endParaRPr>
          </a:p>
          <a:p>
            <a:pPr lvl="1" marL="711200" indent="-2540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sz="2700">
                <a:latin typeface="Tenorite"/>
                <a:ea typeface="Tenorite"/>
                <a:cs typeface="Tenorite"/>
                <a:sym typeface="Tenorite"/>
              </a:defRPr>
            </a:pPr>
            <a:r>
              <a:t>All other inter-cluster edges are </a:t>
            </a:r>
            <a:r>
              <a:rPr b="1"/>
              <a:t>moderately expensive</a:t>
            </a:r>
            <a:endParaRPr b="1"/>
          </a:p>
          <a:p>
            <a:pPr marL="228600" indent="-228600">
              <a:lnSpc>
                <a:spcPct val="90000"/>
              </a:lnSpc>
              <a:spcBef>
                <a:spcPts val="1200"/>
              </a:spcBef>
              <a:buSzPct val="100000"/>
              <a:buFont typeface="Arial"/>
              <a:buChar char="•"/>
              <a:defRPr b="1" sz="2700">
                <a:latin typeface="Tenorite"/>
                <a:ea typeface="Tenorite"/>
                <a:cs typeface="Tenorite"/>
                <a:sym typeface="Tenorite"/>
              </a:defRPr>
            </a:pPr>
            <a:r>
              <a:t>Optimal path: </a:t>
            </a:r>
            <a:r>
              <a:rPr b="0"/>
              <a:t>length of 12.6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Results</a:t>
            </a:r>
          </a:p>
        </p:txBody>
      </p:sp>
      <p:sp>
        <p:nvSpPr>
          <p:cNvPr id="388" name="TextBox 3"/>
          <p:cNvSpPr txBox="1"/>
          <p:nvPr/>
        </p:nvSpPr>
        <p:spPr>
          <a:xfrm>
            <a:off x="834620" y="1828799"/>
            <a:ext cx="5332977" cy="92963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>
            <a:spAutoFit/>
          </a:bodyPr>
          <a:lstStyle/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TODO: make into a graph or something</a:t>
            </a:r>
          </a:p>
          <a:p>
            <a:pPr>
              <a:defRPr>
                <a:latin typeface="+mn-lt"/>
                <a:ea typeface="+mn-ea"/>
                <a:cs typeface="+mn-cs"/>
                <a:sym typeface="Helvetica"/>
              </a:defRPr>
            </a:pPr>
            <a:r>
              <a:t>Run exact, approx, and v3.5 100 times each and (bar) graph the different results it yields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Title 1"/>
          <p:cNvSpPr txBox="1"/>
          <p:nvPr>
            <p:ph type="title"/>
          </p:nvPr>
        </p:nvSpPr>
        <p:spPr>
          <a:xfrm>
            <a:off x="891990" y="434223"/>
            <a:ext cx="9524998" cy="1499630"/>
          </a:xfrm>
          <a:prstGeom prst="rect">
            <a:avLst/>
          </a:prstGeom>
        </p:spPr>
        <p:txBody>
          <a:bodyPr/>
          <a:lstStyle/>
          <a:p>
            <a:pPr/>
            <a:r>
              <a:t>Sample Problem: The Runtimes</a:t>
            </a:r>
          </a:p>
        </p:txBody>
      </p:sp>
      <p:sp>
        <p:nvSpPr>
          <p:cNvPr id="391" name="Text Placeholder 2"/>
          <p:cNvSpPr txBox="1"/>
          <p:nvPr>
            <p:ph type="body" sz="half" idx="1"/>
          </p:nvPr>
        </p:nvSpPr>
        <p:spPr>
          <a:xfrm>
            <a:off x="914398" y="2022250"/>
            <a:ext cx="6257369" cy="3914910"/>
          </a:xfrm>
          <a:prstGeom prst="rect">
            <a:avLst/>
          </a:prstGeom>
        </p:spPr>
        <p:txBody>
          <a:bodyPr/>
          <a:lstStyle/>
          <a:p>
            <a:pPr/>
            <a:r>
              <a:t>TODO: make a graph. Run exact, approx., and v3.5 100 times and (bar) graph the runtimes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Title 1"/>
          <p:cNvSpPr txBox="1"/>
          <p:nvPr>
            <p:ph type="title"/>
          </p:nvPr>
        </p:nvSpPr>
        <p:spPr>
          <a:xfrm>
            <a:off x="914399" y="365125"/>
            <a:ext cx="7273636" cy="1646554"/>
          </a:xfrm>
          <a:prstGeom prst="rect">
            <a:avLst/>
          </a:prstGeom>
        </p:spPr>
        <p:txBody>
          <a:bodyPr/>
          <a:lstStyle/>
          <a:p>
            <a:pPr/>
            <a:r>
              <a:t>Takeaways</a:t>
            </a:r>
          </a:p>
        </p:txBody>
      </p:sp>
      <p:sp>
        <p:nvSpPr>
          <p:cNvPr id="394" name="Text Placeholder 2"/>
          <p:cNvSpPr txBox="1"/>
          <p:nvPr>
            <p:ph type="body" sz="half" idx="1"/>
          </p:nvPr>
        </p:nvSpPr>
        <p:spPr>
          <a:xfrm>
            <a:off x="914399" y="2011363"/>
            <a:ext cx="7273640" cy="415576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Title 1"/>
          <p:cNvSpPr txBox="1"/>
          <p:nvPr>
            <p:ph type="title"/>
          </p:nvPr>
        </p:nvSpPr>
        <p:spPr>
          <a:xfrm>
            <a:off x="923544" y="584477"/>
            <a:ext cx="10354055" cy="1209767"/>
          </a:xfrm>
          <a:prstGeom prst="rect">
            <a:avLst/>
          </a:prstGeom>
        </p:spPr>
        <p:txBody>
          <a:bodyPr/>
          <a:lstStyle/>
          <a:p>
            <a:pPr/>
            <a:r>
              <a:t>Conclusions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8" name="Graphic 2" descr="Graphic 2"/>
          <p:cNvPicPr>
            <a:picLocks noChangeAspect="1"/>
          </p:cNvPicPr>
          <p:nvPr/>
        </p:nvPicPr>
        <p:blipFill>
          <a:blip r:embed="rId2">
            <a:extLst/>
          </a:blip>
          <a:srcRect l="4151" t="0" r="18576" b="0"/>
          <a:stretch>
            <a:fillRect/>
          </a:stretch>
        </p:blipFill>
        <p:spPr>
          <a:xfrm flipH="1">
            <a:off x="-4" y="0"/>
            <a:ext cx="5181607" cy="6858000"/>
          </a:xfrm>
          <a:prstGeom prst="rect">
            <a:avLst/>
          </a:prstGeom>
          <a:ln w="12700">
            <a:miter lim="400000"/>
          </a:ln>
        </p:spPr>
      </p:pic>
      <p:sp>
        <p:nvSpPr>
          <p:cNvPr id="399" name="Title 6"/>
          <p:cNvSpPr txBox="1"/>
          <p:nvPr>
            <p:ph type="title"/>
          </p:nvPr>
        </p:nvSpPr>
        <p:spPr>
          <a:xfrm>
            <a:off x="6091515" y="374085"/>
            <a:ext cx="5057105" cy="3624995"/>
          </a:xfrm>
          <a:prstGeom prst="rect">
            <a:avLst/>
          </a:prstGeom>
        </p:spPr>
        <p:txBody>
          <a:bodyPr/>
          <a:lstStyle/>
          <a:p>
            <a:pPr/>
            <a:r>
              <a:t>Questions?</a:t>
            </a:r>
          </a:p>
        </p:txBody>
      </p:sp>
      <p:sp>
        <p:nvSpPr>
          <p:cNvPr id="400" name="Content Placeholder 9"/>
          <p:cNvSpPr txBox="1"/>
          <p:nvPr>
            <p:ph type="body" sz="quarter" idx="1"/>
          </p:nvPr>
        </p:nvSpPr>
        <p:spPr>
          <a:xfrm>
            <a:off x="6091513" y="4172989"/>
            <a:ext cx="5057107" cy="251937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000000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Custom">
  <a:themeElements>
    <a:clrScheme name="Cust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E9E6DF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FF"/>
      </a:hlink>
      <a:folHlink>
        <a:srgbClr val="FF00FF"/>
      </a:folHlink>
    </a:clrScheme>
    <a:fontScheme name="Custom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Cust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
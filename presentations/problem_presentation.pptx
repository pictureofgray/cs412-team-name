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F6F5F3"/>
          </a:solidFill>
        </a:fill>
      </a:tcStyle>
    </a:wholeTbl>
    <a:band2H>
      <a:tcTxStyle/>
      <a:tcStyle>
        <a:tcBdr/>
        <a:fill>
          <a:solidFill>
            <a:srgbClr val="FBFAF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000000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381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81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title>
      <c:tx>
        <c:rich>
          <a:bodyPr rot="0"/>
          <a:lstStyle/>
          <a:p>
            <a:pPr>
              <a:defRPr sz="1400" b="0" i="0" u="none" strike="noStrike">
                <a:solidFill>
                  <a:srgbClr val="000000"/>
                </a:solidFill>
                <a:latin typeface="Helvetica"/>
              </a:defRPr>
            </a:pPr>
            <a:r>
              <a:rPr lang="en-US" sz="1400" b="0" i="0" u="none" strike="noStrike">
                <a:solidFill>
                  <a:srgbClr val="000000"/>
                </a:solidFill>
                <a:latin typeface="Helvetica"/>
              </a:rPr>
              <a:t>Approximate Solution vs. Exact Solution Wall Clock</a:t>
            </a:r>
          </a:p>
        </c:rich>
      </c:tx>
      <c:layout>
        <c:manualLayout>
          <c:xMode val="edge"/>
          <c:yMode val="edge"/>
          <c:x val="0.209116"/>
          <c:y val="0"/>
          <c:w val="0.58176899999999998"/>
          <c:h val="8.05342E-2"/>
        </c:manualLayout>
      </c:layout>
      <c:overlay val="1"/>
      <c:spPr>
        <a:noFill/>
        <a:effectLst/>
      </c:spPr>
    </c:title>
    <c:autoTitleDeleted val="0"/>
    <c:plotArea>
      <c:layout>
        <c:manualLayout>
          <c:layoutTarget val="inner"/>
          <c:xMode val="edge"/>
          <c:yMode val="edge"/>
          <c:x val="0.115235"/>
          <c:y val="8.05342E-2"/>
          <c:w val="0.87976500000000002"/>
          <c:h val="0.74608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Approximate Solution</c:v>
                </c:pt>
              </c:strCache>
            </c:strRef>
          </c:tx>
          <c:spPr>
            <a:ln w="28575" cap="rnd">
              <a:solidFill>
                <a:srgbClr val="156082"/>
              </a:solidFill>
              <a:prstDash val="solid"/>
              <a:round/>
            </a:ln>
            <a:effectLst/>
          </c:spPr>
          <c:marker>
            <c:symbol val="circle"/>
            <c:size val="2"/>
            <c:spPr>
              <a:solidFill>
                <a:srgbClr val="156082"/>
              </a:solidFill>
              <a:ln w="9525" cap="flat">
                <a:solidFill>
                  <a:srgbClr val="156082"/>
                </a:solidFill>
                <a:prstDash val="solid"/>
                <a:round/>
              </a:ln>
              <a:effectLst/>
            </c:spPr>
          </c:marker>
          <c:cat>
            <c:strRef>
              <c:f>Sheet1!$A$2:$A$18</c:f>
              <c:strCache>
                <c:ptCount val="17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10</c:v>
                </c:pt>
                <c:pt idx="8">
                  <c:v>11</c:v>
                </c:pt>
                <c:pt idx="9">
                  <c:v>12</c:v>
                </c:pt>
                <c:pt idx="10">
                  <c:v>13</c:v>
                </c:pt>
                <c:pt idx="11">
                  <c:v>14</c:v>
                </c:pt>
                <c:pt idx="12">
                  <c:v>15</c:v>
                </c:pt>
                <c:pt idx="13">
                  <c:v>25</c:v>
                </c:pt>
                <c:pt idx="14">
                  <c:v>50</c:v>
                </c:pt>
                <c:pt idx="15">
                  <c:v>100</c:v>
                </c:pt>
                <c:pt idx="16">
                  <c:v>1000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9.0000000000000002E-6</c:v>
                </c:pt>
                <c:pt idx="1">
                  <c:v>1.2E-5</c:v>
                </c:pt>
                <c:pt idx="2">
                  <c:v>1.2999999999999999E-5</c:v>
                </c:pt>
                <c:pt idx="3">
                  <c:v>1.5999999999999999E-5</c:v>
                </c:pt>
                <c:pt idx="4">
                  <c:v>1.7E-5</c:v>
                </c:pt>
                <c:pt idx="5">
                  <c:v>1.7E-5</c:v>
                </c:pt>
                <c:pt idx="6">
                  <c:v>3.6999999999999998E-5</c:v>
                </c:pt>
                <c:pt idx="7">
                  <c:v>2.1999999999999999E-5</c:v>
                </c:pt>
                <c:pt idx="8">
                  <c:v>2.5999999999999998E-5</c:v>
                </c:pt>
                <c:pt idx="9">
                  <c:v>2.9E-5</c:v>
                </c:pt>
                <c:pt idx="10">
                  <c:v>3.0000000000000001E-5</c:v>
                </c:pt>
                <c:pt idx="11">
                  <c:v>3.3000000000000003E-5</c:v>
                </c:pt>
                <c:pt idx="12">
                  <c:v>5.8E-5</c:v>
                </c:pt>
                <c:pt idx="13">
                  <c:v>8.7999999999999998E-5</c:v>
                </c:pt>
                <c:pt idx="14">
                  <c:v>3.0400000000000002E-4</c:v>
                </c:pt>
                <c:pt idx="15">
                  <c:v>1.4170000000000001E-3</c:v>
                </c:pt>
                <c:pt idx="16">
                  <c:v>0.26301799999999997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819-4C89-80B5-3AED693EB0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Exact Solution</c:v>
                </c:pt>
              </c:strCache>
            </c:strRef>
          </c:tx>
          <c:spPr>
            <a:ln w="28575" cap="rnd">
              <a:solidFill>
                <a:srgbClr val="E97132"/>
              </a:solidFill>
              <a:prstDash val="solid"/>
              <a:round/>
            </a:ln>
            <a:effectLst/>
          </c:spPr>
          <c:marker>
            <c:symbol val="circle"/>
            <c:size val="2"/>
            <c:spPr>
              <a:solidFill>
                <a:srgbClr val="E97132"/>
              </a:solidFill>
              <a:ln w="9525" cap="flat">
                <a:solidFill>
                  <a:srgbClr val="E97132"/>
                </a:solidFill>
                <a:prstDash val="solid"/>
                <a:round/>
              </a:ln>
              <a:effectLst/>
            </c:spPr>
          </c:marker>
          <c:cat>
            <c:strRef>
              <c:f>Sheet1!$A$2:$A$18</c:f>
              <c:strCache>
                <c:ptCount val="17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9</c:v>
                </c:pt>
                <c:pt idx="7">
                  <c:v>10</c:v>
                </c:pt>
                <c:pt idx="8">
                  <c:v>11</c:v>
                </c:pt>
                <c:pt idx="9">
                  <c:v>12</c:v>
                </c:pt>
                <c:pt idx="10">
                  <c:v>13</c:v>
                </c:pt>
                <c:pt idx="11">
                  <c:v>14</c:v>
                </c:pt>
                <c:pt idx="12">
                  <c:v>15</c:v>
                </c:pt>
                <c:pt idx="13">
                  <c:v>25</c:v>
                </c:pt>
                <c:pt idx="14">
                  <c:v>50</c:v>
                </c:pt>
                <c:pt idx="15">
                  <c:v>100</c:v>
                </c:pt>
                <c:pt idx="16">
                  <c:v>1000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7.9999999999999996E-6</c:v>
                </c:pt>
                <c:pt idx="1">
                  <c:v>1.5E-5</c:v>
                </c:pt>
                <c:pt idx="2">
                  <c:v>5.1999999999999997E-5</c:v>
                </c:pt>
                <c:pt idx="3">
                  <c:v>3.1100000000000002E-4</c:v>
                </c:pt>
                <c:pt idx="4">
                  <c:v>2.4889999999999999E-3</c:v>
                </c:pt>
                <c:pt idx="5">
                  <c:v>2.3088000000000001E-2</c:v>
                </c:pt>
                <c:pt idx="6">
                  <c:v>0.22878999999999999</c:v>
                </c:pt>
                <c:pt idx="7">
                  <c:v>2.4284379999999999</c:v>
                </c:pt>
                <c:pt idx="8">
                  <c:v>27.651017</c:v>
                </c:pt>
                <c:pt idx="9">
                  <c:v>410.11246999999997</c:v>
                </c:pt>
                <c:pt idx="10">
                  <c:v>9600.4881069999992</c:v>
                </c:pt>
                <c:pt idx="11">
                  <c:v>244000</c:v>
                </c:pt>
                <c:pt idx="12">
                  <c:v>3920000</c:v>
                </c:pt>
                <c:pt idx="13">
                  <c:v>7.76E+19</c:v>
                </c:pt>
                <c:pt idx="14">
                  <c:v>3.0399999999999999E+59</c:v>
                </c:pt>
                <c:pt idx="15">
                  <c:v>1.8699999999999999E+153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819-4C89-80B5-3AED693EB0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Helvetica"/>
                  </a:defRPr>
                </a:pPr>
                <a:r>
                  <a:rPr lang="en-US" sz="1000" b="0" i="0" u="none" strike="noStrike">
                    <a:solidFill>
                      <a:srgbClr val="000000"/>
                    </a:solidFill>
                    <a:latin typeface="Helvetica"/>
                  </a:rPr>
                  <a:t>Test Cases
 (# nodes per test case)</a:t>
                </a:r>
              </a:p>
            </c:rich>
          </c:tx>
          <c:overlay val="1"/>
        </c:title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 rot="0"/>
          <a:lstStyle/>
          <a:p>
            <a:pPr>
              <a:defRPr sz="900" b="0" i="0" u="none" strike="noStrike">
                <a:solidFill>
                  <a:srgbClr val="000000"/>
                </a:solidFill>
                <a:latin typeface="Helvetica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5000000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Helvetica"/>
                  </a:defRPr>
                </a:pPr>
                <a:r>
                  <a:rPr lang="en-US" sz="1000" b="0" i="0" u="none" strike="noStrike">
                    <a:solidFill>
                      <a:srgbClr val="000000"/>
                    </a:solidFill>
                    <a:latin typeface="Helvetica"/>
                  </a:rPr>
                  <a:t>Time (seconds)</a:t>
                </a:r>
              </a:p>
            </c:rich>
          </c:tx>
          <c:overlay val="1"/>
        </c:title>
        <c:numFmt formatCode="0.####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sz="900" b="0" i="0" u="none" strike="noStrike">
                <a:solidFill>
                  <a:srgbClr val="000000"/>
                </a:solidFill>
                <a:latin typeface="Helvetica"/>
              </a:defRPr>
            </a:pPr>
            <a:endParaRPr lang="en-US"/>
          </a:p>
        </c:txPr>
        <c:crossAx val="2094734552"/>
        <c:crosses val="autoZero"/>
        <c:crossBetween val="between"/>
        <c:majorUnit val="1250000"/>
        <c:minorUnit val="625000"/>
      </c:valAx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0.31070500000000001"/>
          <c:y val="0.95586199999999999"/>
          <c:w val="0.43461300000000003"/>
          <c:h val="4.4138400000000001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900" b="0" i="0" u="none" strike="noStrike">
              <a:solidFill>
                <a:srgbClr val="000000"/>
              </a:solidFill>
              <a:latin typeface="Helvetica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title>
      <c:tx>
        <c:rich>
          <a:bodyPr rot="0"/>
          <a:lstStyle/>
          <a:p>
            <a:pPr>
              <a:defRPr sz="2000" b="0" i="0" u="none" strike="noStrike">
                <a:solidFill>
                  <a:srgbClr val="000000"/>
                </a:solidFill>
                <a:latin typeface="Helvetica"/>
              </a:defRPr>
            </a:pPr>
            <a:r>
              <a:rPr sz="2000" b="0" i="0" u="none" strike="noStrike">
                <a:solidFill>
                  <a:srgbClr val="000000"/>
                </a:solidFill>
                <a:latin typeface="Helvetica"/>
              </a:rPr>
              <a:t>Lengths Produced from Approx. Solution</a:t>
            </a:r>
          </a:p>
        </c:rich>
      </c:tx>
      <c:layout>
        <c:manualLayout>
          <c:xMode val="edge"/>
          <c:yMode val="edge"/>
          <c:x val="0.15012300000000001"/>
          <c:y val="0"/>
          <c:w val="0.69975299999999996"/>
          <c:h val="0.11108899999999999"/>
        </c:manualLayout>
      </c:layout>
      <c:overlay val="1"/>
      <c:spPr>
        <a:noFill/>
        <a:effectLst/>
      </c:spPr>
    </c:title>
    <c:autoTitleDeleted val="0"/>
    <c:plotArea>
      <c:layout>
        <c:manualLayout>
          <c:layoutTarget val="inner"/>
          <c:xMode val="edge"/>
          <c:yMode val="edge"/>
          <c:x val="8.3552699999999994E-2"/>
          <c:y val="0.11108899999999999"/>
          <c:w val="0.91144700000000001"/>
          <c:h val="0.760561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Lengths Produced</c:v>
                </c:pt>
              </c:strCache>
            </c:strRef>
          </c:tx>
          <c:spPr>
            <a:solidFill>
              <a:srgbClr val="BF9000"/>
            </a:solidFill>
            <a:ln w="9525" cap="flat">
              <a:solidFill>
                <a:srgbClr val="806000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Helvetic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Sheet1!$B$1:$I$1</c:f>
              <c:strCache>
                <c:ptCount val="8"/>
                <c:pt idx="0">
                  <c:v>12.6</c:v>
                </c:pt>
                <c:pt idx="1">
                  <c:v>13.6</c:v>
                </c:pt>
                <c:pt idx="2">
                  <c:v>14.6</c:v>
                </c:pt>
                <c:pt idx="3">
                  <c:v>60.7</c:v>
                </c:pt>
                <c:pt idx="4">
                  <c:v>61.7</c:v>
                </c:pt>
                <c:pt idx="5">
                  <c:v>62.7</c:v>
                </c:pt>
                <c:pt idx="6">
                  <c:v>1011.7</c:v>
                </c:pt>
                <c:pt idx="7">
                  <c:v>1012.7</c:v>
                </c:pt>
              </c:strCache>
            </c:strRef>
          </c:cat>
          <c:val>
            <c:numRef>
              <c:f>Sheet1!$B$2:$I$2</c:f>
              <c:numCache>
                <c:formatCode>General</c:formatCode>
                <c:ptCount val="8"/>
                <c:pt idx="0">
                  <c:v>18</c:v>
                </c:pt>
                <c:pt idx="1">
                  <c:v>15</c:v>
                </c:pt>
                <c:pt idx="2">
                  <c:v>1</c:v>
                </c:pt>
                <c:pt idx="3">
                  <c:v>7</c:v>
                </c:pt>
                <c:pt idx="4">
                  <c:v>34</c:v>
                </c:pt>
                <c:pt idx="5">
                  <c:v>11</c:v>
                </c:pt>
                <c:pt idx="6">
                  <c:v>12</c:v>
                </c:pt>
                <c:pt idx="7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D8-470E-B699-4879B8C115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sz="1400" b="0" i="0" u="none" strike="noStrike">
                    <a:solidFill>
                      <a:srgbClr val="000000"/>
                    </a:solidFill>
                    <a:latin typeface="Helvetica"/>
                  </a:defRPr>
                </a:pPr>
                <a:r>
                  <a:rPr sz="1400" b="0" i="0" u="none" strike="noStrike">
                    <a:solidFill>
                      <a:srgbClr val="000000"/>
                    </a:solidFill>
                    <a:latin typeface="Helvetica"/>
                  </a:rPr>
                  <a:t>Lengths Produced</a:t>
                </a:r>
              </a:p>
            </c:rich>
          </c:tx>
          <c:overlay val="1"/>
        </c:title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 rot="0"/>
          <a:lstStyle/>
          <a:p>
            <a:pPr>
              <a:defRPr sz="900" b="0" i="0" u="none" strike="noStrike">
                <a:solidFill>
                  <a:srgbClr val="000000"/>
                </a:solidFill>
                <a:latin typeface="Helvetica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400" b="0" i="0" u="none" strike="noStrike">
                    <a:solidFill>
                      <a:srgbClr val="000000"/>
                    </a:solidFill>
                    <a:latin typeface="Helvetica"/>
                  </a:defRPr>
                </a:pPr>
                <a:r>
                  <a:rPr sz="1400" b="0" i="0" u="none" strike="noStrike">
                    <a:solidFill>
                      <a:srgbClr val="000000"/>
                    </a:solidFill>
                    <a:latin typeface="Helvetica"/>
                  </a:rPr>
                  <a:t>Frequency</a:t>
                </a:r>
              </a:p>
            </c:rich>
          </c:tx>
          <c:overlay val="1"/>
        </c:title>
        <c:numFmt formatCode="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sz="900" b="0" i="0" u="none" strike="noStrike">
                <a:solidFill>
                  <a:srgbClr val="000000"/>
                </a:solidFill>
                <a:latin typeface="Helvetica"/>
              </a:defRPr>
            </a:pPr>
            <a:endParaRPr lang="en-US"/>
          </a:p>
        </c:txPr>
        <c:crossAx val="2094734552"/>
        <c:crosses val="autoZero"/>
        <c:crossBetween val="between"/>
        <c:majorUnit val="10"/>
        <c:minorUnit val="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title>
      <c:tx>
        <c:rich>
          <a:bodyPr rot="0"/>
          <a:lstStyle/>
          <a:p>
            <a:pPr>
              <a:defRPr sz="2000" b="0" i="0" u="none" strike="noStrike">
                <a:solidFill>
                  <a:srgbClr val="0D0D0D"/>
                </a:solidFill>
                <a:latin typeface="Helvetica"/>
              </a:defRPr>
            </a:pPr>
            <a:r>
              <a:rPr sz="2000" b="0" i="0" u="none" strike="noStrike">
                <a:solidFill>
                  <a:srgbClr val="0D0D0D"/>
                </a:solidFill>
                <a:latin typeface="Helvetica"/>
              </a:rPr>
              <a:t>Lengths Produced from Zenith</a:t>
            </a:r>
          </a:p>
        </c:rich>
      </c:tx>
      <c:layout>
        <c:manualLayout>
          <c:xMode val="edge"/>
          <c:yMode val="edge"/>
          <c:x val="7.6384800000000003E-2"/>
          <c:y val="0"/>
          <c:w val="0.84723000000000004"/>
          <c:h val="0.123671"/>
        </c:manualLayout>
      </c:layout>
      <c:overlay val="1"/>
      <c:spPr>
        <a:noFill/>
        <a:effectLst/>
      </c:spPr>
    </c:title>
    <c:autoTitleDeleted val="0"/>
    <c:plotArea>
      <c:layout>
        <c:manualLayout>
          <c:layoutTarget val="inner"/>
          <c:xMode val="edge"/>
          <c:yMode val="edge"/>
          <c:x val="0.15120500000000001"/>
          <c:y val="0.123671"/>
          <c:w val="0.84379499999999996"/>
          <c:h val="0.749550999999999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BF9000"/>
            </a:solidFill>
            <a:ln w="9525" cap="flat">
              <a:solidFill>
                <a:srgbClr val="806000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0D0D"/>
                    </a:solidFill>
                    <a:latin typeface="Helvetic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Sheet1!$B$1:$B$1</c:f>
              <c:strCache>
                <c:ptCount val="1"/>
                <c:pt idx="0">
                  <c:v>12.6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2D-4F2B-AF26-FC3AB04803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sz="1400" b="0" i="0" u="none" strike="noStrike">
                    <a:solidFill>
                      <a:srgbClr val="0D0D0D"/>
                    </a:solidFill>
                    <a:latin typeface="Helvetica"/>
                  </a:defRPr>
                </a:pPr>
                <a:r>
                  <a:rPr sz="1400" b="0" i="0" u="none" strike="noStrike">
                    <a:solidFill>
                      <a:srgbClr val="0D0D0D"/>
                    </a:solidFill>
                    <a:latin typeface="Helvetica"/>
                  </a:rPr>
                  <a:t>Lengths Produced</a:t>
                </a:r>
              </a:p>
            </c:rich>
          </c:tx>
          <c:overlay val="1"/>
        </c:title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 rot="0"/>
          <a:lstStyle/>
          <a:p>
            <a:pPr>
              <a:defRPr sz="900" b="0" i="0" u="none" strike="noStrike">
                <a:solidFill>
                  <a:srgbClr val="0D0D0D"/>
                </a:solidFill>
                <a:latin typeface="Helvetica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400" b="0" i="0" u="none" strike="noStrike">
                    <a:solidFill>
                      <a:srgbClr val="0D0D0D"/>
                    </a:solidFill>
                    <a:latin typeface="Helvetica"/>
                  </a:defRPr>
                </a:pPr>
                <a:r>
                  <a:rPr sz="1400" b="0" i="0" u="none" strike="noStrike">
                    <a:solidFill>
                      <a:srgbClr val="0D0D0D"/>
                    </a:solidFill>
                    <a:latin typeface="Helvetica"/>
                  </a:rPr>
                  <a:t>Frequency</a:t>
                </a:r>
              </a:p>
            </c:rich>
          </c:tx>
          <c:overlay val="1"/>
        </c:title>
        <c:numFmt formatCode="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sz="900" b="0" i="0" u="none" strike="noStrike">
                <a:solidFill>
                  <a:srgbClr val="0D0D0D"/>
                </a:solidFill>
                <a:latin typeface="Helvetica"/>
              </a:defRPr>
            </a:pPr>
            <a:endParaRPr lang="en-US"/>
          </a:p>
        </c:txPr>
        <c:crossAx val="2094734552"/>
        <c:crosses val="autoZero"/>
        <c:crossBetween val="between"/>
        <c:majorUnit val="25"/>
        <c:minorUnit val="12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4" name="Shape 13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lick to add title"/>
          <p:cNvSpPr txBox="1"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3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FFFFFF"/>
                </a:solidFill>
              </a:defRPr>
            </a:lvl1pPr>
          </a:lstStyle>
          <a:p>
            <a:r>
              <a:t>Click to add title</a:t>
            </a:r>
          </a:p>
        </p:txBody>
      </p:sp>
      <p:pic>
        <p:nvPicPr>
          <p:cNvPr id="13" name="Graphic 6" descr="Graphic 6"/>
          <p:cNvPicPr>
            <a:picLocks noChangeAspect="1"/>
          </p:cNvPicPr>
          <p:nvPr/>
        </p:nvPicPr>
        <p:blipFill>
          <a:blip r:embed="rId2"/>
          <a:srcRect l="18454" t="1727"/>
          <a:stretch>
            <a:fillRect/>
          </a:stretch>
        </p:blipFill>
        <p:spPr>
          <a:xfrm>
            <a:off x="-12" y="0"/>
            <a:ext cx="8265012" cy="5320146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06330" y="6240782"/>
            <a:ext cx="231273" cy="231137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Tit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c 6" descr="Graphic 6"/>
          <p:cNvPicPr>
            <a:picLocks noChangeAspect="1"/>
          </p:cNvPicPr>
          <p:nvPr/>
        </p:nvPicPr>
        <p:blipFill>
          <a:blip r:embed="rId2"/>
          <a:srcRect l="13300" t="13815"/>
          <a:stretch>
            <a:fillRect/>
          </a:stretch>
        </p:blipFill>
        <p:spPr>
          <a:xfrm>
            <a:off x="0" y="-1"/>
            <a:ext cx="4239206" cy="3776194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Click to add title"/>
          <p:cNvSpPr txBox="1">
            <a:spLocks noGrp="1"/>
          </p:cNvSpPr>
          <p:nvPr>
            <p:ph type="title" hasCustomPrompt="1"/>
          </p:nvPr>
        </p:nvSpPr>
        <p:spPr>
          <a:xfrm>
            <a:off x="914400" y="2580638"/>
            <a:ext cx="5181600" cy="3368824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FFFFFF"/>
                </a:solidFill>
              </a:defRPr>
            </a:lvl1pPr>
          </a:lstStyle>
          <a:p>
            <a:r>
              <a:t>Click to add title</a:t>
            </a:r>
          </a:p>
        </p:txBody>
      </p:sp>
      <p:sp>
        <p:nvSpPr>
          <p:cNvPr id="23" name="Picture Placeholder 8"/>
          <p:cNvSpPr>
            <a:spLocks noGrp="1"/>
          </p:cNvSpPr>
          <p:nvPr>
            <p:ph type="pic" idx="21"/>
          </p:nvPr>
        </p:nvSpPr>
        <p:spPr>
          <a:xfrm>
            <a:off x="6085840" y="-10165"/>
            <a:ext cx="6116328" cy="686817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06330" y="6240782"/>
            <a:ext cx="231273" cy="231137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7" descr="Graphic 7"/>
          <p:cNvPicPr>
            <a:picLocks noChangeAspect="1"/>
          </p:cNvPicPr>
          <p:nvPr/>
        </p:nvPicPr>
        <p:blipFill>
          <a:blip r:embed="rId2"/>
          <a:srcRect l="15158" b="78533"/>
          <a:stretch>
            <a:fillRect/>
          </a:stretch>
        </p:blipFill>
        <p:spPr>
          <a:xfrm rot="10800000">
            <a:off x="6324598" y="-8"/>
            <a:ext cx="5867405" cy="1317517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Click to add title"/>
          <p:cNvSpPr txBox="1">
            <a:spLocks noGrp="1"/>
          </p:cNvSpPr>
          <p:nvPr>
            <p:ph type="title" hasCustomPrompt="1"/>
          </p:nvPr>
        </p:nvSpPr>
        <p:spPr>
          <a:xfrm>
            <a:off x="6126479" y="1310638"/>
            <a:ext cx="4806001" cy="2689632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t>Click to add title</a:t>
            </a:r>
          </a:p>
        </p:txBody>
      </p:sp>
      <p:sp>
        <p:nvSpPr>
          <p:cNvPr id="33" name="Picture Placeholder 11"/>
          <p:cNvSpPr>
            <a:spLocks noGrp="1"/>
          </p:cNvSpPr>
          <p:nvPr>
            <p:ph type="pic" idx="21"/>
          </p:nvPr>
        </p:nvSpPr>
        <p:spPr>
          <a:xfrm>
            <a:off x="0" y="-10165"/>
            <a:ext cx="6096000" cy="685800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126162" y="4172989"/>
            <a:ext cx="4806001" cy="2389747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000"/>
            </a:lvl1pPr>
            <a:lvl2pPr marL="0" indent="0">
              <a:buSzTx/>
              <a:buFontTx/>
              <a:buNone/>
              <a:defRPr sz="2000"/>
            </a:lvl2pPr>
            <a:lvl3pPr marL="0" indent="0">
              <a:buSzTx/>
              <a:buFontTx/>
              <a:buNone/>
              <a:defRPr sz="2000"/>
            </a:lvl3pPr>
            <a:lvl4pPr marL="0" indent="0">
              <a:buSzTx/>
              <a:buFontTx/>
              <a:buNone/>
              <a:defRPr sz="2000"/>
            </a:lvl4pPr>
            <a:lvl5pPr marL="0" indent="0">
              <a:buSzTx/>
              <a:buFontTx/>
              <a:buNone/>
              <a:defRPr sz="2000"/>
            </a:lvl5pPr>
          </a:lstStyle>
          <a:p>
            <a:r>
              <a:t>Click to add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06330" y="6240782"/>
            <a:ext cx="231273" cy="231137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raphic 2" descr="Graphic 2"/>
          <p:cNvPicPr>
            <a:picLocks noChangeAspect="1"/>
          </p:cNvPicPr>
          <p:nvPr/>
        </p:nvPicPr>
        <p:blipFill>
          <a:blip r:embed="rId2"/>
          <a:srcRect l="45239"/>
          <a:stretch>
            <a:fillRect/>
          </a:stretch>
        </p:blipFill>
        <p:spPr>
          <a:xfrm flipH="1">
            <a:off x="9135412" y="0"/>
            <a:ext cx="3056596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raphic 8" descr="Graphic 8"/>
          <p:cNvPicPr>
            <a:picLocks noChangeAspect="1"/>
          </p:cNvPicPr>
          <p:nvPr/>
        </p:nvPicPr>
        <p:blipFill>
          <a:blip r:embed="rId3"/>
          <a:srcRect b="2330"/>
          <a:stretch>
            <a:fillRect/>
          </a:stretch>
        </p:blipFill>
        <p:spPr>
          <a:xfrm>
            <a:off x="7810500" y="3025140"/>
            <a:ext cx="4381500" cy="3832860"/>
          </a:xfrm>
          <a:prstGeom prst="rect">
            <a:avLst/>
          </a:prstGeom>
          <a:ln w="12700">
            <a:miter lim="400000"/>
          </a:ln>
        </p:spPr>
      </p:pic>
      <p:sp>
        <p:nvSpPr>
          <p:cNvPr id="44" name="Click to add title"/>
          <p:cNvSpPr txBox="1"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  <a:prstGeom prst="rect">
            <a:avLst/>
          </a:prstGeom>
        </p:spPr>
        <p:txBody>
          <a:bodyPr/>
          <a:lstStyle/>
          <a:p>
            <a:r>
              <a:t>Click to add title</a:t>
            </a:r>
          </a:p>
        </p:txBody>
      </p:sp>
      <p:sp>
        <p:nvSpPr>
          <p:cNvPr id="45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914399" y="2011363"/>
            <a:ext cx="7273640" cy="4155760"/>
          </a:xfrm>
          <a:prstGeom prst="rect">
            <a:avLst/>
          </a:prstGeo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 marL="711200" indent="-254000">
              <a:spcBef>
                <a:spcPts val="1200"/>
              </a:spcBef>
              <a:defRPr sz="2000"/>
            </a:lvl2pPr>
            <a:lvl3pPr marL="1200150" indent="-285750">
              <a:spcBef>
                <a:spcPts val="1200"/>
              </a:spcBef>
              <a:defRPr sz="2000"/>
            </a:lvl3pPr>
            <a:lvl4pPr marL="1698169" indent="-326569">
              <a:spcBef>
                <a:spcPts val="1200"/>
              </a:spcBef>
              <a:defRPr sz="2000"/>
            </a:lvl4pPr>
            <a:lvl5pPr marL="2155369" indent="-326569">
              <a:spcBef>
                <a:spcPts val="1200"/>
              </a:spcBef>
              <a:defRPr sz="2000"/>
            </a:lvl5pPr>
          </a:lstStyle>
          <a:p>
            <a:r>
              <a:t>Click to add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Content and left Imag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raphic 5" descr="Graphic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8039100" y="228599"/>
            <a:ext cx="4381500" cy="3924302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Title Text"/>
          <p:cNvSpPr txBox="1">
            <a:spLocks noGrp="1"/>
          </p:cNvSpPr>
          <p:nvPr>
            <p:ph type="title"/>
          </p:nvPr>
        </p:nvSpPr>
        <p:spPr>
          <a:xfrm>
            <a:off x="6096000" y="375283"/>
            <a:ext cx="4896678" cy="3624989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5" name="Picture Placeholder 10"/>
          <p:cNvSpPr>
            <a:spLocks noGrp="1"/>
          </p:cNvSpPr>
          <p:nvPr>
            <p:ph type="pic" idx="2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6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96000" y="4172989"/>
            <a:ext cx="4896678" cy="230973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SzTx/>
              <a:buFontTx/>
              <a:buNone/>
              <a:defRPr sz="2000">
                <a:solidFill>
                  <a:srgbClr val="FFFFFF"/>
                </a:solidFill>
              </a:defRPr>
            </a:lvl1pPr>
            <a:lvl2pPr marL="774700" indent="-317500">
              <a:spcBef>
                <a:spcPts val="1200"/>
              </a:spcBef>
              <a:buFontTx/>
              <a:defRPr sz="2000">
                <a:solidFill>
                  <a:srgbClr val="FFFFFF"/>
                </a:solidFill>
              </a:defRPr>
            </a:lvl2pPr>
            <a:lvl3pPr marL="1271587" indent="-357187">
              <a:spcBef>
                <a:spcPts val="1200"/>
              </a:spcBef>
              <a:buFontTx/>
              <a:defRPr sz="2000">
                <a:solidFill>
                  <a:srgbClr val="FFFFFF"/>
                </a:solidFill>
              </a:defRPr>
            </a:lvl3pPr>
            <a:lvl4pPr marL="1779814" indent="-408214">
              <a:spcBef>
                <a:spcPts val="1200"/>
              </a:spcBef>
              <a:buFontTx/>
              <a:defRPr sz="2000">
                <a:solidFill>
                  <a:srgbClr val="FFFFFF"/>
                </a:solidFill>
              </a:defRPr>
            </a:lvl4pPr>
            <a:lvl5pPr marL="2237014" indent="-408214">
              <a:spcBef>
                <a:spcPts val="1200"/>
              </a:spcBef>
              <a:buFontTx/>
              <a:defRPr sz="2000">
                <a:solidFill>
                  <a:srgbClr val="FFFFFF"/>
                </a:solidFill>
              </a:defRPr>
            </a:lvl5pPr>
          </a:lstStyle>
          <a:p>
            <a:r>
              <a:t>Click to add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06330" y="6240782"/>
            <a:ext cx="231273" cy="231137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raphic 7" descr="Graphic 7"/>
          <p:cNvPicPr>
            <a:picLocks noChangeAspect="1"/>
          </p:cNvPicPr>
          <p:nvPr/>
        </p:nvPicPr>
        <p:blipFill>
          <a:blip r:embed="rId2"/>
          <a:srcRect l="1981" t="40714" r="61027" b="44471"/>
          <a:stretch>
            <a:fillRect/>
          </a:stretch>
        </p:blipFill>
        <p:spPr>
          <a:xfrm flipH="1">
            <a:off x="-26836" y="5950036"/>
            <a:ext cx="2513536" cy="914412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Graphic 8" descr="Graphic 8"/>
          <p:cNvPicPr>
            <a:picLocks noChangeAspect="1"/>
          </p:cNvPicPr>
          <p:nvPr/>
        </p:nvPicPr>
        <p:blipFill>
          <a:blip r:embed="rId3"/>
          <a:srcRect l="18883" t="18052" r="46634"/>
          <a:stretch>
            <a:fillRect/>
          </a:stretch>
        </p:blipFill>
        <p:spPr>
          <a:xfrm rot="5400000">
            <a:off x="9553763" y="-952311"/>
            <a:ext cx="1685939" cy="3590550"/>
          </a:xfrm>
          <a:prstGeom prst="rect">
            <a:avLst/>
          </a:prstGeom>
          <a:ln w="12700">
            <a:miter lim="400000"/>
          </a:ln>
        </p:spPr>
      </p:pic>
      <p:sp>
        <p:nvSpPr>
          <p:cNvPr id="66" name="Click to add title"/>
          <p:cNvSpPr txBox="1">
            <a:spLocks noGrp="1"/>
          </p:cNvSpPr>
          <p:nvPr>
            <p:ph type="title" hasCustomPrompt="1"/>
          </p:nvPr>
        </p:nvSpPr>
        <p:spPr>
          <a:xfrm>
            <a:off x="914396" y="365125"/>
            <a:ext cx="10439404" cy="1617017"/>
          </a:xfrm>
          <a:prstGeom prst="rect">
            <a:avLst/>
          </a:prstGeom>
        </p:spPr>
        <p:txBody>
          <a:bodyPr/>
          <a:lstStyle/>
          <a:p>
            <a:r>
              <a:t>Click to add title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914399" y="2022250"/>
            <a:ext cx="3310129" cy="3747181"/>
          </a:xfrm>
          <a:prstGeom prst="rect">
            <a:avLst/>
          </a:prstGeom>
        </p:spPr>
        <p:txBody>
          <a:bodyPr/>
          <a:lstStyle>
            <a:lvl1pPr>
              <a:spcBef>
                <a:spcPts val="1200"/>
              </a:spcBef>
              <a:defRPr sz="2000" b="1"/>
            </a:lvl1pPr>
            <a:lvl2pPr marL="711200" indent="-254000">
              <a:spcBef>
                <a:spcPts val="1200"/>
              </a:spcBef>
              <a:defRPr sz="2000" b="1"/>
            </a:lvl2pPr>
            <a:lvl3pPr marL="1200150" indent="-285750">
              <a:spcBef>
                <a:spcPts val="1200"/>
              </a:spcBef>
              <a:defRPr sz="2000" b="1"/>
            </a:lvl3pPr>
            <a:lvl4pPr marL="1698169" indent="-326569">
              <a:spcBef>
                <a:spcPts val="1200"/>
              </a:spcBef>
              <a:defRPr sz="2000" b="1"/>
            </a:lvl4pPr>
            <a:lvl5pPr marL="2155369" indent="-326569">
              <a:spcBef>
                <a:spcPts val="1200"/>
              </a:spcBef>
              <a:defRPr sz="2000" b="1"/>
            </a:lvl5pPr>
          </a:lstStyle>
          <a:p>
            <a:r>
              <a:t>Click to add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raphic 1" descr="Graphic 1"/>
          <p:cNvPicPr>
            <a:picLocks noChangeAspect="1"/>
          </p:cNvPicPr>
          <p:nvPr/>
        </p:nvPicPr>
        <p:blipFill>
          <a:blip r:embed="rId2"/>
          <a:srcRect r="55824" b="26760"/>
          <a:stretch>
            <a:fillRect/>
          </a:stretch>
        </p:blipFill>
        <p:spPr>
          <a:xfrm>
            <a:off x="9229725" y="1835239"/>
            <a:ext cx="2962276" cy="5022761"/>
          </a:xfrm>
          <a:prstGeom prst="rect">
            <a:avLst/>
          </a:prstGeom>
          <a:ln w="12700">
            <a:miter lim="400000"/>
          </a:ln>
        </p:spPr>
      </p:pic>
      <p:sp>
        <p:nvSpPr>
          <p:cNvPr id="76" name="Rectangle 13"/>
          <p:cNvSpPr/>
          <p:nvPr/>
        </p:nvSpPr>
        <p:spPr>
          <a:xfrm>
            <a:off x="4443412" y="1835236"/>
            <a:ext cx="7000876" cy="42798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enorite"/>
                <a:ea typeface="Tenorite"/>
                <a:cs typeface="Tenorite"/>
                <a:sym typeface="Tenorite"/>
              </a:defRPr>
            </a:pPr>
            <a:endParaRPr/>
          </a:p>
        </p:txBody>
      </p:sp>
      <p:pic>
        <p:nvPicPr>
          <p:cNvPr id="77" name="Graphic 8" descr="Graphic 8"/>
          <p:cNvPicPr>
            <a:picLocks noChangeAspect="1"/>
          </p:cNvPicPr>
          <p:nvPr/>
        </p:nvPicPr>
        <p:blipFill>
          <a:blip r:embed="rId2"/>
          <a:srcRect t="60903" r="75060" b="10346"/>
          <a:stretch>
            <a:fillRect/>
          </a:stretch>
        </p:blipFill>
        <p:spPr>
          <a:xfrm rot="16200000">
            <a:off x="149647" y="-149658"/>
            <a:ext cx="1672379" cy="1971682"/>
          </a:xfrm>
          <a:prstGeom prst="rect">
            <a:avLst/>
          </a:prstGeom>
          <a:ln w="12700">
            <a:miter lim="400000"/>
          </a:ln>
        </p:spPr>
      </p:pic>
      <p:sp>
        <p:nvSpPr>
          <p:cNvPr id="78" name="Click to add title"/>
          <p:cNvSpPr txBox="1"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4" cy="1603463"/>
          </a:xfrm>
          <a:prstGeom prst="rect">
            <a:avLst/>
          </a:prstGeom>
        </p:spPr>
        <p:txBody>
          <a:bodyPr/>
          <a:lstStyle/>
          <a:p>
            <a:r>
              <a:t>Click to add title</a:t>
            </a:r>
          </a:p>
        </p:txBody>
      </p:sp>
      <p:sp>
        <p:nvSpPr>
          <p:cNvPr id="79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914399" y="2022250"/>
            <a:ext cx="3299015" cy="3914910"/>
          </a:xfrm>
          <a:prstGeom prst="rect">
            <a:avLst/>
          </a:prstGeo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 marL="711200" indent="-254000">
              <a:spcBef>
                <a:spcPts val="1200"/>
              </a:spcBef>
              <a:defRPr sz="2000"/>
            </a:lvl2pPr>
            <a:lvl3pPr marL="1200150" indent="-285750">
              <a:spcBef>
                <a:spcPts val="1200"/>
              </a:spcBef>
              <a:defRPr sz="2000"/>
            </a:lvl3pPr>
            <a:lvl4pPr marL="1698169" indent="-326569">
              <a:spcBef>
                <a:spcPts val="1200"/>
              </a:spcBef>
              <a:defRPr sz="2000"/>
            </a:lvl4pPr>
            <a:lvl5pPr marL="2155369" indent="-326569">
              <a:spcBef>
                <a:spcPts val="1200"/>
              </a:spcBef>
              <a:defRPr sz="2000"/>
            </a:lvl5pPr>
          </a:lstStyle>
          <a:p>
            <a:r>
              <a:t>Click to add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raphic 7" descr="Graphic 7"/>
          <p:cNvPicPr>
            <a:picLocks noChangeAspect="1"/>
          </p:cNvPicPr>
          <p:nvPr/>
        </p:nvPicPr>
        <p:blipFill>
          <a:blip r:embed="rId2"/>
          <a:srcRect l="18883" t="34408" r="46634" b="1"/>
          <a:stretch>
            <a:fillRect/>
          </a:stretch>
        </p:blipFill>
        <p:spPr>
          <a:xfrm rot="10800000">
            <a:off x="10506071" y="3984078"/>
            <a:ext cx="1685939" cy="2873926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Graphic 8" descr="Graphic 8"/>
          <p:cNvPicPr>
            <a:picLocks noChangeAspect="1"/>
          </p:cNvPicPr>
          <p:nvPr/>
        </p:nvPicPr>
        <p:blipFill>
          <a:blip r:embed="rId3"/>
          <a:srcRect l="29718" t="47145" r="39388" b="8751"/>
          <a:stretch>
            <a:fillRect/>
          </a:stretch>
        </p:blipFill>
        <p:spPr>
          <a:xfrm rot="16200000" flipH="1">
            <a:off x="9781526" y="-311517"/>
            <a:ext cx="2098975" cy="2721995"/>
          </a:xfrm>
          <a:prstGeom prst="rect">
            <a:avLst/>
          </a:prstGeom>
          <a:ln w="12700">
            <a:miter lim="400000"/>
          </a:ln>
        </p:spPr>
      </p:pic>
      <p:sp>
        <p:nvSpPr>
          <p:cNvPr id="89" name="Click to add title"/>
          <p:cNvSpPr txBox="1">
            <a:spLocks noGrp="1"/>
          </p:cNvSpPr>
          <p:nvPr>
            <p:ph type="title" hasCustomPrompt="1"/>
          </p:nvPr>
        </p:nvSpPr>
        <p:spPr>
          <a:xfrm>
            <a:off x="891990" y="434223"/>
            <a:ext cx="9524998" cy="1499630"/>
          </a:xfrm>
          <a:prstGeom prst="rect">
            <a:avLst/>
          </a:prstGeom>
        </p:spPr>
        <p:txBody>
          <a:bodyPr/>
          <a:lstStyle/>
          <a:p>
            <a:r>
              <a:t>Click to add 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914399" y="2022250"/>
            <a:ext cx="6257367" cy="39149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SzTx/>
              <a:buFontTx/>
              <a:buNone/>
              <a:defRPr sz="2000"/>
            </a:lvl1pPr>
            <a:lvl2pPr marL="228600" indent="-228600">
              <a:spcBef>
                <a:spcPts val="1200"/>
              </a:spcBef>
              <a:buFontTx/>
              <a:defRPr sz="2000"/>
            </a:lvl2pPr>
            <a:lvl3pPr marL="711200" indent="-254000">
              <a:spcBef>
                <a:spcPts val="1200"/>
              </a:spcBef>
              <a:buFontTx/>
              <a:defRPr sz="2000"/>
            </a:lvl3pPr>
            <a:lvl4pPr marL="971550" indent="-285750">
              <a:spcBef>
                <a:spcPts val="1200"/>
              </a:spcBef>
              <a:buFontTx/>
              <a:defRPr sz="2000"/>
            </a:lvl4pPr>
            <a:lvl5pPr marL="1200150" indent="-285750">
              <a:spcBef>
                <a:spcPts val="1200"/>
              </a:spcBef>
              <a:buFontTx/>
              <a:defRPr sz="2000"/>
            </a:lvl5pPr>
          </a:lstStyle>
          <a:p>
            <a:r>
              <a:t>Click to add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lick to add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to add title</a:t>
            </a:r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losing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lick to add title"/>
          <p:cNvSpPr txBox="1"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5" cy="3624985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FFFFFF"/>
                </a:solidFill>
              </a:defRPr>
            </a:lvl1pPr>
          </a:lstStyle>
          <a:p>
            <a:r>
              <a:t>Click to add title</a:t>
            </a:r>
          </a:p>
        </p:txBody>
      </p:sp>
      <p:sp>
        <p:nvSpPr>
          <p:cNvPr id="107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91513" y="4172989"/>
            <a:ext cx="5057105" cy="251937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2000">
                <a:solidFill>
                  <a:srgbClr val="FFFFFF"/>
                </a:solidFill>
              </a:defRPr>
            </a:lvl1pPr>
            <a:lvl2pPr marL="774700" indent="-317500">
              <a:spcBef>
                <a:spcPts val="0"/>
              </a:spcBef>
              <a:buFontTx/>
              <a:defRPr sz="2000">
                <a:solidFill>
                  <a:srgbClr val="FFFFFF"/>
                </a:solidFill>
              </a:defRPr>
            </a:lvl2pPr>
            <a:lvl3pPr marL="1271587" indent="-357187">
              <a:spcBef>
                <a:spcPts val="0"/>
              </a:spcBef>
              <a:buFontTx/>
              <a:defRPr sz="2000">
                <a:solidFill>
                  <a:srgbClr val="FFFFFF"/>
                </a:solidFill>
              </a:defRPr>
            </a:lvl3pPr>
            <a:lvl4pPr marL="1779814" indent="-408214">
              <a:spcBef>
                <a:spcPts val="0"/>
              </a:spcBef>
              <a:buFontTx/>
              <a:defRPr sz="2000">
                <a:solidFill>
                  <a:srgbClr val="FFFFFF"/>
                </a:solidFill>
              </a:defRPr>
            </a:lvl4pPr>
            <a:lvl5pPr marL="2114550" indent="-285750">
              <a:spcBef>
                <a:spcPts val="0"/>
              </a:spcBef>
              <a:buFontTx/>
              <a:defRPr sz="2000">
                <a:solidFill>
                  <a:srgbClr val="FFFFFF"/>
                </a:solidFill>
              </a:defRPr>
            </a:lvl5pPr>
          </a:lstStyle>
          <a:p>
            <a:r>
              <a:t>Click to add content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108" name="Graphic 1" descr="Graphic 1"/>
          <p:cNvPicPr>
            <a:picLocks noChangeAspect="1"/>
          </p:cNvPicPr>
          <p:nvPr/>
        </p:nvPicPr>
        <p:blipFill>
          <a:blip r:embed="rId2"/>
          <a:srcRect l="4151" r="18576"/>
          <a:stretch>
            <a:fillRect/>
          </a:stretch>
        </p:blipFill>
        <p:spPr>
          <a:xfrm flipH="1">
            <a:off x="-5" y="0"/>
            <a:ext cx="5181609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06330" y="6240782"/>
            <a:ext cx="231273" cy="231137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raphic 7" descr="Graphic 7"/>
          <p:cNvPicPr>
            <a:picLocks noChangeAspect="1"/>
          </p:cNvPicPr>
          <p:nvPr/>
        </p:nvPicPr>
        <p:blipFill>
          <a:blip r:embed="rId2"/>
          <a:srcRect l="15158" b="78533"/>
          <a:stretch>
            <a:fillRect/>
          </a:stretch>
        </p:blipFill>
        <p:spPr>
          <a:xfrm rot="10800000">
            <a:off x="8553446" y="-39575"/>
            <a:ext cx="5867406" cy="1317517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Click to add title"/>
          <p:cNvSpPr txBox="1">
            <a:spLocks noGrp="1"/>
          </p:cNvSpPr>
          <p:nvPr>
            <p:ph type="title" hasCustomPrompt="1"/>
          </p:nvPr>
        </p:nvSpPr>
        <p:spPr>
          <a:xfrm>
            <a:off x="6126479" y="1310638"/>
            <a:ext cx="4806001" cy="2689632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t>Click to add title</a:t>
            </a:r>
          </a:p>
        </p:txBody>
      </p:sp>
      <p:sp>
        <p:nvSpPr>
          <p:cNvPr id="125" name="Picture Placeholder 11"/>
          <p:cNvSpPr>
            <a:spLocks noGrp="1"/>
          </p:cNvSpPr>
          <p:nvPr>
            <p:ph type="pic" idx="21"/>
          </p:nvPr>
        </p:nvSpPr>
        <p:spPr>
          <a:xfrm>
            <a:off x="0" y="-10165"/>
            <a:ext cx="6096000" cy="685800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126162" y="4172989"/>
            <a:ext cx="4806001" cy="238974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000"/>
            </a:lvl1pPr>
            <a:lvl2pPr marL="0" indent="0">
              <a:buSzTx/>
              <a:buFontTx/>
              <a:buNone/>
              <a:defRPr sz="2000"/>
            </a:lvl2pPr>
            <a:lvl3pPr marL="0" indent="0">
              <a:buSzTx/>
              <a:buFontTx/>
              <a:buNone/>
              <a:defRPr sz="2000"/>
            </a:lvl3pPr>
            <a:lvl4pPr marL="0" indent="0">
              <a:buSzTx/>
              <a:buFontTx/>
              <a:buNone/>
              <a:defRPr sz="2000"/>
            </a:lvl4pPr>
            <a:lvl5pPr marL="0" indent="0">
              <a:buSzTx/>
              <a:buFontTx/>
              <a:buNone/>
              <a:defRPr sz="2000"/>
            </a:lvl5pPr>
          </a:lstStyle>
          <a:p>
            <a:r>
              <a:t>Click to add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06332" y="6240782"/>
            <a:ext cx="231274" cy="231137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2" descr="Graphic 2"/>
          <p:cNvPicPr>
            <a:picLocks noChangeAspect="1"/>
          </p:cNvPicPr>
          <p:nvPr/>
        </p:nvPicPr>
        <p:blipFill>
          <a:blip r:embed="rId14"/>
          <a:srcRect l="18883" t="18052" r="46634"/>
          <a:stretch>
            <a:fillRect/>
          </a:stretch>
        </p:blipFill>
        <p:spPr>
          <a:xfrm rot="5400000">
            <a:off x="9553763" y="-952311"/>
            <a:ext cx="1685939" cy="359055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Click to add title"/>
          <p:cNvSpPr txBox="1">
            <a:spLocks noGrp="1"/>
          </p:cNvSpPr>
          <p:nvPr>
            <p:ph type="title" hasCustomPrompt="1"/>
          </p:nvPr>
        </p:nvSpPr>
        <p:spPr>
          <a:xfrm>
            <a:off x="923544" y="584477"/>
            <a:ext cx="10354055" cy="1209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Click to add title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914400" y="6259742"/>
            <a:ext cx="273652" cy="2692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>
              <a:defRPr sz="1200">
                <a:latin typeface="Tenorite"/>
                <a:ea typeface="Tenorite"/>
                <a:cs typeface="Tenorite"/>
                <a:sym typeface="Tenorit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all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all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all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all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all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all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all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all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all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enorite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enorite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enorite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enorite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enorite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enorite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enorite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enorite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enorit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 1"/>
          <p:cNvSpPr txBox="1">
            <a:spLocks noGrp="1"/>
          </p:cNvSpPr>
          <p:nvPr>
            <p:ph type="title"/>
          </p:nvPr>
        </p:nvSpPr>
        <p:spPr>
          <a:xfrm>
            <a:off x="6095998" y="2773681"/>
            <a:ext cx="5674367" cy="320041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Traveling salesman problem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LAX"/>
          <p:cNvGrpSpPr/>
          <p:nvPr/>
        </p:nvGrpSpPr>
        <p:grpSpPr>
          <a:xfrm>
            <a:off x="1191310" y="3073272"/>
            <a:ext cx="694209" cy="694209"/>
            <a:chOff x="-1" y="-1"/>
            <a:chExt cx="694208" cy="694208"/>
          </a:xfrm>
        </p:grpSpPr>
        <p:sp>
          <p:nvSpPr>
            <p:cNvPr id="138" name="Circle"/>
            <p:cNvSpPr/>
            <p:nvPr/>
          </p:nvSpPr>
          <p:spPr>
            <a:xfrm>
              <a:off x="-2" y="-2"/>
              <a:ext cx="694210" cy="694210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39" name="LAX"/>
            <p:cNvSpPr txBox="1"/>
            <p:nvPr/>
          </p:nvSpPr>
          <p:spPr>
            <a:xfrm>
              <a:off x="106425" y="208097"/>
              <a:ext cx="481351" cy="277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500">
                  <a:solidFill>
                    <a:srgbClr val="FFFFFF"/>
                  </a:solidFill>
                </a:defRPr>
              </a:lvl1pPr>
            </a:lstStyle>
            <a:p>
              <a:r>
                <a:t>LA</a:t>
              </a:r>
            </a:p>
          </p:txBody>
        </p:sp>
      </p:grpSp>
      <p:grpSp>
        <p:nvGrpSpPr>
          <p:cNvPr id="143" name="JFK"/>
          <p:cNvGrpSpPr/>
          <p:nvPr/>
        </p:nvGrpSpPr>
        <p:grpSpPr>
          <a:xfrm>
            <a:off x="2606000" y="1605413"/>
            <a:ext cx="694210" cy="694209"/>
            <a:chOff x="0" y="0"/>
            <a:chExt cx="694208" cy="694208"/>
          </a:xfrm>
        </p:grpSpPr>
        <p:sp>
          <p:nvSpPr>
            <p:cNvPr id="141" name="Circle"/>
            <p:cNvSpPr/>
            <p:nvPr/>
          </p:nvSpPr>
          <p:spPr>
            <a:xfrm>
              <a:off x="-1" y="-1"/>
              <a:ext cx="694209" cy="694209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42" name="JFK"/>
            <p:cNvSpPr txBox="1"/>
            <p:nvPr/>
          </p:nvSpPr>
          <p:spPr>
            <a:xfrm>
              <a:off x="106425" y="208097"/>
              <a:ext cx="481351" cy="277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500">
                  <a:solidFill>
                    <a:srgbClr val="FFFFFF"/>
                  </a:solidFill>
                </a:defRPr>
              </a:lvl1pPr>
            </a:lstStyle>
            <a:p>
              <a:r>
                <a:t>NYC</a:t>
              </a:r>
            </a:p>
          </p:txBody>
        </p:sp>
      </p:grpSp>
      <p:grpSp>
        <p:nvGrpSpPr>
          <p:cNvPr id="146" name="MIA"/>
          <p:cNvGrpSpPr/>
          <p:nvPr/>
        </p:nvGrpSpPr>
        <p:grpSpPr>
          <a:xfrm>
            <a:off x="4020690" y="3073272"/>
            <a:ext cx="694209" cy="694209"/>
            <a:chOff x="0" y="-1"/>
            <a:chExt cx="694208" cy="694208"/>
          </a:xfrm>
        </p:grpSpPr>
        <p:sp>
          <p:nvSpPr>
            <p:cNvPr id="144" name="Circle"/>
            <p:cNvSpPr/>
            <p:nvPr/>
          </p:nvSpPr>
          <p:spPr>
            <a:xfrm>
              <a:off x="-1" y="-2"/>
              <a:ext cx="694209" cy="694210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45" name="MIA"/>
            <p:cNvSpPr txBox="1"/>
            <p:nvPr/>
          </p:nvSpPr>
          <p:spPr>
            <a:xfrm>
              <a:off x="106425" y="208097"/>
              <a:ext cx="481350" cy="277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500">
                  <a:solidFill>
                    <a:srgbClr val="FFFFFF"/>
                  </a:solidFill>
                </a:defRPr>
              </a:lvl1pPr>
            </a:lstStyle>
            <a:p>
              <a:r>
                <a:t>MIA</a:t>
              </a:r>
            </a:p>
          </p:txBody>
        </p:sp>
      </p:grpSp>
      <p:grpSp>
        <p:nvGrpSpPr>
          <p:cNvPr id="149" name="HOU"/>
          <p:cNvGrpSpPr/>
          <p:nvPr/>
        </p:nvGrpSpPr>
        <p:grpSpPr>
          <a:xfrm>
            <a:off x="2606000" y="4541129"/>
            <a:ext cx="694210" cy="694209"/>
            <a:chOff x="0" y="0"/>
            <a:chExt cx="694208" cy="694208"/>
          </a:xfrm>
        </p:grpSpPr>
        <p:sp>
          <p:nvSpPr>
            <p:cNvPr id="147" name="Circle"/>
            <p:cNvSpPr/>
            <p:nvPr/>
          </p:nvSpPr>
          <p:spPr>
            <a:xfrm>
              <a:off x="-1" y="-1"/>
              <a:ext cx="694209" cy="694209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48" name="HOU"/>
            <p:cNvSpPr txBox="1"/>
            <p:nvPr/>
          </p:nvSpPr>
          <p:spPr>
            <a:xfrm>
              <a:off x="106425" y="208097"/>
              <a:ext cx="481351" cy="277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500">
                  <a:solidFill>
                    <a:srgbClr val="FFFFFF"/>
                  </a:solidFill>
                </a:defRPr>
              </a:lvl1pPr>
            </a:lstStyle>
            <a:p>
              <a:r>
                <a:t>HOU</a:t>
              </a:r>
            </a:p>
          </p:txBody>
        </p:sp>
      </p:grpSp>
      <p:sp>
        <p:nvSpPr>
          <p:cNvPr id="150" name="Line"/>
          <p:cNvSpPr/>
          <p:nvPr/>
        </p:nvSpPr>
        <p:spPr>
          <a:xfrm flipV="1">
            <a:off x="3183420" y="3663086"/>
            <a:ext cx="942989" cy="967101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51" name="Line"/>
          <p:cNvSpPr/>
          <p:nvPr/>
        </p:nvSpPr>
        <p:spPr>
          <a:xfrm flipV="1">
            <a:off x="1738265" y="2172368"/>
            <a:ext cx="945356" cy="945350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52" name="Line"/>
          <p:cNvSpPr/>
          <p:nvPr/>
        </p:nvSpPr>
        <p:spPr>
          <a:xfrm flipH="1" flipV="1">
            <a:off x="1797816" y="3652993"/>
            <a:ext cx="894032" cy="1000098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53" name="Line"/>
          <p:cNvSpPr/>
          <p:nvPr/>
        </p:nvSpPr>
        <p:spPr>
          <a:xfrm flipH="1" flipV="1">
            <a:off x="3224068" y="2173196"/>
            <a:ext cx="893842" cy="99920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54" name="Line"/>
          <p:cNvSpPr/>
          <p:nvPr/>
        </p:nvSpPr>
        <p:spPr>
          <a:xfrm flipH="1" flipV="1">
            <a:off x="2968113" y="2299416"/>
            <a:ext cx="108" cy="2237885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55" name="Line"/>
          <p:cNvSpPr/>
          <p:nvPr/>
        </p:nvSpPr>
        <p:spPr>
          <a:xfrm flipH="1">
            <a:off x="1889535" y="3406540"/>
            <a:ext cx="2127140" cy="11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56" name="2.475"/>
          <p:cNvSpPr txBox="1"/>
          <p:nvPr/>
        </p:nvSpPr>
        <p:spPr>
          <a:xfrm>
            <a:off x="1651721" y="2339706"/>
            <a:ext cx="625295" cy="333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r>
              <a:t>2.776</a:t>
            </a:r>
          </a:p>
        </p:txBody>
      </p:sp>
      <p:sp>
        <p:nvSpPr>
          <p:cNvPr id="157" name="1.09"/>
          <p:cNvSpPr txBox="1"/>
          <p:nvPr/>
        </p:nvSpPr>
        <p:spPr>
          <a:xfrm>
            <a:off x="3775173" y="2339706"/>
            <a:ext cx="625295" cy="333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r>
              <a:t>1.288</a:t>
            </a:r>
          </a:p>
        </p:txBody>
      </p:sp>
      <p:sp>
        <p:nvSpPr>
          <p:cNvPr id="158" name="1.39"/>
          <p:cNvSpPr txBox="1"/>
          <p:nvPr/>
        </p:nvSpPr>
        <p:spPr>
          <a:xfrm>
            <a:off x="1709651" y="4167951"/>
            <a:ext cx="625295" cy="333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r>
              <a:t>1.546</a:t>
            </a:r>
          </a:p>
        </p:txBody>
      </p:sp>
      <p:sp>
        <p:nvSpPr>
          <p:cNvPr id="159" name="1.1"/>
          <p:cNvSpPr txBox="1"/>
          <p:nvPr/>
        </p:nvSpPr>
        <p:spPr>
          <a:xfrm>
            <a:off x="3775173" y="4146631"/>
            <a:ext cx="625295" cy="333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r>
              <a:t>1.189</a:t>
            </a:r>
          </a:p>
        </p:txBody>
      </p:sp>
      <p:sp>
        <p:nvSpPr>
          <p:cNvPr id="160" name="1.74"/>
          <p:cNvSpPr txBox="1"/>
          <p:nvPr/>
        </p:nvSpPr>
        <p:spPr>
          <a:xfrm>
            <a:off x="2949132" y="2682563"/>
            <a:ext cx="625296" cy="333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r>
              <a:t>1.629</a:t>
            </a:r>
          </a:p>
        </p:txBody>
      </p:sp>
      <p:sp>
        <p:nvSpPr>
          <p:cNvPr id="161" name="2.342"/>
          <p:cNvSpPr txBox="1"/>
          <p:nvPr/>
        </p:nvSpPr>
        <p:spPr>
          <a:xfrm>
            <a:off x="2136699" y="3393840"/>
            <a:ext cx="676976" cy="333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r>
              <a:t> 2.735</a:t>
            </a:r>
          </a:p>
        </p:txBody>
      </p:sp>
      <p:sp>
        <p:nvSpPr>
          <p:cNvPr id="162" name="Weights in 1K air miles"/>
          <p:cNvSpPr txBox="1"/>
          <p:nvPr/>
        </p:nvSpPr>
        <p:spPr>
          <a:xfrm>
            <a:off x="5141083" y="6096677"/>
            <a:ext cx="1909831" cy="333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r>
              <a:t>Weights in 1K miles</a:t>
            </a:r>
          </a:p>
        </p:txBody>
      </p:sp>
      <p:sp>
        <p:nvSpPr>
          <p:cNvPr id="163" name="TSP"/>
          <p:cNvSpPr txBox="1">
            <a:spLocks noGrp="1"/>
          </p:cNvSpPr>
          <p:nvPr>
            <p:ph type="title" idx="4294967295"/>
          </p:nvPr>
        </p:nvSpPr>
        <p:spPr>
          <a:xfrm>
            <a:off x="151728" y="113540"/>
            <a:ext cx="5602753" cy="647783"/>
          </a:xfrm>
          <a:prstGeom prst="rect">
            <a:avLst/>
          </a:prstGeom>
        </p:spPr>
        <p:txBody>
          <a:bodyPr/>
          <a:lstStyle/>
          <a:p>
            <a:r>
              <a:t>TSP</a:t>
            </a:r>
          </a:p>
        </p:txBody>
      </p:sp>
      <p:sp>
        <p:nvSpPr>
          <p:cNvPr id="164" name="Decision vs. Optimization"/>
          <p:cNvSpPr txBox="1"/>
          <p:nvPr/>
        </p:nvSpPr>
        <p:spPr>
          <a:xfrm>
            <a:off x="6541637" y="1314914"/>
            <a:ext cx="808001" cy="382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300" b="1"/>
            </a:lvl1pPr>
          </a:lstStyle>
          <a:p>
            <a:r>
              <a:t>TSP-D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5" name="Text"/>
              <p:cNvSpPr txBox="1"/>
              <p:nvPr/>
            </p:nvSpPr>
            <p:spPr>
              <a:xfrm>
                <a:off x="2080072" y="5445116"/>
                <a:ext cx="1630004" cy="22580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𝑂𝑝𝑡</m:t>
                      </m:r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)=6.799</m:t>
                      </m:r>
                    </m:oMath>
                  </m:oMathPara>
                </a14:m>
                <a:endParaRPr sz="2000"/>
              </a:p>
            </p:txBody>
          </p:sp>
        </mc:Choice>
        <mc:Fallback>
          <p:sp>
            <p:nvSpPr>
              <p:cNvPr id="165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0072" y="5445116"/>
                <a:ext cx="1630004" cy="225807"/>
              </a:xfrm>
              <a:prstGeom prst="rect">
                <a:avLst/>
              </a:prstGeom>
              <a:blipFill>
                <a:blip r:embed="rId2"/>
                <a:stretch>
                  <a:fillRect l="-7090" t="-2703" r="-12687" b="-83784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Decision vs. Optimization"/>
          <p:cNvSpPr txBox="1"/>
          <p:nvPr/>
        </p:nvSpPr>
        <p:spPr>
          <a:xfrm>
            <a:off x="9402680" y="1314914"/>
            <a:ext cx="821408" cy="382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300" b="1"/>
            </a:lvl1pPr>
          </a:lstStyle>
          <a:p>
            <a:r>
              <a:t>TSP-O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?"/>
              <p:cNvSpPr txBox="1"/>
              <p:nvPr/>
            </p:nvSpPr>
            <p:spPr>
              <a:xfrm>
                <a:off x="6316112" y="1926693"/>
                <a:ext cx="1204421" cy="40208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45718" tIns="45718" rIns="45718" bIns="45718">
                <a:spAutoFit/>
              </a:bodyPr>
              <a:lstStyle/>
              <a:p>
                <a:pPr marL="151594" indent="-151594">
                  <a:buSzPct val="100000"/>
                  <a:buChar char="•"/>
                  <a:defRPr sz="2100">
                    <a:latin typeface="Cambria Math"/>
                    <a:ea typeface="Cambria Math"/>
                    <a:cs typeface="Cambria Math"/>
                    <a:sym typeface="Cambria Math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sz="2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sz="2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1800">
                    <a:latin typeface="+mj-lt"/>
                    <a:ea typeface="+mj-ea"/>
                    <a:cs typeface="+mj-cs"/>
                    <a:sym typeface="Helvetica"/>
                  </a:rPr>
                  <a:t> ?</a:t>
                </a:r>
                <a:endParaRPr sz="1981"/>
              </a:p>
            </p:txBody>
          </p:sp>
        </mc:Choice>
        <mc:Fallback>
          <p:sp>
            <p:nvSpPr>
              <p:cNvPr id="167" name="?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6112" y="1926693"/>
                <a:ext cx="1204421" cy="402084"/>
              </a:xfrm>
              <a:prstGeom prst="rect">
                <a:avLst/>
              </a:prstGeom>
              <a:blipFill>
                <a:blip r:embed="rId3"/>
                <a:stretch>
                  <a:fillRect l="-9596" t="-9091" r="-11111" b="-3030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8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4135" y="3069525"/>
            <a:ext cx="3829721" cy="2154223"/>
          </a:xfrm>
          <a:prstGeom prst="rect">
            <a:avLst/>
          </a:prstGeom>
          <a:ln w="25400">
            <a:solidFill>
              <a:srgbClr val="DDDDDD"/>
            </a:solidFill>
            <a:miter lim="400000"/>
          </a:ln>
        </p:spPr>
      </p:pic>
      <p:sp>
        <p:nvSpPr>
          <p:cNvPr id="169" name="vs."/>
          <p:cNvSpPr txBox="1"/>
          <p:nvPr/>
        </p:nvSpPr>
        <p:spPr>
          <a:xfrm>
            <a:off x="8178034" y="1320781"/>
            <a:ext cx="421922" cy="370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vs.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0" name="Text"/>
              <p:cNvSpPr txBox="1"/>
              <p:nvPr/>
            </p:nvSpPr>
            <p:spPr>
              <a:xfrm>
                <a:off x="9071104" y="1948868"/>
                <a:ext cx="1484560" cy="35773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45718" tIns="45718" rIns="45718" bIns="45718">
                <a:spAutoFit/>
              </a:bodyPr>
              <a:lstStyle>
                <a:lvl1pPr marL="180473" indent="-180473">
                  <a:buSzPct val="100000"/>
                  <a:buChar char="•"/>
                </a:lvl1pPr>
              </a:lstStyle>
              <a:p>
                <a:pPr/>
                <a14:m>
                  <m:oMath xmlns:m="http://schemas.openxmlformats.org/officeDocument/2006/math"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𝑚𝑖𝑛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sz="19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</p:txBody>
          </p:sp>
        </mc:Choice>
        <mc:Fallback>
          <p:sp>
            <p:nvSpPr>
              <p:cNvPr id="170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1104" y="1948868"/>
                <a:ext cx="1484560" cy="357734"/>
              </a:xfrm>
              <a:prstGeom prst="rect">
                <a:avLst/>
              </a:prstGeom>
              <a:blipFill>
                <a:blip r:embed="rId5"/>
                <a:stretch>
                  <a:fillRect l="-6967" t="-10345" r="-11475" b="-3620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LAX"/>
          <p:cNvGrpSpPr/>
          <p:nvPr/>
        </p:nvGrpSpPr>
        <p:grpSpPr>
          <a:xfrm>
            <a:off x="1772214" y="3076309"/>
            <a:ext cx="694209" cy="694209"/>
            <a:chOff x="-1" y="-1"/>
            <a:chExt cx="694208" cy="694208"/>
          </a:xfrm>
        </p:grpSpPr>
        <p:sp>
          <p:nvSpPr>
            <p:cNvPr id="172" name="Circle"/>
            <p:cNvSpPr/>
            <p:nvPr/>
          </p:nvSpPr>
          <p:spPr>
            <a:xfrm>
              <a:off x="-2" y="-2"/>
              <a:ext cx="694210" cy="694210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3" name="G"/>
            <p:cNvSpPr txBox="1"/>
            <p:nvPr/>
          </p:nvSpPr>
          <p:spPr>
            <a:xfrm>
              <a:off x="106426" y="180556"/>
              <a:ext cx="481352" cy="3330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G</a:t>
              </a:r>
            </a:p>
          </p:txBody>
        </p:sp>
      </p:grpSp>
      <p:grpSp>
        <p:nvGrpSpPr>
          <p:cNvPr id="177" name="JFK"/>
          <p:cNvGrpSpPr/>
          <p:nvPr/>
        </p:nvGrpSpPr>
        <p:grpSpPr>
          <a:xfrm>
            <a:off x="3972237" y="1130405"/>
            <a:ext cx="694209" cy="694209"/>
            <a:chOff x="-1" y="-1"/>
            <a:chExt cx="694208" cy="694208"/>
          </a:xfrm>
        </p:grpSpPr>
        <p:sp>
          <p:nvSpPr>
            <p:cNvPr id="175" name="Circle"/>
            <p:cNvSpPr/>
            <p:nvPr/>
          </p:nvSpPr>
          <p:spPr>
            <a:xfrm>
              <a:off x="-2" y="-2"/>
              <a:ext cx="694210" cy="694210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6" name="A"/>
            <p:cNvSpPr txBox="1"/>
            <p:nvPr/>
          </p:nvSpPr>
          <p:spPr>
            <a:xfrm>
              <a:off x="106426" y="180556"/>
              <a:ext cx="481351" cy="3330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A</a:t>
              </a:r>
            </a:p>
          </p:txBody>
        </p:sp>
      </p:grpSp>
      <p:grpSp>
        <p:nvGrpSpPr>
          <p:cNvPr id="180" name="MIA"/>
          <p:cNvGrpSpPr/>
          <p:nvPr/>
        </p:nvGrpSpPr>
        <p:grpSpPr>
          <a:xfrm>
            <a:off x="6159390" y="3076309"/>
            <a:ext cx="694209" cy="694209"/>
            <a:chOff x="-1" y="-1"/>
            <a:chExt cx="694208" cy="694208"/>
          </a:xfrm>
        </p:grpSpPr>
        <p:sp>
          <p:nvSpPr>
            <p:cNvPr id="178" name="Circle"/>
            <p:cNvSpPr/>
            <p:nvPr/>
          </p:nvSpPr>
          <p:spPr>
            <a:xfrm>
              <a:off x="-2" y="-2"/>
              <a:ext cx="694210" cy="694210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9" name="C"/>
            <p:cNvSpPr txBox="1"/>
            <p:nvPr/>
          </p:nvSpPr>
          <p:spPr>
            <a:xfrm>
              <a:off x="106426" y="180556"/>
              <a:ext cx="481351" cy="3330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C</a:t>
              </a:r>
            </a:p>
          </p:txBody>
        </p:sp>
      </p:grpSp>
      <p:grpSp>
        <p:nvGrpSpPr>
          <p:cNvPr id="183" name="HOU"/>
          <p:cNvGrpSpPr/>
          <p:nvPr/>
        </p:nvGrpSpPr>
        <p:grpSpPr>
          <a:xfrm>
            <a:off x="3972237" y="5033390"/>
            <a:ext cx="694209" cy="694210"/>
            <a:chOff x="-1" y="-1"/>
            <a:chExt cx="694208" cy="694208"/>
          </a:xfrm>
        </p:grpSpPr>
        <p:sp>
          <p:nvSpPr>
            <p:cNvPr id="181" name="Circle"/>
            <p:cNvSpPr/>
            <p:nvPr/>
          </p:nvSpPr>
          <p:spPr>
            <a:xfrm>
              <a:off x="-2" y="-2"/>
              <a:ext cx="694210" cy="694210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2" name="E"/>
            <p:cNvSpPr txBox="1"/>
            <p:nvPr/>
          </p:nvSpPr>
          <p:spPr>
            <a:xfrm>
              <a:off x="106426" y="180556"/>
              <a:ext cx="481351" cy="3330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E</a:t>
              </a:r>
            </a:p>
          </p:txBody>
        </p:sp>
      </p:grpSp>
      <p:grpSp>
        <p:nvGrpSpPr>
          <p:cNvPr id="186" name="JFK"/>
          <p:cNvGrpSpPr/>
          <p:nvPr/>
        </p:nvGrpSpPr>
        <p:grpSpPr>
          <a:xfrm>
            <a:off x="2518925" y="1774123"/>
            <a:ext cx="694209" cy="694209"/>
            <a:chOff x="-1" y="-1"/>
            <a:chExt cx="694208" cy="694208"/>
          </a:xfrm>
        </p:grpSpPr>
        <p:sp>
          <p:nvSpPr>
            <p:cNvPr id="184" name="Circle"/>
            <p:cNvSpPr/>
            <p:nvPr/>
          </p:nvSpPr>
          <p:spPr>
            <a:xfrm>
              <a:off x="-2" y="-2"/>
              <a:ext cx="694210" cy="694210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5" name="H"/>
            <p:cNvSpPr txBox="1"/>
            <p:nvPr/>
          </p:nvSpPr>
          <p:spPr>
            <a:xfrm>
              <a:off x="106426" y="180556"/>
              <a:ext cx="481352" cy="3330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H</a:t>
              </a:r>
            </a:p>
          </p:txBody>
        </p:sp>
      </p:grpSp>
      <p:grpSp>
        <p:nvGrpSpPr>
          <p:cNvPr id="189" name="JFK"/>
          <p:cNvGrpSpPr/>
          <p:nvPr/>
        </p:nvGrpSpPr>
        <p:grpSpPr>
          <a:xfrm>
            <a:off x="5425551" y="1774123"/>
            <a:ext cx="694209" cy="694209"/>
            <a:chOff x="-1" y="-1"/>
            <a:chExt cx="694208" cy="694208"/>
          </a:xfrm>
        </p:grpSpPr>
        <p:sp>
          <p:nvSpPr>
            <p:cNvPr id="187" name="Circle"/>
            <p:cNvSpPr/>
            <p:nvPr/>
          </p:nvSpPr>
          <p:spPr>
            <a:xfrm>
              <a:off x="-2" y="-2"/>
              <a:ext cx="694210" cy="694210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8" name="B"/>
            <p:cNvSpPr txBox="1"/>
            <p:nvPr/>
          </p:nvSpPr>
          <p:spPr>
            <a:xfrm>
              <a:off x="106426" y="180556"/>
              <a:ext cx="481351" cy="3330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B</a:t>
              </a:r>
            </a:p>
          </p:txBody>
        </p:sp>
      </p:grpSp>
      <p:grpSp>
        <p:nvGrpSpPr>
          <p:cNvPr id="192" name="JFK"/>
          <p:cNvGrpSpPr/>
          <p:nvPr/>
        </p:nvGrpSpPr>
        <p:grpSpPr>
          <a:xfrm>
            <a:off x="5425551" y="4389674"/>
            <a:ext cx="694209" cy="694209"/>
            <a:chOff x="-1" y="-1"/>
            <a:chExt cx="694208" cy="694208"/>
          </a:xfrm>
        </p:grpSpPr>
        <p:sp>
          <p:nvSpPr>
            <p:cNvPr id="190" name="Circle"/>
            <p:cNvSpPr/>
            <p:nvPr/>
          </p:nvSpPr>
          <p:spPr>
            <a:xfrm>
              <a:off x="-2" y="-2"/>
              <a:ext cx="694210" cy="694210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91" name="D"/>
            <p:cNvSpPr txBox="1"/>
            <p:nvPr/>
          </p:nvSpPr>
          <p:spPr>
            <a:xfrm>
              <a:off x="106426" y="180556"/>
              <a:ext cx="481351" cy="3330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D</a:t>
              </a:r>
            </a:p>
          </p:txBody>
        </p:sp>
      </p:grpSp>
      <p:grpSp>
        <p:nvGrpSpPr>
          <p:cNvPr id="195" name="JFK"/>
          <p:cNvGrpSpPr/>
          <p:nvPr/>
        </p:nvGrpSpPr>
        <p:grpSpPr>
          <a:xfrm>
            <a:off x="2518925" y="4389674"/>
            <a:ext cx="694209" cy="694209"/>
            <a:chOff x="-1" y="-1"/>
            <a:chExt cx="694208" cy="694208"/>
          </a:xfrm>
        </p:grpSpPr>
        <p:sp>
          <p:nvSpPr>
            <p:cNvPr id="193" name="Circle"/>
            <p:cNvSpPr/>
            <p:nvPr/>
          </p:nvSpPr>
          <p:spPr>
            <a:xfrm>
              <a:off x="-2" y="-2"/>
              <a:ext cx="694210" cy="694210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94" name="F"/>
            <p:cNvSpPr txBox="1"/>
            <p:nvPr/>
          </p:nvSpPr>
          <p:spPr>
            <a:xfrm>
              <a:off x="106426" y="180556"/>
              <a:ext cx="481352" cy="3330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F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6" name="Text"/>
              <p:cNvSpPr txBox="1"/>
              <p:nvPr/>
            </p:nvSpPr>
            <p:spPr>
              <a:xfrm>
                <a:off x="8912952" y="2123972"/>
                <a:ext cx="1015350" cy="25560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sz="2900"/>
              </a:p>
            </p:txBody>
          </p:sp>
        </mc:Choice>
        <mc:Fallback>
          <p:sp>
            <p:nvSpPr>
              <p:cNvPr id="196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2952" y="2123972"/>
                <a:ext cx="1015350" cy="255601"/>
              </a:xfrm>
              <a:prstGeom prst="rect">
                <a:avLst/>
              </a:prstGeom>
              <a:blipFill>
                <a:blip r:embed="rId2"/>
                <a:stretch>
                  <a:fillRect r="-1198" b="-3809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Text"/>
              <p:cNvSpPr txBox="1"/>
              <p:nvPr/>
            </p:nvSpPr>
            <p:spPr>
              <a:xfrm>
                <a:off x="8830959" y="3385150"/>
                <a:ext cx="1179336" cy="225843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=40,320</m:t>
                      </m:r>
                    </m:oMath>
                  </m:oMathPara>
                </a14:m>
                <a:endParaRPr sz="1900"/>
              </a:p>
            </p:txBody>
          </p:sp>
        </mc:Choice>
        <mc:Fallback>
          <p:sp>
            <p:nvSpPr>
              <p:cNvPr id="197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0959" y="3385150"/>
                <a:ext cx="1179336" cy="225843"/>
              </a:xfrm>
              <a:prstGeom prst="rect">
                <a:avLst/>
              </a:prstGeom>
              <a:blipFill>
                <a:blip r:embed="rId3"/>
                <a:stretch>
                  <a:fillRect l="-7254" r="-15544" b="-4864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Line"/>
          <p:cNvSpPr/>
          <p:nvPr/>
        </p:nvSpPr>
        <p:spPr>
          <a:xfrm>
            <a:off x="2281714" y="3731138"/>
            <a:ext cx="392072" cy="71831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99" name="Line"/>
          <p:cNvSpPr/>
          <p:nvPr/>
        </p:nvSpPr>
        <p:spPr>
          <a:xfrm flipH="1">
            <a:off x="5991914" y="3751553"/>
            <a:ext cx="392880" cy="714457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00" name="Line"/>
          <p:cNvSpPr/>
          <p:nvPr/>
        </p:nvSpPr>
        <p:spPr>
          <a:xfrm>
            <a:off x="3170714" y="4912238"/>
            <a:ext cx="802468" cy="398359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01" name="Line"/>
          <p:cNvSpPr/>
          <p:nvPr/>
        </p:nvSpPr>
        <p:spPr>
          <a:xfrm flipH="1">
            <a:off x="4654729" y="4912240"/>
            <a:ext cx="812067" cy="373951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02" name="Hamiltonian Cycles"/>
          <p:cNvSpPr txBox="1"/>
          <p:nvPr/>
        </p:nvSpPr>
        <p:spPr>
          <a:xfrm>
            <a:off x="8432820" y="1592536"/>
            <a:ext cx="1975614" cy="396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lnSpc>
                <a:spcPct val="90000"/>
              </a:lnSpc>
              <a:spcBef>
                <a:spcPts val="1200"/>
              </a:spcBef>
              <a:defRPr sz="2000" b="1">
                <a:latin typeface="Tenorite"/>
                <a:ea typeface="Tenorite"/>
                <a:cs typeface="Tenorite"/>
                <a:sym typeface="Tenorite"/>
              </a:defRPr>
            </a:lvl1pPr>
          </a:lstStyle>
          <a:p>
            <a:r>
              <a:t>Possible Tours</a:t>
            </a:r>
          </a:p>
        </p:txBody>
      </p:sp>
      <p:sp>
        <p:nvSpPr>
          <p:cNvPr id="203" name="Line"/>
          <p:cNvSpPr/>
          <p:nvPr/>
        </p:nvSpPr>
        <p:spPr>
          <a:xfrm flipH="1" flipV="1">
            <a:off x="2465610" y="3423408"/>
            <a:ext cx="3693508" cy="11187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04" name="Line"/>
          <p:cNvSpPr/>
          <p:nvPr/>
        </p:nvSpPr>
        <p:spPr>
          <a:xfrm flipH="1">
            <a:off x="2285849" y="2409288"/>
            <a:ext cx="387924" cy="710745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05" name="Line"/>
          <p:cNvSpPr/>
          <p:nvPr/>
        </p:nvSpPr>
        <p:spPr>
          <a:xfrm>
            <a:off x="5991914" y="2391991"/>
            <a:ext cx="402678" cy="699054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06" name="Line"/>
          <p:cNvSpPr/>
          <p:nvPr/>
        </p:nvSpPr>
        <p:spPr>
          <a:xfrm flipV="1">
            <a:off x="3170714" y="1540551"/>
            <a:ext cx="803783" cy="401712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07" name="Line"/>
          <p:cNvSpPr/>
          <p:nvPr/>
        </p:nvSpPr>
        <p:spPr>
          <a:xfrm flipH="1" flipV="1">
            <a:off x="4656616" y="1550884"/>
            <a:ext cx="806906" cy="409319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08" name="Line"/>
          <p:cNvSpPr/>
          <p:nvPr/>
        </p:nvSpPr>
        <p:spPr>
          <a:xfrm flipV="1">
            <a:off x="4317817" y="1819123"/>
            <a:ext cx="19453" cy="3208917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09" name="Line"/>
          <p:cNvSpPr/>
          <p:nvPr/>
        </p:nvSpPr>
        <p:spPr>
          <a:xfrm flipH="1" flipV="1">
            <a:off x="3108236" y="2371492"/>
            <a:ext cx="2420557" cy="2119655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10" name="Line"/>
          <p:cNvSpPr/>
          <p:nvPr/>
        </p:nvSpPr>
        <p:spPr>
          <a:xfrm flipH="1">
            <a:off x="3113881" y="2356531"/>
            <a:ext cx="2405161" cy="2134582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11" name="Line"/>
          <p:cNvSpPr/>
          <p:nvPr/>
        </p:nvSpPr>
        <p:spPr>
          <a:xfrm>
            <a:off x="4522230" y="1756578"/>
            <a:ext cx="1717291" cy="1444561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12" name="Line"/>
          <p:cNvSpPr/>
          <p:nvPr/>
        </p:nvSpPr>
        <p:spPr>
          <a:xfrm>
            <a:off x="4423340" y="1813922"/>
            <a:ext cx="1206975" cy="2606851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13" name="Line"/>
          <p:cNvSpPr/>
          <p:nvPr/>
        </p:nvSpPr>
        <p:spPr>
          <a:xfrm flipH="1">
            <a:off x="3023814" y="1811095"/>
            <a:ext cx="1209154" cy="2618458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14" name="Line"/>
          <p:cNvSpPr/>
          <p:nvPr/>
        </p:nvSpPr>
        <p:spPr>
          <a:xfrm flipH="1">
            <a:off x="2410390" y="1742948"/>
            <a:ext cx="1675111" cy="1483585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15" name="Line"/>
          <p:cNvSpPr/>
          <p:nvPr/>
        </p:nvSpPr>
        <p:spPr>
          <a:xfrm flipH="1">
            <a:off x="5766999" y="2465079"/>
            <a:ext cx="4371" cy="1926535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16" name="Line"/>
          <p:cNvSpPr/>
          <p:nvPr/>
        </p:nvSpPr>
        <p:spPr>
          <a:xfrm flipH="1">
            <a:off x="2863843" y="2471284"/>
            <a:ext cx="6" cy="1915394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17" name="Line"/>
          <p:cNvSpPr/>
          <p:nvPr/>
        </p:nvSpPr>
        <p:spPr>
          <a:xfrm flipH="1">
            <a:off x="4523618" y="2455751"/>
            <a:ext cx="1153212" cy="263973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18" name="Line"/>
          <p:cNvSpPr/>
          <p:nvPr/>
        </p:nvSpPr>
        <p:spPr>
          <a:xfrm>
            <a:off x="2994211" y="2443595"/>
            <a:ext cx="1121865" cy="2655300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19" name="Line"/>
          <p:cNvSpPr/>
          <p:nvPr/>
        </p:nvSpPr>
        <p:spPr>
          <a:xfrm flipH="1">
            <a:off x="2458296" y="2265876"/>
            <a:ext cx="3002940" cy="1072671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20" name="Line"/>
          <p:cNvSpPr/>
          <p:nvPr/>
        </p:nvSpPr>
        <p:spPr>
          <a:xfrm>
            <a:off x="3192053" y="2253175"/>
            <a:ext cx="2976886" cy="1071024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21" name="Line"/>
          <p:cNvSpPr/>
          <p:nvPr/>
        </p:nvSpPr>
        <p:spPr>
          <a:xfrm flipH="1" flipV="1">
            <a:off x="3211638" y="2109341"/>
            <a:ext cx="2215404" cy="5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22" name="Line"/>
          <p:cNvSpPr/>
          <p:nvPr/>
        </p:nvSpPr>
        <p:spPr>
          <a:xfrm flipH="1" flipV="1">
            <a:off x="3210079" y="4724715"/>
            <a:ext cx="2216986" cy="2151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23" name="Line"/>
          <p:cNvSpPr/>
          <p:nvPr/>
        </p:nvSpPr>
        <p:spPr>
          <a:xfrm flipH="1">
            <a:off x="3185752" y="3591900"/>
            <a:ext cx="3017768" cy="1012963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24" name="Line"/>
          <p:cNvSpPr/>
          <p:nvPr/>
        </p:nvSpPr>
        <p:spPr>
          <a:xfrm>
            <a:off x="2429097" y="3581427"/>
            <a:ext cx="3026711" cy="1012963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25" name="Line"/>
          <p:cNvSpPr/>
          <p:nvPr/>
        </p:nvSpPr>
        <p:spPr>
          <a:xfrm flipV="1">
            <a:off x="4616851" y="3693278"/>
            <a:ext cx="1665536" cy="1498807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26" name="Line"/>
          <p:cNvSpPr/>
          <p:nvPr/>
        </p:nvSpPr>
        <p:spPr>
          <a:xfrm flipH="1" flipV="1">
            <a:off x="2373764" y="3660268"/>
            <a:ext cx="1672391" cy="1506050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7" name="Text"/>
              <p:cNvSpPr txBox="1"/>
              <p:nvPr/>
            </p:nvSpPr>
            <p:spPr>
              <a:xfrm>
                <a:off x="8617208" y="3852520"/>
                <a:ext cx="1606838" cy="227773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=3,628,800</m:t>
                      </m:r>
                    </m:oMath>
                  </m:oMathPara>
                </a14:m>
                <a:endParaRPr sz="1900"/>
              </a:p>
            </p:txBody>
          </p:sp>
        </mc:Choice>
        <mc:Fallback>
          <p:sp>
            <p:nvSpPr>
              <p:cNvPr id="227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7208" y="3852520"/>
                <a:ext cx="1606838" cy="227773"/>
              </a:xfrm>
              <a:prstGeom prst="rect">
                <a:avLst/>
              </a:prstGeom>
              <a:blipFill>
                <a:blip r:embed="rId4"/>
                <a:stretch>
                  <a:fillRect l="-5323" r="-10646" b="-45946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8" name="Text"/>
              <p:cNvSpPr txBox="1"/>
              <p:nvPr/>
            </p:nvSpPr>
            <p:spPr>
              <a:xfrm>
                <a:off x="8574337" y="4321820"/>
                <a:ext cx="1692580" cy="228739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sub>
                      </m:sSub>
                      <m:r>
                        <a:rPr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≈9.332</m:t>
                      </m:r>
                      <m:r>
                        <a:rPr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157</m:t>
                      </m:r>
                    </m:oMath>
                  </m:oMathPara>
                </a14:m>
                <a:endParaRPr sz="1900"/>
              </a:p>
            </p:txBody>
          </p:sp>
        </mc:Choice>
        <mc:Fallback>
          <p:sp>
            <p:nvSpPr>
              <p:cNvPr id="228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4337" y="4321820"/>
                <a:ext cx="1692580" cy="228739"/>
              </a:xfrm>
              <a:prstGeom prst="rect">
                <a:avLst/>
              </a:prstGeom>
              <a:blipFill>
                <a:blip r:embed="rId5"/>
                <a:stretch>
                  <a:fillRect l="-5054" r="-15162" b="-45946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Tsp"/>
          <p:cNvSpPr txBox="1">
            <a:spLocks noGrp="1"/>
          </p:cNvSpPr>
          <p:nvPr>
            <p:ph type="title" idx="4294967295"/>
          </p:nvPr>
        </p:nvSpPr>
        <p:spPr>
          <a:xfrm>
            <a:off x="151728" y="113540"/>
            <a:ext cx="5602753" cy="647783"/>
          </a:xfrm>
          <a:prstGeom prst="rect">
            <a:avLst/>
          </a:prstGeom>
        </p:spPr>
        <p:txBody>
          <a:bodyPr/>
          <a:lstStyle/>
          <a:p>
            <a:r>
              <a:t>Tsp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0" name="Equation"/>
              <p:cNvSpPr txBox="1"/>
              <p:nvPr/>
            </p:nvSpPr>
            <p:spPr>
              <a:xfrm>
                <a:off x="9042459" y="3005625"/>
                <a:ext cx="756336" cy="22344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=24</m:t>
                      </m:r>
                    </m:oMath>
                  </m:oMathPara>
                </a14:m>
                <a:endParaRPr sz="1900"/>
              </a:p>
            </p:txBody>
          </p:sp>
        </mc:Choice>
        <mc:Fallback>
          <p:sp>
            <p:nvSpPr>
              <p:cNvPr id="23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459" y="3005625"/>
                <a:ext cx="756336" cy="223444"/>
              </a:xfrm>
              <a:prstGeom prst="rect">
                <a:avLst/>
              </a:prstGeom>
              <a:blipFill>
                <a:blip r:embed="rId6"/>
                <a:stretch>
                  <a:fillRect l="-11290" r="-20161" b="-4864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✅ “MIA HOU NYC LA MIA“…"/>
          <p:cNvSpPr txBox="1"/>
          <p:nvPr/>
        </p:nvSpPr>
        <p:spPr>
          <a:xfrm>
            <a:off x="6710497" y="2561882"/>
            <a:ext cx="3683156" cy="2068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2200"/>
            </a:pPr>
            <a:r>
              <a:t>✅ “MIA HOU NYC LA MIA“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❌ “MIA NYC LA NYC HOU MIA”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❌ “MIA NYC LA MIA”</a:t>
            </a:r>
          </a:p>
        </p:txBody>
      </p:sp>
      <p:sp>
        <p:nvSpPr>
          <p:cNvPr id="233" name="Title 6"/>
          <p:cNvSpPr txBox="1">
            <a:spLocks noGrp="1"/>
          </p:cNvSpPr>
          <p:nvPr>
            <p:ph type="title"/>
          </p:nvPr>
        </p:nvSpPr>
        <p:spPr>
          <a:xfrm>
            <a:off x="151728" y="113540"/>
            <a:ext cx="5602753" cy="647783"/>
          </a:xfrm>
          <a:prstGeom prst="rect">
            <a:avLst/>
          </a:prstGeom>
        </p:spPr>
        <p:txBody>
          <a:bodyPr anchor="ctr"/>
          <a:lstStyle>
            <a:lvl1pPr defTabSz="786383">
              <a:defRPr sz="3100"/>
            </a:lvl1pPr>
          </a:lstStyle>
          <a:p>
            <a:r>
              <a:t>Certificate verification</a:t>
            </a:r>
          </a:p>
        </p:txBody>
      </p:sp>
      <p:graphicFrame>
        <p:nvGraphicFramePr>
          <p:cNvPr id="234" name="Table 1"/>
          <p:cNvGraphicFramePr/>
          <p:nvPr/>
        </p:nvGraphicFramePr>
        <p:xfrm>
          <a:off x="1736730" y="1591445"/>
          <a:ext cx="3022725" cy="4009841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1511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1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2460">
                <a:tc>
                  <a:txBody>
                    <a:bodyPr/>
                    <a:lstStyle/>
                    <a:p>
                      <a:pPr algn="ctr">
                        <a:defRPr sz="1800">
                          <a:sym typeface="Helvetica"/>
                        </a:defRPr>
                      </a:pPr>
                      <a:endParaRPr/>
                    </a:p>
                    <a:p>
                      <a:pPr algn="ctr">
                        <a:defRPr sz="1800">
                          <a:sym typeface="Helvetica"/>
                        </a:defRPr>
                      </a:pPr>
                      <a:r>
                        <a:t>MIA</a:t>
                      </a:r>
                    </a:p>
                  </a:txBody>
                  <a:tcPr marL="0" marR="0" marT="0" marB="0" horzOverflow="overflow"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ym typeface="Helvetica"/>
                        </a:defRPr>
                      </a:pPr>
                      <a:r>
                        <a:t>{NYC: 1.288},</a:t>
                      </a:r>
                    </a:p>
                    <a:p>
                      <a:pPr>
                        <a:defRPr sz="1400">
                          <a:sym typeface="Helvetica"/>
                        </a:defRPr>
                      </a:pPr>
                      <a:r>
                        <a:t>{LA: 2.735},</a:t>
                      </a:r>
                    </a:p>
                    <a:p>
                      <a:pPr>
                        <a:defRPr sz="1400">
                          <a:sym typeface="Helvetica"/>
                        </a:defRPr>
                      </a:pPr>
                      <a:r>
                        <a:t>{HOU: 1.189}</a:t>
                      </a:r>
                    </a:p>
                  </a:txBody>
                  <a:tcPr marL="0" marR="0" marT="0" marB="0" horzOverflow="overflow">
                    <a:solidFill>
                      <a:srgbClr val="F6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2460">
                <a:tc>
                  <a:txBody>
                    <a:bodyPr/>
                    <a:lstStyle/>
                    <a:p>
                      <a:pPr algn="ctr">
                        <a:defRPr sz="1800">
                          <a:sym typeface="Helvetica"/>
                        </a:defRPr>
                      </a:pPr>
                      <a:endParaRPr/>
                    </a:p>
                    <a:p>
                      <a:pPr algn="ctr">
                        <a:defRPr sz="1800">
                          <a:sym typeface="Helvetica"/>
                        </a:defRPr>
                      </a:pPr>
                      <a:r>
                        <a:t>NYC</a:t>
                      </a:r>
                    </a:p>
                  </a:txBody>
                  <a:tcPr marL="0" marR="0" marT="0" marB="0" horzOverflow="overflow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ym typeface="Helvetica"/>
                        </a:defRPr>
                      </a:pPr>
                      <a:r>
                        <a:t>{LA: 2.776},</a:t>
                      </a:r>
                    </a:p>
                    <a:p>
                      <a:pPr>
                        <a:defRPr sz="1400">
                          <a:sym typeface="Helvetica"/>
                        </a:defRPr>
                      </a:pPr>
                      <a:r>
                        <a:t>{HOU: 1.629},</a:t>
                      </a:r>
                    </a:p>
                    <a:p>
                      <a:pPr>
                        <a:defRPr sz="1400">
                          <a:sym typeface="Helvetica"/>
                        </a:defRPr>
                      </a:pPr>
                      <a:r>
                        <a:t>{MIA: 1.189}</a:t>
                      </a:r>
                    </a:p>
                  </a:txBody>
                  <a:tcPr marL="0" marR="0" marT="0" marB="0" horzOverflow="overflow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2460">
                <a:tc>
                  <a:txBody>
                    <a:bodyPr/>
                    <a:lstStyle/>
                    <a:p>
                      <a:pPr algn="ctr">
                        <a:defRPr sz="1800">
                          <a:sym typeface="Helvetica"/>
                        </a:defRPr>
                      </a:pPr>
                      <a:endParaRPr/>
                    </a:p>
                    <a:p>
                      <a:pPr algn="ctr">
                        <a:defRPr sz="1800">
                          <a:sym typeface="Helvetica"/>
                        </a:defRPr>
                      </a:pPr>
                      <a:r>
                        <a:t>LA</a:t>
                      </a:r>
                    </a:p>
                  </a:txBody>
                  <a:tcPr marL="0" marR="0" marT="0" marB="0" horzOverflow="overflow">
                    <a:solidFill>
                      <a:srgbClr val="F6F5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ym typeface="Helvetica"/>
                        </a:defRPr>
                      </a:pPr>
                      <a:r>
                        <a:t>{NYC: 2.776},</a:t>
                      </a:r>
                    </a:p>
                    <a:p>
                      <a:pPr>
                        <a:defRPr sz="1400">
                          <a:sym typeface="Helvetica"/>
                        </a:defRPr>
                      </a:pPr>
                      <a:r>
                        <a:t>{MIA: 2.735},</a:t>
                      </a:r>
                    </a:p>
                    <a:p>
                      <a:pPr>
                        <a:defRPr sz="1400">
                          <a:sym typeface="Helvetica"/>
                        </a:defRPr>
                      </a:pPr>
                      <a:r>
                        <a:t>{HOU: 1.546}</a:t>
                      </a:r>
                    </a:p>
                  </a:txBody>
                  <a:tcPr marL="0" marR="0" marT="0" marB="0" horzOverflow="overflow">
                    <a:solidFill>
                      <a:srgbClr val="F6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2460">
                <a:tc>
                  <a:txBody>
                    <a:bodyPr/>
                    <a:lstStyle/>
                    <a:p>
                      <a:pPr algn="ctr">
                        <a:defRPr sz="1800">
                          <a:sym typeface="Helvetica"/>
                        </a:defRPr>
                      </a:pPr>
                      <a:endParaRPr/>
                    </a:p>
                    <a:p>
                      <a:pPr algn="ctr">
                        <a:defRPr sz="1800">
                          <a:sym typeface="Helvetica"/>
                        </a:defRPr>
                      </a:pPr>
                      <a:r>
                        <a:t>HOU</a:t>
                      </a:r>
                    </a:p>
                  </a:txBody>
                  <a:tcPr marL="0" marR="0" marT="0" marB="0" horzOverflow="overflow">
                    <a:solidFill>
                      <a:srgbClr val="FB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ym typeface="Helvetica"/>
                        </a:defRPr>
                      </a:pPr>
                      <a:r>
                        <a:t>{LA: 1.546},</a:t>
                      </a:r>
                      <a:br/>
                      <a:r>
                        <a:t>{NYC: 1.629},</a:t>
                      </a:r>
                    </a:p>
                    <a:p>
                      <a:pPr>
                        <a:defRPr sz="1400">
                          <a:sym typeface="Helvetica"/>
                        </a:defRPr>
                      </a:pPr>
                      <a:r>
                        <a:t>{MIA: 1.189}</a:t>
                      </a:r>
                    </a:p>
                  </a:txBody>
                  <a:tcPr marL="0" marR="0" marT="0" marB="0" horzOverflow="overflow">
                    <a:solidFill>
                      <a:srgbClr val="FB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itle 1"/>
          <p:cNvSpPr txBox="1">
            <a:spLocks noGrp="1"/>
          </p:cNvSpPr>
          <p:nvPr>
            <p:ph type="title"/>
          </p:nvPr>
        </p:nvSpPr>
        <p:spPr>
          <a:xfrm>
            <a:off x="151728" y="113540"/>
            <a:ext cx="5602753" cy="647783"/>
          </a:xfrm>
          <a:prstGeom prst="rect">
            <a:avLst/>
          </a:prstGeom>
        </p:spPr>
        <p:txBody>
          <a:bodyPr/>
          <a:lstStyle/>
          <a:p>
            <a:r>
              <a:t>NP-HARD Reduction</a:t>
            </a:r>
          </a:p>
        </p:txBody>
      </p:sp>
      <p:grpSp>
        <p:nvGrpSpPr>
          <p:cNvPr id="239" name="Hamiltonian Cycle"/>
          <p:cNvGrpSpPr/>
          <p:nvPr/>
        </p:nvGrpSpPr>
        <p:grpSpPr>
          <a:xfrm>
            <a:off x="2284987" y="5029548"/>
            <a:ext cx="1654589" cy="903726"/>
            <a:chOff x="0" y="0"/>
            <a:chExt cx="1654587" cy="903724"/>
          </a:xfrm>
        </p:grpSpPr>
        <p:sp>
          <p:nvSpPr>
            <p:cNvPr id="237" name="Rectangle"/>
            <p:cNvSpPr/>
            <p:nvPr/>
          </p:nvSpPr>
          <p:spPr>
            <a:xfrm>
              <a:off x="-1" y="0"/>
              <a:ext cx="1654588" cy="903726"/>
            </a:xfrm>
            <a:prstGeom prst="rect">
              <a:avLst/>
            </a:prstGeom>
            <a:solidFill>
              <a:srgbClr val="84B4DF"/>
            </a:solidFill>
            <a:ln w="9525" cap="flat">
              <a:solidFill>
                <a:srgbClr val="4B5AB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38" name="Hamiltonian Cycle"/>
            <p:cNvSpPr txBox="1"/>
            <p:nvPr/>
          </p:nvSpPr>
          <p:spPr>
            <a:xfrm>
              <a:off x="4762" y="139267"/>
              <a:ext cx="1645063" cy="6251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Hamiltonian Cycle</a:t>
              </a:r>
            </a:p>
          </p:txBody>
        </p:sp>
      </p:grpSp>
      <p:grpSp>
        <p:nvGrpSpPr>
          <p:cNvPr id="242" name="LAX"/>
          <p:cNvGrpSpPr/>
          <p:nvPr/>
        </p:nvGrpSpPr>
        <p:grpSpPr>
          <a:xfrm>
            <a:off x="1668926" y="2683306"/>
            <a:ext cx="694209" cy="694209"/>
            <a:chOff x="0" y="0"/>
            <a:chExt cx="694208" cy="694208"/>
          </a:xfrm>
        </p:grpSpPr>
        <p:sp>
          <p:nvSpPr>
            <p:cNvPr id="240" name="Circle"/>
            <p:cNvSpPr/>
            <p:nvPr/>
          </p:nvSpPr>
          <p:spPr>
            <a:xfrm>
              <a:off x="-1" y="-1"/>
              <a:ext cx="694209" cy="694209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41" name="LAX"/>
            <p:cNvSpPr txBox="1"/>
            <p:nvPr/>
          </p:nvSpPr>
          <p:spPr>
            <a:xfrm>
              <a:off x="106425" y="208097"/>
              <a:ext cx="481351" cy="277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500">
                  <a:solidFill>
                    <a:srgbClr val="FFFFFF"/>
                  </a:solidFill>
                </a:defRPr>
              </a:lvl1pPr>
            </a:lstStyle>
            <a:p>
              <a:r>
                <a:t>LA</a:t>
              </a:r>
            </a:p>
          </p:txBody>
        </p:sp>
      </p:grpSp>
      <p:grpSp>
        <p:nvGrpSpPr>
          <p:cNvPr id="245" name="JFK"/>
          <p:cNvGrpSpPr/>
          <p:nvPr/>
        </p:nvGrpSpPr>
        <p:grpSpPr>
          <a:xfrm>
            <a:off x="2765179" y="1578612"/>
            <a:ext cx="694211" cy="694211"/>
            <a:chOff x="0" y="0"/>
            <a:chExt cx="694210" cy="694210"/>
          </a:xfrm>
        </p:grpSpPr>
        <p:sp>
          <p:nvSpPr>
            <p:cNvPr id="243" name="Circle"/>
            <p:cNvSpPr/>
            <p:nvPr/>
          </p:nvSpPr>
          <p:spPr>
            <a:xfrm>
              <a:off x="-1" y="-1"/>
              <a:ext cx="694211" cy="694211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44" name="JFK"/>
            <p:cNvSpPr txBox="1"/>
            <p:nvPr/>
          </p:nvSpPr>
          <p:spPr>
            <a:xfrm>
              <a:off x="106425" y="208097"/>
              <a:ext cx="481352" cy="277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500">
                  <a:solidFill>
                    <a:srgbClr val="FFFFFF"/>
                  </a:solidFill>
                </a:defRPr>
              </a:lvl1pPr>
            </a:lstStyle>
            <a:p>
              <a:r>
                <a:t>NYC</a:t>
              </a:r>
            </a:p>
          </p:txBody>
        </p:sp>
      </p:grpSp>
      <p:grpSp>
        <p:nvGrpSpPr>
          <p:cNvPr id="248" name="MIA"/>
          <p:cNvGrpSpPr/>
          <p:nvPr/>
        </p:nvGrpSpPr>
        <p:grpSpPr>
          <a:xfrm>
            <a:off x="3870699" y="2683306"/>
            <a:ext cx="694213" cy="694209"/>
            <a:chOff x="0" y="0"/>
            <a:chExt cx="694211" cy="694208"/>
          </a:xfrm>
        </p:grpSpPr>
        <p:sp>
          <p:nvSpPr>
            <p:cNvPr id="246" name="Circle"/>
            <p:cNvSpPr/>
            <p:nvPr/>
          </p:nvSpPr>
          <p:spPr>
            <a:xfrm>
              <a:off x="-1" y="-1"/>
              <a:ext cx="694212" cy="694209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47" name="MIA"/>
            <p:cNvSpPr txBox="1"/>
            <p:nvPr/>
          </p:nvSpPr>
          <p:spPr>
            <a:xfrm>
              <a:off x="106426" y="208097"/>
              <a:ext cx="481351" cy="277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500">
                  <a:solidFill>
                    <a:srgbClr val="FFFFFF"/>
                  </a:solidFill>
                </a:defRPr>
              </a:lvl1pPr>
            </a:lstStyle>
            <a:p>
              <a:r>
                <a:t>MIA</a:t>
              </a:r>
            </a:p>
          </p:txBody>
        </p:sp>
      </p:grpSp>
      <p:grpSp>
        <p:nvGrpSpPr>
          <p:cNvPr id="251" name="HOU"/>
          <p:cNvGrpSpPr/>
          <p:nvPr/>
        </p:nvGrpSpPr>
        <p:grpSpPr>
          <a:xfrm>
            <a:off x="2765179" y="3778430"/>
            <a:ext cx="694211" cy="694209"/>
            <a:chOff x="0" y="0"/>
            <a:chExt cx="694210" cy="694208"/>
          </a:xfrm>
        </p:grpSpPr>
        <p:sp>
          <p:nvSpPr>
            <p:cNvPr id="249" name="Circle"/>
            <p:cNvSpPr/>
            <p:nvPr/>
          </p:nvSpPr>
          <p:spPr>
            <a:xfrm>
              <a:off x="-1" y="-1"/>
              <a:ext cx="694211" cy="694209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50" name="HOU"/>
            <p:cNvSpPr txBox="1"/>
            <p:nvPr/>
          </p:nvSpPr>
          <p:spPr>
            <a:xfrm>
              <a:off x="106425" y="208097"/>
              <a:ext cx="481352" cy="277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500">
                  <a:solidFill>
                    <a:srgbClr val="FFFFFF"/>
                  </a:solidFill>
                </a:defRPr>
              </a:lvl1pPr>
            </a:lstStyle>
            <a:p>
              <a:r>
                <a:t>HOU</a:t>
              </a:r>
            </a:p>
          </p:txBody>
        </p:sp>
      </p:grpSp>
      <p:sp>
        <p:nvSpPr>
          <p:cNvPr id="252" name="Line"/>
          <p:cNvSpPr/>
          <p:nvPr/>
        </p:nvSpPr>
        <p:spPr>
          <a:xfrm flipV="1">
            <a:off x="2241618" y="2145980"/>
            <a:ext cx="587105" cy="613360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53" name="Line"/>
          <p:cNvSpPr/>
          <p:nvPr/>
        </p:nvSpPr>
        <p:spPr>
          <a:xfrm flipV="1">
            <a:off x="3100750" y="2278133"/>
            <a:ext cx="20530" cy="1500049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54" name="Line"/>
          <p:cNvSpPr/>
          <p:nvPr/>
        </p:nvSpPr>
        <p:spPr>
          <a:xfrm flipV="1">
            <a:off x="3366160" y="3283158"/>
            <a:ext cx="610073" cy="613360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55" name="Line"/>
          <p:cNvSpPr/>
          <p:nvPr/>
        </p:nvSpPr>
        <p:spPr>
          <a:xfrm flipH="1" flipV="1">
            <a:off x="2362192" y="3030408"/>
            <a:ext cx="1500188" cy="8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grpSp>
        <p:nvGrpSpPr>
          <p:cNvPr id="258" name="LAX"/>
          <p:cNvGrpSpPr/>
          <p:nvPr/>
        </p:nvGrpSpPr>
        <p:grpSpPr>
          <a:xfrm>
            <a:off x="7627090" y="2688090"/>
            <a:ext cx="694209" cy="694209"/>
            <a:chOff x="0" y="0"/>
            <a:chExt cx="694208" cy="694208"/>
          </a:xfrm>
        </p:grpSpPr>
        <p:sp>
          <p:nvSpPr>
            <p:cNvPr id="256" name="Circle"/>
            <p:cNvSpPr/>
            <p:nvPr/>
          </p:nvSpPr>
          <p:spPr>
            <a:xfrm>
              <a:off x="-1" y="-1"/>
              <a:ext cx="694209" cy="694209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57" name="LAX"/>
            <p:cNvSpPr txBox="1"/>
            <p:nvPr/>
          </p:nvSpPr>
          <p:spPr>
            <a:xfrm>
              <a:off x="106425" y="208097"/>
              <a:ext cx="481351" cy="277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500">
                  <a:solidFill>
                    <a:srgbClr val="FFFFFF"/>
                  </a:solidFill>
                </a:defRPr>
              </a:lvl1pPr>
            </a:lstStyle>
            <a:p>
              <a:r>
                <a:t>LA</a:t>
              </a:r>
            </a:p>
          </p:txBody>
        </p:sp>
      </p:grpSp>
      <p:grpSp>
        <p:nvGrpSpPr>
          <p:cNvPr id="261" name="JFK"/>
          <p:cNvGrpSpPr/>
          <p:nvPr/>
        </p:nvGrpSpPr>
        <p:grpSpPr>
          <a:xfrm>
            <a:off x="8723343" y="1583395"/>
            <a:ext cx="694209" cy="694209"/>
            <a:chOff x="0" y="0"/>
            <a:chExt cx="694208" cy="694208"/>
          </a:xfrm>
        </p:grpSpPr>
        <p:sp>
          <p:nvSpPr>
            <p:cNvPr id="259" name="Circle"/>
            <p:cNvSpPr/>
            <p:nvPr/>
          </p:nvSpPr>
          <p:spPr>
            <a:xfrm>
              <a:off x="-1" y="-1"/>
              <a:ext cx="694209" cy="694209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0" name="JFK"/>
            <p:cNvSpPr txBox="1"/>
            <p:nvPr/>
          </p:nvSpPr>
          <p:spPr>
            <a:xfrm>
              <a:off x="106425" y="208097"/>
              <a:ext cx="481351" cy="277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500">
                  <a:solidFill>
                    <a:srgbClr val="FFFFFF"/>
                  </a:solidFill>
                </a:defRPr>
              </a:lvl1pPr>
            </a:lstStyle>
            <a:p>
              <a:r>
                <a:t>NYC</a:t>
              </a:r>
            </a:p>
          </p:txBody>
        </p:sp>
      </p:grpSp>
      <p:grpSp>
        <p:nvGrpSpPr>
          <p:cNvPr id="264" name="MIA"/>
          <p:cNvGrpSpPr/>
          <p:nvPr/>
        </p:nvGrpSpPr>
        <p:grpSpPr>
          <a:xfrm>
            <a:off x="9828865" y="2688090"/>
            <a:ext cx="694209" cy="694213"/>
            <a:chOff x="0" y="0"/>
            <a:chExt cx="694208" cy="694211"/>
          </a:xfrm>
        </p:grpSpPr>
        <p:sp>
          <p:nvSpPr>
            <p:cNvPr id="262" name="Circle"/>
            <p:cNvSpPr/>
            <p:nvPr/>
          </p:nvSpPr>
          <p:spPr>
            <a:xfrm>
              <a:off x="-1" y="-1"/>
              <a:ext cx="694209" cy="694212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3" name="MIA"/>
            <p:cNvSpPr txBox="1"/>
            <p:nvPr/>
          </p:nvSpPr>
          <p:spPr>
            <a:xfrm>
              <a:off x="106425" y="208098"/>
              <a:ext cx="481350" cy="277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500">
                  <a:solidFill>
                    <a:srgbClr val="FFFFFF"/>
                  </a:solidFill>
                </a:defRPr>
              </a:lvl1pPr>
            </a:lstStyle>
            <a:p>
              <a:r>
                <a:t>MIA</a:t>
              </a:r>
            </a:p>
          </p:txBody>
        </p:sp>
      </p:grpSp>
      <p:grpSp>
        <p:nvGrpSpPr>
          <p:cNvPr id="267" name="HOU"/>
          <p:cNvGrpSpPr/>
          <p:nvPr/>
        </p:nvGrpSpPr>
        <p:grpSpPr>
          <a:xfrm>
            <a:off x="8723343" y="3783214"/>
            <a:ext cx="694209" cy="694209"/>
            <a:chOff x="0" y="0"/>
            <a:chExt cx="694208" cy="694208"/>
          </a:xfrm>
        </p:grpSpPr>
        <p:sp>
          <p:nvSpPr>
            <p:cNvPr id="265" name="Circle"/>
            <p:cNvSpPr/>
            <p:nvPr/>
          </p:nvSpPr>
          <p:spPr>
            <a:xfrm>
              <a:off x="-1" y="-1"/>
              <a:ext cx="694209" cy="694209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6" name="HOU"/>
            <p:cNvSpPr txBox="1"/>
            <p:nvPr/>
          </p:nvSpPr>
          <p:spPr>
            <a:xfrm>
              <a:off x="106425" y="208097"/>
              <a:ext cx="481351" cy="277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500">
                  <a:solidFill>
                    <a:srgbClr val="FFFFFF"/>
                  </a:solidFill>
                </a:defRPr>
              </a:lvl1pPr>
            </a:lstStyle>
            <a:p>
              <a:r>
                <a:t>HOU</a:t>
              </a:r>
            </a:p>
          </p:txBody>
        </p:sp>
      </p:grpSp>
      <p:sp>
        <p:nvSpPr>
          <p:cNvPr id="268" name="Line"/>
          <p:cNvSpPr/>
          <p:nvPr/>
        </p:nvSpPr>
        <p:spPr>
          <a:xfrm flipV="1">
            <a:off x="8199783" y="2150765"/>
            <a:ext cx="587105" cy="613360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69" name="Line"/>
          <p:cNvSpPr/>
          <p:nvPr/>
        </p:nvSpPr>
        <p:spPr>
          <a:xfrm flipV="1">
            <a:off x="9058912" y="2282917"/>
            <a:ext cx="20530" cy="1500049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70" name="Line"/>
          <p:cNvSpPr/>
          <p:nvPr/>
        </p:nvSpPr>
        <p:spPr>
          <a:xfrm flipV="1">
            <a:off x="9324326" y="3287943"/>
            <a:ext cx="610073" cy="613361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71" name="Line"/>
          <p:cNvSpPr/>
          <p:nvPr/>
        </p:nvSpPr>
        <p:spPr>
          <a:xfrm flipH="1" flipV="1">
            <a:off x="8320354" y="3035193"/>
            <a:ext cx="1500188" cy="8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72" name="Line"/>
          <p:cNvSpPr/>
          <p:nvPr/>
        </p:nvSpPr>
        <p:spPr>
          <a:xfrm flipH="1" flipV="1">
            <a:off x="9352336" y="2145980"/>
            <a:ext cx="604906" cy="612609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3" name="1.74"/>
              <p:cNvSpPr txBox="1"/>
              <p:nvPr/>
            </p:nvSpPr>
            <p:spPr>
              <a:xfrm>
                <a:off x="9666027" y="2135639"/>
                <a:ext cx="189181" cy="10376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sz="1900"/>
              </a:p>
            </p:txBody>
          </p:sp>
        </mc:Choice>
        <mc:Fallback>
          <p:sp>
            <p:nvSpPr>
              <p:cNvPr id="273" name="1.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6027" y="2135639"/>
                <a:ext cx="189181" cy="103760"/>
              </a:xfrm>
              <a:prstGeom prst="rect">
                <a:avLst/>
              </a:prstGeom>
              <a:blipFill>
                <a:blip r:embed="rId2"/>
                <a:stretch>
                  <a:fillRect l="-32258" r="-41935" b="-17647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4" name="Line"/>
          <p:cNvSpPr/>
          <p:nvPr/>
        </p:nvSpPr>
        <p:spPr>
          <a:xfrm flipH="1" flipV="1">
            <a:off x="8182122" y="3305659"/>
            <a:ext cx="604906" cy="612611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5" name="1.74"/>
              <p:cNvSpPr txBox="1"/>
              <p:nvPr/>
            </p:nvSpPr>
            <p:spPr>
              <a:xfrm>
                <a:off x="8138522" y="3660121"/>
                <a:ext cx="189180" cy="10376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sz="1900"/>
              </a:p>
            </p:txBody>
          </p:sp>
        </mc:Choice>
        <mc:Fallback>
          <p:sp>
            <p:nvSpPr>
              <p:cNvPr id="275" name="1.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8522" y="3660121"/>
                <a:ext cx="189180" cy="103760"/>
              </a:xfrm>
              <a:prstGeom prst="rect">
                <a:avLst/>
              </a:prstGeom>
              <a:blipFill>
                <a:blip r:embed="rId3"/>
                <a:stretch>
                  <a:fillRect l="-32258" r="-41935" b="-17647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" name="Line"/>
          <p:cNvSpPr/>
          <p:nvPr/>
        </p:nvSpPr>
        <p:spPr>
          <a:xfrm>
            <a:off x="5168212" y="3030409"/>
            <a:ext cx="1846312" cy="6"/>
          </a:xfrm>
          <a:prstGeom prst="line">
            <a:avLst/>
          </a:prstGeom>
          <a:ln w="1524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grpSp>
        <p:nvGrpSpPr>
          <p:cNvPr id="279" name="Traveling Salesman"/>
          <p:cNvGrpSpPr/>
          <p:nvPr/>
        </p:nvGrpSpPr>
        <p:grpSpPr>
          <a:xfrm>
            <a:off x="8243153" y="5029548"/>
            <a:ext cx="1654589" cy="903726"/>
            <a:chOff x="0" y="0"/>
            <a:chExt cx="1654587" cy="903724"/>
          </a:xfrm>
        </p:grpSpPr>
        <p:sp>
          <p:nvSpPr>
            <p:cNvPr id="277" name="Rectangle"/>
            <p:cNvSpPr/>
            <p:nvPr/>
          </p:nvSpPr>
          <p:spPr>
            <a:xfrm>
              <a:off x="-1" y="0"/>
              <a:ext cx="1654588" cy="903726"/>
            </a:xfrm>
            <a:prstGeom prst="rect">
              <a:avLst/>
            </a:prstGeom>
            <a:solidFill>
              <a:srgbClr val="84B4DF"/>
            </a:solidFill>
            <a:ln w="9525" cap="flat">
              <a:solidFill>
                <a:srgbClr val="4B5AB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78" name="Traveling Salesman"/>
            <p:cNvSpPr txBox="1"/>
            <p:nvPr/>
          </p:nvSpPr>
          <p:spPr>
            <a:xfrm>
              <a:off x="4762" y="139267"/>
              <a:ext cx="1645062" cy="6251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r>
                <a:t>Traveling Salesman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0" name="Text"/>
              <p:cNvSpPr txBox="1"/>
              <p:nvPr/>
            </p:nvSpPr>
            <p:spPr>
              <a:xfrm>
                <a:off x="5844517" y="3214627"/>
                <a:ext cx="254998" cy="26791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</m:e>
                        <m:sub>
                          <m: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sz="2100"/>
              </a:p>
            </p:txBody>
          </p:sp>
        </mc:Choice>
        <mc:Fallback>
          <p:sp>
            <p:nvSpPr>
              <p:cNvPr id="280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4517" y="3214627"/>
                <a:ext cx="254998" cy="267914"/>
              </a:xfrm>
              <a:prstGeom prst="rect">
                <a:avLst/>
              </a:prstGeom>
              <a:blipFill>
                <a:blip r:embed="rId4"/>
                <a:stretch>
                  <a:fillRect l="-35714" r="-52381" b="-5681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1" name="2.475"/>
          <p:cNvSpPr txBox="1"/>
          <p:nvPr/>
        </p:nvSpPr>
        <p:spPr>
          <a:xfrm>
            <a:off x="1920810" y="2134907"/>
            <a:ext cx="625295" cy="333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r>
              <a:t>2.776</a:t>
            </a:r>
          </a:p>
        </p:txBody>
      </p:sp>
      <p:sp>
        <p:nvSpPr>
          <p:cNvPr id="282" name="1.1"/>
          <p:cNvSpPr txBox="1"/>
          <p:nvPr/>
        </p:nvSpPr>
        <p:spPr>
          <a:xfrm>
            <a:off x="3671194" y="3589835"/>
            <a:ext cx="625296" cy="333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r>
              <a:t>1.189</a:t>
            </a:r>
          </a:p>
        </p:txBody>
      </p:sp>
      <p:sp>
        <p:nvSpPr>
          <p:cNvPr id="283" name="1.74"/>
          <p:cNvSpPr txBox="1"/>
          <p:nvPr/>
        </p:nvSpPr>
        <p:spPr>
          <a:xfrm>
            <a:off x="3088051" y="2445210"/>
            <a:ext cx="625295" cy="333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r>
              <a:t>1.629</a:t>
            </a:r>
          </a:p>
        </p:txBody>
      </p:sp>
      <p:sp>
        <p:nvSpPr>
          <p:cNvPr id="284" name="2.342"/>
          <p:cNvSpPr txBox="1"/>
          <p:nvPr/>
        </p:nvSpPr>
        <p:spPr>
          <a:xfrm>
            <a:off x="2362461" y="3028156"/>
            <a:ext cx="676976" cy="333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r>
              <a:t> 2.735</a:t>
            </a:r>
          </a:p>
        </p:txBody>
      </p:sp>
      <p:sp>
        <p:nvSpPr>
          <p:cNvPr id="285" name="2.475"/>
          <p:cNvSpPr txBox="1"/>
          <p:nvPr/>
        </p:nvSpPr>
        <p:spPr>
          <a:xfrm>
            <a:off x="7882607" y="2134148"/>
            <a:ext cx="625296" cy="333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r>
              <a:t>2.776</a:t>
            </a:r>
          </a:p>
        </p:txBody>
      </p:sp>
      <p:sp>
        <p:nvSpPr>
          <p:cNvPr id="286" name="1.1"/>
          <p:cNvSpPr txBox="1"/>
          <p:nvPr/>
        </p:nvSpPr>
        <p:spPr>
          <a:xfrm>
            <a:off x="9632991" y="3589077"/>
            <a:ext cx="625295" cy="333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r>
              <a:t>1.189</a:t>
            </a:r>
          </a:p>
        </p:txBody>
      </p:sp>
      <p:sp>
        <p:nvSpPr>
          <p:cNvPr id="287" name="1.74"/>
          <p:cNvSpPr txBox="1"/>
          <p:nvPr/>
        </p:nvSpPr>
        <p:spPr>
          <a:xfrm>
            <a:off x="9049846" y="2444450"/>
            <a:ext cx="625295" cy="333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r>
              <a:t>1.629</a:t>
            </a:r>
          </a:p>
        </p:txBody>
      </p:sp>
      <p:sp>
        <p:nvSpPr>
          <p:cNvPr id="288" name="2.342"/>
          <p:cNvSpPr txBox="1"/>
          <p:nvPr/>
        </p:nvSpPr>
        <p:spPr>
          <a:xfrm>
            <a:off x="8324257" y="3027396"/>
            <a:ext cx="676976" cy="333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r>
              <a:t> 2.735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itle 1"/>
          <p:cNvSpPr txBox="1">
            <a:spLocks noGrp="1"/>
          </p:cNvSpPr>
          <p:nvPr>
            <p:ph type="title"/>
          </p:nvPr>
        </p:nvSpPr>
        <p:spPr>
          <a:xfrm>
            <a:off x="151728" y="113540"/>
            <a:ext cx="5602753" cy="647783"/>
          </a:xfrm>
          <a:prstGeom prst="rect">
            <a:avLst/>
          </a:prstGeom>
        </p:spPr>
        <p:txBody>
          <a:bodyPr/>
          <a:lstStyle/>
          <a:p>
            <a:r>
              <a:t>NP-HARD Reduction</a:t>
            </a:r>
          </a:p>
        </p:txBody>
      </p:sp>
      <p:pic>
        <p:nvPicPr>
          <p:cNvPr id="291" name="Screenshot 2025-11-26 at 4.34.41 PM.png" descr="Screenshot 2025-11-26 at 4.34.41 PM.png"/>
          <p:cNvPicPr>
            <a:picLocks noChangeAspect="1"/>
          </p:cNvPicPr>
          <p:nvPr/>
        </p:nvPicPr>
        <p:blipFill>
          <a:blip r:embed="rId2"/>
          <a:srcRect t="5399" b="19332"/>
          <a:stretch>
            <a:fillRect/>
          </a:stretch>
        </p:blipFill>
        <p:spPr>
          <a:xfrm>
            <a:off x="2548926" y="2202407"/>
            <a:ext cx="7094336" cy="2161860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92" name="Equation"/>
              <p:cNvSpPr txBox="1"/>
              <p:nvPr/>
            </p:nvSpPr>
            <p:spPr>
              <a:xfrm>
                <a:off x="5597723" y="4880681"/>
                <a:ext cx="1036279" cy="44344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sz="3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3400"/>
              </a:p>
            </p:txBody>
          </p:sp>
        </mc:Choice>
        <mc:Fallback>
          <p:sp>
            <p:nvSpPr>
              <p:cNvPr id="29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7723" y="4880681"/>
                <a:ext cx="1036279" cy="443442"/>
              </a:xfrm>
              <a:prstGeom prst="rect">
                <a:avLst/>
              </a:prstGeom>
              <a:blipFill>
                <a:blip r:embed="rId3"/>
                <a:stretch>
                  <a:fillRect r="-8235" b="-15278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Screenshot 2025-11-26 at 5.28.10 PM.png" descr="Screenshot 2025-11-26 at 5.28.10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446" y="1519393"/>
            <a:ext cx="6551108" cy="3819215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95" name="Equation"/>
              <p:cNvSpPr txBox="1"/>
              <p:nvPr/>
            </p:nvSpPr>
            <p:spPr>
              <a:xfrm>
                <a:off x="5276910" y="5792587"/>
                <a:ext cx="1707423" cy="36832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!∙</m:t>
                      </m:r>
                      <m:r>
                        <a:rPr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sz="3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3400"/>
              </a:p>
            </p:txBody>
          </p:sp>
        </mc:Choice>
        <mc:Fallback>
          <p:sp>
            <p:nvSpPr>
              <p:cNvPr id="29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6910" y="5792587"/>
                <a:ext cx="1707423" cy="368326"/>
              </a:xfrm>
              <a:prstGeom prst="rect">
                <a:avLst/>
              </a:prstGeom>
              <a:blipFill>
                <a:blip r:embed="rId3"/>
                <a:stretch>
                  <a:fillRect b="-36066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6" name="Title 1"/>
          <p:cNvSpPr txBox="1"/>
          <p:nvPr/>
        </p:nvSpPr>
        <p:spPr>
          <a:xfrm>
            <a:off x="151728" y="113540"/>
            <a:ext cx="8831799" cy="6477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>
              <a:lnSpc>
                <a:spcPct val="90000"/>
              </a:lnSpc>
              <a:defRPr sz="3200" cap="all">
                <a:latin typeface="Tenorite"/>
                <a:ea typeface="Tenorite"/>
                <a:cs typeface="Tenorite"/>
                <a:sym typeface="Tenorite"/>
              </a:defRPr>
            </a:lvl1pPr>
          </a:lstStyle>
          <a:p>
            <a:r>
              <a:t>Analytical runtime OF exact solution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C4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itle 1"/>
          <p:cNvSpPr txBox="1">
            <a:spLocks noGrp="1"/>
          </p:cNvSpPr>
          <p:nvPr>
            <p:ph type="title"/>
          </p:nvPr>
        </p:nvSpPr>
        <p:spPr>
          <a:xfrm>
            <a:off x="151723" y="113540"/>
            <a:ext cx="6344755" cy="647783"/>
          </a:xfrm>
          <a:prstGeom prst="rect">
            <a:avLst/>
          </a:prstGeom>
        </p:spPr>
        <p:txBody>
          <a:bodyPr/>
          <a:lstStyle/>
          <a:p>
            <a:r>
              <a:t>Test creation</a:t>
            </a:r>
          </a:p>
        </p:txBody>
      </p:sp>
      <p:pic>
        <p:nvPicPr>
          <p:cNvPr id="299" name="Screenshot 2025-12-02 at 9.44.47 PM.png" descr="Screenshot 2025-12-02 at 9.44.47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873" y="1793064"/>
            <a:ext cx="7480256" cy="1462487"/>
          </a:xfrm>
          <a:prstGeom prst="rect">
            <a:avLst/>
          </a:prstGeom>
          <a:ln w="12700">
            <a:miter lim="400000"/>
          </a:ln>
        </p:spPr>
      </p:pic>
      <p:pic>
        <p:nvPicPr>
          <p:cNvPr id="300" name="Screenshot 2025-12-03 at 12.19.16 PM.png" descr="Screenshot 2025-12-03 at 12.19.16 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247" y="4111273"/>
            <a:ext cx="7491508" cy="1462489"/>
          </a:xfrm>
          <a:prstGeom prst="rect">
            <a:avLst/>
          </a:prstGeom>
          <a:ln w="12700">
            <a:miter lim="400000"/>
          </a:ln>
        </p:spPr>
      </p:pic>
      <p:sp>
        <p:nvSpPr>
          <p:cNvPr id="301" name="generator.py"/>
          <p:cNvSpPr txBox="1"/>
          <p:nvPr/>
        </p:nvSpPr>
        <p:spPr>
          <a:xfrm>
            <a:off x="2354614" y="1390908"/>
            <a:ext cx="1375166" cy="370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lvl="5">
              <a:defRPr>
                <a:latin typeface="+mj-lt"/>
                <a:ea typeface="+mj-ea"/>
                <a:cs typeface="+mj-cs"/>
                <a:sym typeface="Helvetica"/>
              </a:defRPr>
            </a:pPr>
            <a:r>
              <a:t>generator.py</a:t>
            </a:r>
          </a:p>
        </p:txBody>
      </p:sp>
      <p:sp>
        <p:nvSpPr>
          <p:cNvPr id="302" name="run_tests.sh"/>
          <p:cNvSpPr txBox="1"/>
          <p:nvPr/>
        </p:nvSpPr>
        <p:spPr>
          <a:xfrm>
            <a:off x="2354614" y="3670472"/>
            <a:ext cx="1349382" cy="370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run_tests.sh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C4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itle 1"/>
          <p:cNvSpPr txBox="1">
            <a:spLocks noGrp="1"/>
          </p:cNvSpPr>
          <p:nvPr>
            <p:ph type="title"/>
          </p:nvPr>
        </p:nvSpPr>
        <p:spPr>
          <a:xfrm>
            <a:off x="151723" y="113540"/>
            <a:ext cx="6344755" cy="647783"/>
          </a:xfrm>
          <a:prstGeom prst="rect">
            <a:avLst/>
          </a:prstGeom>
        </p:spPr>
        <p:txBody>
          <a:bodyPr/>
          <a:lstStyle/>
          <a:p>
            <a:r>
              <a:t>Empirical analysis</a:t>
            </a:r>
          </a:p>
        </p:txBody>
      </p:sp>
      <p:pic>
        <p:nvPicPr>
          <p:cNvPr id="305" name="emperial.png" descr="empe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54" y="1293070"/>
            <a:ext cx="5983715" cy="4487785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06" name="Text"/>
              <p:cNvSpPr txBox="1"/>
              <p:nvPr/>
            </p:nvSpPr>
            <p:spPr>
              <a:xfrm>
                <a:off x="7348217" y="3424859"/>
                <a:ext cx="1490231" cy="24961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]≤1</m:t>
                      </m:r>
                      <m:r>
                        <a:rPr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endParaRPr sz="2100"/>
              </a:p>
            </p:txBody>
          </p:sp>
        </mc:Choice>
        <mc:Fallback>
          <p:sp>
            <p:nvSpPr>
              <p:cNvPr id="306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8217" y="3424859"/>
                <a:ext cx="1490231" cy="249616"/>
              </a:xfrm>
              <a:prstGeom prst="rect">
                <a:avLst/>
              </a:prstGeom>
              <a:blipFill>
                <a:blip r:embed="rId3"/>
                <a:stretch>
                  <a:fillRect l="-8571" t="-2439" r="-20000" b="-7561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7" name="Text"/>
              <p:cNvSpPr txBox="1"/>
              <p:nvPr/>
            </p:nvSpPr>
            <p:spPr>
              <a:xfrm>
                <a:off x="7348218" y="3886591"/>
                <a:ext cx="1292506" cy="25113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]≤1</m:t>
                      </m:r>
                      <m:r>
                        <a:rPr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sz="2100"/>
              </a:p>
            </p:txBody>
          </p:sp>
        </mc:Choice>
        <mc:Fallback>
          <p:sp>
            <p:nvSpPr>
              <p:cNvPr id="307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8218" y="3886591"/>
                <a:ext cx="1292506" cy="251131"/>
              </a:xfrm>
              <a:prstGeom prst="rect">
                <a:avLst/>
              </a:prstGeom>
              <a:blipFill>
                <a:blip r:embed="rId4"/>
                <a:stretch>
                  <a:fillRect l="-9906" t="-2439" r="-20755" b="-7561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8" name="Text"/>
              <p:cNvSpPr txBox="1"/>
              <p:nvPr/>
            </p:nvSpPr>
            <p:spPr>
              <a:xfrm>
                <a:off x="7348217" y="4349913"/>
                <a:ext cx="1551382" cy="24961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]≤1</m:t>
                      </m:r>
                      <m:r>
                        <a:rPr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sz="2100"/>
              </a:p>
            </p:txBody>
          </p:sp>
        </mc:Choice>
        <mc:Fallback>
          <p:sp>
            <p:nvSpPr>
              <p:cNvPr id="308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8217" y="4349913"/>
                <a:ext cx="1551382" cy="249616"/>
              </a:xfrm>
              <a:prstGeom prst="rect">
                <a:avLst/>
              </a:prstGeom>
              <a:blipFill>
                <a:blip r:embed="rId5"/>
                <a:stretch>
                  <a:fillRect l="-8235" t="-2439" r="-21176" b="-7561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9" name="Text"/>
              <p:cNvSpPr txBox="1"/>
              <p:nvPr/>
            </p:nvSpPr>
            <p:spPr>
              <a:xfrm>
                <a:off x="7348218" y="4817197"/>
                <a:ext cx="961566" cy="24696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≈8</m:t>
                      </m:r>
                      <m:r>
                        <a:rPr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sz="2100"/>
              </a:p>
            </p:txBody>
          </p:sp>
        </mc:Choice>
        <mc:Fallback>
          <p:sp>
            <p:nvSpPr>
              <p:cNvPr id="309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8218" y="4817197"/>
                <a:ext cx="961566" cy="246965"/>
              </a:xfrm>
              <a:prstGeom prst="rect">
                <a:avLst/>
              </a:prstGeom>
              <a:blipFill>
                <a:blip r:embed="rId6"/>
                <a:stretch>
                  <a:fillRect l="-6962" r="-24051" b="-4878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0" name="Text"/>
              <p:cNvSpPr txBox="1"/>
              <p:nvPr/>
            </p:nvSpPr>
            <p:spPr>
              <a:xfrm>
                <a:off x="7348218" y="5267033"/>
                <a:ext cx="1101317" cy="251749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≈2.6</m:t>
                      </m:r>
                      <m:r>
                        <a:rPr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sz="2100"/>
              </a:p>
            </p:txBody>
          </p:sp>
        </mc:Choice>
        <mc:Fallback>
          <p:sp>
            <p:nvSpPr>
              <p:cNvPr id="310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8218" y="5267033"/>
                <a:ext cx="1101317" cy="251749"/>
              </a:xfrm>
              <a:prstGeom prst="rect">
                <a:avLst/>
              </a:prstGeom>
              <a:blipFill>
                <a:blip r:embed="rId7"/>
                <a:stretch>
                  <a:fillRect l="-6077" r="-19890" b="-4878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1" name="Text"/>
              <p:cNvSpPr txBox="1"/>
              <p:nvPr/>
            </p:nvSpPr>
            <p:spPr>
              <a:xfrm>
                <a:off x="9622833" y="3432045"/>
                <a:ext cx="1234667" cy="24909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  <m:r>
                        <a:rPr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≈36.4</m:t>
                      </m:r>
                      <m:r>
                        <a:rPr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sz="2100"/>
              </a:p>
            </p:txBody>
          </p:sp>
        </mc:Choice>
        <mc:Fallback>
          <p:sp>
            <p:nvSpPr>
              <p:cNvPr id="311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2833" y="3432045"/>
                <a:ext cx="1234667" cy="249098"/>
              </a:xfrm>
              <a:prstGeom prst="rect">
                <a:avLst/>
              </a:prstGeom>
              <a:blipFill>
                <a:blip r:embed="rId8"/>
                <a:stretch>
                  <a:fillRect l="-5446" r="-19307" b="-4634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2" name="Text"/>
              <p:cNvSpPr txBox="1"/>
              <p:nvPr/>
            </p:nvSpPr>
            <p:spPr>
              <a:xfrm>
                <a:off x="9622833" y="3919163"/>
                <a:ext cx="1206397" cy="25281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sub>
                      </m:sSub>
                      <m:r>
                        <a:rPr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&gt;1.5</m:t>
                      </m:r>
                      <m:r>
                        <a:rPr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sz="2100"/>
              </a:p>
            </p:txBody>
          </p:sp>
        </mc:Choice>
        <mc:Fallback>
          <p:sp>
            <p:nvSpPr>
              <p:cNvPr id="312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2833" y="3919163"/>
                <a:ext cx="1206397" cy="252816"/>
              </a:xfrm>
              <a:prstGeom prst="rect">
                <a:avLst/>
              </a:prstGeom>
              <a:blipFill>
                <a:blip r:embed="rId9"/>
                <a:stretch>
                  <a:fillRect l="-5584" r="-16751" b="-4878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3" name="Text"/>
              <p:cNvSpPr txBox="1"/>
              <p:nvPr/>
            </p:nvSpPr>
            <p:spPr>
              <a:xfrm>
                <a:off x="9622833" y="4346388"/>
                <a:ext cx="1298014" cy="24588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  <m:r>
                        <a:rPr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sz="21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sz="2100"/>
              </a:p>
            </p:txBody>
          </p:sp>
        </mc:Choice>
        <mc:Fallback>
          <p:sp>
            <p:nvSpPr>
              <p:cNvPr id="313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2833" y="4346388"/>
                <a:ext cx="1298014" cy="245882"/>
              </a:xfrm>
              <a:prstGeom prst="rect">
                <a:avLst/>
              </a:prstGeom>
              <a:blipFill>
                <a:blip r:embed="rId10"/>
                <a:stretch>
                  <a:fillRect l="-9906" t="-2500" r="-21698" b="-800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4" name="Text"/>
              <p:cNvSpPr txBox="1"/>
              <p:nvPr/>
            </p:nvSpPr>
            <p:spPr>
              <a:xfrm>
                <a:off x="8556286" y="1588787"/>
                <a:ext cx="1247070" cy="633701"/>
              </a:xfrm>
              <a:prstGeom prst="rect">
                <a:avLst/>
              </a:prstGeom>
              <a:ln w="25400">
                <a:solidFill>
                  <a:srgbClr val="000000"/>
                </a:solidFill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45718" tIns="45718" rIns="45718" bIns="45718">
                <a:spAutoFit/>
              </a:bodyPr>
              <a:lstStyle>
                <a:lvl1pPr>
                  <a:defRPr sz="1900">
                    <a:latin typeface="Cambria Math"/>
                    <a:ea typeface="Cambria Math"/>
                    <a:cs typeface="Cambria Math"/>
                    <a:sym typeface="Cambria Math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9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sz="1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sz="1792"/>
              </a:p>
            </p:txBody>
          </p:sp>
        </mc:Choice>
        <mc:Fallback>
          <p:sp>
            <p:nvSpPr>
              <p:cNvPr id="314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6286" y="1588787"/>
                <a:ext cx="1247070" cy="63370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5400">
                <a:solidFill>
                  <a:srgbClr val="000000"/>
                </a:solidFill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5" name="Line"/>
          <p:cNvSpPr/>
          <p:nvPr/>
        </p:nvSpPr>
        <p:spPr>
          <a:xfrm flipV="1">
            <a:off x="9232123" y="2526418"/>
            <a:ext cx="3" cy="3038308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" name="Text"/>
              <p:cNvSpPr txBox="1"/>
              <p:nvPr/>
            </p:nvSpPr>
            <p:spPr>
              <a:xfrm>
                <a:off x="7989126" y="2665813"/>
                <a:ext cx="290484" cy="374243"/>
              </a:xfrm>
              <a:prstGeom prst="rect">
                <a:avLst/>
              </a:prstGeom>
              <a:ln w="25400">
                <a:solidFill>
                  <a:srgbClr val="000000"/>
                </a:solidFill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45718" tIns="45718" rIns="45718" bIns="45718">
                <a:spAutoFit/>
              </a:bodyPr>
              <a:lstStyle>
                <a:lvl1pPr>
                  <a:defRPr sz="1900">
                    <a:latin typeface="Cambria Math"/>
                    <a:ea typeface="Cambria Math"/>
                    <a:cs typeface="Cambria Math"/>
                    <a:sym typeface="Cambria Math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sz="1792"/>
              </a:p>
            </p:txBody>
          </p:sp>
        </mc:Choice>
        <mc:Fallback>
          <p:sp>
            <p:nvSpPr>
              <p:cNvPr id="316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126" y="2665813"/>
                <a:ext cx="290484" cy="374243"/>
              </a:xfrm>
              <a:prstGeom prst="rect">
                <a:avLst/>
              </a:prstGeom>
              <a:blipFill>
                <a:blip r:embed="rId12"/>
                <a:stretch>
                  <a:fillRect l="-9804"/>
                </a:stretch>
              </a:blipFill>
              <a:ln w="25400">
                <a:solidFill>
                  <a:srgbClr val="000000"/>
                </a:solidFill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7" name="Text"/>
              <p:cNvSpPr txBox="1"/>
              <p:nvPr/>
            </p:nvSpPr>
            <p:spPr>
              <a:xfrm>
                <a:off x="10013543" y="2665813"/>
                <a:ext cx="303755" cy="374243"/>
              </a:xfrm>
              <a:prstGeom prst="rect">
                <a:avLst/>
              </a:prstGeom>
              <a:ln w="25400">
                <a:solidFill>
                  <a:srgbClr val="000000"/>
                </a:solidFill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45718" tIns="45718" rIns="45718" bIns="45718">
                <a:spAutoFit/>
              </a:bodyPr>
              <a:lstStyle>
                <a:lvl1pPr>
                  <a:defRPr sz="1900">
                    <a:latin typeface="Cambria Math"/>
                    <a:ea typeface="Cambria Math"/>
                    <a:cs typeface="Cambria Math"/>
                    <a:sym typeface="Cambria Math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sz="1792"/>
              </a:p>
            </p:txBody>
          </p:sp>
        </mc:Choice>
        <mc:Fallback>
          <p:sp>
            <p:nvSpPr>
              <p:cNvPr id="317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3543" y="2665813"/>
                <a:ext cx="303755" cy="374243"/>
              </a:xfrm>
              <a:prstGeom prst="rect">
                <a:avLst/>
              </a:prstGeom>
              <a:blipFill>
                <a:blip r:embed="rId13"/>
                <a:stretch>
                  <a:fillRect l="-9434"/>
                </a:stretch>
              </a:blipFill>
              <a:ln w="25400">
                <a:solidFill>
                  <a:srgbClr val="000000"/>
                </a:solidFill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8" name="Line"/>
          <p:cNvSpPr/>
          <p:nvPr/>
        </p:nvSpPr>
        <p:spPr>
          <a:xfrm flipH="1" flipV="1">
            <a:off x="7393244" y="3173915"/>
            <a:ext cx="3677759" cy="3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itle 1"/>
          <p:cNvSpPr txBox="1">
            <a:spLocks noGrp="1"/>
          </p:cNvSpPr>
          <p:nvPr>
            <p:ph type="title"/>
          </p:nvPr>
        </p:nvSpPr>
        <p:spPr>
          <a:xfrm>
            <a:off x="895349" y="376638"/>
            <a:ext cx="7273636" cy="963932"/>
          </a:xfrm>
          <a:prstGeom prst="rect">
            <a:avLst/>
          </a:prstGeom>
        </p:spPr>
        <p:txBody>
          <a:bodyPr/>
          <a:lstStyle/>
          <a:p>
            <a:r>
              <a:t>Approximate Solution</a:t>
            </a:r>
          </a:p>
        </p:txBody>
      </p:sp>
      <p:sp>
        <p:nvSpPr>
          <p:cNvPr id="321" name="Text Placeholder 2"/>
          <p:cNvSpPr txBox="1">
            <a:spLocks noGrp="1"/>
          </p:cNvSpPr>
          <p:nvPr>
            <p:ph type="body" idx="1"/>
          </p:nvPr>
        </p:nvSpPr>
        <p:spPr>
          <a:xfrm>
            <a:off x="222701" y="1158579"/>
            <a:ext cx="10701974" cy="5585124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18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def main():</a:t>
            </a:r>
          </a:p>
          <a:p>
            <a:pPr marL="0" lvl="1" indent="482600">
              <a:buSzTx/>
              <a:buNone/>
              <a:defRPr sz="18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** Initialize graph and nodes **</a:t>
            </a:r>
          </a:p>
          <a:p>
            <a:pPr marL="0" lvl="1" indent="482600">
              <a:buSzTx/>
              <a:buNone/>
              <a:defRPr sz="18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for each edge in the graph:  </a:t>
            </a:r>
            <a:r>
              <a:rPr b="0">
                <a:solidFill>
                  <a:srgbClr val="002060"/>
                </a:solidFill>
                <a:latin typeface="Wingdings"/>
                <a:ea typeface="Wingdings"/>
                <a:cs typeface="Wingdings"/>
                <a:sym typeface="Wingdings"/>
              </a:rPr>
              <a:t></a:t>
            </a:r>
            <a:r>
              <a:t> </a:t>
            </a:r>
            <a:r>
              <a:rPr sz="2000">
                <a:solidFill>
                  <a:srgbClr val="002060"/>
                </a:solidFill>
              </a:rPr>
              <a:t>O(n)</a:t>
            </a:r>
          </a:p>
          <a:p>
            <a:pPr marL="0" lvl="1" indent="482600">
              <a:buSzTx/>
              <a:buNone/>
              <a:defRPr sz="18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	** build adjacency dictionary **</a:t>
            </a:r>
          </a:p>
          <a:p>
            <a:pPr marL="0" lvl="1" indent="482600">
              <a:buSzTx/>
              <a:buNone/>
              <a:defRPr sz="1800" b="1">
                <a:solidFill>
                  <a:srgbClr val="54823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Step 1: Build initial path using Nearest Neighbor heuristic</a:t>
            </a:r>
          </a:p>
          <a:p>
            <a:pPr marL="0" lvl="1" indent="482600">
              <a:buSzTx/>
              <a:buNone/>
              <a:defRPr sz="1800" b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path_1</a:t>
            </a:r>
            <a:r>
              <a:rPr>
                <a:solidFill>
                  <a:srgbClr val="000000"/>
                </a:solidFill>
              </a:rPr>
              <a:t> = nearest_neighbor(graph, nodes)  </a:t>
            </a:r>
            <a:r>
              <a:rPr b="0">
                <a:solidFill>
                  <a:srgbClr val="002060"/>
                </a:solidFill>
                <a:latin typeface="Wingdings"/>
                <a:ea typeface="Wingdings"/>
                <a:cs typeface="Wingdings"/>
                <a:sym typeface="Wingdings"/>
              </a:rPr>
              <a:t></a:t>
            </a:r>
            <a:r>
              <a:rPr>
                <a:solidFill>
                  <a:srgbClr val="000000"/>
                </a:solidFill>
              </a:rPr>
              <a:t> </a:t>
            </a:r>
            <a:r>
              <a:rPr sz="2000">
                <a:solidFill>
                  <a:srgbClr val="002060"/>
                </a:solidFill>
              </a:rPr>
              <a:t>O(n²)</a:t>
            </a:r>
            <a:endParaRPr>
              <a:solidFill>
                <a:srgbClr val="002060"/>
              </a:solidFill>
              <a:latin typeface="Tenorite"/>
              <a:ea typeface="Tenorite"/>
              <a:cs typeface="Tenorite"/>
              <a:sym typeface="Tenorite"/>
            </a:endParaRPr>
          </a:p>
          <a:p>
            <a:pPr marL="0" lvl="1" indent="482600">
              <a:buSzTx/>
              <a:buNone/>
              <a:defRPr sz="1800" b="1">
                <a:latin typeface="Courier New"/>
                <a:ea typeface="Courier New"/>
                <a:cs typeface="Courier New"/>
                <a:sym typeface="Courier New"/>
              </a:defRPr>
            </a:pPr>
            <a:endParaRPr>
              <a:solidFill>
                <a:srgbClr val="002060"/>
              </a:solidFill>
              <a:latin typeface="Tenorite"/>
              <a:ea typeface="Tenorite"/>
              <a:cs typeface="Tenorite"/>
              <a:sym typeface="Tenorite"/>
            </a:endParaRPr>
          </a:p>
          <a:p>
            <a:pPr marL="0" lvl="1" indent="482600">
              <a:buSzTx/>
              <a:buNone/>
              <a:defRPr sz="1800" b="1">
                <a:solidFill>
                  <a:srgbClr val="54823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Step 2: Run 2-opt heuristic for local improvement</a:t>
            </a:r>
          </a:p>
          <a:p>
            <a:pPr marL="0" lvl="1" indent="482600">
              <a:buSzTx/>
              <a:buNone/>
              <a:defRPr sz="1800" b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path_2</a:t>
            </a:r>
            <a:r>
              <a:rPr>
                <a:solidFill>
                  <a:srgbClr val="000000"/>
                </a:solidFill>
              </a:rPr>
              <a:t> = two_opt(graph, path_1) </a:t>
            </a:r>
            <a:r>
              <a:rPr sz="1600" b="0">
                <a:solidFill>
                  <a:srgbClr val="002060"/>
                </a:solidFill>
                <a:latin typeface="Wingdings"/>
                <a:ea typeface="Wingdings"/>
                <a:cs typeface="Wingdings"/>
                <a:sym typeface="Wingdings"/>
              </a:rPr>
              <a:t></a:t>
            </a:r>
            <a:r>
              <a:rPr sz="1600"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02060"/>
                </a:solidFill>
              </a:rPr>
              <a:t>O(n³) worst case</a:t>
            </a:r>
          </a:p>
          <a:p>
            <a:pPr marL="0" lvl="1" indent="482600">
              <a:buSzTx/>
              <a:buNone/>
              <a:defRPr sz="1800" b="1">
                <a:latin typeface="Courier New"/>
                <a:ea typeface="Courier New"/>
                <a:cs typeface="Courier New"/>
                <a:sym typeface="Courier New"/>
              </a:defRPr>
            </a:pPr>
            <a:endParaRPr>
              <a:solidFill>
                <a:srgbClr val="002060"/>
              </a:solidFill>
            </a:endParaRPr>
          </a:p>
          <a:p>
            <a:pPr marL="0" lvl="1" indent="482600">
              <a:buSzTx/>
              <a:buNone/>
              <a:defRPr sz="1800" b="1">
                <a:solidFill>
                  <a:srgbClr val="54823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Compute final path length and cycle</a:t>
            </a:r>
          </a:p>
          <a:p>
            <a:pPr marL="0" lvl="1" indent="482600">
              <a:buSzTx/>
              <a:buNone/>
              <a:defRPr sz="1800" b="1">
                <a:latin typeface="Courier New"/>
                <a:ea typeface="Courier New"/>
                <a:cs typeface="Courier New"/>
                <a:sym typeface="Courier New"/>
              </a:defRPr>
            </a:pPr>
            <a:r>
              <a:t>tour_length = tour_length(graph, path_2) </a:t>
            </a:r>
            <a:r>
              <a:rPr sz="1600" b="0">
                <a:solidFill>
                  <a:srgbClr val="002060"/>
                </a:solidFill>
                <a:latin typeface="Wingdings"/>
                <a:ea typeface="Wingdings"/>
                <a:cs typeface="Wingdings"/>
                <a:sym typeface="Wingdings"/>
              </a:rPr>
              <a:t></a:t>
            </a:r>
            <a:r>
              <a:rPr sz="1600"/>
              <a:t> </a:t>
            </a:r>
            <a:r>
              <a:rPr sz="2000">
                <a:solidFill>
                  <a:srgbClr val="002060"/>
                </a:solidFill>
              </a:rPr>
              <a:t>O(n)</a:t>
            </a:r>
          </a:p>
          <a:p>
            <a:pPr marL="0" lvl="1" indent="482600">
              <a:buSzTx/>
              <a:buNone/>
              <a:defRPr sz="1800" b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path_3</a:t>
            </a:r>
            <a:r>
              <a:rPr>
                <a:solidFill>
                  <a:srgbClr val="000000"/>
                </a:solidFill>
              </a:rPr>
              <a:t> = path_2 + the first node of path_2 </a:t>
            </a:r>
            <a:r>
              <a:rPr b="0">
                <a:solidFill>
                  <a:srgbClr val="7030A0"/>
                </a:solidFill>
                <a:latin typeface="Wingdings"/>
                <a:ea typeface="Wingdings"/>
                <a:cs typeface="Wingdings"/>
                <a:sym typeface="Wingdings"/>
              </a:rPr>
              <a:t> </a:t>
            </a:r>
            <a:r>
              <a:rPr>
                <a:solidFill>
                  <a:srgbClr val="7030A0"/>
                </a:solidFill>
              </a:rPr>
              <a:t>turn into a cycle</a:t>
            </a:r>
          </a:p>
        </p:txBody>
      </p:sp>
      <p:sp>
        <p:nvSpPr>
          <p:cNvPr id="322" name="TextBox 9"/>
          <p:cNvSpPr txBox="1"/>
          <p:nvPr/>
        </p:nvSpPr>
        <p:spPr>
          <a:xfrm>
            <a:off x="7131049" y="1158580"/>
            <a:ext cx="3793629" cy="1501137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>
                <a:latin typeface="Tenorite"/>
                <a:ea typeface="Tenorite"/>
                <a:cs typeface="Tenorite"/>
                <a:sym typeface="Tenorite"/>
              </a:defRPr>
            </a:pPr>
            <a:r>
              <a:t>Two heuristics used in combination: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defRPr b="1">
                <a:latin typeface="+mj-lt"/>
                <a:ea typeface="+mj-ea"/>
                <a:cs typeface="+mj-cs"/>
                <a:sym typeface="Helvetica"/>
              </a:defRPr>
            </a:pPr>
            <a:br/>
            <a:r>
              <a:rPr b="0">
                <a:latin typeface="Tenorite"/>
                <a:ea typeface="Tenorite"/>
                <a:cs typeface="Tenorite"/>
                <a:sym typeface="Tenorite"/>
              </a:rPr>
              <a:t>1. Nearest Neighbor (Greedy)</a:t>
            </a:r>
            <a:br>
              <a:rPr b="0">
                <a:latin typeface="Tenorite"/>
                <a:ea typeface="Tenorite"/>
                <a:cs typeface="Tenorite"/>
                <a:sym typeface="Tenorite"/>
              </a:rPr>
            </a:br>
            <a:r>
              <a:rPr b="0">
                <a:latin typeface="Tenorite"/>
                <a:ea typeface="Tenorite"/>
                <a:cs typeface="Tenorite"/>
                <a:sym typeface="Tenorite"/>
              </a:rPr>
              <a:t>2. Two-Opt (Local optimal swap)</a:t>
            </a:r>
          </a:p>
        </p:txBody>
      </p:sp>
      <p:sp>
        <p:nvSpPr>
          <p:cNvPr id="323" name="TextBox 1"/>
          <p:cNvSpPr txBox="1"/>
          <p:nvPr/>
        </p:nvSpPr>
        <p:spPr>
          <a:xfrm>
            <a:off x="7923044" y="3429000"/>
            <a:ext cx="3476960" cy="2449742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>
                <a:solidFill>
                  <a:srgbClr val="002060"/>
                </a:solidFill>
                <a:latin typeface="Tenorite"/>
                <a:ea typeface="Tenorite"/>
                <a:cs typeface="Tenorite"/>
                <a:sym typeface="Tenorite"/>
              </a:defRPr>
            </a:pPr>
            <a:r>
              <a:t>Polynomial Time:</a:t>
            </a:r>
            <a:endParaRPr>
              <a:latin typeface="+mn-lt"/>
              <a:ea typeface="+mn-ea"/>
              <a:cs typeface="+mn-cs"/>
              <a:sym typeface="Calibri"/>
            </a:endParaRPr>
          </a:p>
          <a:p>
            <a:pPr>
              <a:defRPr>
                <a:solidFill>
                  <a:srgbClr val="002060"/>
                </a:solidFill>
                <a:latin typeface="Tenorite"/>
                <a:ea typeface="Tenorite"/>
                <a:cs typeface="Tenorite"/>
                <a:sym typeface="Tenorite"/>
              </a:defRPr>
            </a:pPr>
            <a:endParaRPr>
              <a:latin typeface="+mn-lt"/>
              <a:ea typeface="+mn-ea"/>
              <a:cs typeface="+mn-cs"/>
              <a:sym typeface="Calibri"/>
            </a:endParaRPr>
          </a:p>
          <a:p>
            <a:pPr>
              <a:defRPr>
                <a:solidFill>
                  <a:srgbClr val="002060"/>
                </a:solidFill>
              </a:defRPr>
            </a:pPr>
            <a:r>
              <a:t>O(n)</a:t>
            </a:r>
            <a:r>
              <a:rPr>
                <a:latin typeface="Tenorite"/>
                <a:ea typeface="Tenorite"/>
                <a:cs typeface="Tenorite"/>
                <a:sym typeface="Tenorite"/>
              </a:rPr>
              <a:t> (build adjacency dictionary)</a:t>
            </a:r>
          </a:p>
          <a:p>
            <a:pPr>
              <a:defRPr>
                <a:solidFill>
                  <a:srgbClr val="002060"/>
                </a:solidFill>
                <a:latin typeface="Tenorite"/>
                <a:ea typeface="Tenorite"/>
                <a:cs typeface="Tenorite"/>
                <a:sym typeface="Tenorite"/>
              </a:defRPr>
            </a:pPr>
            <a:r>
              <a:t>+ 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O(n²) (Nearest Neighbor)</a:t>
            </a:r>
          </a:p>
          <a:p>
            <a:pPr>
              <a:defRPr>
                <a:solidFill>
                  <a:srgbClr val="002060"/>
                </a:solidFill>
              </a:defRPr>
            </a:pPr>
            <a:r>
              <a:t>+ O(n²) (Two-Opt pair checks)</a:t>
            </a:r>
          </a:p>
          <a:p>
            <a:pPr>
              <a:defRPr>
                <a:solidFill>
                  <a:srgbClr val="002060"/>
                </a:solidFill>
              </a:defRPr>
            </a:pPr>
            <a:r>
              <a:t>+ O(n³) (Two-opt worst case switch)</a:t>
            </a:r>
          </a:p>
          <a:p>
            <a:pPr>
              <a:defRPr>
                <a:solidFill>
                  <a:srgbClr val="002060"/>
                </a:solidFill>
              </a:defRPr>
            </a:pPr>
            <a:r>
              <a:t>+ O(n) (Calculate tour length)</a:t>
            </a:r>
          </a:p>
          <a:p>
            <a:pPr>
              <a:defRPr>
                <a:solidFill>
                  <a:srgbClr val="002060"/>
                </a:solidFill>
              </a:defRPr>
            </a:pPr>
            <a:r>
              <a:t> = </a:t>
            </a:r>
            <a:r>
              <a:rPr b="1"/>
              <a:t>O(n³) 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itle 1"/>
          <p:cNvSpPr txBox="1">
            <a:spLocks noGrp="1"/>
          </p:cNvSpPr>
          <p:nvPr>
            <p:ph type="title"/>
          </p:nvPr>
        </p:nvSpPr>
        <p:spPr>
          <a:xfrm>
            <a:off x="361949" y="126361"/>
            <a:ext cx="7273636" cy="963931"/>
          </a:xfrm>
          <a:prstGeom prst="rect">
            <a:avLst/>
          </a:prstGeom>
        </p:spPr>
        <p:txBody>
          <a:bodyPr/>
          <a:lstStyle/>
          <a:p>
            <a:r>
              <a:t>Approximate Solution</a:t>
            </a:r>
          </a:p>
        </p:txBody>
      </p:sp>
      <p:sp>
        <p:nvSpPr>
          <p:cNvPr id="326" name="Text Placeholder 2"/>
          <p:cNvSpPr txBox="1">
            <a:spLocks noGrp="1"/>
          </p:cNvSpPr>
          <p:nvPr>
            <p:ph type="body" sz="half" idx="1"/>
          </p:nvPr>
        </p:nvSpPr>
        <p:spPr>
          <a:xfrm>
            <a:off x="361946" y="1619247"/>
            <a:ext cx="5334007" cy="457962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endParaRPr/>
          </a:p>
        </p:txBody>
      </p:sp>
      <p:sp>
        <p:nvSpPr>
          <p:cNvPr id="327" name="TextBox 3"/>
          <p:cNvSpPr txBox="1"/>
          <p:nvPr/>
        </p:nvSpPr>
        <p:spPr>
          <a:xfrm>
            <a:off x="450850" y="990599"/>
            <a:ext cx="5397500" cy="459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 b="1">
                <a:latin typeface="Tenorite"/>
                <a:ea typeface="Tenorite"/>
                <a:cs typeface="Tenorite"/>
                <a:sym typeface="Tenorite"/>
              </a:defRPr>
            </a:lvl1pPr>
          </a:lstStyle>
          <a:p>
            <a:r>
              <a:t>Heuristic #1: Nearest Neighbor</a:t>
            </a:r>
          </a:p>
        </p:txBody>
      </p:sp>
      <p:sp>
        <p:nvSpPr>
          <p:cNvPr id="328" name="TextBox 5"/>
          <p:cNvSpPr txBox="1"/>
          <p:nvPr/>
        </p:nvSpPr>
        <p:spPr>
          <a:xfrm>
            <a:off x="5692876" y="701773"/>
            <a:ext cx="6002557" cy="1200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>
                <a:latin typeface="Tenorite"/>
                <a:ea typeface="Tenorite"/>
                <a:cs typeface="Tenorite"/>
                <a:sym typeface="Tenorite"/>
              </a:defRPr>
            </a:pPr>
            <a:r>
              <a:rPr sz="2400" dirty="0"/>
              <a:t>The Nearest Neighbor heuristic </a:t>
            </a:r>
            <a:r>
              <a:rPr sz="2400" dirty="0">
                <a:solidFill>
                  <a:srgbClr val="B4009A"/>
                </a:solidFill>
              </a:rPr>
              <a:t>picks the smallest cost edge first</a:t>
            </a:r>
            <a:r>
              <a:rPr sz="2400" dirty="0"/>
              <a:t>.</a:t>
            </a:r>
            <a:br>
              <a:rPr sz="2400" dirty="0"/>
            </a:br>
            <a:r>
              <a:rPr sz="2400" dirty="0"/>
              <a:t>This is considered a greedy approach.</a:t>
            </a:r>
          </a:p>
        </p:txBody>
      </p:sp>
      <p:sp>
        <p:nvSpPr>
          <p:cNvPr id="329" name="TextBox 6"/>
          <p:cNvSpPr txBox="1"/>
          <p:nvPr/>
        </p:nvSpPr>
        <p:spPr>
          <a:xfrm>
            <a:off x="5740645" y="1820087"/>
            <a:ext cx="5452114" cy="461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latin typeface="Tenorite"/>
                <a:ea typeface="Tenorite"/>
                <a:cs typeface="Tenorite"/>
                <a:sym typeface="Tenorite"/>
              </a:defRPr>
            </a:lvl1pPr>
          </a:lstStyle>
          <a:p>
            <a:r>
              <a:rPr sz="2400" dirty="0"/>
              <a:t>Example of Nearest Neighbor: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Title 1"/>
          <p:cNvSpPr txBox="1">
            <a:spLocks noGrp="1"/>
          </p:cNvSpPr>
          <p:nvPr>
            <p:ph type="title"/>
          </p:nvPr>
        </p:nvSpPr>
        <p:spPr>
          <a:xfrm>
            <a:off x="361949" y="126361"/>
            <a:ext cx="7273636" cy="963931"/>
          </a:xfrm>
          <a:prstGeom prst="rect">
            <a:avLst/>
          </a:prstGeom>
        </p:spPr>
        <p:txBody>
          <a:bodyPr/>
          <a:lstStyle/>
          <a:p>
            <a:r>
              <a:t>Approximate Solution</a:t>
            </a:r>
          </a:p>
        </p:txBody>
      </p:sp>
      <p:sp>
        <p:nvSpPr>
          <p:cNvPr id="332" name="Text Placeholder 2"/>
          <p:cNvSpPr txBox="1">
            <a:spLocks noGrp="1"/>
          </p:cNvSpPr>
          <p:nvPr>
            <p:ph type="body" sz="half" idx="1"/>
          </p:nvPr>
        </p:nvSpPr>
        <p:spPr>
          <a:xfrm>
            <a:off x="361946" y="1619247"/>
            <a:ext cx="5334007" cy="457962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endParaRPr/>
          </a:p>
        </p:txBody>
      </p:sp>
      <p:sp>
        <p:nvSpPr>
          <p:cNvPr id="333" name="TextBox 3"/>
          <p:cNvSpPr txBox="1"/>
          <p:nvPr/>
        </p:nvSpPr>
        <p:spPr>
          <a:xfrm>
            <a:off x="450850" y="990599"/>
            <a:ext cx="5397500" cy="459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 b="1">
                <a:latin typeface="Tenorite"/>
                <a:ea typeface="Tenorite"/>
                <a:cs typeface="Tenorite"/>
                <a:sym typeface="Tenorite"/>
              </a:defRPr>
            </a:lvl1pPr>
          </a:lstStyle>
          <a:p>
            <a:r>
              <a:t>Heuristic #2: Two-Opt</a:t>
            </a:r>
          </a:p>
        </p:txBody>
      </p:sp>
      <p:sp>
        <p:nvSpPr>
          <p:cNvPr id="334" name="TextBox 1"/>
          <p:cNvSpPr txBox="1"/>
          <p:nvPr/>
        </p:nvSpPr>
        <p:spPr>
          <a:xfrm>
            <a:off x="5692876" y="701773"/>
            <a:ext cx="6002557" cy="929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>
                <a:latin typeface="Tenorite"/>
                <a:ea typeface="Tenorite"/>
                <a:cs typeface="Tenorite"/>
                <a:sym typeface="Tenorite"/>
              </a:defRPr>
            </a:pPr>
            <a:r>
              <a:t>The Two-opt heuristic </a:t>
            </a:r>
            <a:r>
              <a:rPr>
                <a:solidFill>
                  <a:srgbClr val="2E75B6"/>
                </a:solidFill>
              </a:rPr>
              <a:t>removes edge crossings</a:t>
            </a:r>
            <a:r>
              <a:t>.</a:t>
            </a:r>
            <a:br/>
            <a:r>
              <a:t>In TSP, crossed edges usually mean the path is suboptimal.</a:t>
            </a:r>
          </a:p>
        </p:txBody>
      </p:sp>
      <p:sp>
        <p:nvSpPr>
          <p:cNvPr id="335" name="TextBox 2"/>
          <p:cNvSpPr txBox="1"/>
          <p:nvPr/>
        </p:nvSpPr>
        <p:spPr>
          <a:xfrm>
            <a:off x="5894068" y="1738851"/>
            <a:ext cx="5452114" cy="370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latin typeface="Tenorite"/>
                <a:ea typeface="Tenorite"/>
                <a:cs typeface="Tenorite"/>
                <a:sym typeface="Tenorite"/>
              </a:defRPr>
            </a:lvl1pPr>
          </a:lstStyle>
          <a:p>
            <a:r>
              <a:t>Example of a simple Two-opt: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Title 1"/>
          <p:cNvSpPr txBox="1">
            <a:spLocks noGrp="1"/>
          </p:cNvSpPr>
          <p:nvPr>
            <p:ph type="title"/>
          </p:nvPr>
        </p:nvSpPr>
        <p:spPr>
          <a:xfrm>
            <a:off x="228596" y="280057"/>
            <a:ext cx="10439404" cy="1617024"/>
          </a:xfrm>
          <a:prstGeom prst="rect">
            <a:avLst/>
          </a:prstGeom>
        </p:spPr>
        <p:txBody>
          <a:bodyPr/>
          <a:lstStyle/>
          <a:p>
            <a:r>
              <a:t>Approximate Solution – non-Optimal test case</a:t>
            </a:r>
          </a:p>
        </p:txBody>
      </p:sp>
      <p:sp>
        <p:nvSpPr>
          <p:cNvPr id="338" name="TextBox 4"/>
          <p:cNvSpPr txBox="1"/>
          <p:nvPr/>
        </p:nvSpPr>
        <p:spPr>
          <a:xfrm>
            <a:off x="6333716" y="2235136"/>
            <a:ext cx="5148077" cy="1488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>
                <a:latin typeface="Tenorite"/>
                <a:ea typeface="Tenorite"/>
                <a:cs typeface="Tenorite"/>
                <a:sym typeface="Tenorite"/>
              </a:defRPr>
            </a:pPr>
            <a:r>
              <a:t>**Optimal cycle**: </a:t>
            </a:r>
            <a:br/>
            <a:r>
              <a:rPr b="0"/>
              <a:t>A → E (60.0) → F (1.0) → D (1.0) → C (40.0) → B (1.0) → A (1.0).</a:t>
            </a:r>
            <a:endParaRPr>
              <a:latin typeface="+mn-lt"/>
              <a:ea typeface="+mn-ea"/>
              <a:cs typeface="+mn-cs"/>
              <a:sym typeface="Calibri"/>
            </a:endParaRPr>
          </a:p>
          <a:p>
            <a:pPr>
              <a:defRPr b="1">
                <a:latin typeface="Tenorite"/>
                <a:ea typeface="Tenorite"/>
                <a:cs typeface="Tenorite"/>
                <a:sym typeface="Tenorite"/>
              </a:defRPr>
            </a:pPr>
            <a:r>
              <a:t>Tour: </a:t>
            </a:r>
            <a:r>
              <a:rPr b="0"/>
              <a:t>A E F D C B A</a:t>
            </a:r>
            <a:endParaRPr>
              <a:latin typeface="+mn-lt"/>
              <a:ea typeface="+mn-ea"/>
              <a:cs typeface="+mn-cs"/>
              <a:sym typeface="Calibri"/>
            </a:endParaRPr>
          </a:p>
          <a:p>
            <a:pPr>
              <a:defRPr b="1">
                <a:latin typeface="Tenorite"/>
                <a:ea typeface="Tenorite"/>
                <a:cs typeface="Tenorite"/>
                <a:sym typeface="Tenorite"/>
              </a:defRPr>
            </a:pPr>
            <a:r>
              <a:t>Length: </a:t>
            </a:r>
            <a:r>
              <a:rPr b="0"/>
              <a:t>60 + 1 + 1 + 40 + 1 + 1 = 104.0</a:t>
            </a:r>
          </a:p>
        </p:txBody>
      </p:sp>
      <p:sp>
        <p:nvSpPr>
          <p:cNvPr id="339" name="TextBox 5"/>
          <p:cNvSpPr txBox="1"/>
          <p:nvPr/>
        </p:nvSpPr>
        <p:spPr>
          <a:xfrm>
            <a:off x="6333716" y="4050522"/>
            <a:ext cx="5419393" cy="1488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>
                <a:latin typeface="Tenorite"/>
                <a:ea typeface="Tenorite"/>
                <a:cs typeface="Tenorite"/>
                <a:sym typeface="Tenorite"/>
              </a:defRPr>
            </a:pPr>
            <a:r>
              <a:t>**Nearest neighbor from A**:</a:t>
            </a:r>
            <a:endParaRPr>
              <a:latin typeface="+mn-lt"/>
              <a:ea typeface="+mn-ea"/>
              <a:cs typeface="+mn-cs"/>
              <a:sym typeface="Calibri"/>
            </a:endParaRPr>
          </a:p>
          <a:p>
            <a:pPr>
              <a:defRPr>
                <a:latin typeface="Tenorite"/>
                <a:ea typeface="Tenorite"/>
                <a:cs typeface="Tenorite"/>
                <a:sym typeface="Tenorite"/>
              </a:defRPr>
            </a:pPr>
            <a:r>
              <a:t>A → B (1.0) → C (1.0) → D (40.0) → E (1.0) → F (1.0) → A (100.0)</a:t>
            </a:r>
          </a:p>
          <a:p>
            <a:pPr>
              <a:defRPr b="1">
                <a:latin typeface="Tenorite"/>
                <a:ea typeface="Tenorite"/>
                <a:cs typeface="Tenorite"/>
                <a:sym typeface="Tenorite"/>
              </a:defRPr>
            </a:pPr>
            <a:r>
              <a:t>Tour: </a:t>
            </a:r>
            <a:r>
              <a:rPr b="0"/>
              <a:t>a b c d e f a</a:t>
            </a:r>
            <a:endParaRPr>
              <a:latin typeface="+mn-lt"/>
              <a:ea typeface="+mn-ea"/>
              <a:cs typeface="+mn-cs"/>
              <a:sym typeface="Calibri"/>
            </a:endParaRPr>
          </a:p>
          <a:p>
            <a:pPr>
              <a:defRPr b="1">
                <a:latin typeface="Tenorite"/>
                <a:ea typeface="Tenorite"/>
                <a:cs typeface="Tenorite"/>
                <a:sym typeface="Tenorite"/>
              </a:defRPr>
            </a:pPr>
            <a:r>
              <a:t>Length: </a:t>
            </a:r>
            <a:r>
              <a:rPr b="0"/>
              <a:t>1 + 1 + 40 + 1 + 1 + 100 = 143.0</a:t>
            </a:r>
          </a:p>
        </p:txBody>
      </p:sp>
      <p:pic>
        <p:nvPicPr>
          <p:cNvPr id="340" name="Picture 323" descr="Picture 3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39" y="1646751"/>
            <a:ext cx="5811062" cy="46488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Title 1"/>
          <p:cNvSpPr txBox="1">
            <a:spLocks noGrp="1"/>
          </p:cNvSpPr>
          <p:nvPr>
            <p:ph type="title"/>
          </p:nvPr>
        </p:nvSpPr>
        <p:spPr>
          <a:xfrm>
            <a:off x="228596" y="280057"/>
            <a:ext cx="10439404" cy="1617024"/>
          </a:xfrm>
          <a:prstGeom prst="rect">
            <a:avLst/>
          </a:prstGeom>
        </p:spPr>
        <p:txBody>
          <a:bodyPr/>
          <a:lstStyle/>
          <a:p>
            <a:r>
              <a:t>Approximate Solution – non-Optimal test case</a:t>
            </a:r>
          </a:p>
        </p:txBody>
      </p:sp>
      <p:sp>
        <p:nvSpPr>
          <p:cNvPr id="343" name="TextBox 4"/>
          <p:cNvSpPr txBox="1"/>
          <p:nvPr/>
        </p:nvSpPr>
        <p:spPr>
          <a:xfrm>
            <a:off x="6321509" y="1605142"/>
            <a:ext cx="5148077" cy="1488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>
                <a:latin typeface="Tenorite"/>
                <a:ea typeface="Tenorite"/>
                <a:cs typeface="Tenorite"/>
                <a:sym typeface="Tenorite"/>
              </a:defRPr>
            </a:pPr>
            <a:r>
              <a:t>**Optimal cycle**: </a:t>
            </a:r>
            <a:br/>
            <a:r>
              <a:rPr b="0"/>
              <a:t>A → E (60.0) → F (1.0) → D (1.0) → C (40.0) → B (1.0) → A (1.0).</a:t>
            </a:r>
            <a:endParaRPr>
              <a:latin typeface="+mn-lt"/>
              <a:ea typeface="+mn-ea"/>
              <a:cs typeface="+mn-cs"/>
              <a:sym typeface="Calibri"/>
            </a:endParaRPr>
          </a:p>
          <a:p>
            <a:pPr>
              <a:defRPr b="1">
                <a:latin typeface="Tenorite"/>
                <a:ea typeface="Tenorite"/>
                <a:cs typeface="Tenorite"/>
                <a:sym typeface="Tenorite"/>
              </a:defRPr>
            </a:pPr>
            <a:r>
              <a:t>Tour: </a:t>
            </a:r>
            <a:r>
              <a:rPr b="0"/>
              <a:t>A E F D C B A</a:t>
            </a:r>
            <a:endParaRPr>
              <a:latin typeface="+mn-lt"/>
              <a:ea typeface="+mn-ea"/>
              <a:cs typeface="+mn-cs"/>
              <a:sym typeface="Calibri"/>
            </a:endParaRPr>
          </a:p>
          <a:p>
            <a:pPr>
              <a:defRPr b="1">
                <a:latin typeface="Tenorite"/>
                <a:ea typeface="Tenorite"/>
                <a:cs typeface="Tenorite"/>
                <a:sym typeface="Tenorite"/>
              </a:defRPr>
            </a:pPr>
            <a:r>
              <a:t>Length: </a:t>
            </a:r>
            <a:r>
              <a:rPr b="0"/>
              <a:t>60 + 1 + 1 + 40 + 1 + 1 = 104.0</a:t>
            </a:r>
          </a:p>
        </p:txBody>
      </p:sp>
      <p:sp>
        <p:nvSpPr>
          <p:cNvPr id="344" name="TextBox 5"/>
          <p:cNvSpPr txBox="1"/>
          <p:nvPr/>
        </p:nvSpPr>
        <p:spPr>
          <a:xfrm>
            <a:off x="6357216" y="3370107"/>
            <a:ext cx="5419388" cy="1488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>
                <a:solidFill>
                  <a:srgbClr val="EDEDED"/>
                </a:solidFill>
                <a:latin typeface="Tenorite"/>
                <a:ea typeface="Tenorite"/>
                <a:cs typeface="Tenorite"/>
                <a:sym typeface="Tenorite"/>
              </a:defRPr>
            </a:pPr>
            <a:r>
              <a:t>**Nearest neighbor from a**:</a:t>
            </a:r>
            <a:endParaRPr>
              <a:latin typeface="+mn-lt"/>
              <a:ea typeface="+mn-ea"/>
              <a:cs typeface="+mn-cs"/>
              <a:sym typeface="Calibri"/>
            </a:endParaRPr>
          </a:p>
          <a:p>
            <a:pPr>
              <a:defRPr>
                <a:latin typeface="Tenorite"/>
                <a:ea typeface="Tenorite"/>
                <a:cs typeface="Tenorite"/>
                <a:sym typeface="Tenorite"/>
              </a:defRPr>
            </a:pPr>
            <a:r>
              <a:t>A → B (1.0) → C (1.0) → D (40.0) → E (1.0) → F (1.0) → A (100.0)</a:t>
            </a:r>
          </a:p>
          <a:p>
            <a:pPr>
              <a:defRPr b="1">
                <a:latin typeface="Tenorite"/>
                <a:ea typeface="Tenorite"/>
                <a:cs typeface="Tenorite"/>
                <a:sym typeface="Tenorite"/>
              </a:defRPr>
            </a:pPr>
            <a:r>
              <a:t>Tour: </a:t>
            </a:r>
            <a:r>
              <a:rPr b="0"/>
              <a:t>A B C D E F A</a:t>
            </a:r>
            <a:endParaRPr>
              <a:latin typeface="+mn-lt"/>
              <a:ea typeface="+mn-ea"/>
              <a:cs typeface="+mn-cs"/>
              <a:sym typeface="Calibri"/>
            </a:endParaRPr>
          </a:p>
          <a:p>
            <a:pPr>
              <a:defRPr b="1">
                <a:latin typeface="Tenorite"/>
                <a:ea typeface="Tenorite"/>
                <a:cs typeface="Tenorite"/>
                <a:sym typeface="Tenorite"/>
              </a:defRPr>
            </a:pPr>
            <a:r>
              <a:t>Length: </a:t>
            </a:r>
            <a:r>
              <a:rPr b="0"/>
              <a:t>1 + 1 + 40 + 1 + 1 + 100 = 143.0</a:t>
            </a:r>
          </a:p>
        </p:txBody>
      </p:sp>
      <p:pic>
        <p:nvPicPr>
          <p:cNvPr id="345" name="Picture 323" descr="Picture 3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39" y="1646751"/>
            <a:ext cx="5811062" cy="4648850"/>
          </a:xfrm>
          <a:prstGeom prst="rect">
            <a:avLst/>
          </a:prstGeom>
          <a:ln w="12700">
            <a:miter lim="400000"/>
          </a:ln>
        </p:spPr>
      </p:pic>
      <p:sp>
        <p:nvSpPr>
          <p:cNvPr id="346" name="Arrow: Right 2"/>
          <p:cNvSpPr/>
          <p:nvPr/>
        </p:nvSpPr>
        <p:spPr>
          <a:xfrm rot="10186203">
            <a:off x="932045" y="5672332"/>
            <a:ext cx="1758652" cy="14089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>
            <a:solidFill>
              <a:srgbClr val="C00000"/>
            </a:solidFill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347" name="Arrow: Right 3"/>
          <p:cNvSpPr/>
          <p:nvPr/>
        </p:nvSpPr>
        <p:spPr>
          <a:xfrm rot="11215856">
            <a:off x="2955057" y="5672849"/>
            <a:ext cx="2411136" cy="131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>
            <a:solidFill>
              <a:srgbClr val="C00000"/>
            </a:solidFill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348" name="Arrow: Right 6"/>
          <p:cNvSpPr/>
          <p:nvPr/>
        </p:nvSpPr>
        <p:spPr>
          <a:xfrm rot="5400000">
            <a:off x="4229298" y="4421113"/>
            <a:ext cx="2495390" cy="11068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>
            <a:solidFill>
              <a:srgbClr val="C00000"/>
            </a:solidFill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349" name="Arrow: Right 7"/>
          <p:cNvSpPr/>
          <p:nvPr/>
        </p:nvSpPr>
        <p:spPr>
          <a:xfrm rot="2336116">
            <a:off x="4303538" y="2518249"/>
            <a:ext cx="1165646" cy="10642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>
            <a:solidFill>
              <a:srgbClr val="C00000"/>
            </a:solidFill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350" name="Arrow: Right 8"/>
          <p:cNvSpPr/>
          <p:nvPr/>
        </p:nvSpPr>
        <p:spPr>
          <a:xfrm rot="21431375">
            <a:off x="732038" y="2095774"/>
            <a:ext cx="3418136" cy="9878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>
            <a:solidFill>
              <a:srgbClr val="C00000"/>
            </a:solidFill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351" name="Arrow: Right 9"/>
          <p:cNvSpPr/>
          <p:nvPr/>
        </p:nvSpPr>
        <p:spPr>
          <a:xfrm rot="15917001">
            <a:off x="-1010611" y="4059978"/>
            <a:ext cx="3398828" cy="9759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>
            <a:solidFill>
              <a:srgbClr val="C00000"/>
            </a:solidFill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352" name="TextBox 11"/>
          <p:cNvSpPr txBox="1"/>
          <p:nvPr/>
        </p:nvSpPr>
        <p:spPr>
          <a:xfrm>
            <a:off x="6227687" y="5327288"/>
            <a:ext cx="6016757" cy="81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ts val="1400"/>
              </a:lnSpc>
              <a:defRPr>
                <a:solidFill>
                  <a:srgbClr val="FF0000"/>
                </a:solidFill>
                <a:latin typeface="Tenorite"/>
                <a:ea typeface="Tenorite"/>
                <a:cs typeface="Tenorite"/>
                <a:sym typeface="Tenorite"/>
              </a:defRPr>
            </a:lvl1pPr>
          </a:lstStyle>
          <a:p>
            <a:r>
              <a:t>** Any single 2‑edge swap in A B C D E F A increases cost (e.g., replacing (B,C) + (F,A) = 1 + 100 with (B,F) + (C,A) = 40 + 100), so the algorithm remains at 143.0 rather than reaching 104.0.</a:t>
            </a:r>
          </a:p>
        </p:txBody>
      </p:sp>
      <p:sp>
        <p:nvSpPr>
          <p:cNvPr id="353" name="TextBox 13"/>
          <p:cNvSpPr txBox="1"/>
          <p:nvPr/>
        </p:nvSpPr>
        <p:spPr>
          <a:xfrm>
            <a:off x="6213981" y="4991889"/>
            <a:ext cx="2807212" cy="464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ts val="1400"/>
              </a:lnSpc>
              <a:defRPr b="1">
                <a:latin typeface="Tenorite"/>
                <a:ea typeface="Tenorite"/>
                <a:cs typeface="Tenorite"/>
                <a:sym typeface="Tenorite"/>
              </a:defRPr>
            </a:lvl1pPr>
          </a:lstStyle>
          <a:p>
            <a:r>
              <a:t>WHAT ABOUT TWO-OPT?</a:t>
            </a:r>
          </a:p>
        </p:txBody>
      </p:sp>
      <p:sp>
        <p:nvSpPr>
          <p:cNvPr id="354" name="TextBox 1"/>
          <p:cNvSpPr txBox="1"/>
          <p:nvPr/>
        </p:nvSpPr>
        <p:spPr>
          <a:xfrm>
            <a:off x="3994484" y="6295599"/>
            <a:ext cx="3128215" cy="333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/>
            </a:lvl1pPr>
          </a:lstStyle>
          <a:p>
            <a:r>
              <a:t>NOT BAD…..BUT NOT OPTIMAL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itle 1"/>
          <p:cNvSpPr txBox="1">
            <a:spLocks noGrp="1"/>
          </p:cNvSpPr>
          <p:nvPr>
            <p:ph type="title"/>
          </p:nvPr>
        </p:nvSpPr>
        <p:spPr>
          <a:xfrm>
            <a:off x="228596" y="280057"/>
            <a:ext cx="10439404" cy="1617024"/>
          </a:xfrm>
          <a:prstGeom prst="rect">
            <a:avLst/>
          </a:prstGeom>
        </p:spPr>
        <p:txBody>
          <a:bodyPr/>
          <a:lstStyle/>
          <a:p>
            <a:r>
              <a:t>Approximate Solution – non-Optimal test case</a:t>
            </a:r>
          </a:p>
        </p:txBody>
      </p:sp>
      <p:sp>
        <p:nvSpPr>
          <p:cNvPr id="357" name="TextBox 4"/>
          <p:cNvSpPr txBox="1"/>
          <p:nvPr/>
        </p:nvSpPr>
        <p:spPr>
          <a:xfrm>
            <a:off x="6333716" y="2235136"/>
            <a:ext cx="5148077" cy="1488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>
                <a:latin typeface="Tenorite"/>
                <a:ea typeface="Tenorite"/>
                <a:cs typeface="Tenorite"/>
                <a:sym typeface="Tenorite"/>
              </a:defRPr>
            </a:pPr>
            <a:r>
              <a:t>**Optimal cycle**: </a:t>
            </a:r>
            <a:br/>
            <a:r>
              <a:rPr b="0"/>
              <a:t>A → E (60.0) → F (1.0) → D (1.0) → C (40.0) → B (1.0) → A (1.0).</a:t>
            </a:r>
            <a:endParaRPr>
              <a:latin typeface="+mn-lt"/>
              <a:ea typeface="+mn-ea"/>
              <a:cs typeface="+mn-cs"/>
              <a:sym typeface="Calibri"/>
            </a:endParaRPr>
          </a:p>
          <a:p>
            <a:pPr>
              <a:defRPr b="1">
                <a:latin typeface="Tenorite"/>
                <a:ea typeface="Tenorite"/>
                <a:cs typeface="Tenorite"/>
                <a:sym typeface="Tenorite"/>
              </a:defRPr>
            </a:pPr>
            <a:r>
              <a:t>Tour: </a:t>
            </a:r>
            <a:r>
              <a:rPr b="0"/>
              <a:t>A E F D C B A</a:t>
            </a:r>
            <a:endParaRPr>
              <a:latin typeface="+mn-lt"/>
              <a:ea typeface="+mn-ea"/>
              <a:cs typeface="+mn-cs"/>
              <a:sym typeface="Calibri"/>
            </a:endParaRPr>
          </a:p>
          <a:p>
            <a:pPr>
              <a:defRPr b="1">
                <a:latin typeface="Tenorite"/>
                <a:ea typeface="Tenorite"/>
                <a:cs typeface="Tenorite"/>
                <a:sym typeface="Tenorite"/>
              </a:defRPr>
            </a:pPr>
            <a:r>
              <a:t>Length: </a:t>
            </a:r>
            <a:r>
              <a:rPr b="0"/>
              <a:t>60 + 1 + 1 + 40 + 1 + 1 = 104.0</a:t>
            </a:r>
          </a:p>
        </p:txBody>
      </p:sp>
      <p:sp>
        <p:nvSpPr>
          <p:cNvPr id="358" name="TextBox 5"/>
          <p:cNvSpPr txBox="1"/>
          <p:nvPr/>
        </p:nvSpPr>
        <p:spPr>
          <a:xfrm>
            <a:off x="6333716" y="4050522"/>
            <a:ext cx="5419393" cy="1488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>
                <a:latin typeface="Tenorite"/>
                <a:ea typeface="Tenorite"/>
                <a:cs typeface="Tenorite"/>
                <a:sym typeface="Tenorite"/>
              </a:defRPr>
            </a:pPr>
            <a:r>
              <a:t>**Nearest neighbor from a**:</a:t>
            </a:r>
            <a:endParaRPr>
              <a:latin typeface="+mn-lt"/>
              <a:ea typeface="+mn-ea"/>
              <a:cs typeface="+mn-cs"/>
              <a:sym typeface="Calibri"/>
            </a:endParaRPr>
          </a:p>
          <a:p>
            <a:pPr>
              <a:defRPr>
                <a:latin typeface="Tenorite"/>
                <a:ea typeface="Tenorite"/>
                <a:cs typeface="Tenorite"/>
                <a:sym typeface="Tenorite"/>
              </a:defRPr>
            </a:pPr>
            <a:r>
              <a:t>A → B (1.0) → C (1.0) → D (40.0) → E (1.0) → F (1.0) → A (100.0)</a:t>
            </a:r>
          </a:p>
          <a:p>
            <a:pPr>
              <a:defRPr b="1">
                <a:latin typeface="Tenorite"/>
                <a:ea typeface="Tenorite"/>
                <a:cs typeface="Tenorite"/>
                <a:sym typeface="Tenorite"/>
              </a:defRPr>
            </a:pPr>
            <a:r>
              <a:t>Tour: </a:t>
            </a:r>
            <a:r>
              <a:rPr b="0"/>
              <a:t>a b c d e f a</a:t>
            </a:r>
            <a:endParaRPr>
              <a:latin typeface="+mn-lt"/>
              <a:ea typeface="+mn-ea"/>
              <a:cs typeface="+mn-cs"/>
              <a:sym typeface="Calibri"/>
            </a:endParaRPr>
          </a:p>
          <a:p>
            <a:pPr>
              <a:defRPr b="1">
                <a:latin typeface="Tenorite"/>
                <a:ea typeface="Tenorite"/>
                <a:cs typeface="Tenorite"/>
                <a:sym typeface="Tenorite"/>
              </a:defRPr>
            </a:pPr>
            <a:r>
              <a:t>Length: </a:t>
            </a:r>
            <a:r>
              <a:rPr b="0"/>
              <a:t>1 + 1 + 40 + 1 + 1 + 100 = 143.0</a:t>
            </a:r>
          </a:p>
        </p:txBody>
      </p:sp>
      <p:pic>
        <p:nvPicPr>
          <p:cNvPr id="359" name="Picture 323" descr="Picture 3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39" y="1646751"/>
            <a:ext cx="5811062" cy="4648850"/>
          </a:xfrm>
          <a:prstGeom prst="rect">
            <a:avLst/>
          </a:prstGeom>
          <a:ln w="12700">
            <a:miter lim="400000"/>
          </a:ln>
        </p:spPr>
      </p:pic>
      <p:sp>
        <p:nvSpPr>
          <p:cNvPr id="360" name="Arrow: Right 2"/>
          <p:cNvSpPr/>
          <p:nvPr/>
        </p:nvSpPr>
        <p:spPr>
          <a:xfrm>
            <a:off x="996696" y="5900184"/>
            <a:ext cx="4361692" cy="9828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25400">
            <a:solidFill>
              <a:srgbClr val="92D050"/>
            </a:solidFill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361" name="Arrow: Right 3"/>
          <p:cNvSpPr/>
          <p:nvPr/>
        </p:nvSpPr>
        <p:spPr>
          <a:xfrm rot="11215856">
            <a:off x="2955057" y="5672849"/>
            <a:ext cx="2411136" cy="131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25400">
            <a:solidFill>
              <a:srgbClr val="92D050"/>
            </a:solidFill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362" name="Arrow: Right 6"/>
          <p:cNvSpPr/>
          <p:nvPr/>
        </p:nvSpPr>
        <p:spPr>
          <a:xfrm rot="19024860">
            <a:off x="2520357" y="4265114"/>
            <a:ext cx="3349189" cy="11068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25400">
            <a:solidFill>
              <a:srgbClr val="92D050"/>
            </a:solidFill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363" name="Arrow: Right 7"/>
          <p:cNvSpPr/>
          <p:nvPr/>
        </p:nvSpPr>
        <p:spPr>
          <a:xfrm rot="13217629">
            <a:off x="4303538" y="2518249"/>
            <a:ext cx="1165646" cy="10642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25400">
            <a:solidFill>
              <a:srgbClr val="92D050"/>
            </a:solidFill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364" name="Arrow: Right 8"/>
          <p:cNvSpPr/>
          <p:nvPr/>
        </p:nvSpPr>
        <p:spPr>
          <a:xfrm rot="10648709">
            <a:off x="732038" y="2095774"/>
            <a:ext cx="3418136" cy="9878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25400">
            <a:solidFill>
              <a:srgbClr val="92D050"/>
            </a:solidFill>
          </a:ln>
        </p:spPr>
        <p:txBody>
          <a:bodyPr lIns="45718" tIns="45718" rIns="45718" bIns="45718" anchor="ctr"/>
          <a:lstStyle/>
          <a:p>
            <a:endParaRPr/>
          </a:p>
        </p:txBody>
      </p:sp>
      <p:sp>
        <p:nvSpPr>
          <p:cNvPr id="365" name="Arrow: Right 9"/>
          <p:cNvSpPr/>
          <p:nvPr/>
        </p:nvSpPr>
        <p:spPr>
          <a:xfrm rot="5097061">
            <a:off x="-1010611" y="4059978"/>
            <a:ext cx="3398828" cy="9759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50"/>
          </a:solidFill>
          <a:ln w="25400">
            <a:solidFill>
              <a:srgbClr val="92D050"/>
            </a:solidFill>
          </a:ln>
        </p:spPr>
        <p:txBody>
          <a:bodyPr lIns="45718" tIns="45718" rIns="45718" bIns="45718" anchor="ctr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Title 1"/>
          <p:cNvSpPr txBox="1">
            <a:spLocks noGrp="1"/>
          </p:cNvSpPr>
          <p:nvPr>
            <p:ph type="title"/>
          </p:nvPr>
        </p:nvSpPr>
        <p:spPr>
          <a:xfrm>
            <a:off x="553449" y="418785"/>
            <a:ext cx="10900617" cy="1603469"/>
          </a:xfrm>
          <a:prstGeom prst="rect">
            <a:avLst/>
          </a:prstGeom>
        </p:spPr>
        <p:txBody>
          <a:bodyPr/>
          <a:lstStyle/>
          <a:p>
            <a:r>
              <a:t>Approximate vs exact solution – compare results</a:t>
            </a:r>
          </a:p>
        </p:txBody>
      </p:sp>
      <p:sp>
        <p:nvSpPr>
          <p:cNvPr id="368" name="Text Placeholder 2"/>
          <p:cNvSpPr txBox="1">
            <a:spLocks noGrp="1"/>
          </p:cNvSpPr>
          <p:nvPr>
            <p:ph type="body" sz="half" idx="1"/>
          </p:nvPr>
        </p:nvSpPr>
        <p:spPr>
          <a:xfrm>
            <a:off x="914396" y="2022250"/>
            <a:ext cx="6196272" cy="391491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plots that compare the result/solution of your exact solution versus the approximation on your test cases. This is where you show the </a:t>
            </a:r>
            <a:r>
              <a:rPr b="1"/>
              <a:t>value</a:t>
            </a:r>
            <a:r>
              <a:t> achieved by both and see how well your approximation did versus the optimal solution.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Title 1"/>
          <p:cNvSpPr txBox="1">
            <a:spLocks noGrp="1"/>
          </p:cNvSpPr>
          <p:nvPr>
            <p:ph type="title"/>
          </p:nvPr>
        </p:nvSpPr>
        <p:spPr>
          <a:xfrm>
            <a:off x="421104" y="418785"/>
            <a:ext cx="11947360" cy="1603469"/>
          </a:xfrm>
          <a:prstGeom prst="rect">
            <a:avLst/>
          </a:prstGeom>
        </p:spPr>
        <p:txBody>
          <a:bodyPr/>
          <a:lstStyle/>
          <a:p>
            <a:r>
              <a:t>Approximate vs exact solution – run time (wall clock)</a:t>
            </a:r>
          </a:p>
        </p:txBody>
      </p:sp>
      <p:graphicFrame>
        <p:nvGraphicFramePr>
          <p:cNvPr id="371" name="Chart 4"/>
          <p:cNvGraphicFramePr/>
          <p:nvPr/>
        </p:nvGraphicFramePr>
        <p:xfrm>
          <a:off x="10199" y="1782410"/>
          <a:ext cx="6947331" cy="44155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72" name="Table 10"/>
          <p:cNvGraphicFramePr/>
          <p:nvPr/>
        </p:nvGraphicFramePr>
        <p:xfrm>
          <a:off x="7279105" y="1612232"/>
          <a:ext cx="3645569" cy="421106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456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7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94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Approximate Solution</a:t>
                      </a:r>
                    </a:p>
                  </a:txBody>
                  <a:tcPr marL="8714" marR="8714" marT="8714" marB="8714" anchor="b" horzOverflow="overflow">
                    <a:lnL w="635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Exact Solution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# of nodes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948"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0.0000088</a:t>
                      </a:r>
                    </a:p>
                  </a:txBody>
                  <a:tcPr marL="8714" marR="8714" marT="8714" marB="8714" anchor="b" horzOverflow="overflow">
                    <a:lnL w="635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0.0000077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3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948"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0.0000115</a:t>
                      </a:r>
                    </a:p>
                  </a:txBody>
                  <a:tcPr marL="8714" marR="8714" marT="8714" marB="8714" anchor="b" horzOverflow="overflow">
                    <a:lnL w="635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0.0000153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4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948"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0.0000128</a:t>
                      </a:r>
                    </a:p>
                  </a:txBody>
                  <a:tcPr marL="8714" marR="8714" marT="8714" marB="8714" anchor="b" horzOverflow="overflow">
                    <a:lnL w="635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0.000052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5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948"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0.0000158</a:t>
                      </a:r>
                    </a:p>
                  </a:txBody>
                  <a:tcPr marL="8714" marR="8714" marT="8714" marB="8714" anchor="b" horzOverflow="overflow">
                    <a:lnL w="635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0.0003112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6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948"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0.0000166</a:t>
                      </a:r>
                    </a:p>
                  </a:txBody>
                  <a:tcPr marL="8714" marR="8714" marT="8714" marB="8714" anchor="b" horzOverflow="overflow">
                    <a:lnL w="635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0.0024893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7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948"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0.0000175</a:t>
                      </a:r>
                    </a:p>
                  </a:txBody>
                  <a:tcPr marL="8714" marR="8714" marT="8714" marB="8714" anchor="b" horzOverflow="overflow">
                    <a:lnL w="635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0.0230878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8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948"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0.0000373</a:t>
                      </a:r>
                    </a:p>
                  </a:txBody>
                  <a:tcPr marL="8714" marR="8714" marT="8714" marB="8714" anchor="b" horzOverflow="overflow">
                    <a:lnL w="635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0.2287903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9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948"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0.0000223</a:t>
                      </a:r>
                    </a:p>
                  </a:txBody>
                  <a:tcPr marL="8714" marR="8714" marT="8714" marB="8714" anchor="b" horzOverflow="overflow">
                    <a:lnL w="635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2.4284377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10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948"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0.0000257</a:t>
                      </a:r>
                    </a:p>
                  </a:txBody>
                  <a:tcPr marL="8714" marR="8714" marT="8714" marB="8714" anchor="b" horzOverflow="overflow">
                    <a:lnL w="635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27.6510172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11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948"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0.0000294</a:t>
                      </a:r>
                    </a:p>
                  </a:txBody>
                  <a:tcPr marL="8714" marR="8714" marT="8714" marB="8714" anchor="b" horzOverflow="overflow">
                    <a:lnL w="635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410.1124702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12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948"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0.0000302</a:t>
                      </a:r>
                    </a:p>
                  </a:txBody>
                  <a:tcPr marL="8714" marR="8714" marT="8714" marB="8714" anchor="b" horzOverflow="overflow">
                    <a:lnL w="635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9600.488107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13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948"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0.0000327</a:t>
                      </a:r>
                    </a:p>
                  </a:txBody>
                  <a:tcPr marL="8714" marR="8714" marT="8714" marB="8714" anchor="b" horzOverflow="overflow">
                    <a:lnL w="635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244000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14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948"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0.0000576</a:t>
                      </a:r>
                    </a:p>
                  </a:txBody>
                  <a:tcPr marL="8714" marR="8714" marT="8714" marB="8714" anchor="b" horzOverflow="overflow">
                    <a:lnL w="635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3.92E+06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15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948"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0.0000879</a:t>
                      </a:r>
                    </a:p>
                  </a:txBody>
                  <a:tcPr marL="8714" marR="8714" marT="8714" marB="8714" anchor="b" horzOverflow="overflow">
                    <a:lnL w="635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7.76E+19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25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948"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0.0003045</a:t>
                      </a:r>
                    </a:p>
                  </a:txBody>
                  <a:tcPr marL="8714" marR="8714" marT="8714" marB="8714" anchor="b" horzOverflow="overflow">
                    <a:lnL w="635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3.04E+59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50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948"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0.001417</a:t>
                      </a:r>
                    </a:p>
                  </a:txBody>
                  <a:tcPr marL="8714" marR="8714" marT="8714" marB="8714" anchor="b" horzOverflow="overflow">
                    <a:lnL w="635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1.87E+153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100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948"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0.2630184</a:t>
                      </a:r>
                    </a:p>
                  </a:txBody>
                  <a:tcPr marL="8714" marR="8714" marT="8714" marB="8714" anchor="b" horzOverflow="overflow">
                    <a:lnL w="6350">
                      <a:solidFill>
                        <a:srgbClr val="000000"/>
                      </a:solidFill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8.04E+269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1000">
                          <a:latin typeface="Aptos Narrow"/>
                          <a:ea typeface="Aptos Narrow"/>
                          <a:cs typeface="Aptos Narrow"/>
                          <a:sym typeface="Aptos Narrow"/>
                        </a:rPr>
                        <a:t>1000</a:t>
                      </a:r>
                    </a:p>
                  </a:txBody>
                  <a:tcPr marL="8714" marR="8714" marT="8714" marB="8714" anchor="b" horzOverflow="overflow">
                    <a:lnL w="12700">
                      <a:miter lim="400000"/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Title 1"/>
          <p:cNvSpPr txBox="1">
            <a:spLocks noGrp="1"/>
          </p:cNvSpPr>
          <p:nvPr>
            <p:ph type="title"/>
          </p:nvPr>
        </p:nvSpPr>
        <p:spPr>
          <a:xfrm>
            <a:off x="421104" y="418785"/>
            <a:ext cx="11947360" cy="1603469"/>
          </a:xfrm>
          <a:prstGeom prst="rect">
            <a:avLst/>
          </a:prstGeom>
        </p:spPr>
        <p:txBody>
          <a:bodyPr/>
          <a:lstStyle/>
          <a:p>
            <a:r>
              <a:t>Approximate vs exact solution – Time Complexity</a:t>
            </a:r>
          </a:p>
        </p:txBody>
      </p:sp>
      <p:sp>
        <p:nvSpPr>
          <p:cNvPr id="375" name="TextBox 2"/>
          <p:cNvSpPr txBox="1"/>
          <p:nvPr/>
        </p:nvSpPr>
        <p:spPr>
          <a:xfrm>
            <a:off x="4320940" y="2468895"/>
            <a:ext cx="6910942" cy="40194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000">
                <a:latin typeface="Tenorite"/>
                <a:ea typeface="Tenorite"/>
                <a:cs typeface="Tenorite"/>
                <a:sym typeface="Tenorite"/>
              </a:defRPr>
            </a:pPr>
            <a:r>
              <a:t>Every TSP tour </a:t>
            </a:r>
            <a:r>
              <a:rPr u="sng"/>
              <a:t>must connect all nodes</a:t>
            </a:r>
            <a:r>
              <a:t>, and MST is the minimal total edge weight connecting all nodes, so the MST’s length is our lower bound for TSP.</a:t>
            </a:r>
          </a:p>
          <a:p>
            <a:pPr>
              <a:defRPr>
                <a:latin typeface="Tenorite"/>
                <a:ea typeface="Tenorite"/>
                <a:cs typeface="Tenorite"/>
                <a:sym typeface="Tenorite"/>
              </a:defRPr>
            </a:pPr>
            <a:endParaRPr/>
          </a:p>
          <a:p>
            <a:pPr>
              <a:defRPr>
                <a:latin typeface="Tenorite"/>
                <a:ea typeface="Tenorite"/>
                <a:cs typeface="Tenorite"/>
                <a:sym typeface="Tenorite"/>
              </a:defRPr>
            </a:pPr>
            <a:endParaRPr/>
          </a:p>
          <a:p>
            <a:pPr>
              <a:defRPr sz="2400">
                <a:solidFill>
                  <a:srgbClr val="7030A0"/>
                </a:solidFill>
              </a:defRPr>
            </a:pPr>
            <a:r>
              <a:t>Δ = Tour length found by our algorithm – Lower Bound</a:t>
            </a:r>
          </a:p>
          <a:p>
            <a:pPr>
              <a:defRPr sz="2400">
                <a:solidFill>
                  <a:srgbClr val="7030A0"/>
                </a:solidFill>
                <a:latin typeface="Tenorite"/>
                <a:ea typeface="Tenorite"/>
                <a:cs typeface="Tenorite"/>
                <a:sym typeface="Tenorite"/>
              </a:defRPr>
            </a:pPr>
            <a:r>
              <a:t>                                           </a:t>
            </a:r>
          </a:p>
          <a:p>
            <a:pPr>
              <a:defRPr sz="2000" b="1">
                <a:latin typeface="Tenorite"/>
                <a:ea typeface="Tenorite"/>
                <a:cs typeface="Tenorite"/>
                <a:sym typeface="Tenorite"/>
              </a:defRPr>
            </a:pPr>
            <a:r>
              <a:t>Example (test case ’14.txt’):</a:t>
            </a:r>
            <a:endParaRPr>
              <a:latin typeface="+mn-lt"/>
              <a:ea typeface="+mn-ea"/>
              <a:cs typeface="+mn-cs"/>
              <a:sym typeface="Calibri"/>
            </a:endParaRPr>
          </a:p>
          <a:p>
            <a:pPr>
              <a:defRPr sz="2000">
                <a:latin typeface="Tenorite"/>
                <a:ea typeface="Tenorite"/>
                <a:cs typeface="Tenorite"/>
                <a:sym typeface="Tenorite"/>
              </a:defRPr>
            </a:pPr>
            <a:r>
              <a:t>MST Length calculation 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≈ 2565.36</a:t>
            </a:r>
          </a:p>
          <a:p>
            <a:pPr>
              <a:defRPr sz="2000">
                <a:latin typeface="Tenorite"/>
                <a:ea typeface="Tenorite"/>
                <a:cs typeface="Tenorite"/>
                <a:sym typeface="Tenorite"/>
              </a:defRPr>
            </a:pPr>
            <a:r>
              <a:t>Tour length printed by our algorithm = 2727.8113</a:t>
            </a:r>
          </a:p>
          <a:p>
            <a:pPr>
              <a:defRPr sz="2400">
                <a:solidFill>
                  <a:srgbClr val="7030A0"/>
                </a:solidFill>
                <a:latin typeface="Tenorite"/>
                <a:ea typeface="Tenorite"/>
                <a:cs typeface="Tenorite"/>
                <a:sym typeface="Tenorite"/>
              </a:defRPr>
            </a:pPr>
            <a:endParaRPr/>
          </a:p>
          <a:p>
            <a:pPr>
              <a:defRPr sz="2400">
                <a:solidFill>
                  <a:srgbClr val="7030A0"/>
                </a:solidFill>
              </a:defRPr>
            </a:pPr>
            <a:r>
              <a:t>Δ</a:t>
            </a:r>
            <a:r>
              <a:rPr>
                <a:latin typeface="Tenorite"/>
                <a:ea typeface="Tenorite"/>
                <a:cs typeface="Tenorite"/>
                <a:sym typeface="Tenorite"/>
              </a:rPr>
              <a:t> = 2727.8113 </a:t>
            </a:r>
            <a:r>
              <a:t>–</a:t>
            </a:r>
            <a:r>
              <a:rPr>
                <a:latin typeface="Tenorite"/>
                <a:ea typeface="Tenorite"/>
                <a:cs typeface="Tenorite"/>
                <a:sym typeface="Tenorite"/>
              </a:rPr>
              <a:t> 2565.36 </a:t>
            </a:r>
            <a:r>
              <a:t>≈ 144.4513</a:t>
            </a:r>
            <a:r>
              <a:rPr>
                <a:latin typeface="Tenorite"/>
                <a:ea typeface="Tenorite"/>
                <a:cs typeface="Tenorite"/>
                <a:sym typeface="Tenorite"/>
              </a:rPr>
              <a:t> </a:t>
            </a:r>
          </a:p>
        </p:txBody>
      </p:sp>
      <p:sp>
        <p:nvSpPr>
          <p:cNvPr id="376" name="TextBox 4"/>
          <p:cNvSpPr txBox="1"/>
          <p:nvPr/>
        </p:nvSpPr>
        <p:spPr>
          <a:xfrm>
            <a:off x="928035" y="1897469"/>
            <a:ext cx="2495352" cy="459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 b="1">
                <a:latin typeface="Tenorite"/>
                <a:ea typeface="Tenorite"/>
                <a:cs typeface="Tenorite"/>
                <a:sym typeface="Tenorite"/>
              </a:defRPr>
            </a:lvl1pPr>
          </a:lstStyle>
          <a:p>
            <a:r>
              <a:t>Worst Case</a:t>
            </a:r>
          </a:p>
        </p:txBody>
      </p:sp>
      <p:sp>
        <p:nvSpPr>
          <p:cNvPr id="377" name="TextBox 5"/>
          <p:cNvSpPr txBox="1"/>
          <p:nvPr/>
        </p:nvSpPr>
        <p:spPr>
          <a:xfrm>
            <a:off x="6671108" y="1897464"/>
            <a:ext cx="2495354" cy="459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 b="1">
                <a:latin typeface="Tenorite"/>
                <a:ea typeface="Tenorite"/>
                <a:cs typeface="Tenorite"/>
                <a:sym typeface="Tenorite"/>
              </a:defRPr>
            </a:lvl1pPr>
          </a:lstStyle>
          <a:p>
            <a:r>
              <a:t>Lower Bound</a:t>
            </a:r>
          </a:p>
        </p:txBody>
      </p:sp>
      <p:sp>
        <p:nvSpPr>
          <p:cNvPr id="378" name="TextBox 9"/>
          <p:cNvSpPr txBox="1"/>
          <p:nvPr/>
        </p:nvSpPr>
        <p:spPr>
          <a:xfrm>
            <a:off x="314424" y="2683653"/>
            <a:ext cx="3634341" cy="24370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>
                <a:latin typeface="Tenorite"/>
                <a:ea typeface="Tenorite"/>
                <a:cs typeface="Tenorite"/>
                <a:sym typeface="Tenorite"/>
              </a:defRPr>
            </a:pPr>
            <a:r>
              <a:t>Still Polynomial Time!</a:t>
            </a:r>
            <a:endParaRPr>
              <a:latin typeface="+mn-lt"/>
              <a:ea typeface="+mn-ea"/>
              <a:cs typeface="+mn-cs"/>
              <a:sym typeface="Calibri"/>
            </a:endParaRPr>
          </a:p>
          <a:p>
            <a:pPr>
              <a:defRPr>
                <a:latin typeface="Tenorite"/>
                <a:ea typeface="Tenorite"/>
                <a:cs typeface="Tenorite"/>
                <a:sym typeface="Tenorite"/>
              </a:defRPr>
            </a:pPr>
            <a:endParaRPr>
              <a:latin typeface="+mn-lt"/>
              <a:ea typeface="+mn-ea"/>
              <a:cs typeface="+mn-cs"/>
              <a:sym typeface="Calibri"/>
            </a:endParaRPr>
          </a:p>
          <a:p>
            <a:r>
              <a:t>O(n)</a:t>
            </a:r>
            <a:r>
              <a:rPr>
                <a:latin typeface="Tenorite"/>
                <a:ea typeface="Tenorite"/>
                <a:cs typeface="Tenorite"/>
                <a:sym typeface="Tenorite"/>
              </a:rPr>
              <a:t> (build adjacency dictionary)</a:t>
            </a:r>
          </a:p>
          <a:p>
            <a:pPr>
              <a:defRPr>
                <a:latin typeface="Tenorite"/>
                <a:ea typeface="Tenorite"/>
                <a:cs typeface="Tenorite"/>
                <a:sym typeface="Tenorite"/>
              </a:defRPr>
            </a:pPr>
            <a:r>
              <a:t>+ 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O(n²) (Nearest Neighbor)</a:t>
            </a:r>
          </a:p>
          <a:p>
            <a:r>
              <a:t>+ O(n²) (Two-Opt pair checks)</a:t>
            </a:r>
          </a:p>
          <a:p>
            <a:r>
              <a:t>+ O(n³) (Two-opt worst case switch)</a:t>
            </a:r>
          </a:p>
          <a:p>
            <a:r>
              <a:t>+ O(n) (Calculate tour length)</a:t>
            </a:r>
          </a:p>
          <a:p>
            <a:r>
              <a:t> = </a:t>
            </a:r>
            <a:r>
              <a:rPr b="1"/>
              <a:t>O(n³) 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Title 1"/>
          <p:cNvSpPr txBox="1">
            <a:spLocks noGrp="1"/>
          </p:cNvSpPr>
          <p:nvPr>
            <p:ph type="title"/>
          </p:nvPr>
        </p:nvSpPr>
        <p:spPr>
          <a:xfrm>
            <a:off x="149329" y="387551"/>
            <a:ext cx="4896685" cy="3625002"/>
          </a:xfrm>
          <a:prstGeom prst="rect">
            <a:avLst/>
          </a:prstGeom>
        </p:spPr>
        <p:txBody>
          <a:bodyPr/>
          <a:lstStyle/>
          <a:p>
            <a:r>
              <a:rPr dirty="0"/>
              <a:t>Enhancing the Approximate Solution</a:t>
            </a:r>
          </a:p>
        </p:txBody>
      </p:sp>
      <p:sp>
        <p:nvSpPr>
          <p:cNvPr id="381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149329" y="3964334"/>
            <a:ext cx="4896685" cy="2309737"/>
          </a:xfrm>
          <a:prstGeom prst="rect">
            <a:avLst/>
          </a:prstGeom>
        </p:spPr>
        <p:txBody>
          <a:bodyPr/>
          <a:lstStyle/>
          <a:p>
            <a:r>
              <a:rPr dirty="0"/>
              <a:t>Featuring randomness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Title 1"/>
          <p:cNvSpPr txBox="1">
            <a:spLocks noGrp="1"/>
          </p:cNvSpPr>
          <p:nvPr>
            <p:ph type="title"/>
          </p:nvPr>
        </p:nvSpPr>
        <p:spPr>
          <a:xfrm>
            <a:off x="914399" y="365125"/>
            <a:ext cx="7273636" cy="1646554"/>
          </a:xfrm>
          <a:prstGeom prst="rect">
            <a:avLst/>
          </a:prstGeom>
        </p:spPr>
        <p:txBody>
          <a:bodyPr/>
          <a:lstStyle/>
          <a:p>
            <a:r>
              <a:t>Where DO We Fall Short?</a:t>
            </a:r>
          </a:p>
        </p:txBody>
      </p:sp>
      <p:sp>
        <p:nvSpPr>
          <p:cNvPr id="385" name="TextBox 1"/>
          <p:cNvSpPr txBox="1"/>
          <p:nvPr/>
        </p:nvSpPr>
        <p:spPr>
          <a:xfrm>
            <a:off x="914399" y="1822536"/>
            <a:ext cx="7496827" cy="2021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5750" indent="-285750">
              <a:buSzPct val="100000"/>
              <a:buFont typeface="Arial"/>
              <a:buChar char="•"/>
              <a:defRPr sz="3200" b="1">
                <a:latin typeface="Tenorite"/>
                <a:ea typeface="Tenorite"/>
                <a:cs typeface="Tenorite"/>
                <a:sym typeface="Tenorite"/>
              </a:defRPr>
            </a:pPr>
            <a:r>
              <a:t>No randomness </a:t>
            </a:r>
            <a:r>
              <a:rPr b="0"/>
              <a:t>limits graph exploration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285750" indent="-285750">
              <a:buSzPct val="100000"/>
              <a:buFont typeface="Arial"/>
              <a:buChar char="•"/>
              <a:defRPr sz="3200" b="1">
                <a:latin typeface="Tenorite"/>
                <a:ea typeface="Tenorite"/>
                <a:cs typeface="Tenorite"/>
                <a:sym typeface="Tenorite"/>
              </a:defRPr>
            </a:pPr>
            <a:r>
              <a:t>Dependent </a:t>
            </a:r>
            <a:r>
              <a:rPr b="0"/>
              <a:t>on </a:t>
            </a:r>
            <a:r>
              <a:t>starting node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285750" indent="-285750">
              <a:buSzPct val="100000"/>
              <a:buFont typeface="Arial"/>
              <a:buChar char="•"/>
              <a:defRPr sz="3200" b="1">
                <a:latin typeface="Tenorite"/>
                <a:ea typeface="Tenorite"/>
                <a:cs typeface="Tenorite"/>
                <a:sym typeface="Tenorite"/>
              </a:defRPr>
            </a:pPr>
            <a:r>
              <a:t>Mutates a list</a:t>
            </a:r>
            <a:r>
              <a:rPr b="0"/>
              <a:t> while iterating through it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Title 1"/>
          <p:cNvSpPr txBox="1">
            <a:spLocks noGrp="1"/>
          </p:cNvSpPr>
          <p:nvPr>
            <p:ph type="title"/>
          </p:nvPr>
        </p:nvSpPr>
        <p:spPr>
          <a:xfrm>
            <a:off x="914396" y="365125"/>
            <a:ext cx="10439404" cy="1617017"/>
          </a:xfrm>
          <a:prstGeom prst="rect">
            <a:avLst/>
          </a:prstGeom>
        </p:spPr>
        <p:txBody>
          <a:bodyPr/>
          <a:lstStyle/>
          <a:p>
            <a:r>
              <a:t>Making Version 3.5, “Zenith”</a:t>
            </a:r>
          </a:p>
        </p:txBody>
      </p:sp>
      <p:sp>
        <p:nvSpPr>
          <p:cNvPr id="388" name="Text Placeholder 2"/>
          <p:cNvSpPr txBox="1">
            <a:spLocks noGrp="1"/>
          </p:cNvSpPr>
          <p:nvPr>
            <p:ph type="body" sz="half" idx="1"/>
          </p:nvPr>
        </p:nvSpPr>
        <p:spPr>
          <a:xfrm>
            <a:off x="914396" y="2022248"/>
            <a:ext cx="6413082" cy="3580755"/>
          </a:xfrm>
          <a:prstGeom prst="rect">
            <a:avLst/>
          </a:prstGeom>
        </p:spPr>
        <p:txBody>
          <a:bodyPr/>
          <a:lstStyle/>
          <a:p>
            <a:pPr marL="224026" indent="-224026" defTabSz="896111">
              <a:lnSpc>
                <a:spcPct val="72000"/>
              </a:lnSpc>
              <a:spcBef>
                <a:spcPts val="1100"/>
              </a:spcBef>
              <a:defRPr sz="2600" b="0"/>
            </a:pPr>
            <a:r>
              <a:t>It was – and is – </a:t>
            </a:r>
            <a:r>
              <a:rPr b="1"/>
              <a:t>an iterative process</a:t>
            </a:r>
            <a:endParaRPr sz="1600"/>
          </a:p>
          <a:p>
            <a:pPr marL="224026" indent="-224026" defTabSz="896111">
              <a:lnSpc>
                <a:spcPct val="72000"/>
              </a:lnSpc>
              <a:spcBef>
                <a:spcPts val="1100"/>
              </a:spcBef>
              <a:defRPr sz="2600"/>
            </a:pPr>
            <a:r>
              <a:t>Randomly </a:t>
            </a:r>
            <a:r>
              <a:rPr b="0"/>
              <a:t>determines:</a:t>
            </a:r>
            <a:endParaRPr sz="1600"/>
          </a:p>
          <a:p>
            <a:pPr marL="696976" lvl="1" indent="-248920" defTabSz="896111">
              <a:lnSpc>
                <a:spcPct val="72000"/>
              </a:lnSpc>
              <a:spcBef>
                <a:spcPts val="1100"/>
              </a:spcBef>
              <a:defRPr sz="2600" b="0"/>
            </a:pPr>
            <a:r>
              <a:t>Starting node</a:t>
            </a:r>
            <a:endParaRPr sz="1600"/>
          </a:p>
          <a:p>
            <a:pPr marL="696976" lvl="1" indent="-248920" defTabSz="896111">
              <a:lnSpc>
                <a:spcPct val="72000"/>
              </a:lnSpc>
              <a:spcBef>
                <a:spcPts val="1100"/>
              </a:spcBef>
              <a:defRPr sz="2600" b="0"/>
            </a:pPr>
            <a:r>
              <a:t>Min-weight neighbor to choose</a:t>
            </a:r>
            <a:endParaRPr sz="1600"/>
          </a:p>
          <a:p>
            <a:pPr marL="696976" lvl="1" indent="-248920" defTabSz="896111">
              <a:lnSpc>
                <a:spcPct val="72000"/>
              </a:lnSpc>
              <a:spcBef>
                <a:spcPts val="1100"/>
              </a:spcBef>
              <a:defRPr sz="2600" b="0"/>
            </a:pPr>
            <a:r>
              <a:t>Swapping endpoints in a segment.</a:t>
            </a:r>
            <a:endParaRPr sz="1600"/>
          </a:p>
          <a:p>
            <a:pPr marL="224026" indent="-224026" defTabSz="896111">
              <a:lnSpc>
                <a:spcPct val="72000"/>
              </a:lnSpc>
              <a:spcBef>
                <a:spcPts val="1100"/>
              </a:spcBef>
              <a:defRPr sz="2600"/>
            </a:pPr>
            <a:r>
              <a:t>Reorders output </a:t>
            </a:r>
            <a:r>
              <a:rPr b="0"/>
              <a:t>path to be </a:t>
            </a:r>
            <a:r>
              <a:t>consistent.</a:t>
            </a:r>
            <a:endParaRPr sz="1600"/>
          </a:p>
          <a:p>
            <a:pPr marL="224026" indent="-224026" defTabSz="896111">
              <a:lnSpc>
                <a:spcPct val="72000"/>
              </a:lnSpc>
              <a:spcBef>
                <a:spcPts val="1100"/>
              </a:spcBef>
              <a:defRPr sz="2600"/>
            </a:pPr>
            <a:r>
              <a:t>Iterates</a:t>
            </a:r>
            <a:r>
              <a:rPr b="0"/>
              <a:t> on solution </a:t>
            </a:r>
            <a:r>
              <a:t>by looping </a:t>
            </a:r>
            <a:r>
              <a:rPr b="0"/>
              <a:t>several times.</a:t>
            </a:r>
          </a:p>
        </p:txBody>
      </p:sp>
      <p:sp>
        <p:nvSpPr>
          <p:cNvPr id="389" name="Straight Connector 8"/>
          <p:cNvSpPr/>
          <p:nvPr/>
        </p:nvSpPr>
        <p:spPr>
          <a:xfrm>
            <a:off x="9438568" y="2945717"/>
            <a:ext cx="1834940" cy="4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90" name="Straight Connector 9"/>
          <p:cNvSpPr/>
          <p:nvPr/>
        </p:nvSpPr>
        <p:spPr>
          <a:xfrm>
            <a:off x="7855246" y="2380096"/>
            <a:ext cx="1834940" cy="4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91" name="Straight Connector 10"/>
          <p:cNvSpPr/>
          <p:nvPr/>
        </p:nvSpPr>
        <p:spPr>
          <a:xfrm>
            <a:off x="7805125" y="3592276"/>
            <a:ext cx="1834940" cy="4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92" name="Straight Connector 11"/>
          <p:cNvSpPr/>
          <p:nvPr/>
        </p:nvSpPr>
        <p:spPr>
          <a:xfrm>
            <a:off x="9518863" y="4321545"/>
            <a:ext cx="1834940" cy="4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93" name="Straight Connector 12"/>
          <p:cNvSpPr/>
          <p:nvPr/>
        </p:nvSpPr>
        <p:spPr>
          <a:xfrm>
            <a:off x="7805125" y="4829885"/>
            <a:ext cx="1834940" cy="4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394" name="TextBox 14"/>
          <p:cNvSpPr txBox="1"/>
          <p:nvPr/>
        </p:nvSpPr>
        <p:spPr>
          <a:xfrm>
            <a:off x="7724326" y="1977444"/>
            <a:ext cx="1915738" cy="3330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r>
              <a:t>Approx. Solution</a:t>
            </a:r>
          </a:p>
        </p:txBody>
      </p:sp>
      <p:sp>
        <p:nvSpPr>
          <p:cNvPr id="395" name="TextBox 15"/>
          <p:cNvSpPr txBox="1"/>
          <p:nvPr/>
        </p:nvSpPr>
        <p:spPr>
          <a:xfrm>
            <a:off x="9561307" y="2560066"/>
            <a:ext cx="2535568" cy="333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r>
              <a:t>v2, limited randomness</a:t>
            </a:r>
          </a:p>
        </p:txBody>
      </p:sp>
      <p:sp>
        <p:nvSpPr>
          <p:cNvPr id="396" name="TextBox 16"/>
          <p:cNvSpPr txBox="1"/>
          <p:nvPr/>
        </p:nvSpPr>
        <p:spPr>
          <a:xfrm>
            <a:off x="8037306" y="3174737"/>
            <a:ext cx="1602762" cy="333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r>
              <a:t>v2.5, iteration</a:t>
            </a:r>
          </a:p>
        </p:txBody>
      </p:sp>
      <p:sp>
        <p:nvSpPr>
          <p:cNvPr id="397" name="TextBox 18"/>
          <p:cNvSpPr txBox="1"/>
          <p:nvPr/>
        </p:nvSpPr>
        <p:spPr>
          <a:xfrm>
            <a:off x="9603753" y="3935896"/>
            <a:ext cx="2240491" cy="333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r>
              <a:t>v3, more randomess</a:t>
            </a:r>
          </a:p>
        </p:txBody>
      </p:sp>
      <p:sp>
        <p:nvSpPr>
          <p:cNvPr id="398" name="TextBox 19"/>
          <p:cNvSpPr txBox="1"/>
          <p:nvPr/>
        </p:nvSpPr>
        <p:spPr>
          <a:xfrm>
            <a:off x="7449694" y="4468450"/>
            <a:ext cx="2240491" cy="333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r>
              <a:t>v3.5, more iteration</a:t>
            </a:r>
          </a:p>
        </p:txBody>
      </p:sp>
      <p:sp>
        <p:nvSpPr>
          <p:cNvPr id="399" name="TextBox 20"/>
          <p:cNvSpPr txBox="1"/>
          <p:nvPr/>
        </p:nvSpPr>
        <p:spPr>
          <a:xfrm>
            <a:off x="8249022" y="4829885"/>
            <a:ext cx="756384" cy="333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/>
            </a:lvl1pPr>
          </a:lstStyle>
          <a:p>
            <a:r>
              <a:t>Zenith</a:t>
            </a:r>
          </a:p>
        </p:txBody>
      </p:sp>
      <p:sp>
        <p:nvSpPr>
          <p:cNvPr id="400" name="Straight Arrow Connector 13"/>
          <p:cNvSpPr/>
          <p:nvPr/>
        </p:nvSpPr>
        <p:spPr>
          <a:xfrm>
            <a:off x="9549541" y="1669542"/>
            <a:ext cx="4" cy="3749047"/>
          </a:xfrm>
          <a:prstGeom prst="line">
            <a:avLst/>
          </a:prstGeom>
          <a:ln w="38100">
            <a:solidFill>
              <a:srgbClr val="000000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Title 6"/>
          <p:cNvSpPr txBox="1">
            <a:spLocks noGrp="1"/>
          </p:cNvSpPr>
          <p:nvPr>
            <p:ph type="title"/>
          </p:nvPr>
        </p:nvSpPr>
        <p:spPr>
          <a:xfrm>
            <a:off x="60794" y="-379570"/>
            <a:ext cx="8875287" cy="2023699"/>
          </a:xfrm>
          <a:prstGeom prst="rect">
            <a:avLst/>
          </a:prstGeom>
        </p:spPr>
        <p:txBody>
          <a:bodyPr/>
          <a:lstStyle/>
          <a:p>
            <a:r>
              <a:t>Sample Problem: The GRaph</a:t>
            </a:r>
          </a:p>
        </p:txBody>
      </p:sp>
      <p:pic>
        <p:nvPicPr>
          <p:cNvPr id="403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397" y="1552075"/>
            <a:ext cx="5127960" cy="5127955"/>
          </a:xfrm>
          <a:prstGeom prst="rect">
            <a:avLst/>
          </a:prstGeom>
          <a:ln w="12700">
            <a:miter lim="400000"/>
          </a:ln>
        </p:spPr>
      </p:pic>
      <p:sp>
        <p:nvSpPr>
          <p:cNvPr id="404" name="TextBox 9"/>
          <p:cNvSpPr txBox="1"/>
          <p:nvPr/>
        </p:nvSpPr>
        <p:spPr>
          <a:xfrm>
            <a:off x="294573" y="1933123"/>
            <a:ext cx="6670824" cy="38201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200"/>
              </a:spcBef>
              <a:buSzPct val="100000"/>
              <a:buFont typeface="Arial"/>
              <a:buChar char="•"/>
              <a:defRPr sz="2700" b="1">
                <a:latin typeface="Tenorite"/>
                <a:ea typeface="Tenorite"/>
                <a:cs typeface="Tenorite"/>
                <a:sym typeface="Tenorite"/>
              </a:defRPr>
            </a:pPr>
            <a:r>
              <a:t>Cheap</a:t>
            </a:r>
            <a:r>
              <a:rPr b="0"/>
              <a:t> edges </a:t>
            </a:r>
            <a:r>
              <a:t>inside</a:t>
            </a:r>
            <a:r>
              <a:rPr b="0"/>
              <a:t> each cluster</a:t>
            </a:r>
          </a:p>
          <a:p>
            <a:pPr marL="228600" indent="-228600">
              <a:lnSpc>
                <a:spcPct val="90000"/>
              </a:lnSpc>
              <a:spcBef>
                <a:spcPts val="1200"/>
              </a:spcBef>
              <a:buSzPct val="100000"/>
              <a:buFont typeface="Arial"/>
              <a:buChar char="•"/>
              <a:defRPr sz="2700" b="1">
                <a:latin typeface="Tenorite"/>
                <a:ea typeface="Tenorite"/>
                <a:cs typeface="Tenorite"/>
                <a:sym typeface="Tenorite"/>
              </a:defRPr>
            </a:pPr>
            <a:r>
              <a:t>Inter-cluster edges </a:t>
            </a:r>
            <a:r>
              <a:rPr b="0"/>
              <a:t>designed to </a:t>
            </a:r>
            <a:r>
              <a:t>mislead</a:t>
            </a:r>
            <a:r>
              <a:rPr b="0"/>
              <a:t>: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711200" lvl="1" indent="-254000">
              <a:lnSpc>
                <a:spcPct val="90000"/>
              </a:lnSpc>
              <a:spcBef>
                <a:spcPts val="1200"/>
              </a:spcBef>
              <a:buSzPct val="100000"/>
              <a:buFont typeface="Arial"/>
              <a:buChar char="•"/>
              <a:defRPr sz="2700" b="1">
                <a:latin typeface="Tenorite"/>
                <a:ea typeface="Tenorite"/>
                <a:cs typeface="Tenorite"/>
                <a:sym typeface="Tenorite"/>
              </a:defRPr>
            </a:pPr>
            <a:r>
              <a:t>Cheap</a:t>
            </a:r>
            <a:r>
              <a:rPr b="0"/>
              <a:t> inter-cluster edges are </a:t>
            </a:r>
            <a:r>
              <a:t>bait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711200" lvl="1" indent="-254000">
              <a:lnSpc>
                <a:spcPct val="90000"/>
              </a:lnSpc>
              <a:spcBef>
                <a:spcPts val="1200"/>
              </a:spcBef>
              <a:buSzPct val="100000"/>
              <a:buFont typeface="Arial"/>
              <a:buChar char="•"/>
              <a:defRPr sz="2700">
                <a:latin typeface="Tenorite"/>
                <a:ea typeface="Tenorite"/>
                <a:cs typeface="Tenorite"/>
                <a:sym typeface="Tenorite"/>
              </a:defRPr>
            </a:pPr>
            <a:r>
              <a:t>1000 weight </a:t>
            </a:r>
            <a:r>
              <a:rPr b="1"/>
              <a:t>trap edge</a:t>
            </a:r>
          </a:p>
          <a:p>
            <a:pPr marL="711200" lvl="1" indent="-254000">
              <a:lnSpc>
                <a:spcPct val="90000"/>
              </a:lnSpc>
              <a:spcBef>
                <a:spcPts val="1200"/>
              </a:spcBef>
              <a:buSzPct val="100000"/>
              <a:buFont typeface="Arial"/>
              <a:buChar char="•"/>
              <a:defRPr sz="2700">
                <a:latin typeface="Tenorite"/>
                <a:ea typeface="Tenorite"/>
                <a:cs typeface="Tenorite"/>
                <a:sym typeface="Tenorite"/>
              </a:defRPr>
            </a:pPr>
            <a:r>
              <a:t>All other inter-cluster edges are </a:t>
            </a:r>
            <a:r>
              <a:rPr b="1"/>
              <a:t>moderately expensive</a:t>
            </a:r>
          </a:p>
          <a:p>
            <a:pPr marL="228600" indent="-228600">
              <a:lnSpc>
                <a:spcPct val="90000"/>
              </a:lnSpc>
              <a:spcBef>
                <a:spcPts val="1200"/>
              </a:spcBef>
              <a:buSzPct val="100000"/>
              <a:buFont typeface="Arial"/>
              <a:buChar char="•"/>
              <a:defRPr sz="2700" b="1">
                <a:latin typeface="Tenorite"/>
                <a:ea typeface="Tenorite"/>
                <a:cs typeface="Tenorite"/>
                <a:sym typeface="Tenorite"/>
              </a:defRPr>
            </a:pPr>
            <a:r>
              <a:t>Optimal path: </a:t>
            </a:r>
            <a:r>
              <a:rPr b="0"/>
              <a:t>length of 12.6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Title 1"/>
          <p:cNvSpPr txBox="1">
            <a:spLocks noGrp="1"/>
          </p:cNvSpPr>
          <p:nvPr>
            <p:ph type="title"/>
          </p:nvPr>
        </p:nvSpPr>
        <p:spPr>
          <a:xfrm>
            <a:off x="891990" y="434223"/>
            <a:ext cx="9524998" cy="1499630"/>
          </a:xfrm>
          <a:prstGeom prst="rect">
            <a:avLst/>
          </a:prstGeom>
        </p:spPr>
        <p:txBody>
          <a:bodyPr/>
          <a:lstStyle/>
          <a:p>
            <a:r>
              <a:t>Sample Problem: The Results</a:t>
            </a:r>
          </a:p>
        </p:txBody>
      </p:sp>
      <p:graphicFrame>
        <p:nvGraphicFramePr>
          <p:cNvPr id="407" name="Chart 2"/>
          <p:cNvGraphicFramePr/>
          <p:nvPr/>
        </p:nvGraphicFramePr>
        <p:xfrm>
          <a:off x="378405" y="1718161"/>
          <a:ext cx="6537631" cy="40013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08" name="Chart 5"/>
          <p:cNvGraphicFramePr/>
          <p:nvPr/>
        </p:nvGraphicFramePr>
        <p:xfrm>
          <a:off x="7253686" y="1661012"/>
          <a:ext cx="4032961" cy="40563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Title 1"/>
          <p:cNvSpPr txBox="1">
            <a:spLocks noGrp="1"/>
          </p:cNvSpPr>
          <p:nvPr>
            <p:ph type="title"/>
          </p:nvPr>
        </p:nvSpPr>
        <p:spPr>
          <a:xfrm>
            <a:off x="891990" y="434223"/>
            <a:ext cx="9524998" cy="1499630"/>
          </a:xfrm>
          <a:prstGeom prst="rect">
            <a:avLst/>
          </a:prstGeom>
        </p:spPr>
        <p:txBody>
          <a:bodyPr/>
          <a:lstStyle/>
          <a:p>
            <a:r>
              <a:t>Sample Problem: The Runtimes</a:t>
            </a:r>
          </a:p>
        </p:txBody>
      </p:sp>
      <p:graphicFrame>
        <p:nvGraphicFramePr>
          <p:cNvPr id="411" name="Table 5"/>
          <p:cNvGraphicFramePr/>
          <p:nvPr/>
        </p:nvGraphicFramePr>
        <p:xfrm>
          <a:off x="3048902" y="1867979"/>
          <a:ext cx="6094196" cy="3122042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345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440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 b="1">
                          <a:sym typeface="Helvetica"/>
                        </a:rPr>
                        <a:t>Program</a:t>
                      </a:r>
                    </a:p>
                  </a:txBody>
                  <a:tcPr marL="45720" marR="45720" anchor="b" horzOverflow="overflow">
                    <a:lnB w="28575">
                      <a:solidFill>
                        <a:srgbClr val="000000"/>
                      </a:solidFill>
                    </a:lnB>
                    <a:solidFill>
                      <a:srgbClr val="E2A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000" b="1">
                          <a:sym typeface="Helvetica"/>
                        </a:rPr>
                        <a:t>Average Runtime (Seconds)</a:t>
                      </a:r>
                    </a:p>
                  </a:txBody>
                  <a:tcPr marL="45720" marR="45720" anchor="b" horzOverflow="overflow">
                    <a:lnB w="28575">
                      <a:solidFill>
                        <a:srgbClr val="000000"/>
                      </a:solidFill>
                    </a:lnB>
                    <a:solidFill>
                      <a:srgbClr val="E2A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40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000">
                          <a:sym typeface="Helvetica"/>
                        </a:rPr>
                        <a:t>Exact</a:t>
                      </a:r>
                    </a:p>
                  </a:txBody>
                  <a:tcPr marL="45720" marR="45720" horzOverflow="overflow">
                    <a:lnT w="28575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2000">
                          <a:sym typeface="Helvetica"/>
                        </a:rPr>
                        <a:t>36.25096352</a:t>
                      </a:r>
                    </a:p>
                  </a:txBody>
                  <a:tcPr marL="45720" marR="45720" horzOverflow="overflow">
                    <a:lnT w="28575">
                      <a:solidFill>
                        <a:srgbClr val="000000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40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000">
                          <a:sym typeface="Helvetica"/>
                        </a:rPr>
                        <a:t>Approximate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2000">
                          <a:sym typeface="Helvetica"/>
                        </a:rPr>
                        <a:t>0.000046262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440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000">
                          <a:sym typeface="Helvetica"/>
                        </a:rPr>
                        <a:t>Zenith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2000">
                          <a:sym typeface="Helvetica"/>
                        </a:rPr>
                        <a:t>0.017063243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40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000">
                          <a:sym typeface="Helvetica"/>
                        </a:rPr>
                        <a:t>Parallelized Zenith</a:t>
                      </a: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algn="r">
                        <a:defRPr sz="1800"/>
                      </a:pPr>
                      <a:r>
                        <a:rPr sz="2000">
                          <a:sym typeface="Helvetica"/>
                        </a:rPr>
                        <a:t>0.755844638</a:t>
                      </a: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Title 1"/>
          <p:cNvSpPr txBox="1">
            <a:spLocks noGrp="1"/>
          </p:cNvSpPr>
          <p:nvPr>
            <p:ph type="title"/>
          </p:nvPr>
        </p:nvSpPr>
        <p:spPr>
          <a:xfrm>
            <a:off x="914399" y="365125"/>
            <a:ext cx="7273636" cy="1646554"/>
          </a:xfrm>
          <a:prstGeom prst="rect">
            <a:avLst/>
          </a:prstGeom>
        </p:spPr>
        <p:txBody>
          <a:bodyPr/>
          <a:lstStyle/>
          <a:p>
            <a:r>
              <a:t>Takeaways</a:t>
            </a:r>
          </a:p>
        </p:txBody>
      </p:sp>
      <p:sp>
        <p:nvSpPr>
          <p:cNvPr id="414" name="Text Placeholder 2"/>
          <p:cNvSpPr txBox="1">
            <a:spLocks noGrp="1"/>
          </p:cNvSpPr>
          <p:nvPr>
            <p:ph type="body" sz="half" idx="1"/>
          </p:nvPr>
        </p:nvSpPr>
        <p:spPr>
          <a:xfrm>
            <a:off x="914399" y="2011363"/>
            <a:ext cx="7273640" cy="4155762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rPr dirty="0"/>
              <a:t>Randomness and iterative improvement </a:t>
            </a:r>
            <a:r>
              <a:rPr b="0" dirty="0"/>
              <a:t>greatly increases accuracy</a:t>
            </a:r>
          </a:p>
          <a:p>
            <a:r>
              <a:rPr dirty="0"/>
              <a:t>However, it also </a:t>
            </a:r>
            <a:r>
              <a:rPr b="1" dirty="0"/>
              <a:t>greatly increases cost</a:t>
            </a:r>
          </a:p>
          <a:p>
            <a:r>
              <a:rPr dirty="0"/>
              <a:t>Ultimately, the </a:t>
            </a:r>
            <a:r>
              <a:rPr b="1" dirty="0"/>
              <a:t>tradeoff is worth it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raphic 2" descr="Graphic 2"/>
          <p:cNvPicPr>
            <a:picLocks noChangeAspect="1"/>
          </p:cNvPicPr>
          <p:nvPr/>
        </p:nvPicPr>
        <p:blipFill>
          <a:blip r:embed="rId2"/>
          <a:srcRect l="4151" r="18576"/>
          <a:stretch>
            <a:fillRect/>
          </a:stretch>
        </p:blipFill>
        <p:spPr>
          <a:xfrm flipH="1">
            <a:off x="-5" y="0"/>
            <a:ext cx="5181609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419" name="Title 6"/>
          <p:cNvSpPr txBox="1">
            <a:spLocks noGrp="1"/>
          </p:cNvSpPr>
          <p:nvPr>
            <p:ph type="title"/>
          </p:nvPr>
        </p:nvSpPr>
        <p:spPr>
          <a:xfrm>
            <a:off x="6091515" y="374084"/>
            <a:ext cx="5057105" cy="3624997"/>
          </a:xfrm>
          <a:prstGeom prst="rect">
            <a:avLst/>
          </a:prstGeom>
        </p:spPr>
        <p:txBody>
          <a:bodyPr/>
          <a:lstStyle/>
          <a:p>
            <a:r>
              <a:t>Questions?</a:t>
            </a:r>
          </a:p>
        </p:txBody>
      </p:sp>
      <p:sp>
        <p:nvSpPr>
          <p:cNvPr id="420" name="Content Placeholder 9"/>
          <p:cNvSpPr txBox="1">
            <a:spLocks noGrp="1"/>
          </p:cNvSpPr>
          <p:nvPr>
            <p:ph type="body" sz="quarter" idx="1"/>
          </p:nvPr>
        </p:nvSpPr>
        <p:spPr>
          <a:xfrm>
            <a:off x="6091513" y="4172989"/>
            <a:ext cx="5057107" cy="251937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ustom">
  <a:themeElements>
    <a:clrScheme name="Custom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Custom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Cust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ustom">
  <a:themeElements>
    <a:clrScheme name="Cust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Custom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Cust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1489</Words>
  <Application>Microsoft Office PowerPoint</Application>
  <PresentationFormat>Widescreen</PresentationFormat>
  <Paragraphs>290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Aptos Narrow</vt:lpstr>
      <vt:lpstr>Arial</vt:lpstr>
      <vt:lpstr>Calibri</vt:lpstr>
      <vt:lpstr>Cambria Math</vt:lpstr>
      <vt:lpstr>Helvetica</vt:lpstr>
      <vt:lpstr>Tenorite</vt:lpstr>
      <vt:lpstr>Wingdings</vt:lpstr>
      <vt:lpstr>Custom</vt:lpstr>
      <vt:lpstr>Traveling salesman problem</vt:lpstr>
      <vt:lpstr>TSP</vt:lpstr>
      <vt:lpstr>Tsp</vt:lpstr>
      <vt:lpstr>Certificate verification</vt:lpstr>
      <vt:lpstr>NP-HARD Reduction</vt:lpstr>
      <vt:lpstr>NP-HARD Reduction</vt:lpstr>
      <vt:lpstr>PowerPoint Presentation</vt:lpstr>
      <vt:lpstr>Test creation</vt:lpstr>
      <vt:lpstr>Empirical analysis</vt:lpstr>
      <vt:lpstr>Approximate Solution</vt:lpstr>
      <vt:lpstr>Approximate Solution</vt:lpstr>
      <vt:lpstr>Approximate Solution</vt:lpstr>
      <vt:lpstr>Approximate Solution – non-Optimal test case</vt:lpstr>
      <vt:lpstr>Approximate Solution – non-Optimal test case</vt:lpstr>
      <vt:lpstr>Approximate Solution – non-Optimal test case</vt:lpstr>
      <vt:lpstr>Approximate vs exact solution – compare results</vt:lpstr>
      <vt:lpstr>Approximate vs exact solution – run time (wall clock)</vt:lpstr>
      <vt:lpstr>Approximate vs exact solution – Time Complexity</vt:lpstr>
      <vt:lpstr>Enhancing the Approximate Solution</vt:lpstr>
      <vt:lpstr>Where DO We Fall Short?</vt:lpstr>
      <vt:lpstr>Making Version 3.5, “Zenith”</vt:lpstr>
      <vt:lpstr>Sample Problem: The GRaph</vt:lpstr>
      <vt:lpstr>Sample Problem: The Results</vt:lpstr>
      <vt:lpstr>Sample Problem: The Runtimes</vt:lpstr>
      <vt:lpstr>Takeaways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Crawford, Dorian - crawf2dj</cp:lastModifiedBy>
  <cp:revision>1</cp:revision>
  <dcterms:modified xsi:type="dcterms:W3CDTF">2025-12-04T19:21:19Z</dcterms:modified>
</cp:coreProperties>
</file>
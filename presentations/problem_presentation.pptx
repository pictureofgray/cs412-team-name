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6" r:id="rId15"/>
    <p:sldId id="287" r:id="rId16"/>
    <p:sldId id="271" r:id="rId17"/>
    <p:sldId id="269" r:id="rId18"/>
    <p:sldId id="270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99D87E-3D35-4922-AAFC-7D007AE1DEF6}" v="1" dt="2025-12-04T21:05:45.463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000000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0" y="16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 Pietrak" userId="ff304f15bd13396f" providerId="LiveId" clId="{D17D9FE5-84C1-4370-9BF4-4105A2AC9940}"/>
    <pc:docChg chg="undo custSel addSld delSld modSld">
      <pc:chgData name="Julie Pietrak" userId="ff304f15bd13396f" providerId="LiveId" clId="{D17D9FE5-84C1-4370-9BF4-4105A2AC9940}" dt="2025-12-04T21:05:49.096" v="6" actId="47"/>
      <pc:docMkLst>
        <pc:docMk/>
      </pc:docMkLst>
      <pc:sldChg chg="addSp delSp mod">
        <pc:chgData name="Julie Pietrak" userId="ff304f15bd13396f" providerId="LiveId" clId="{D17D9FE5-84C1-4370-9BF4-4105A2AC9940}" dt="2025-12-04T21:05:37.876" v="4" actId="22"/>
        <pc:sldMkLst>
          <pc:docMk/>
          <pc:sldMk cId="0" sldId="264"/>
        </pc:sldMkLst>
        <pc:spChg chg="add del">
          <ac:chgData name="Julie Pietrak" userId="ff304f15bd13396f" providerId="LiveId" clId="{D17D9FE5-84C1-4370-9BF4-4105A2AC9940}" dt="2025-12-04T21:05:37.876" v="4" actId="22"/>
          <ac:spMkLst>
            <pc:docMk/>
            <pc:sldMk cId="0" sldId="264"/>
            <ac:spMk id="3" creationId="{22DF114E-C389-4CCC-944E-BDA6CF941E85}"/>
          </ac:spMkLst>
        </pc:spChg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65"/>
        </pc:sldMkLst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66"/>
        </pc:sldMkLst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67"/>
        </pc:sldMkLst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68"/>
        </pc:sldMkLst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69"/>
        </pc:sldMkLst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70"/>
        </pc:sldMkLst>
      </pc:sldChg>
      <pc:sldChg chg="add del">
        <pc:chgData name="Julie Pietrak" userId="ff304f15bd13396f" providerId="LiveId" clId="{D17D9FE5-84C1-4370-9BF4-4105A2AC9940}" dt="2025-12-04T21:05:45.458" v="5"/>
        <pc:sldMkLst>
          <pc:docMk/>
          <pc:sldMk cId="0" sldId="271"/>
        </pc:sldMkLst>
      </pc:sldChg>
      <pc:sldChg chg="del">
        <pc:chgData name="Julie Pietrak" userId="ff304f15bd13396f" providerId="LiveId" clId="{D17D9FE5-84C1-4370-9BF4-4105A2AC9940}" dt="2025-12-04T21:05:29.807" v="0" actId="47"/>
        <pc:sldMkLst>
          <pc:docMk/>
          <pc:sldMk cId="0" sldId="272"/>
        </pc:sldMkLst>
      </pc:sldChg>
      <pc:sldChg chg="addSp delSp del mod">
        <pc:chgData name="Julie Pietrak" userId="ff304f15bd13396f" providerId="LiveId" clId="{D17D9FE5-84C1-4370-9BF4-4105A2AC9940}" dt="2025-12-04T21:05:49.096" v="6" actId="47"/>
        <pc:sldMkLst>
          <pc:docMk/>
          <pc:sldMk cId="0" sldId="273"/>
        </pc:sldMkLst>
        <pc:spChg chg="add del">
          <ac:chgData name="Julie Pietrak" userId="ff304f15bd13396f" providerId="LiveId" clId="{D17D9FE5-84C1-4370-9BF4-4105A2AC9940}" dt="2025-12-04T21:05:33.743" v="2" actId="22"/>
          <ac:spMkLst>
            <pc:docMk/>
            <pc:sldMk cId="0" sldId="273"/>
            <ac:spMk id="3" creationId="{E414AA13-ED6C-262A-31F2-9E9FF351914B}"/>
          </ac:spMkLst>
        </pc:spChg>
      </pc:sldChg>
      <pc:sldChg chg="add">
        <pc:chgData name="Julie Pietrak" userId="ff304f15bd13396f" providerId="LiveId" clId="{D17D9FE5-84C1-4370-9BF4-4105A2AC9940}" dt="2025-12-04T21:05:45.458" v="5"/>
        <pc:sldMkLst>
          <pc:docMk/>
          <pc:sldMk cId="673301106" sldId="286"/>
        </pc:sldMkLst>
      </pc:sldChg>
      <pc:sldChg chg="add">
        <pc:chgData name="Julie Pietrak" userId="ff304f15bd13396f" providerId="LiveId" clId="{D17D9FE5-84C1-4370-9BF4-4105A2AC9940}" dt="2025-12-04T21:05:45.458" v="5"/>
        <pc:sldMkLst>
          <pc:docMk/>
          <pc:sldMk cId="2943665112" sldId="28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Approximate Solution vs. Exact Solution Results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Sheet1!$A$44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Sheet1!$A$45:$A$54</c:f>
              <c:numCache>
                <c:formatCode>General</c:formatCode>
                <c:ptCount val="10"/>
                <c:pt idx="0">
                  <c:v>1031.4856</c:v>
                </c:pt>
                <c:pt idx="1">
                  <c:v>1273.3005000000001</c:v>
                </c:pt>
                <c:pt idx="2">
                  <c:v>2276.6624999999999</c:v>
                </c:pt>
                <c:pt idx="3">
                  <c:v>1718.3959</c:v>
                </c:pt>
                <c:pt idx="4">
                  <c:v>2344.7588999999998</c:v>
                </c:pt>
                <c:pt idx="5">
                  <c:v>2203.5933</c:v>
                </c:pt>
                <c:pt idx="6">
                  <c:v>2884.2341000000001</c:v>
                </c:pt>
                <c:pt idx="7">
                  <c:v>2304.2997</c:v>
                </c:pt>
                <c:pt idx="8">
                  <c:v>2661.431</c:v>
                </c:pt>
                <c:pt idx="9">
                  <c:v>1623.9038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00-40E6-BBDA-76160C894F67}"/>
            </c:ext>
          </c:extLst>
        </c:ser>
        <c:ser>
          <c:idx val="1"/>
          <c:order val="1"/>
          <c:tx>
            <c:strRef>
              <c:f>Sheet1!$B$44</c:f>
              <c:strCache>
                <c:ptCount val="1"/>
                <c:pt idx="0">
                  <c:v>Exact Solution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Sheet1!$B$45:$B$54</c:f>
              <c:numCache>
                <c:formatCode>General</c:formatCode>
                <c:ptCount val="10"/>
                <c:pt idx="0">
                  <c:v>1031.4856</c:v>
                </c:pt>
                <c:pt idx="1">
                  <c:v>1273.3005000000001</c:v>
                </c:pt>
                <c:pt idx="2">
                  <c:v>1914.5123000000001</c:v>
                </c:pt>
                <c:pt idx="3">
                  <c:v>1718.3959</c:v>
                </c:pt>
                <c:pt idx="4">
                  <c:v>1985.1023</c:v>
                </c:pt>
                <c:pt idx="5">
                  <c:v>1759.5073</c:v>
                </c:pt>
                <c:pt idx="6">
                  <c:v>2049.2393000000002</c:v>
                </c:pt>
                <c:pt idx="7">
                  <c:v>2004.4347</c:v>
                </c:pt>
                <c:pt idx="8">
                  <c:v>2079.1253999999999</c:v>
                </c:pt>
                <c:pt idx="9">
                  <c:v>1466.5418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00-40E6-BBDA-76160C894F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82195104"/>
        <c:axId val="1682195584"/>
        <c:extLst>
          <c:ext xmlns:c15="http://schemas.microsoft.com/office/drawing/2012/chart" uri="{02D57815-91ED-43cb-92C2-25804820EDAC}">
            <c15:filteredBarSeries>
              <c15:ser>
                <c:idx val="2"/>
                <c:order val="2"/>
                <c:tx>
                  <c:strRef>
                    <c:extLst>
                      <c:ext uri="{02D57815-91ED-43cb-92C2-25804820EDAC}">
                        <c15:formulaRef>
                          <c15:sqref>Sheet1!$C$44</c15:sqref>
                        </c15:formulaRef>
                      </c:ext>
                    </c:extLst>
                    <c:strCache>
                      <c:ptCount val="1"/>
                      <c:pt idx="0">
                        <c:v># of nodes</c:v>
                      </c:pt>
                    </c:strCache>
                  </c:strRef>
                </c:tx>
                <c:spPr>
                  <a:solidFill>
                    <a:schemeClr val="accent3"/>
                  </a:solidFill>
                  <a:ln>
                    <a:noFill/>
                  </a:ln>
                  <a:effectLst/>
                </c:spPr>
                <c:invertIfNegative val="0"/>
                <c:val>
                  <c:numRef>
                    <c:extLst>
                      <c:ext uri="{02D57815-91ED-43cb-92C2-25804820EDAC}">
                        <c15:formulaRef>
                          <c15:sqref>Sheet1!$C$45:$C$54</c15:sqref>
                        </c15:formulaRef>
                      </c:ext>
                    </c:extLst>
                    <c:numCache>
                      <c:formatCode>General</c:formatCode>
                      <c:ptCount val="10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2-EE00-40E6-BBDA-76160C894F67}"/>
                  </c:ext>
                </c:extLst>
              </c15:ser>
            </c15:filteredBarSeries>
          </c:ext>
        </c:extLst>
      </c:barChart>
      <c:catAx>
        <c:axId val="16821951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Number of Nodes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82195584"/>
        <c:crosses val="autoZero"/>
        <c:auto val="1"/>
        <c:lblAlgn val="ctr"/>
        <c:lblOffset val="100"/>
        <c:noMultiLvlLbl val="0"/>
      </c:catAx>
      <c:valAx>
        <c:axId val="1682195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 Tour</a:t>
                </a:r>
                <a:r>
                  <a:rPr lang="en-US" baseline="0">
                    <a:solidFill>
                      <a:schemeClr val="tx1"/>
                    </a:solidFill>
                  </a:rPr>
                  <a:t> Length</a:t>
                </a:r>
                <a:endParaRPr lang="en-US">
                  <a:solidFill>
                    <a:schemeClr val="tx1"/>
                  </a:solidFill>
                </a:endParaRPr>
              </a:p>
            </c:rich>
          </c:tx>
          <c:layout>
            <c:manualLayout>
              <c:xMode val="edge"/>
              <c:yMode val="edge"/>
              <c:x val="1.5861213136144317E-2"/>
              <c:y val="0.3597368607533901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82195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Approximate</a:t>
            </a:r>
            <a:r>
              <a:rPr lang="en-US" baseline="0">
                <a:solidFill>
                  <a:schemeClr val="tx1"/>
                </a:solidFill>
              </a:rPr>
              <a:t> Solution vs. Exact Solution Wall Clock</a:t>
            </a:r>
            <a:endParaRPr lang="en-US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Sheet1!$C$2:$C$18</c:f>
              <c:numCache>
                <c:formatCode>General</c:formatCod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numCache>
            </c:numRef>
          </c:cat>
          <c:val>
            <c:numRef>
              <c:f>Sheet1!$A$2:$A$18</c:f>
              <c:numCache>
                <c:formatCode>General</c:formatCode>
                <c:ptCount val="17"/>
                <c:pt idx="0">
                  <c:v>8.8000000000000004E-6</c:v>
                </c:pt>
                <c:pt idx="1">
                  <c:v>1.15E-5</c:v>
                </c:pt>
                <c:pt idx="2">
                  <c:v>1.2799999999999999E-5</c:v>
                </c:pt>
                <c:pt idx="3">
                  <c:v>1.5800000000000001E-5</c:v>
                </c:pt>
                <c:pt idx="4">
                  <c:v>1.66E-5</c:v>
                </c:pt>
                <c:pt idx="5">
                  <c:v>1.7499999999999998E-5</c:v>
                </c:pt>
                <c:pt idx="6">
                  <c:v>3.7299999999999999E-5</c:v>
                </c:pt>
                <c:pt idx="7">
                  <c:v>2.23E-5</c:v>
                </c:pt>
                <c:pt idx="8">
                  <c:v>2.5700000000000001E-5</c:v>
                </c:pt>
                <c:pt idx="9">
                  <c:v>2.94E-5</c:v>
                </c:pt>
                <c:pt idx="10">
                  <c:v>3.0199999999999999E-5</c:v>
                </c:pt>
                <c:pt idx="11">
                  <c:v>3.2700000000000002E-5</c:v>
                </c:pt>
                <c:pt idx="12">
                  <c:v>5.7599999999999997E-5</c:v>
                </c:pt>
                <c:pt idx="13">
                  <c:v>8.7899999999999995E-5</c:v>
                </c:pt>
                <c:pt idx="14">
                  <c:v>3.0449999999999997E-4</c:v>
                </c:pt>
                <c:pt idx="15">
                  <c:v>1.4170000000000001E-3</c:v>
                </c:pt>
                <c:pt idx="16">
                  <c:v>0.26301839999999999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FD-4264-9FE8-6033AABEFD21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Exact Solution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Sheet1!$C$2:$C$18</c:f>
              <c:numCache>
                <c:formatCode>General</c:formatCod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numCache>
            </c:num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7.7000000000000008E-6</c:v>
                </c:pt>
                <c:pt idx="1">
                  <c:v>1.5299999999999999E-5</c:v>
                </c:pt>
                <c:pt idx="2">
                  <c:v>5.1999999999999997E-5</c:v>
                </c:pt>
                <c:pt idx="3">
                  <c:v>3.1119999999999997E-4</c:v>
                </c:pt>
                <c:pt idx="4">
                  <c:v>2.4892999999999998E-3</c:v>
                </c:pt>
                <c:pt idx="5">
                  <c:v>2.3087799999999999E-2</c:v>
                </c:pt>
                <c:pt idx="6">
                  <c:v>0.2287903</c:v>
                </c:pt>
                <c:pt idx="7">
                  <c:v>2.4284376999999999</c:v>
                </c:pt>
                <c:pt idx="8">
                  <c:v>27.651017199999998</c:v>
                </c:pt>
                <c:pt idx="9">
                  <c:v>410.11247020000002</c:v>
                </c:pt>
                <c:pt idx="10">
                  <c:v>9600.4881065829995</c:v>
                </c:pt>
                <c:pt idx="11">
                  <c:v>244000</c:v>
                </c:pt>
                <c:pt idx="12" formatCode="0.00E+00">
                  <c:v>3920000</c:v>
                </c:pt>
                <c:pt idx="13" formatCode="0.00E+00">
                  <c:v>7.76E+19</c:v>
                </c:pt>
                <c:pt idx="14" formatCode="0.00E+00">
                  <c:v>3.0399999999999999E+59</c:v>
                </c:pt>
                <c:pt idx="15" formatCode="0.00E+00">
                  <c:v>1.8699999999999999E+153</c:v>
                </c:pt>
                <c:pt idx="16" formatCode="0.00E+00">
                  <c:v>8.0399999999999999E+269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BFD-4264-9FE8-6033AABEFD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13997663"/>
        <c:axId val="1514003423"/>
        <c:extLst>
          <c:ext xmlns:c15="http://schemas.microsoft.com/office/drawing/2012/chart" uri="{02D57815-91ED-43cb-92C2-25804820EDAC}">
            <c15:filteredLineSeries>
              <c15:ser>
                <c:idx val="2"/>
                <c:order val="2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# of nodes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3"/>
                    </a:solidFill>
                    <a:ln w="9525">
                      <a:solidFill>
                        <a:schemeClr val="accent3"/>
                      </a:solidFill>
                    </a:ln>
                    <a:effectLst/>
                  </c:spPr>
                </c:marker>
                <c:cat>
                  <c:numRef>
                    <c:extLst>
                      <c:ext uri="{02D57815-91ED-43cb-92C2-25804820EDAC}">
                        <c15:formulaRef>
                          <c15:sqref>Sheet1!$C$2:$C$18</c15:sqref>
                        </c15:formulaRef>
                      </c:ext>
                    </c:extLst>
                    <c:numCache>
                      <c:formatCode>General</c:formatCode>
                      <c:ptCount val="17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  <c:pt idx="10">
                        <c:v>13</c:v>
                      </c:pt>
                      <c:pt idx="11">
                        <c:v>14</c:v>
                      </c:pt>
                      <c:pt idx="12">
                        <c:v>15</c:v>
                      </c:pt>
                      <c:pt idx="13">
                        <c:v>25</c:v>
                      </c:pt>
                      <c:pt idx="14">
                        <c:v>50</c:v>
                      </c:pt>
                      <c:pt idx="15">
                        <c:v>100</c:v>
                      </c:pt>
                      <c:pt idx="16">
                        <c:v>1000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Sheet1!$C$2:$C$18</c15:sqref>
                        </c15:formulaRef>
                      </c:ext>
                    </c:extLst>
                    <c:numCache>
                      <c:formatCode>General</c:formatCode>
                      <c:ptCount val="17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  <c:pt idx="10">
                        <c:v>13</c:v>
                      </c:pt>
                      <c:pt idx="11">
                        <c:v>14</c:v>
                      </c:pt>
                      <c:pt idx="12">
                        <c:v>15</c:v>
                      </c:pt>
                      <c:pt idx="13">
                        <c:v>25</c:v>
                      </c:pt>
                      <c:pt idx="14">
                        <c:v>50</c:v>
                      </c:pt>
                      <c:pt idx="15">
                        <c:v>100</c:v>
                      </c:pt>
                      <c:pt idx="16">
                        <c:v>1000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2-BBFD-4264-9FE8-6033AABEFD21}"/>
                  </c:ext>
                </c:extLst>
              </c15:ser>
            </c15:filteredLineSeries>
          </c:ext>
        </c:extLst>
      </c:lineChart>
      <c:catAx>
        <c:axId val="151399766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Test</a:t>
                </a:r>
                <a:r>
                  <a:rPr lang="en-US" baseline="0">
                    <a:solidFill>
                      <a:schemeClr val="tx1"/>
                    </a:solidFill>
                  </a:rPr>
                  <a:t> Cases</a:t>
                </a:r>
              </a:p>
              <a:p>
                <a:pPr>
                  <a:defRPr>
                    <a:solidFill>
                      <a:schemeClr val="tx1"/>
                    </a:solidFill>
                  </a:defRPr>
                </a:pPr>
                <a:r>
                  <a:rPr lang="en-US" baseline="0">
                    <a:solidFill>
                      <a:schemeClr val="tx1"/>
                    </a:solidFill>
                  </a:rPr>
                  <a:t> (# nodes per test case)</a:t>
                </a:r>
                <a:endParaRPr lang="en-US">
                  <a:solidFill>
                    <a:schemeClr val="tx1"/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4003423"/>
        <c:crosses val="autoZero"/>
        <c:auto val="1"/>
        <c:lblAlgn val="ctr"/>
        <c:lblOffset val="100"/>
        <c:noMultiLvlLbl val="0"/>
      </c:catAx>
      <c:valAx>
        <c:axId val="1514003423"/>
        <c:scaling>
          <c:logBase val="10"/>
          <c:orientation val="minMax"/>
          <c:max val="10000000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Time (seconds)</a:t>
                </a:r>
              </a:p>
            </c:rich>
          </c:tx>
          <c:layout>
            <c:manualLayout>
              <c:xMode val="edge"/>
              <c:yMode val="edge"/>
              <c:x val="1.4918414918414918E-2"/>
              <c:y val="0.33077588233082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39976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 rot="0"/>
          <a:lstStyle/>
          <a:p>
            <a:pPr>
              <a:defRPr sz="20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2000" b="0" i="0" u="none" strike="noStrike">
                <a:solidFill>
                  <a:srgbClr val="000000"/>
                </a:solidFill>
                <a:latin typeface="Helvetica"/>
              </a:rPr>
              <a:t>Lengths Produced from Approx. Solution</a:t>
            </a:r>
          </a:p>
        </c:rich>
      </c:tx>
      <c:layout>
        <c:manualLayout>
          <c:xMode val="edge"/>
          <c:yMode val="edge"/>
          <c:x val="0.15012300000000001"/>
          <c:y val="0"/>
          <c:w val="0.69975299999999996"/>
          <c:h val="0.11108899999999999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8.3552699999999994E-2"/>
          <c:y val="0.11108899999999999"/>
          <c:w val="0.91144700000000001"/>
          <c:h val="0.76056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Lengths Produced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Sheet1!$B$1:$I$1</c:f>
              <c:strCach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strCache>
            </c:strRef>
          </c:cat>
          <c:val>
            <c:numRef>
              <c:f>Sheet1!$B$2:$I$2</c:f>
              <c:numCache>
                <c:formatCode>General</c:formatCode>
                <c:ptCount val="8"/>
                <c:pt idx="0">
                  <c:v>18</c:v>
                </c:pt>
                <c:pt idx="1">
                  <c:v>15</c:v>
                </c:pt>
                <c:pt idx="2">
                  <c:v>1</c:v>
                </c:pt>
                <c:pt idx="3">
                  <c:v>7</c:v>
                </c:pt>
                <c:pt idx="4">
                  <c:v>34</c:v>
                </c:pt>
                <c:pt idx="5">
                  <c:v>11</c:v>
                </c:pt>
                <c:pt idx="6">
                  <c:v>12</c:v>
                </c:pt>
                <c:pt idx="7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8D8-470E-B699-4879B8C115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1400" b="0" i="0" u="none" strike="noStrike">
                    <a:solidFill>
                      <a:srgbClr val="000000"/>
                    </a:solidFill>
                    <a:latin typeface="Helvetica"/>
                  </a:rPr>
                  <a:t>Lengths Produced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sz="9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1400" b="0" i="0" u="none" strike="noStrike">
                    <a:solidFill>
                      <a:srgbClr val="000000"/>
                    </a:solidFill>
                    <a:latin typeface="Helvetica"/>
                  </a:rPr>
                  <a:t>Frequency</a:t>
                </a:r>
              </a:p>
            </c:rich>
          </c:tx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sz="9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title>
      <c:tx>
        <c:rich>
          <a:bodyPr rot="0"/>
          <a:lstStyle/>
          <a:p>
            <a:pPr>
              <a:defRPr sz="2000" b="0" i="0" u="none" strike="noStrike">
                <a:solidFill>
                  <a:srgbClr val="0D0D0D"/>
                </a:solidFill>
                <a:latin typeface="Helvetica"/>
              </a:defRPr>
            </a:pPr>
            <a:r>
              <a:rPr sz="2000" b="0" i="0" u="none" strike="noStrike">
                <a:solidFill>
                  <a:srgbClr val="0D0D0D"/>
                </a:solidFill>
                <a:latin typeface="Helvetica"/>
              </a:rPr>
              <a:t>Lengths Produced from Zenith</a:t>
            </a:r>
          </a:p>
        </c:rich>
      </c:tx>
      <c:layout>
        <c:manualLayout>
          <c:xMode val="edge"/>
          <c:yMode val="edge"/>
          <c:x val="7.6384800000000003E-2"/>
          <c:y val="0"/>
          <c:w val="0.84723000000000004"/>
          <c:h val="0.123671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15120500000000001"/>
          <c:y val="0.123671"/>
          <c:w val="0.84379499999999996"/>
          <c:h val="0.7495509999999999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0D0D"/>
                    </a:solidFill>
                    <a:latin typeface="Helvetic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Sheet1!$B$1:$B$1</c:f>
              <c:strCache>
                <c:ptCount val="1"/>
                <c:pt idx="0">
                  <c:v>12.6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2D-4F2B-AF26-FC3AB04803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400" b="0" i="0" u="none" strike="noStrike">
                    <a:solidFill>
                      <a:srgbClr val="0D0D0D"/>
                    </a:solidFill>
                    <a:latin typeface="Helvetica"/>
                  </a:defRPr>
                </a:pPr>
                <a:r>
                  <a:rPr sz="1400" b="0" i="0" u="none" strike="noStrike">
                    <a:solidFill>
                      <a:srgbClr val="0D0D0D"/>
                    </a:solidFill>
                    <a:latin typeface="Helvetica"/>
                  </a:rPr>
                  <a:t>Lengths Produced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sz="900" b="0" i="0" u="none" strike="noStrike">
                <a:solidFill>
                  <a:srgbClr val="0D0D0D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400" b="0" i="0" u="none" strike="noStrike">
                    <a:solidFill>
                      <a:srgbClr val="0D0D0D"/>
                    </a:solidFill>
                    <a:latin typeface="Helvetica"/>
                  </a:defRPr>
                </a:pPr>
                <a:r>
                  <a:rPr sz="1400" b="0" i="0" u="none" strike="noStrike">
                    <a:solidFill>
                      <a:srgbClr val="0D0D0D"/>
                    </a:solidFill>
                    <a:latin typeface="Helvetica"/>
                  </a:rPr>
                  <a:t>Frequency</a:t>
                </a:r>
              </a:p>
            </c:rich>
          </c:tx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sz="900" b="0" i="0" u="none" strike="noStrike">
                <a:solidFill>
                  <a:srgbClr val="0D0D0D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4" name="Shape 13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12" y="0"/>
            <a:ext cx="8265012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23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8" cy="68681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8"/>
            <a:ext cx="5867405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33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7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6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6" y="5950036"/>
            <a:ext cx="2513536" cy="914412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9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7" y="-149658"/>
            <a:ext cx="1672379" cy="1971682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9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1"/>
          <a:stretch>
            <a:fillRect/>
          </a:stretch>
        </p:blipFill>
        <p:spPr>
          <a:xfrm rot="16200000" flipH="1">
            <a:off x="9781526" y="-311517"/>
            <a:ext cx="2098975" cy="2721995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7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8553446" y="-39575"/>
            <a:ext cx="5867406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125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2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4"/>
          <a:srcRect l="18883" t="18052" r="46634"/>
          <a:stretch>
            <a:fillRect/>
          </a:stretch>
        </p:blipFill>
        <p:spPr>
          <a:xfrm rot="5400000">
            <a:off x="9553763" y="-952311"/>
            <a:ext cx="1685939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1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Traveling salesman problem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LAX"/>
          <p:cNvGrpSpPr/>
          <p:nvPr/>
        </p:nvGrpSpPr>
        <p:grpSpPr>
          <a:xfrm>
            <a:off x="1191310" y="3073272"/>
            <a:ext cx="694209" cy="694209"/>
            <a:chOff x="-1" y="-1"/>
            <a:chExt cx="694208" cy="694208"/>
          </a:xfrm>
        </p:grpSpPr>
        <p:sp>
          <p:nvSpPr>
            <p:cNvPr id="138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9" name="LAX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143" name="JFK"/>
          <p:cNvGrpSpPr/>
          <p:nvPr/>
        </p:nvGrpSpPr>
        <p:grpSpPr>
          <a:xfrm>
            <a:off x="2606000" y="1605413"/>
            <a:ext cx="694210" cy="694209"/>
            <a:chOff x="0" y="0"/>
            <a:chExt cx="694208" cy="694208"/>
          </a:xfrm>
        </p:grpSpPr>
        <p:sp>
          <p:nvSpPr>
            <p:cNvPr id="141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2" name="JFK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146" name="MIA"/>
          <p:cNvGrpSpPr/>
          <p:nvPr/>
        </p:nvGrpSpPr>
        <p:grpSpPr>
          <a:xfrm>
            <a:off x="4020690" y="3073272"/>
            <a:ext cx="694209" cy="694209"/>
            <a:chOff x="0" y="-1"/>
            <a:chExt cx="694208" cy="694208"/>
          </a:xfrm>
        </p:grpSpPr>
        <p:sp>
          <p:nvSpPr>
            <p:cNvPr id="144" name="Circle"/>
            <p:cNvSpPr/>
            <p:nvPr/>
          </p:nvSpPr>
          <p:spPr>
            <a:xfrm>
              <a:off x="-1" y="-2"/>
              <a:ext cx="694209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5" name="MIA"/>
            <p:cNvSpPr txBox="1"/>
            <p:nvPr/>
          </p:nvSpPr>
          <p:spPr>
            <a:xfrm>
              <a:off x="106425" y="208097"/>
              <a:ext cx="481350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49" name="HOU"/>
          <p:cNvGrpSpPr/>
          <p:nvPr/>
        </p:nvGrpSpPr>
        <p:grpSpPr>
          <a:xfrm>
            <a:off x="2606000" y="4541129"/>
            <a:ext cx="694210" cy="694209"/>
            <a:chOff x="0" y="0"/>
            <a:chExt cx="694208" cy="694208"/>
          </a:xfrm>
        </p:grpSpPr>
        <p:sp>
          <p:nvSpPr>
            <p:cNvPr id="147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" name="HOU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50" name="Line"/>
          <p:cNvSpPr/>
          <p:nvPr/>
        </p:nvSpPr>
        <p:spPr>
          <a:xfrm flipV="1">
            <a:off x="3183420" y="3663086"/>
            <a:ext cx="942989" cy="96710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1" name="Line"/>
          <p:cNvSpPr/>
          <p:nvPr/>
        </p:nvSpPr>
        <p:spPr>
          <a:xfrm flipV="1">
            <a:off x="1738265" y="2172368"/>
            <a:ext cx="945356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2" name="Line"/>
          <p:cNvSpPr/>
          <p:nvPr/>
        </p:nvSpPr>
        <p:spPr>
          <a:xfrm flipH="1" flipV="1">
            <a:off x="1797816" y="3652993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3" name="Line"/>
          <p:cNvSpPr/>
          <p:nvPr/>
        </p:nvSpPr>
        <p:spPr>
          <a:xfrm flipH="1" flipV="1">
            <a:off x="3224068" y="2173196"/>
            <a:ext cx="893842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4" name="Line"/>
          <p:cNvSpPr/>
          <p:nvPr/>
        </p:nvSpPr>
        <p:spPr>
          <a:xfrm flipH="1" flipV="1">
            <a:off x="2968113" y="2299416"/>
            <a:ext cx="108" cy="223788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5" name="Line"/>
          <p:cNvSpPr/>
          <p:nvPr/>
        </p:nvSpPr>
        <p:spPr>
          <a:xfrm flipH="1">
            <a:off x="1889535" y="3406540"/>
            <a:ext cx="2127140" cy="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6" name="2.475"/>
          <p:cNvSpPr txBox="1"/>
          <p:nvPr/>
        </p:nvSpPr>
        <p:spPr>
          <a:xfrm>
            <a:off x="1651721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2.776</a:t>
            </a:r>
          </a:p>
        </p:txBody>
      </p:sp>
      <p:sp>
        <p:nvSpPr>
          <p:cNvPr id="157" name="1.09"/>
          <p:cNvSpPr txBox="1"/>
          <p:nvPr/>
        </p:nvSpPr>
        <p:spPr>
          <a:xfrm>
            <a:off x="3775173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1.288</a:t>
            </a:r>
          </a:p>
        </p:txBody>
      </p:sp>
      <p:sp>
        <p:nvSpPr>
          <p:cNvPr id="158" name="1.39"/>
          <p:cNvSpPr txBox="1"/>
          <p:nvPr/>
        </p:nvSpPr>
        <p:spPr>
          <a:xfrm>
            <a:off x="1709651" y="416795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1.546</a:t>
            </a:r>
          </a:p>
        </p:txBody>
      </p:sp>
      <p:sp>
        <p:nvSpPr>
          <p:cNvPr id="159" name="1.1"/>
          <p:cNvSpPr txBox="1"/>
          <p:nvPr/>
        </p:nvSpPr>
        <p:spPr>
          <a:xfrm>
            <a:off x="3775173" y="414663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1.189</a:t>
            </a:r>
          </a:p>
        </p:txBody>
      </p:sp>
      <p:sp>
        <p:nvSpPr>
          <p:cNvPr id="160" name="1.74"/>
          <p:cNvSpPr txBox="1"/>
          <p:nvPr/>
        </p:nvSpPr>
        <p:spPr>
          <a:xfrm>
            <a:off x="2949132" y="268256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1.629</a:t>
            </a:r>
          </a:p>
        </p:txBody>
      </p:sp>
      <p:sp>
        <p:nvSpPr>
          <p:cNvPr id="161" name="2.342"/>
          <p:cNvSpPr txBox="1"/>
          <p:nvPr/>
        </p:nvSpPr>
        <p:spPr>
          <a:xfrm>
            <a:off x="2136699" y="3393840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 2.735</a:t>
            </a:r>
          </a:p>
        </p:txBody>
      </p:sp>
      <p:sp>
        <p:nvSpPr>
          <p:cNvPr id="162" name="Weights in 1K air miles"/>
          <p:cNvSpPr txBox="1"/>
          <p:nvPr/>
        </p:nvSpPr>
        <p:spPr>
          <a:xfrm>
            <a:off x="5141083" y="6096677"/>
            <a:ext cx="190983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Weights in 1K miles</a:t>
            </a:r>
          </a:p>
        </p:txBody>
      </p:sp>
      <p:sp>
        <p:nvSpPr>
          <p:cNvPr id="163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  <p:sp>
        <p:nvSpPr>
          <p:cNvPr id="164" name="Decision vs. Optimization"/>
          <p:cNvSpPr txBox="1"/>
          <p:nvPr/>
        </p:nvSpPr>
        <p:spPr>
          <a:xfrm>
            <a:off x="6541637" y="1314914"/>
            <a:ext cx="808001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300" b="1"/>
            </a:lvl1pPr>
          </a:lstStyle>
          <a:p>
            <a:r>
              <a:t>TSP-D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"/>
              <p:cNvSpPr txBox="1"/>
              <p:nvPr/>
            </p:nvSpPr>
            <p:spPr>
              <a:xfrm>
                <a:off x="2080072" y="5445116"/>
                <a:ext cx="1630004" cy="22580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𝑂𝑝𝑡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)=6.799</m:t>
                      </m:r>
                    </m:oMath>
                  </m:oMathPara>
                </a14:m>
                <a:endParaRPr sz="2000"/>
              </a:p>
            </p:txBody>
          </p:sp>
        </mc:Choice>
        <mc:Fallback xmlns="">
          <p:sp>
            <p:nvSpPr>
              <p:cNvPr id="16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072" y="5445116"/>
                <a:ext cx="1630004" cy="225807"/>
              </a:xfrm>
              <a:prstGeom prst="rect">
                <a:avLst/>
              </a:prstGeom>
              <a:blipFill>
                <a:blip r:embed="rId2"/>
                <a:stretch>
                  <a:fillRect l="-7090" t="-2703" r="-12687" b="-8378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Decision vs. Optimization"/>
          <p:cNvSpPr txBox="1"/>
          <p:nvPr/>
        </p:nvSpPr>
        <p:spPr>
          <a:xfrm>
            <a:off x="9402680" y="1314914"/>
            <a:ext cx="821408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300" b="1"/>
            </a:lvl1pPr>
          </a:lstStyle>
          <a:p>
            <a:r>
              <a:t>TSP-O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?"/>
              <p:cNvSpPr txBox="1"/>
              <p:nvPr/>
            </p:nvSpPr>
            <p:spPr>
              <a:xfrm>
                <a:off x="6316112" y="1926693"/>
                <a:ext cx="1204421" cy="40208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45718" tIns="45718" rIns="45718" bIns="45718">
                <a:spAutoFit/>
              </a:bodyPr>
              <a:lstStyle/>
              <a:p>
                <a:pPr marL="151594" indent="-151594">
                  <a:buSzPct val="100000"/>
                  <a:buChar char="•"/>
                  <a:defRPr sz="2100">
                    <a:latin typeface="Cambria Math"/>
                    <a:ea typeface="Cambria Math"/>
                    <a:cs typeface="Cambria Math"/>
                    <a:sym typeface="Cambria Math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sz="21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1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sz="21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sz="1800">
                    <a:latin typeface="+mj-lt"/>
                    <a:ea typeface="+mj-ea"/>
                    <a:cs typeface="+mj-cs"/>
                    <a:sym typeface="Helvetica"/>
                  </a:rPr>
                  <a:t> ?</a:t>
                </a:r>
                <a:endParaRPr sz="1981"/>
              </a:p>
            </p:txBody>
          </p:sp>
        </mc:Choice>
        <mc:Fallback xmlns="">
          <p:sp>
            <p:nvSpPr>
              <p:cNvPr id="167" name="?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6112" y="1926693"/>
                <a:ext cx="1204421" cy="402084"/>
              </a:xfrm>
              <a:prstGeom prst="rect">
                <a:avLst/>
              </a:prstGeom>
              <a:blipFill>
                <a:blip r:embed="rId3"/>
                <a:stretch>
                  <a:fillRect l="-9596" t="-9091" r="-11111" b="-3030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8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135" y="3069525"/>
            <a:ext cx="3829721" cy="2154223"/>
          </a:xfrm>
          <a:prstGeom prst="rect">
            <a:avLst/>
          </a:prstGeom>
          <a:ln w="25400">
            <a:solidFill>
              <a:srgbClr val="DDDDDD"/>
            </a:solidFill>
            <a:miter lim="400000"/>
          </a:ln>
        </p:spPr>
      </p:pic>
      <p:sp>
        <p:nvSpPr>
          <p:cNvPr id="169" name="vs."/>
          <p:cNvSpPr txBox="1"/>
          <p:nvPr/>
        </p:nvSpPr>
        <p:spPr>
          <a:xfrm>
            <a:off x="8178034" y="1320781"/>
            <a:ext cx="42192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t>vs.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"/>
              <p:cNvSpPr txBox="1"/>
              <p:nvPr/>
            </p:nvSpPr>
            <p:spPr>
              <a:xfrm>
                <a:off x="9071104" y="1948868"/>
                <a:ext cx="1484560" cy="35773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45718" tIns="45718" rIns="45718" bIns="45718">
                <a:spAutoFit/>
              </a:bodyPr>
              <a:lstStyle>
                <a:lvl1pPr marL="180473" indent="-180473">
                  <a:buSzPct val="100000"/>
                  <a:buChar char="•"/>
                </a:lvl1pPr>
              </a:lstStyle>
              <a:p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𝑚𝑖𝑛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17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104" y="1948868"/>
                <a:ext cx="1484560" cy="357734"/>
              </a:xfrm>
              <a:prstGeom prst="rect">
                <a:avLst/>
              </a:prstGeom>
              <a:blipFill>
                <a:blip r:embed="rId5"/>
                <a:stretch>
                  <a:fillRect l="-6967" t="-10345" r="-11475" b="-36207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LAX"/>
          <p:cNvGrpSpPr/>
          <p:nvPr/>
        </p:nvGrpSpPr>
        <p:grpSpPr>
          <a:xfrm>
            <a:off x="1772214" y="3076309"/>
            <a:ext cx="694209" cy="694209"/>
            <a:chOff x="-1" y="-1"/>
            <a:chExt cx="694208" cy="694208"/>
          </a:xfrm>
        </p:grpSpPr>
        <p:sp>
          <p:nvSpPr>
            <p:cNvPr id="172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" name="G"/>
            <p:cNvSpPr txBox="1"/>
            <p:nvPr/>
          </p:nvSpPr>
          <p:spPr>
            <a:xfrm>
              <a:off x="106426" y="180556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G</a:t>
              </a:r>
            </a:p>
          </p:txBody>
        </p:sp>
      </p:grpSp>
      <p:grpSp>
        <p:nvGrpSpPr>
          <p:cNvPr id="177" name="JFK"/>
          <p:cNvGrpSpPr/>
          <p:nvPr/>
        </p:nvGrpSpPr>
        <p:grpSpPr>
          <a:xfrm>
            <a:off x="3972237" y="1130405"/>
            <a:ext cx="694209" cy="694209"/>
            <a:chOff x="-1" y="-1"/>
            <a:chExt cx="694208" cy="694208"/>
          </a:xfrm>
        </p:grpSpPr>
        <p:sp>
          <p:nvSpPr>
            <p:cNvPr id="175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6" name="A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A</a:t>
              </a:r>
            </a:p>
          </p:txBody>
        </p:sp>
      </p:grpSp>
      <p:grpSp>
        <p:nvGrpSpPr>
          <p:cNvPr id="180" name="MIA"/>
          <p:cNvGrpSpPr/>
          <p:nvPr/>
        </p:nvGrpSpPr>
        <p:grpSpPr>
          <a:xfrm>
            <a:off x="6159390" y="3076309"/>
            <a:ext cx="694209" cy="694209"/>
            <a:chOff x="-1" y="-1"/>
            <a:chExt cx="694208" cy="694208"/>
          </a:xfrm>
        </p:grpSpPr>
        <p:sp>
          <p:nvSpPr>
            <p:cNvPr id="178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" name="C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C</a:t>
              </a:r>
            </a:p>
          </p:txBody>
        </p:sp>
      </p:grpSp>
      <p:grpSp>
        <p:nvGrpSpPr>
          <p:cNvPr id="183" name="HOU"/>
          <p:cNvGrpSpPr/>
          <p:nvPr/>
        </p:nvGrpSpPr>
        <p:grpSpPr>
          <a:xfrm>
            <a:off x="3972237" y="5033390"/>
            <a:ext cx="694209" cy="694210"/>
            <a:chOff x="-1" y="-1"/>
            <a:chExt cx="694208" cy="694208"/>
          </a:xfrm>
        </p:grpSpPr>
        <p:sp>
          <p:nvSpPr>
            <p:cNvPr id="181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" name="E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E</a:t>
              </a:r>
            </a:p>
          </p:txBody>
        </p:sp>
      </p:grpSp>
      <p:grpSp>
        <p:nvGrpSpPr>
          <p:cNvPr id="186" name="JFK"/>
          <p:cNvGrpSpPr/>
          <p:nvPr/>
        </p:nvGrpSpPr>
        <p:grpSpPr>
          <a:xfrm>
            <a:off x="2518925" y="1774123"/>
            <a:ext cx="694209" cy="694209"/>
            <a:chOff x="-1" y="-1"/>
            <a:chExt cx="694208" cy="694208"/>
          </a:xfrm>
        </p:grpSpPr>
        <p:sp>
          <p:nvSpPr>
            <p:cNvPr id="184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" name="H"/>
            <p:cNvSpPr txBox="1"/>
            <p:nvPr/>
          </p:nvSpPr>
          <p:spPr>
            <a:xfrm>
              <a:off x="106426" y="180556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</a:t>
              </a:r>
            </a:p>
          </p:txBody>
        </p:sp>
      </p:grpSp>
      <p:grpSp>
        <p:nvGrpSpPr>
          <p:cNvPr id="189" name="JFK"/>
          <p:cNvGrpSpPr/>
          <p:nvPr/>
        </p:nvGrpSpPr>
        <p:grpSpPr>
          <a:xfrm>
            <a:off x="5425551" y="1774123"/>
            <a:ext cx="694209" cy="694209"/>
            <a:chOff x="-1" y="-1"/>
            <a:chExt cx="694208" cy="694208"/>
          </a:xfrm>
        </p:grpSpPr>
        <p:sp>
          <p:nvSpPr>
            <p:cNvPr id="187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8" name="B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B</a:t>
              </a:r>
            </a:p>
          </p:txBody>
        </p:sp>
      </p:grpSp>
      <p:grpSp>
        <p:nvGrpSpPr>
          <p:cNvPr id="192" name="JFK"/>
          <p:cNvGrpSpPr/>
          <p:nvPr/>
        </p:nvGrpSpPr>
        <p:grpSpPr>
          <a:xfrm>
            <a:off x="5425551" y="4389674"/>
            <a:ext cx="694209" cy="694209"/>
            <a:chOff x="-1" y="-1"/>
            <a:chExt cx="694208" cy="694208"/>
          </a:xfrm>
        </p:grpSpPr>
        <p:sp>
          <p:nvSpPr>
            <p:cNvPr id="190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1" name="D"/>
            <p:cNvSpPr txBox="1"/>
            <p:nvPr/>
          </p:nvSpPr>
          <p:spPr>
            <a:xfrm>
              <a:off x="106426" y="180556"/>
              <a:ext cx="481351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D</a:t>
              </a:r>
            </a:p>
          </p:txBody>
        </p:sp>
      </p:grpSp>
      <p:grpSp>
        <p:nvGrpSpPr>
          <p:cNvPr id="195" name="JFK"/>
          <p:cNvGrpSpPr/>
          <p:nvPr/>
        </p:nvGrpSpPr>
        <p:grpSpPr>
          <a:xfrm>
            <a:off x="2518925" y="4389674"/>
            <a:ext cx="694209" cy="694209"/>
            <a:chOff x="-1" y="-1"/>
            <a:chExt cx="694208" cy="694208"/>
          </a:xfrm>
        </p:grpSpPr>
        <p:sp>
          <p:nvSpPr>
            <p:cNvPr id="193" name="Circle"/>
            <p:cNvSpPr/>
            <p:nvPr/>
          </p:nvSpPr>
          <p:spPr>
            <a:xfrm>
              <a:off x="-2" y="-2"/>
              <a:ext cx="694210" cy="694210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4" name="F"/>
            <p:cNvSpPr txBox="1"/>
            <p:nvPr/>
          </p:nvSpPr>
          <p:spPr>
            <a:xfrm>
              <a:off x="106426" y="180556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F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"/>
              <p:cNvSpPr txBox="1"/>
              <p:nvPr/>
            </p:nvSpPr>
            <p:spPr>
              <a:xfrm>
                <a:off x="8912952" y="2123972"/>
                <a:ext cx="1015350" cy="25560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sz="2900"/>
              </a:p>
            </p:txBody>
          </p:sp>
        </mc:Choice>
        <mc:Fallback xmlns="">
          <p:sp>
            <p:nvSpPr>
              <p:cNvPr id="19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2952" y="2123972"/>
                <a:ext cx="1015350" cy="255601"/>
              </a:xfrm>
              <a:prstGeom prst="rect">
                <a:avLst/>
              </a:prstGeom>
              <a:blipFill>
                <a:blip r:embed="rId2"/>
                <a:stretch>
                  <a:fillRect r="-1198" b="-38095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"/>
              <p:cNvSpPr txBox="1"/>
              <p:nvPr/>
            </p:nvSpPr>
            <p:spPr>
              <a:xfrm>
                <a:off x="8830959" y="3385150"/>
                <a:ext cx="1179336" cy="22584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=40,320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19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0959" y="3385150"/>
                <a:ext cx="1179336" cy="225843"/>
              </a:xfrm>
              <a:prstGeom prst="rect">
                <a:avLst/>
              </a:prstGeom>
              <a:blipFill>
                <a:blip r:embed="rId3"/>
                <a:stretch>
                  <a:fillRect l="-7254" r="-15544" b="-4864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Line"/>
          <p:cNvSpPr/>
          <p:nvPr/>
        </p:nvSpPr>
        <p:spPr>
          <a:xfrm>
            <a:off x="2281714" y="3731138"/>
            <a:ext cx="392072" cy="71831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99" name="Line"/>
          <p:cNvSpPr/>
          <p:nvPr/>
        </p:nvSpPr>
        <p:spPr>
          <a:xfrm flipH="1">
            <a:off x="5991914" y="3751553"/>
            <a:ext cx="392880" cy="7144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0" name="Line"/>
          <p:cNvSpPr/>
          <p:nvPr/>
        </p:nvSpPr>
        <p:spPr>
          <a:xfrm>
            <a:off x="3170714" y="4912238"/>
            <a:ext cx="802468" cy="3983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1" name="Line"/>
          <p:cNvSpPr/>
          <p:nvPr/>
        </p:nvSpPr>
        <p:spPr>
          <a:xfrm flipH="1">
            <a:off x="4654729" y="4912240"/>
            <a:ext cx="812067" cy="3739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2" name="Hamiltonian Cycles"/>
          <p:cNvSpPr txBox="1"/>
          <p:nvPr/>
        </p:nvSpPr>
        <p:spPr>
          <a:xfrm>
            <a:off x="8432820" y="1592536"/>
            <a:ext cx="1975614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sz="2000"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Possible Tours</a:t>
            </a:r>
          </a:p>
        </p:txBody>
      </p:sp>
      <p:sp>
        <p:nvSpPr>
          <p:cNvPr id="203" name="Line"/>
          <p:cNvSpPr/>
          <p:nvPr/>
        </p:nvSpPr>
        <p:spPr>
          <a:xfrm flipH="1" flipV="1">
            <a:off x="2465610" y="3423408"/>
            <a:ext cx="3693508" cy="1118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4" name="Line"/>
          <p:cNvSpPr/>
          <p:nvPr/>
        </p:nvSpPr>
        <p:spPr>
          <a:xfrm flipH="1">
            <a:off x="2285849" y="2409288"/>
            <a:ext cx="387924" cy="7107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5" name="Line"/>
          <p:cNvSpPr/>
          <p:nvPr/>
        </p:nvSpPr>
        <p:spPr>
          <a:xfrm>
            <a:off x="5991914" y="2391991"/>
            <a:ext cx="402678" cy="69905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6" name="Line"/>
          <p:cNvSpPr/>
          <p:nvPr/>
        </p:nvSpPr>
        <p:spPr>
          <a:xfrm flipV="1">
            <a:off x="3170714" y="1540551"/>
            <a:ext cx="803783" cy="4017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7" name="Line"/>
          <p:cNvSpPr/>
          <p:nvPr/>
        </p:nvSpPr>
        <p:spPr>
          <a:xfrm flipH="1" flipV="1">
            <a:off x="4656616" y="1550884"/>
            <a:ext cx="806906" cy="4093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8" name="Line"/>
          <p:cNvSpPr/>
          <p:nvPr/>
        </p:nvSpPr>
        <p:spPr>
          <a:xfrm flipV="1">
            <a:off x="4317817" y="1819123"/>
            <a:ext cx="19453" cy="320891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9" name="Line"/>
          <p:cNvSpPr/>
          <p:nvPr/>
        </p:nvSpPr>
        <p:spPr>
          <a:xfrm flipH="1" flipV="1">
            <a:off x="3108236" y="2371492"/>
            <a:ext cx="2420557" cy="21196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0" name="Line"/>
          <p:cNvSpPr/>
          <p:nvPr/>
        </p:nvSpPr>
        <p:spPr>
          <a:xfrm flipH="1">
            <a:off x="3113881" y="2356531"/>
            <a:ext cx="2405161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1" name="Line"/>
          <p:cNvSpPr/>
          <p:nvPr/>
        </p:nvSpPr>
        <p:spPr>
          <a:xfrm>
            <a:off x="4522230" y="1756578"/>
            <a:ext cx="1717291" cy="14445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2" name="Line"/>
          <p:cNvSpPr/>
          <p:nvPr/>
        </p:nvSpPr>
        <p:spPr>
          <a:xfrm>
            <a:off x="4423340" y="1813922"/>
            <a:ext cx="1206975" cy="26068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3" name="Line"/>
          <p:cNvSpPr/>
          <p:nvPr/>
        </p:nvSpPr>
        <p:spPr>
          <a:xfrm flipH="1">
            <a:off x="3023814" y="1811095"/>
            <a:ext cx="1209154" cy="26184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4" name="Line"/>
          <p:cNvSpPr/>
          <p:nvPr/>
        </p:nvSpPr>
        <p:spPr>
          <a:xfrm flipH="1">
            <a:off x="2410390" y="1742948"/>
            <a:ext cx="1675111" cy="148358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5" name="Line"/>
          <p:cNvSpPr/>
          <p:nvPr/>
        </p:nvSpPr>
        <p:spPr>
          <a:xfrm flipH="1">
            <a:off x="5766999" y="2465079"/>
            <a:ext cx="4371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6" name="Line"/>
          <p:cNvSpPr/>
          <p:nvPr/>
        </p:nvSpPr>
        <p:spPr>
          <a:xfrm flipH="1">
            <a:off x="2863843" y="2471284"/>
            <a:ext cx="6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7" name="Line"/>
          <p:cNvSpPr/>
          <p:nvPr/>
        </p:nvSpPr>
        <p:spPr>
          <a:xfrm flipH="1">
            <a:off x="4523618" y="2455751"/>
            <a:ext cx="1153212" cy="263973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8" name="Line"/>
          <p:cNvSpPr/>
          <p:nvPr/>
        </p:nvSpPr>
        <p:spPr>
          <a:xfrm>
            <a:off x="2994211" y="2443595"/>
            <a:ext cx="1121865" cy="265530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2458296" y="2265876"/>
            <a:ext cx="3002940" cy="107267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0" name="Line"/>
          <p:cNvSpPr/>
          <p:nvPr/>
        </p:nvSpPr>
        <p:spPr>
          <a:xfrm>
            <a:off x="3192053" y="2253175"/>
            <a:ext cx="2976886" cy="107102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1" name="Line"/>
          <p:cNvSpPr/>
          <p:nvPr/>
        </p:nvSpPr>
        <p:spPr>
          <a:xfrm flipH="1" flipV="1">
            <a:off x="3211638" y="2109341"/>
            <a:ext cx="2215404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2" name="Line"/>
          <p:cNvSpPr/>
          <p:nvPr/>
        </p:nvSpPr>
        <p:spPr>
          <a:xfrm flipH="1" flipV="1">
            <a:off x="3210079" y="4724715"/>
            <a:ext cx="2216986" cy="21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3" name="Line"/>
          <p:cNvSpPr/>
          <p:nvPr/>
        </p:nvSpPr>
        <p:spPr>
          <a:xfrm flipH="1">
            <a:off x="3185752" y="3591900"/>
            <a:ext cx="3017768" cy="101296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4" name="Line"/>
          <p:cNvSpPr/>
          <p:nvPr/>
        </p:nvSpPr>
        <p:spPr>
          <a:xfrm>
            <a:off x="2429097" y="3581427"/>
            <a:ext cx="3026711" cy="101296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5" name="Line"/>
          <p:cNvSpPr/>
          <p:nvPr/>
        </p:nvSpPr>
        <p:spPr>
          <a:xfrm flipV="1">
            <a:off x="4616851" y="3693278"/>
            <a:ext cx="1665536" cy="149880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6" name="Line"/>
          <p:cNvSpPr/>
          <p:nvPr/>
        </p:nvSpPr>
        <p:spPr>
          <a:xfrm flipH="1" flipV="1">
            <a:off x="2373764" y="3660268"/>
            <a:ext cx="1672391" cy="15060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Text"/>
              <p:cNvSpPr txBox="1"/>
              <p:nvPr/>
            </p:nvSpPr>
            <p:spPr>
              <a:xfrm>
                <a:off x="8617208" y="3852520"/>
                <a:ext cx="1606838" cy="22777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=3,628,800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2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208" y="3852520"/>
                <a:ext cx="1606838" cy="227773"/>
              </a:xfrm>
              <a:prstGeom prst="rect">
                <a:avLst/>
              </a:prstGeom>
              <a:blipFill>
                <a:blip r:embed="rId4"/>
                <a:stretch>
                  <a:fillRect l="-5323" r="-10646" b="-4594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Text"/>
              <p:cNvSpPr txBox="1"/>
              <p:nvPr/>
            </p:nvSpPr>
            <p:spPr>
              <a:xfrm>
                <a:off x="8574337" y="4321820"/>
                <a:ext cx="1692580" cy="22873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≈9.332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157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2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337" y="4321820"/>
                <a:ext cx="1692580" cy="228739"/>
              </a:xfrm>
              <a:prstGeom prst="rect">
                <a:avLst/>
              </a:prstGeom>
              <a:blipFill>
                <a:blip r:embed="rId5"/>
                <a:stretch>
                  <a:fillRect l="-5054" r="-15162" b="-4594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0" name="Equation"/>
              <p:cNvSpPr txBox="1"/>
              <p:nvPr/>
            </p:nvSpPr>
            <p:spPr>
              <a:xfrm>
                <a:off x="9042459" y="3005625"/>
                <a:ext cx="756336" cy="22344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=24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2459" y="3005625"/>
                <a:ext cx="756336" cy="223444"/>
              </a:xfrm>
              <a:prstGeom prst="rect">
                <a:avLst/>
              </a:prstGeom>
              <a:blipFill>
                <a:blip r:embed="rId6"/>
                <a:stretch>
                  <a:fillRect l="-11290" r="-20161" b="-4864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✅ “MIA HOU NYC LA MIA“…"/>
          <p:cNvSpPr txBox="1"/>
          <p:nvPr/>
        </p:nvSpPr>
        <p:spPr>
          <a:xfrm>
            <a:off x="6710497" y="2561882"/>
            <a:ext cx="3683156" cy="2068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❌ “MIA NYC LA NYC HOU MIA”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❌ “MIA NYC LA MIA”</a:t>
            </a:r>
          </a:p>
        </p:txBody>
      </p:sp>
      <p:sp>
        <p:nvSpPr>
          <p:cNvPr id="233" name="Title 6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r>
              <a:t>Certificate verification</a:t>
            </a:r>
          </a:p>
        </p:txBody>
      </p:sp>
      <p:graphicFrame>
        <p:nvGraphicFramePr>
          <p:cNvPr id="234" name="Table 1"/>
          <p:cNvGraphicFramePr/>
          <p:nvPr/>
        </p:nvGraphicFramePr>
        <p:xfrm>
          <a:off x="1736730" y="1591445"/>
          <a:ext cx="3022725" cy="4009841"/>
        </p:xfrm>
        <a:graphic>
          <a:graphicData uri="http://schemas.openxmlformats.org/drawingml/2006/table">
            <a:tbl>
              <a:tblPr bandRow="1">
                <a:tableStyleId>{4C3C2611-4C71-4FC5-86AE-919BDF0F9419}</a:tableStyleId>
              </a:tblPr>
              <a:tblGrid>
                <a:gridCol w="15113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1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  <a:endParaRPr/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MIA</a:t>
                      </a:r>
                    </a:p>
                  </a:txBody>
                  <a:tcPr marL="0" marR="0" marT="0" marB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1.288},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1.189}</a:t>
                      </a:r>
                    </a:p>
                  </a:txBody>
                  <a:tcPr marL="0" marR="0" marT="0" marB="0" horzOverflow="overflow">
                    <a:solidFill>
                      <a:srgbClr val="F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  <a:endParaRPr/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NYC</a:t>
                      </a:r>
                    </a:p>
                  </a:txBody>
                  <a:tcPr marL="0" marR="0" marT="0" marB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horzOverflow="overflow">
                    <a:solidFill>
                      <a:srgbClr val="FB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  <a:endParaRPr/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LA</a:t>
                      </a:r>
                    </a:p>
                  </a:txBody>
                  <a:tcPr marL="0" marR="0" marT="0" marB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1.546}</a:t>
                      </a:r>
                    </a:p>
                  </a:txBody>
                  <a:tcPr marL="0" marR="0" marT="0" marB="0" horzOverflow="overflow">
                    <a:solidFill>
                      <a:srgbClr val="F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  <a:endParaRPr/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HOU</a:t>
                      </a:r>
                    </a:p>
                  </a:txBody>
                  <a:tcPr marL="0" marR="0" marT="0" marB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1.546},</a:t>
                      </a:r>
                      <a:br/>
                      <a:r>
                        <a:t>{NYC: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horzOverflow="overflow">
                    <a:solidFill>
                      <a:srgbClr val="FB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grpSp>
        <p:nvGrpSpPr>
          <p:cNvPr id="239" name="Hamiltonian Cycle"/>
          <p:cNvGrpSpPr/>
          <p:nvPr/>
        </p:nvGrpSpPr>
        <p:grpSpPr>
          <a:xfrm>
            <a:off x="2284987" y="5029548"/>
            <a:ext cx="1654589" cy="903726"/>
            <a:chOff x="0" y="0"/>
            <a:chExt cx="1654587" cy="903724"/>
          </a:xfrm>
        </p:grpSpPr>
        <p:sp>
          <p:nvSpPr>
            <p:cNvPr id="237" name="Rectangle"/>
            <p:cNvSpPr/>
            <p:nvPr/>
          </p:nvSpPr>
          <p:spPr>
            <a:xfrm>
              <a:off x="-1" y="0"/>
              <a:ext cx="1654588" cy="903726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38" name="Hamiltonian Cycle"/>
            <p:cNvSpPr txBox="1"/>
            <p:nvPr/>
          </p:nvSpPr>
          <p:spPr>
            <a:xfrm>
              <a:off x="4762" y="139267"/>
              <a:ext cx="1645063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Hamiltonian Cycle</a:t>
              </a:r>
            </a:p>
          </p:txBody>
        </p:sp>
      </p:grpSp>
      <p:grpSp>
        <p:nvGrpSpPr>
          <p:cNvPr id="242" name="LAX"/>
          <p:cNvGrpSpPr/>
          <p:nvPr/>
        </p:nvGrpSpPr>
        <p:grpSpPr>
          <a:xfrm>
            <a:off x="1668926" y="2683306"/>
            <a:ext cx="694209" cy="694209"/>
            <a:chOff x="0" y="0"/>
            <a:chExt cx="694208" cy="694208"/>
          </a:xfrm>
        </p:grpSpPr>
        <p:sp>
          <p:nvSpPr>
            <p:cNvPr id="240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1" name="LAX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45" name="JFK"/>
          <p:cNvGrpSpPr/>
          <p:nvPr/>
        </p:nvGrpSpPr>
        <p:grpSpPr>
          <a:xfrm>
            <a:off x="2765179" y="1578612"/>
            <a:ext cx="694211" cy="694211"/>
            <a:chOff x="0" y="0"/>
            <a:chExt cx="694210" cy="694210"/>
          </a:xfrm>
        </p:grpSpPr>
        <p:sp>
          <p:nvSpPr>
            <p:cNvPr id="243" name="Circle"/>
            <p:cNvSpPr/>
            <p:nvPr/>
          </p:nvSpPr>
          <p:spPr>
            <a:xfrm>
              <a:off x="-1" y="-1"/>
              <a:ext cx="694211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4" name="JFK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48" name="MIA"/>
          <p:cNvGrpSpPr/>
          <p:nvPr/>
        </p:nvGrpSpPr>
        <p:grpSpPr>
          <a:xfrm>
            <a:off x="3870699" y="2683306"/>
            <a:ext cx="694213" cy="694209"/>
            <a:chOff x="0" y="0"/>
            <a:chExt cx="694211" cy="694208"/>
          </a:xfrm>
        </p:grpSpPr>
        <p:sp>
          <p:nvSpPr>
            <p:cNvPr id="246" name="Circle"/>
            <p:cNvSpPr/>
            <p:nvPr/>
          </p:nvSpPr>
          <p:spPr>
            <a:xfrm>
              <a:off x="-1" y="-1"/>
              <a:ext cx="694212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7" name="MIA"/>
            <p:cNvSpPr txBox="1"/>
            <p:nvPr/>
          </p:nvSpPr>
          <p:spPr>
            <a:xfrm>
              <a:off x="106426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51" name="HOU"/>
          <p:cNvGrpSpPr/>
          <p:nvPr/>
        </p:nvGrpSpPr>
        <p:grpSpPr>
          <a:xfrm>
            <a:off x="2765179" y="3778430"/>
            <a:ext cx="694211" cy="694209"/>
            <a:chOff x="0" y="0"/>
            <a:chExt cx="694210" cy="694208"/>
          </a:xfrm>
        </p:grpSpPr>
        <p:sp>
          <p:nvSpPr>
            <p:cNvPr id="249" name="Circle"/>
            <p:cNvSpPr/>
            <p:nvPr/>
          </p:nvSpPr>
          <p:spPr>
            <a:xfrm>
              <a:off x="-1" y="-1"/>
              <a:ext cx="694211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50" name="HOU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52" name="Line"/>
          <p:cNvSpPr/>
          <p:nvPr/>
        </p:nvSpPr>
        <p:spPr>
          <a:xfrm flipV="1">
            <a:off x="2241618" y="2145980"/>
            <a:ext cx="587105" cy="613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3" name="Line"/>
          <p:cNvSpPr/>
          <p:nvPr/>
        </p:nvSpPr>
        <p:spPr>
          <a:xfrm flipV="1">
            <a:off x="3100750" y="2278133"/>
            <a:ext cx="20530" cy="1500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4" name="Line"/>
          <p:cNvSpPr/>
          <p:nvPr/>
        </p:nvSpPr>
        <p:spPr>
          <a:xfrm flipV="1">
            <a:off x="3366160" y="3283158"/>
            <a:ext cx="610073" cy="613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5" name="Line"/>
          <p:cNvSpPr/>
          <p:nvPr/>
        </p:nvSpPr>
        <p:spPr>
          <a:xfrm flipH="1" flipV="1">
            <a:off x="2362192" y="3030408"/>
            <a:ext cx="1500188" cy="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58" name="LAX"/>
          <p:cNvGrpSpPr/>
          <p:nvPr/>
        </p:nvGrpSpPr>
        <p:grpSpPr>
          <a:xfrm>
            <a:off x="7627090" y="2688090"/>
            <a:ext cx="694209" cy="694209"/>
            <a:chOff x="0" y="0"/>
            <a:chExt cx="694208" cy="694208"/>
          </a:xfrm>
        </p:grpSpPr>
        <p:sp>
          <p:nvSpPr>
            <p:cNvPr id="256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57" name="LAX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61" name="JFK"/>
          <p:cNvGrpSpPr/>
          <p:nvPr/>
        </p:nvGrpSpPr>
        <p:grpSpPr>
          <a:xfrm>
            <a:off x="8723343" y="1583395"/>
            <a:ext cx="694209" cy="694209"/>
            <a:chOff x="0" y="0"/>
            <a:chExt cx="694208" cy="694208"/>
          </a:xfrm>
        </p:grpSpPr>
        <p:sp>
          <p:nvSpPr>
            <p:cNvPr id="259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0" name="JFK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64" name="MIA"/>
          <p:cNvGrpSpPr/>
          <p:nvPr/>
        </p:nvGrpSpPr>
        <p:grpSpPr>
          <a:xfrm>
            <a:off x="9828865" y="2688090"/>
            <a:ext cx="694209" cy="694213"/>
            <a:chOff x="0" y="0"/>
            <a:chExt cx="694208" cy="694211"/>
          </a:xfrm>
        </p:grpSpPr>
        <p:sp>
          <p:nvSpPr>
            <p:cNvPr id="262" name="Circle"/>
            <p:cNvSpPr/>
            <p:nvPr/>
          </p:nvSpPr>
          <p:spPr>
            <a:xfrm>
              <a:off x="-1" y="-1"/>
              <a:ext cx="694209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3" name="MIA"/>
            <p:cNvSpPr txBox="1"/>
            <p:nvPr/>
          </p:nvSpPr>
          <p:spPr>
            <a:xfrm>
              <a:off x="106425" y="208098"/>
              <a:ext cx="481350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67" name="HOU"/>
          <p:cNvGrpSpPr/>
          <p:nvPr/>
        </p:nvGrpSpPr>
        <p:grpSpPr>
          <a:xfrm>
            <a:off x="8723343" y="3783214"/>
            <a:ext cx="694209" cy="694209"/>
            <a:chOff x="0" y="0"/>
            <a:chExt cx="694208" cy="694208"/>
          </a:xfrm>
        </p:grpSpPr>
        <p:sp>
          <p:nvSpPr>
            <p:cNvPr id="265" name="Circle"/>
            <p:cNvSpPr/>
            <p:nvPr/>
          </p:nvSpPr>
          <p:spPr>
            <a:xfrm>
              <a:off x="-1" y="-1"/>
              <a:ext cx="694209" cy="694209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6" name="HOU"/>
            <p:cNvSpPr txBox="1"/>
            <p:nvPr/>
          </p:nvSpPr>
          <p:spPr>
            <a:xfrm>
              <a:off x="106425" y="208097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68" name="Line"/>
          <p:cNvSpPr/>
          <p:nvPr/>
        </p:nvSpPr>
        <p:spPr>
          <a:xfrm flipV="1">
            <a:off x="8199783" y="2150765"/>
            <a:ext cx="587105" cy="613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69" name="Line"/>
          <p:cNvSpPr/>
          <p:nvPr/>
        </p:nvSpPr>
        <p:spPr>
          <a:xfrm flipV="1">
            <a:off x="9058912" y="2282917"/>
            <a:ext cx="20530" cy="1500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0" name="Line"/>
          <p:cNvSpPr/>
          <p:nvPr/>
        </p:nvSpPr>
        <p:spPr>
          <a:xfrm flipV="1">
            <a:off x="9324326" y="3287943"/>
            <a:ext cx="610073" cy="6133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1" name="Line"/>
          <p:cNvSpPr/>
          <p:nvPr/>
        </p:nvSpPr>
        <p:spPr>
          <a:xfrm flipH="1" flipV="1">
            <a:off x="8320354" y="3035193"/>
            <a:ext cx="1500188" cy="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2" name="Line"/>
          <p:cNvSpPr/>
          <p:nvPr/>
        </p:nvSpPr>
        <p:spPr>
          <a:xfrm flipH="1" flipV="1">
            <a:off x="9352336" y="2145980"/>
            <a:ext cx="604906" cy="61260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1.74"/>
              <p:cNvSpPr txBox="1"/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73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blipFill>
                <a:blip r:embed="rId2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Line"/>
          <p:cNvSpPr/>
          <p:nvPr/>
        </p:nvSpPr>
        <p:spPr>
          <a:xfrm flipH="1" flipV="1">
            <a:off x="8182122" y="3305659"/>
            <a:ext cx="604906" cy="6126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1.74"/>
              <p:cNvSpPr txBox="1"/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75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blipFill>
                <a:blip r:embed="rId3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Line"/>
          <p:cNvSpPr/>
          <p:nvPr/>
        </p:nvSpPr>
        <p:spPr>
          <a:xfrm>
            <a:off x="5168212" y="3030409"/>
            <a:ext cx="1846312" cy="6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79" name="Traveling Salesman"/>
          <p:cNvGrpSpPr/>
          <p:nvPr/>
        </p:nvGrpSpPr>
        <p:grpSpPr>
          <a:xfrm>
            <a:off x="8243153" y="5029548"/>
            <a:ext cx="1654589" cy="903726"/>
            <a:chOff x="0" y="0"/>
            <a:chExt cx="1654587" cy="903724"/>
          </a:xfrm>
        </p:grpSpPr>
        <p:sp>
          <p:nvSpPr>
            <p:cNvPr id="277" name="Rectangle"/>
            <p:cNvSpPr/>
            <p:nvPr/>
          </p:nvSpPr>
          <p:spPr>
            <a:xfrm>
              <a:off x="-1" y="0"/>
              <a:ext cx="1654588" cy="903726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8" name="Traveling Salesman"/>
            <p:cNvSpPr txBox="1"/>
            <p:nvPr/>
          </p:nvSpPr>
          <p:spPr>
            <a:xfrm>
              <a:off x="4762" y="139267"/>
              <a:ext cx="1645062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Traveling Salesman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"/>
              <p:cNvSpPr txBox="1"/>
              <p:nvPr/>
            </p:nvSpPr>
            <p:spPr>
              <a:xfrm>
                <a:off x="5844517" y="3214627"/>
                <a:ext cx="254998" cy="26791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28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4517" y="3214627"/>
                <a:ext cx="254998" cy="267914"/>
              </a:xfrm>
              <a:prstGeom prst="rect">
                <a:avLst/>
              </a:prstGeom>
              <a:blipFill>
                <a:blip r:embed="rId4"/>
                <a:stretch>
                  <a:fillRect l="-35714" r="-52381" b="-5681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1" name="2.475"/>
          <p:cNvSpPr txBox="1"/>
          <p:nvPr/>
        </p:nvSpPr>
        <p:spPr>
          <a:xfrm>
            <a:off x="1920810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2.776</a:t>
            </a:r>
          </a:p>
        </p:txBody>
      </p:sp>
      <p:sp>
        <p:nvSpPr>
          <p:cNvPr id="282" name="1.1"/>
          <p:cNvSpPr txBox="1"/>
          <p:nvPr/>
        </p:nvSpPr>
        <p:spPr>
          <a:xfrm>
            <a:off x="3671194" y="358983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1.189</a:t>
            </a:r>
          </a:p>
        </p:txBody>
      </p:sp>
      <p:sp>
        <p:nvSpPr>
          <p:cNvPr id="283" name="1.74"/>
          <p:cNvSpPr txBox="1"/>
          <p:nvPr/>
        </p:nvSpPr>
        <p:spPr>
          <a:xfrm>
            <a:off x="3088051" y="244521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1.629</a:t>
            </a:r>
          </a:p>
        </p:txBody>
      </p:sp>
      <p:sp>
        <p:nvSpPr>
          <p:cNvPr id="284" name="2.342"/>
          <p:cNvSpPr txBox="1"/>
          <p:nvPr/>
        </p:nvSpPr>
        <p:spPr>
          <a:xfrm>
            <a:off x="2362461" y="302815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 2.735</a:t>
            </a:r>
          </a:p>
        </p:txBody>
      </p:sp>
      <p:sp>
        <p:nvSpPr>
          <p:cNvPr id="285" name="2.475"/>
          <p:cNvSpPr txBox="1"/>
          <p:nvPr/>
        </p:nvSpPr>
        <p:spPr>
          <a:xfrm>
            <a:off x="7882607" y="2134148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2.776</a:t>
            </a:r>
          </a:p>
        </p:txBody>
      </p:sp>
      <p:sp>
        <p:nvSpPr>
          <p:cNvPr id="286" name="1.1"/>
          <p:cNvSpPr txBox="1"/>
          <p:nvPr/>
        </p:nvSpPr>
        <p:spPr>
          <a:xfrm>
            <a:off x="9632991" y="358907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1.189</a:t>
            </a:r>
          </a:p>
        </p:txBody>
      </p:sp>
      <p:sp>
        <p:nvSpPr>
          <p:cNvPr id="287" name="1.74"/>
          <p:cNvSpPr txBox="1"/>
          <p:nvPr/>
        </p:nvSpPr>
        <p:spPr>
          <a:xfrm>
            <a:off x="9049846" y="244445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1.629</a:t>
            </a:r>
          </a:p>
        </p:txBody>
      </p:sp>
      <p:sp>
        <p:nvSpPr>
          <p:cNvPr id="288" name="2.342"/>
          <p:cNvSpPr txBox="1"/>
          <p:nvPr/>
        </p:nvSpPr>
        <p:spPr>
          <a:xfrm>
            <a:off x="8324257" y="302739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 2.735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pic>
        <p:nvPicPr>
          <p:cNvPr id="291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/>
          <a:srcRect t="5399" b="19332"/>
          <a:stretch>
            <a:fillRect/>
          </a:stretch>
        </p:blipFill>
        <p:spPr>
          <a:xfrm>
            <a:off x="2548926" y="2202407"/>
            <a:ext cx="7094336" cy="2161860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2" name="Equation"/>
              <p:cNvSpPr txBox="1"/>
              <p:nvPr/>
            </p:nvSpPr>
            <p:spPr>
              <a:xfrm>
                <a:off x="5597723" y="4880681"/>
                <a:ext cx="1036279" cy="44344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29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723" y="4880681"/>
                <a:ext cx="1036279" cy="443442"/>
              </a:xfrm>
              <a:prstGeom prst="rect">
                <a:avLst/>
              </a:prstGeom>
              <a:blipFill>
                <a:blip r:embed="rId3"/>
                <a:stretch>
                  <a:fillRect r="-8235" b="-1527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5" name="Equation"/>
              <p:cNvSpPr txBox="1"/>
              <p:nvPr/>
            </p:nvSpPr>
            <p:spPr>
              <a:xfrm>
                <a:off x="5276910" y="5792587"/>
                <a:ext cx="1707423" cy="3683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!∙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29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910" y="5792587"/>
                <a:ext cx="1707423" cy="368326"/>
              </a:xfrm>
              <a:prstGeom prst="rect">
                <a:avLst/>
              </a:prstGeom>
              <a:blipFill>
                <a:blip r:embed="rId3"/>
                <a:stretch>
                  <a:fillRect b="-3606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6" name="Title 1"/>
          <p:cNvSpPr txBox="1"/>
          <p:nvPr/>
        </p:nvSpPr>
        <p:spPr>
          <a:xfrm>
            <a:off x="151728" y="113540"/>
            <a:ext cx="8831799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>
            <a:lvl1pPr>
              <a:lnSpc>
                <a:spcPct val="90000"/>
              </a:lnSpc>
              <a:defRPr sz="3200" cap="all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Analytical runtime OF exact solution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D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r>
              <a:t>Test creation</a:t>
            </a:r>
          </a:p>
        </p:txBody>
      </p:sp>
      <p:pic>
        <p:nvPicPr>
          <p:cNvPr id="299" name="Screenshot 2025-12-02 at 9.44.47 PM.png" descr="Screenshot 2025-12-02 at 9.44.47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73" y="1793064"/>
            <a:ext cx="7480256" cy="146248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0" name="Screenshot 2025-12-03 at 12.19.16 PM.png" descr="Screenshot 2025-12-03 at 12.19.16 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0247" y="4111273"/>
            <a:ext cx="7491508" cy="1462489"/>
          </a:xfrm>
          <a:prstGeom prst="rect">
            <a:avLst/>
          </a:prstGeom>
          <a:ln w="12700">
            <a:miter lim="400000"/>
          </a:ln>
        </p:spPr>
      </p:pic>
      <p:sp>
        <p:nvSpPr>
          <p:cNvPr id="301" name="generator.py"/>
          <p:cNvSpPr txBox="1"/>
          <p:nvPr/>
        </p:nvSpPr>
        <p:spPr>
          <a:xfrm>
            <a:off x="2354614" y="1390908"/>
            <a:ext cx="1375166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lvl="5"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generator.py</a:t>
            </a:r>
          </a:p>
        </p:txBody>
      </p:sp>
      <p:sp>
        <p:nvSpPr>
          <p:cNvPr id="302" name="run_tests.sh"/>
          <p:cNvSpPr txBox="1"/>
          <p:nvPr/>
        </p:nvSpPr>
        <p:spPr>
          <a:xfrm>
            <a:off x="2354614" y="3670472"/>
            <a:ext cx="134938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t>run_tests.sh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D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itle 1"/>
          <p:cNvSpPr txBox="1">
            <a:spLocks noGrp="1"/>
          </p:cNvSpPr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r>
              <a:t>Empirical analysis</a:t>
            </a:r>
          </a:p>
        </p:txBody>
      </p:sp>
      <p:pic>
        <p:nvPicPr>
          <p:cNvPr id="305" name="emperial.png" descr="emp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354" y="1293070"/>
            <a:ext cx="5983715" cy="4487785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"/>
              <p:cNvSpPr txBox="1"/>
              <p:nvPr/>
            </p:nvSpPr>
            <p:spPr>
              <a:xfrm>
                <a:off x="7348217" y="3424859"/>
                <a:ext cx="1490231" cy="24961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]≤1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0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8217" y="3424859"/>
                <a:ext cx="1490231" cy="249616"/>
              </a:xfrm>
              <a:prstGeom prst="rect">
                <a:avLst/>
              </a:prstGeom>
              <a:blipFill>
                <a:blip r:embed="rId3"/>
                <a:stretch>
                  <a:fillRect l="-8571" t="-2439" r="-20000" b="-7561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" name="Text"/>
              <p:cNvSpPr txBox="1"/>
              <p:nvPr/>
            </p:nvSpPr>
            <p:spPr>
              <a:xfrm>
                <a:off x="7348218" y="3886591"/>
                <a:ext cx="1292506" cy="25113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]≤1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0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8218" y="3886591"/>
                <a:ext cx="1292506" cy="251131"/>
              </a:xfrm>
              <a:prstGeom prst="rect">
                <a:avLst/>
              </a:prstGeom>
              <a:blipFill>
                <a:blip r:embed="rId4"/>
                <a:stretch>
                  <a:fillRect l="-9906" t="-2439" r="-20755" b="-7561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Text"/>
              <p:cNvSpPr txBox="1"/>
              <p:nvPr/>
            </p:nvSpPr>
            <p:spPr>
              <a:xfrm>
                <a:off x="7348217" y="4349913"/>
                <a:ext cx="1551382" cy="24961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]≤1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0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8217" y="4349913"/>
                <a:ext cx="1551382" cy="249616"/>
              </a:xfrm>
              <a:prstGeom prst="rect">
                <a:avLst/>
              </a:prstGeom>
              <a:blipFill>
                <a:blip r:embed="rId5"/>
                <a:stretch>
                  <a:fillRect l="-8235" t="-2439" r="-21176" b="-7561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Text"/>
              <p:cNvSpPr txBox="1"/>
              <p:nvPr/>
            </p:nvSpPr>
            <p:spPr>
              <a:xfrm>
                <a:off x="7348218" y="4817197"/>
                <a:ext cx="961566" cy="24696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≈8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09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8218" y="4817197"/>
                <a:ext cx="961566" cy="246965"/>
              </a:xfrm>
              <a:prstGeom prst="rect">
                <a:avLst/>
              </a:prstGeom>
              <a:blipFill>
                <a:blip r:embed="rId6"/>
                <a:stretch>
                  <a:fillRect l="-6962" r="-24051" b="-4878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Text"/>
              <p:cNvSpPr txBox="1"/>
              <p:nvPr/>
            </p:nvSpPr>
            <p:spPr>
              <a:xfrm>
                <a:off x="7348218" y="5267033"/>
                <a:ext cx="1101317" cy="25174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≈2.6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1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8218" y="5267033"/>
                <a:ext cx="1101317" cy="251749"/>
              </a:xfrm>
              <a:prstGeom prst="rect">
                <a:avLst/>
              </a:prstGeom>
              <a:blipFill>
                <a:blip r:embed="rId7"/>
                <a:stretch>
                  <a:fillRect l="-6077" r="-19890" b="-4878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"/>
              <p:cNvSpPr txBox="1"/>
              <p:nvPr/>
            </p:nvSpPr>
            <p:spPr>
              <a:xfrm>
                <a:off x="9622833" y="3432045"/>
                <a:ext cx="1234667" cy="24909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≈36.4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1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2833" y="3432045"/>
                <a:ext cx="1234667" cy="249098"/>
              </a:xfrm>
              <a:prstGeom prst="rect">
                <a:avLst/>
              </a:prstGeom>
              <a:blipFill>
                <a:blip r:embed="rId8"/>
                <a:stretch>
                  <a:fillRect l="-5446" r="-19307" b="-4634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"/>
              <p:cNvSpPr txBox="1"/>
              <p:nvPr/>
            </p:nvSpPr>
            <p:spPr>
              <a:xfrm>
                <a:off x="9622833" y="3919163"/>
                <a:ext cx="1206397" cy="25281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&gt;1.5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1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2833" y="3919163"/>
                <a:ext cx="1206397" cy="252816"/>
              </a:xfrm>
              <a:prstGeom prst="rect">
                <a:avLst/>
              </a:prstGeom>
              <a:blipFill>
                <a:blip r:embed="rId9"/>
                <a:stretch>
                  <a:fillRect l="-5584" r="-16751" b="-4878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"/>
              <p:cNvSpPr txBox="1"/>
              <p:nvPr/>
            </p:nvSpPr>
            <p:spPr>
              <a:xfrm>
                <a:off x="9622833" y="4346388"/>
                <a:ext cx="1298014" cy="24588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sz="2100"/>
              </a:p>
            </p:txBody>
          </p:sp>
        </mc:Choice>
        <mc:Fallback xmlns="">
          <p:sp>
            <p:nvSpPr>
              <p:cNvPr id="31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2833" y="4346388"/>
                <a:ext cx="1298014" cy="245882"/>
              </a:xfrm>
              <a:prstGeom prst="rect">
                <a:avLst/>
              </a:prstGeom>
              <a:blipFill>
                <a:blip r:embed="rId10"/>
                <a:stretch>
                  <a:fillRect l="-9906" t="-2500" r="-21698" b="-8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"/>
              <p:cNvSpPr txBox="1"/>
              <p:nvPr/>
            </p:nvSpPr>
            <p:spPr>
              <a:xfrm>
                <a:off x="8556286" y="1588787"/>
                <a:ext cx="1247070" cy="633701"/>
              </a:xfrm>
              <a:prstGeom prst="rect">
                <a:avLst/>
              </a:prstGeom>
              <a:ln w="25400">
                <a:solidFill>
                  <a:srgbClr val="000000"/>
                </a:solidFill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45718" tIns="45718" rIns="45718" bIns="45718">
                <a:spAutoFit/>
              </a:bodyPr>
              <a:lstStyle>
                <a:lvl1pPr>
                  <a:defRPr sz="1900">
                    <a:latin typeface="Cambria Math"/>
                    <a:ea typeface="Cambria Math"/>
                    <a:cs typeface="Cambria Math"/>
                    <a:sym typeface="Cambria Math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sz="1792"/>
              </a:p>
            </p:txBody>
          </p:sp>
        </mc:Choice>
        <mc:Fallback xmlns="">
          <p:sp>
            <p:nvSpPr>
              <p:cNvPr id="31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286" y="1588787"/>
                <a:ext cx="1247070" cy="63370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25400">
                <a:solidFill>
                  <a:srgbClr val="000000"/>
                </a:solidFill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5" name="Line"/>
          <p:cNvSpPr/>
          <p:nvPr/>
        </p:nvSpPr>
        <p:spPr>
          <a:xfrm flipV="1">
            <a:off x="9232123" y="2526418"/>
            <a:ext cx="3" cy="30383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"/>
              <p:cNvSpPr txBox="1"/>
              <p:nvPr/>
            </p:nvSpPr>
            <p:spPr>
              <a:xfrm>
                <a:off x="7989126" y="2665813"/>
                <a:ext cx="290484" cy="374243"/>
              </a:xfrm>
              <a:prstGeom prst="rect">
                <a:avLst/>
              </a:prstGeom>
              <a:ln w="25400">
                <a:solidFill>
                  <a:srgbClr val="000000"/>
                </a:solidFill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45718" tIns="45718" rIns="45718" bIns="45718">
                <a:spAutoFit/>
              </a:bodyPr>
              <a:lstStyle>
                <a:lvl1pPr>
                  <a:defRPr sz="1900">
                    <a:latin typeface="Cambria Math"/>
                    <a:ea typeface="Cambria Math"/>
                    <a:cs typeface="Cambria Math"/>
                    <a:sym typeface="Cambria Math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sz="1792"/>
              </a:p>
            </p:txBody>
          </p:sp>
        </mc:Choice>
        <mc:Fallback xmlns="">
          <p:sp>
            <p:nvSpPr>
              <p:cNvPr id="316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126" y="2665813"/>
                <a:ext cx="290484" cy="374243"/>
              </a:xfrm>
              <a:prstGeom prst="rect">
                <a:avLst/>
              </a:prstGeom>
              <a:blipFill>
                <a:blip r:embed="rId12"/>
                <a:stretch>
                  <a:fillRect l="-9804"/>
                </a:stretch>
              </a:blipFill>
              <a:ln w="25400">
                <a:solidFill>
                  <a:srgbClr val="000000"/>
                </a:solidFill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"/>
              <p:cNvSpPr txBox="1"/>
              <p:nvPr/>
            </p:nvSpPr>
            <p:spPr>
              <a:xfrm>
                <a:off x="10013543" y="2665813"/>
                <a:ext cx="303755" cy="374243"/>
              </a:xfrm>
              <a:prstGeom prst="rect">
                <a:avLst/>
              </a:prstGeom>
              <a:ln w="25400">
                <a:solidFill>
                  <a:srgbClr val="000000"/>
                </a:solidFill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45718" tIns="45718" rIns="45718" bIns="45718">
                <a:spAutoFit/>
              </a:bodyPr>
              <a:lstStyle>
                <a:lvl1pPr>
                  <a:defRPr sz="1900">
                    <a:latin typeface="Cambria Math"/>
                    <a:ea typeface="Cambria Math"/>
                    <a:cs typeface="Cambria Math"/>
                    <a:sym typeface="Cambria Math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sz="1792"/>
              </a:p>
            </p:txBody>
          </p:sp>
        </mc:Choice>
        <mc:Fallback xmlns="">
          <p:sp>
            <p:nvSpPr>
              <p:cNvPr id="317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3543" y="2665813"/>
                <a:ext cx="303755" cy="374243"/>
              </a:xfrm>
              <a:prstGeom prst="rect">
                <a:avLst/>
              </a:prstGeom>
              <a:blipFill>
                <a:blip r:embed="rId13"/>
                <a:stretch>
                  <a:fillRect l="-9434"/>
                </a:stretch>
              </a:blipFill>
              <a:ln w="25400">
                <a:solidFill>
                  <a:srgbClr val="000000"/>
                </a:solidFill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8" name="Line"/>
          <p:cNvSpPr/>
          <p:nvPr/>
        </p:nvSpPr>
        <p:spPr>
          <a:xfrm flipH="1" flipV="1">
            <a:off x="7393244" y="3173915"/>
            <a:ext cx="3677759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>
            <a:spLocks noGrp="1"/>
          </p:cNvSpPr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1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222702" y="1158583"/>
            <a:ext cx="10701972" cy="558511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def main():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graph and nodes initialized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for each edge in the graph:  </a:t>
            </a:r>
            <a:r>
              <a:rPr lang="en-US" sz="18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8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O(n)</a:t>
            </a:r>
            <a:endParaRPr lang="en-US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	adjacency dictionary is built here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Step 1: Build initial path using Nearest Neighbor heuristic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path_1</a:t>
            </a:r>
            <a:r>
              <a:rPr lang="en-US" sz="1800" b="1" dirty="0">
                <a:solidFill>
                  <a:schemeClr val="bg1"/>
                </a:solidFill>
              </a:rPr>
              <a:t> is calculated through nearest neighbor </a:t>
            </a:r>
            <a:r>
              <a:rPr lang="en-US" sz="18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8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O(n²)</a:t>
            </a:r>
            <a:endParaRPr lang="en-US" sz="1800" b="1" dirty="0">
              <a:solidFill>
                <a:srgbClr val="002060"/>
              </a:solidFill>
              <a:latin typeface="Tenorite" panose="00000500000000000000" pitchFamily="2" charset="0"/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Step 2: Run 2-opt heuristic for local improvement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path_2</a:t>
            </a:r>
            <a:r>
              <a:rPr lang="en-US" sz="1800" b="1" dirty="0">
                <a:solidFill>
                  <a:schemeClr val="bg1"/>
                </a:solidFill>
              </a:rPr>
              <a:t> is calculated using path_1 with</a:t>
            </a:r>
            <a:br>
              <a:rPr lang="en-US" sz="1800" b="1" dirty="0">
                <a:solidFill>
                  <a:schemeClr val="bg1"/>
                </a:solidFill>
              </a:rPr>
            </a:br>
            <a:r>
              <a:rPr lang="en-US" sz="1800" b="1" dirty="0">
                <a:solidFill>
                  <a:schemeClr val="bg1"/>
                </a:solidFill>
              </a:rPr>
              <a:t>				two-opt </a:t>
            </a:r>
            <a:r>
              <a:rPr lang="en-US" sz="16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sz="1800" b="1" dirty="0">
                <a:solidFill>
                  <a:srgbClr val="002060"/>
                </a:solidFill>
                <a:sym typeface="Courier New"/>
              </a:rPr>
              <a:t>O(n³) worst case</a:t>
            </a: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Compute final path length and cycle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chemeClr val="bg1"/>
                </a:solidFill>
              </a:rPr>
              <a:t>tour_length</a:t>
            </a:r>
            <a:r>
              <a:rPr lang="en-US" sz="1800" b="1" dirty="0">
                <a:solidFill>
                  <a:schemeClr val="bg1"/>
                </a:solidFill>
              </a:rPr>
              <a:t> is calculated from path_2 </a:t>
            </a:r>
            <a:r>
              <a:rPr lang="en-US" sz="16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O(n)</a:t>
            </a:r>
            <a:endParaRPr lang="en-US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path_3</a:t>
            </a:r>
            <a:r>
              <a:rPr lang="en-US" sz="1800" b="1" dirty="0">
                <a:solidFill>
                  <a:schemeClr val="bg1"/>
                </a:solidFill>
              </a:rPr>
              <a:t> is calculated as: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	 path_2 + the first node of path_2 </a:t>
            </a:r>
            <a:r>
              <a:rPr lang="en-US" sz="1800" b="1" dirty="0">
                <a:solidFill>
                  <a:srgbClr val="7030A0"/>
                </a:solidFill>
                <a:sym typeface="Wingdings" panose="05000000000000000000" pitchFamily="2" charset="2"/>
              </a:rPr>
              <a:t> turn into a cycle</a:t>
            </a:r>
            <a:endParaRPr lang="en-US" sz="1800" b="1" dirty="0">
              <a:solidFill>
                <a:srgbClr val="7030A0"/>
              </a:solidFill>
            </a:endParaRPr>
          </a:p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</p:txBody>
      </p:sp>
      <p:sp>
        <p:nvSpPr>
          <p:cNvPr id="332" name="TextBox 9"/>
          <p:cNvSpPr txBox="1"/>
          <p:nvPr/>
        </p:nvSpPr>
        <p:spPr>
          <a:xfrm>
            <a:off x="7131049" y="1158583"/>
            <a:ext cx="3793625" cy="1209037"/>
          </a:xfrm>
          <a:prstGeom prst="rect">
            <a:avLst/>
          </a:prstGeom>
          <a:ln w="12700">
            <a:solidFill>
              <a:schemeClr val="bg1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="1">
                <a:latin typeface="+mn-lt"/>
                <a:ea typeface="+mn-ea"/>
                <a:cs typeface="+mn-cs"/>
                <a:sym typeface="Helvetica"/>
              </a:defRPr>
            </a:pP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Two heuristics used in combination: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+mn-lt"/>
                <a:ea typeface="+mn-ea"/>
                <a:cs typeface="+mn-cs"/>
                <a:sym typeface="Helvetica"/>
              </a:defRPr>
            </a:pPr>
            <a:b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</a:b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1. Nearest Neighbor (Greedy)</a:t>
            </a:r>
            <a:b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</a:b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2. Two-</a:t>
            </a:r>
            <a:r>
              <a:rPr kumimoji="0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Opt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 (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L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ocal optim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al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 swap)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6C8457-D0AE-B073-5B0B-FD50449BCE8D}"/>
              </a:ext>
            </a:extLst>
          </p:cNvPr>
          <p:cNvSpPr txBox="1"/>
          <p:nvPr/>
        </p:nvSpPr>
        <p:spPr>
          <a:xfrm>
            <a:off x="8050044" y="3628507"/>
            <a:ext cx="3316456" cy="2185210"/>
          </a:xfrm>
          <a:prstGeom prst="rect">
            <a:avLst/>
          </a:prstGeom>
          <a:noFill/>
          <a:ln w="12700" cap="flat">
            <a:solidFill>
              <a:schemeClr val="bg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Polynomial Time: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00" b="0" i="0" u="none" strike="noStrike" kern="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O(n)</a:t>
            </a: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(build adjacency dictionary)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+ </a:t>
            </a: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O(n²) (Nearest Neighbor)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O(n²) (Two-</a:t>
            </a:r>
            <a:r>
              <a:rPr kumimoji="0" lang="en-US" sz="1700" b="0" i="0" u="none" strike="noStrike" kern="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Opt</a:t>
            </a: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pair checks)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O(n³) (Two-opt worst case switch)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O(n) (Calculate tour length)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= </a:t>
            </a:r>
            <a:r>
              <a:rPr kumimoji="0" lang="en-US" sz="1700" b="1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O(n³)  worst case</a:t>
            </a:r>
            <a:endParaRPr kumimoji="0" lang="en-US" sz="1700" b="1" i="0" u="none" strike="noStrike" kern="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</a:t>
            </a:r>
          </a:p>
        </p:txBody>
      </p:sp>
      <p:sp>
        <p:nvSpPr>
          <p:cNvPr id="335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645151" cy="4984751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def </a:t>
            </a:r>
            <a:r>
              <a:rPr lang="en-US" sz="1800" b="1" dirty="0" err="1">
                <a:solidFill>
                  <a:schemeClr val="bg1"/>
                </a:solidFill>
              </a:rPr>
              <a:t>nearest_neighbor</a:t>
            </a:r>
            <a:r>
              <a:rPr lang="en-US" sz="1800" b="1" dirty="0">
                <a:solidFill>
                  <a:schemeClr val="bg1"/>
                </a:solidFill>
              </a:rPr>
              <a:t>(graph, nodes):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FF0000"/>
                </a:solidFill>
              </a:rPr>
              <a:t>start</a:t>
            </a:r>
            <a:r>
              <a:rPr lang="en-US" sz="1800" dirty="0"/>
              <a:t> = arbitrary node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002060"/>
                </a:solidFill>
              </a:rPr>
              <a:t>unvisited</a:t>
            </a:r>
            <a:r>
              <a:rPr lang="en-US" sz="1800" dirty="0"/>
              <a:t> = copy of all nodes that still need to be visited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/>
              <a:t>mark </a:t>
            </a:r>
            <a:r>
              <a:rPr lang="en-US" sz="1800" b="1" dirty="0">
                <a:solidFill>
                  <a:srgbClr val="FF0000"/>
                </a:solidFill>
              </a:rPr>
              <a:t>start</a:t>
            </a:r>
            <a:r>
              <a:rPr lang="en-US" sz="1800" dirty="0"/>
              <a:t> as visited by removing it from </a:t>
            </a:r>
            <a:r>
              <a:rPr lang="en-US" sz="1800" b="1" dirty="0">
                <a:solidFill>
                  <a:srgbClr val="002060"/>
                </a:solidFill>
              </a:rPr>
              <a:t>unvisited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7030A0"/>
                </a:solidFill>
              </a:rPr>
              <a:t>tour</a:t>
            </a:r>
            <a:r>
              <a:rPr lang="en-US" sz="1800" dirty="0"/>
              <a:t> initialized only containing </a:t>
            </a:r>
            <a:r>
              <a:rPr lang="en-US" sz="1800" b="1" dirty="0">
                <a:solidFill>
                  <a:srgbClr val="FF0000"/>
                </a:solidFill>
              </a:rPr>
              <a:t>start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rgbClr val="0070C0"/>
                </a:solidFill>
              </a:rPr>
              <a:t>current_node</a:t>
            </a:r>
            <a:r>
              <a:rPr lang="en-US" sz="1800" b="1" dirty="0">
                <a:solidFill>
                  <a:srgbClr val="0070C0"/>
                </a:solidFill>
              </a:rPr>
              <a:t> </a:t>
            </a:r>
            <a:r>
              <a:rPr lang="en-US" sz="1800" dirty="0"/>
              <a:t>= </a:t>
            </a:r>
            <a:r>
              <a:rPr lang="en-US" sz="1800" b="1" dirty="0">
                <a:solidFill>
                  <a:srgbClr val="FF0000"/>
                </a:solidFill>
              </a:rPr>
              <a:t>start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while</a:t>
            </a:r>
            <a:r>
              <a:rPr lang="en-US" sz="1800" dirty="0"/>
              <a:t> there are still unvisited nodes:</a:t>
            </a:r>
          </a:p>
          <a:p>
            <a:pPr marL="971550" lvl="2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next_node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sz="1800" dirty="0"/>
              <a:t>= closest to </a:t>
            </a:r>
            <a:r>
              <a:rPr lang="en-US" sz="1800" b="1" dirty="0" err="1">
                <a:solidFill>
                  <a:srgbClr val="0070C0"/>
                </a:solidFill>
              </a:rPr>
              <a:t>current_node</a:t>
            </a:r>
            <a:endParaRPr lang="en-US" sz="1800" b="1" dirty="0">
              <a:solidFill>
                <a:srgbClr val="0070C0"/>
              </a:solidFill>
            </a:endParaRPr>
          </a:p>
          <a:p>
            <a:pPr marL="971550" lvl="2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/>
              <a:t>add 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next_node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sz="1800" dirty="0"/>
              <a:t>to the </a:t>
            </a:r>
            <a:r>
              <a:rPr lang="en-US" sz="1800" b="1" dirty="0">
                <a:solidFill>
                  <a:srgbClr val="7030A0"/>
                </a:solidFill>
              </a:rPr>
              <a:t>tour</a:t>
            </a:r>
          </a:p>
          <a:p>
            <a:pPr marL="971550" lvl="2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/>
              <a:t>mark 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next_node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sz="1800" dirty="0"/>
              <a:t>as visited by removing it from </a:t>
            </a:r>
            <a:r>
              <a:rPr lang="en-US" sz="1800" b="1" dirty="0">
                <a:solidFill>
                  <a:srgbClr val="002060"/>
                </a:solidFill>
              </a:rPr>
              <a:t>unvisited</a:t>
            </a:r>
          </a:p>
          <a:p>
            <a:pPr marL="971550" lvl="2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rgbClr val="0070C0"/>
                </a:solidFill>
              </a:rPr>
              <a:t>current_node</a:t>
            </a:r>
            <a:r>
              <a:rPr lang="en-US" sz="1800" b="1" dirty="0">
                <a:solidFill>
                  <a:srgbClr val="0070C0"/>
                </a:solidFill>
              </a:rPr>
              <a:t> </a:t>
            </a:r>
            <a:r>
              <a:rPr lang="en-US" sz="1800" dirty="0">
                <a:solidFill>
                  <a:srgbClr val="002060"/>
                </a:solidFill>
              </a:rPr>
              <a:t>= 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next_node</a:t>
            </a:r>
            <a:endParaRPr lang="en-US" sz="1800" b="1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return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sz="1800" b="1" dirty="0">
                <a:solidFill>
                  <a:srgbClr val="7030A0"/>
                </a:solidFill>
              </a:rPr>
              <a:t>tour</a:t>
            </a:r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461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Heuristic #1: Nearest Neighbor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8624D-9893-0DAB-FB7B-7D27F51C7302}"/>
              </a:ext>
            </a:extLst>
          </p:cNvPr>
          <p:cNvSpPr txBox="1"/>
          <p:nvPr/>
        </p:nvSpPr>
        <p:spPr>
          <a:xfrm>
            <a:off x="5647156" y="701775"/>
            <a:ext cx="6093994" cy="923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Nearest Neighbor heuristic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B4009A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picks the smallest cost edge first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This is considered a greedy approach.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8DD3C-8DFA-CC6D-7493-A133AB895322}"/>
              </a:ext>
            </a:extLst>
          </p:cNvPr>
          <p:cNvSpPr txBox="1"/>
          <p:nvPr/>
        </p:nvSpPr>
        <p:spPr>
          <a:xfrm>
            <a:off x="5848350" y="1738854"/>
            <a:ext cx="554355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of Nearest Neighbor: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54FB1C-B644-5C98-9A47-BBC28F67954E}"/>
              </a:ext>
            </a:extLst>
          </p:cNvPr>
          <p:cNvSpPr txBox="1"/>
          <p:nvPr/>
        </p:nvSpPr>
        <p:spPr>
          <a:xfrm>
            <a:off x="6493776" y="4777086"/>
            <a:ext cx="3469374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Nearest Neighbor heuristic would choose </a:t>
            </a: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this order starting from D for example: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Calibri"/>
              </a:rPr>
              <a:t>D </a:t>
            </a: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A </a:t>
            </a: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E </a:t>
            </a:r>
            <a:r>
              <a:rPr lang="en-US" kern="0" dirty="0">
                <a:solidFill>
                  <a:srgbClr val="000000"/>
                </a:solidFill>
                <a:latin typeface="Tenorite" panose="00000500000000000000" pitchFamily="2" charset="0"/>
                <a:ea typeface="Calibri"/>
                <a:cs typeface="Calibri"/>
                <a:sym typeface="Wingdings" panose="05000000000000000000" pitchFamily="2" charset="2"/>
              </a:rPr>
              <a:t> C ….. And so 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2F25A1-4585-1BBF-A603-74C653570A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683" t="9223" r="12328" b="12518"/>
          <a:stretch>
            <a:fillRect/>
          </a:stretch>
        </p:blipFill>
        <p:spPr>
          <a:xfrm>
            <a:off x="6794499" y="2280195"/>
            <a:ext cx="2397964" cy="246962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</a:t>
            </a:r>
          </a:p>
        </p:txBody>
      </p:sp>
      <p:sp>
        <p:nvSpPr>
          <p:cNvPr id="33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127001" y="1492888"/>
            <a:ext cx="6065838" cy="5238751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def two-opt(graph, path):</a:t>
            </a:r>
          </a:p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     </a:t>
            </a:r>
            <a:r>
              <a:rPr lang="en-US" sz="1800" b="1" dirty="0" err="1">
                <a:solidFill>
                  <a:srgbClr val="CC00CC"/>
                </a:solidFill>
              </a:rPr>
              <a:t>best_path</a:t>
            </a:r>
            <a:r>
              <a:rPr lang="en-US" sz="1800" b="1" dirty="0">
                <a:solidFill>
                  <a:srgbClr val="CC00CC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= path // will be optimized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for 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dirty="0">
                <a:solidFill>
                  <a:schemeClr val="bg1"/>
                </a:solidFill>
              </a:rPr>
              <a:t> from 1 to n-3: // 1</a:t>
            </a:r>
            <a:r>
              <a:rPr lang="en-US" sz="1800" baseline="30000" dirty="0">
                <a:solidFill>
                  <a:schemeClr val="bg1"/>
                </a:solidFill>
              </a:rPr>
              <a:t>st</a:t>
            </a:r>
            <a:r>
              <a:rPr lang="en-US" sz="1800" dirty="0">
                <a:solidFill>
                  <a:schemeClr val="bg1"/>
                </a:solidFill>
              </a:rPr>
              <a:t> cut point</a:t>
            </a:r>
          </a:p>
          <a:p>
            <a:pPr marL="971550" lvl="2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for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j</a:t>
            </a:r>
            <a:r>
              <a:rPr lang="en-US" sz="1800" dirty="0">
                <a:solidFill>
                  <a:schemeClr val="bg1"/>
                </a:solidFill>
              </a:rPr>
              <a:t> from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dirty="0">
                <a:solidFill>
                  <a:schemeClr val="bg1"/>
                </a:solidFill>
              </a:rPr>
              <a:t>+1 to n-2: //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cut point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if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start(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–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end(j)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= 1:</a:t>
            </a:r>
          </a:p>
          <a:p>
            <a:pPr marL="1926769" lvl="4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skip if too small to reverse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a, b = two edges to be removed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c, d = two edges to be added in their place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chemeClr val="accent2">
                    <a:lumMod val="75000"/>
                  </a:schemeClr>
                </a:solidFill>
              </a:rPr>
              <a:t>old_cost</a:t>
            </a: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= cost of old edges being replaced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rgbClr val="0070C0"/>
                </a:solidFill>
              </a:rPr>
              <a:t>new_cost</a:t>
            </a:r>
            <a:r>
              <a:rPr lang="en-US" sz="1800" b="1" dirty="0">
                <a:solidFill>
                  <a:srgbClr val="0070C0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= cost of new edges being added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if </a:t>
            </a:r>
            <a:r>
              <a:rPr lang="en-US" sz="1800" b="1" dirty="0" err="1">
                <a:solidFill>
                  <a:srgbClr val="0070C0"/>
                </a:solidFill>
              </a:rPr>
              <a:t>new_cost</a:t>
            </a:r>
            <a:r>
              <a:rPr lang="en-US" sz="1800" b="1" dirty="0">
                <a:solidFill>
                  <a:srgbClr val="0070C0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is greater than </a:t>
            </a:r>
            <a:r>
              <a:rPr lang="en-US" sz="1800" b="1" dirty="0" err="1">
                <a:solidFill>
                  <a:schemeClr val="accent2">
                    <a:lumMod val="75000"/>
                  </a:schemeClr>
                </a:solidFill>
              </a:rPr>
              <a:t>old_cost</a:t>
            </a:r>
            <a:r>
              <a:rPr lang="en-US" sz="1800" dirty="0">
                <a:solidFill>
                  <a:schemeClr val="bg1"/>
                </a:solidFill>
              </a:rPr>
              <a:t>:</a:t>
            </a:r>
          </a:p>
          <a:p>
            <a:pPr marL="1926769" lvl="4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skip if no improvement</a:t>
            </a:r>
          </a:p>
          <a:p>
            <a:pPr marL="1469569" lvl="3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while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start(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  <a:r>
              <a:rPr lang="en-US" sz="1800" b="1" dirty="0">
                <a:solidFill>
                  <a:schemeClr val="bg1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is less than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end(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  <a:r>
              <a:rPr lang="en-US" sz="1800" dirty="0">
                <a:solidFill>
                  <a:schemeClr val="bg1"/>
                </a:solidFill>
              </a:rPr>
              <a:t>:</a:t>
            </a:r>
          </a:p>
          <a:p>
            <a:pPr marL="1926769" lvl="4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rgbClr val="CC00CC"/>
                </a:solidFill>
              </a:rPr>
              <a:t>best_path</a:t>
            </a:r>
            <a:r>
              <a:rPr lang="en-US" sz="1800" dirty="0">
                <a:solidFill>
                  <a:schemeClr val="bg1"/>
                </a:solidFill>
              </a:rPr>
              <a:t>[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dirty="0">
                <a:solidFill>
                  <a:schemeClr val="bg1"/>
                </a:solidFill>
              </a:rPr>
              <a:t>], </a:t>
            </a:r>
            <a:r>
              <a:rPr lang="en-US" sz="1800" b="1" dirty="0" err="1">
                <a:solidFill>
                  <a:srgbClr val="CC00CC"/>
                </a:solidFill>
              </a:rPr>
              <a:t>best_path</a:t>
            </a:r>
            <a:r>
              <a:rPr lang="en-US" sz="1800" dirty="0">
                <a:solidFill>
                  <a:schemeClr val="bg1"/>
                </a:solidFill>
              </a:rPr>
              <a:t>[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j</a:t>
            </a:r>
            <a:r>
              <a:rPr lang="en-US" sz="1800" dirty="0">
                <a:solidFill>
                  <a:schemeClr val="bg1"/>
                </a:solidFill>
              </a:rPr>
              <a:t>] = </a:t>
            </a:r>
            <a:r>
              <a:rPr lang="en-US" sz="1800" b="1" dirty="0" err="1">
                <a:solidFill>
                  <a:srgbClr val="CC00CC"/>
                </a:solidFill>
              </a:rPr>
              <a:t>best_path</a:t>
            </a:r>
            <a:r>
              <a:rPr lang="en-US" sz="1800" dirty="0">
                <a:solidFill>
                  <a:schemeClr val="bg1"/>
                </a:solidFill>
              </a:rPr>
              <a:t>[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j</a:t>
            </a:r>
            <a:r>
              <a:rPr lang="en-US" sz="1800" dirty="0">
                <a:solidFill>
                  <a:schemeClr val="bg1"/>
                </a:solidFill>
              </a:rPr>
              <a:t>], </a:t>
            </a:r>
            <a:r>
              <a:rPr lang="en-US" sz="1800" b="1" dirty="0" err="1">
                <a:solidFill>
                  <a:srgbClr val="CC00CC"/>
                </a:solidFill>
              </a:rPr>
              <a:t>best_path</a:t>
            </a:r>
            <a:r>
              <a:rPr lang="en-US" sz="1800" dirty="0">
                <a:solidFill>
                  <a:schemeClr val="bg1"/>
                </a:solidFill>
              </a:rPr>
              <a:t>[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dirty="0">
                <a:solidFill>
                  <a:schemeClr val="bg1"/>
                </a:solidFill>
              </a:rPr>
              <a:t>]</a:t>
            </a:r>
          </a:p>
          <a:p>
            <a:pPr marL="1926769" lvl="4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   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start(</a:t>
            </a:r>
            <a:r>
              <a:rPr lang="en-US" sz="1800" b="1" dirty="0" err="1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) </a:t>
            </a:r>
            <a:r>
              <a:rPr lang="en-US" sz="1800" dirty="0">
                <a:solidFill>
                  <a:schemeClr val="bg1"/>
                </a:solidFill>
              </a:rPr>
              <a:t>+= 1</a:t>
            </a:r>
          </a:p>
          <a:p>
            <a:pPr marL="1926769" lvl="4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dirty="0">
                <a:solidFill>
                  <a:schemeClr val="bg1"/>
                </a:solidFill>
              </a:rPr>
              <a:t>    </a:t>
            </a:r>
            <a:r>
              <a:rPr lang="en-US" sz="1800" b="1" dirty="0">
                <a:solidFill>
                  <a:schemeClr val="accent6">
                    <a:lumMod val="50000"/>
                  </a:schemeClr>
                </a:solidFill>
              </a:rPr>
              <a:t>start(j) </a:t>
            </a:r>
            <a:r>
              <a:rPr lang="en-US" sz="1800" dirty="0">
                <a:solidFill>
                  <a:schemeClr val="bg1"/>
                </a:solidFill>
              </a:rPr>
              <a:t>-= 1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return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sz="1800" b="1" dirty="0" err="1">
                <a:solidFill>
                  <a:srgbClr val="CC00CC"/>
                </a:solidFill>
              </a:rPr>
              <a:t>best_path</a:t>
            </a:r>
            <a:endParaRPr lang="en-US" sz="1800" b="1" dirty="0">
              <a:solidFill>
                <a:srgbClr val="CC00CC"/>
              </a:solidFill>
            </a:endParaRPr>
          </a:p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340" name="TextBox 3"/>
          <p:cNvSpPr txBox="1"/>
          <p:nvPr/>
        </p:nvSpPr>
        <p:spPr>
          <a:xfrm>
            <a:off x="450850" y="990599"/>
            <a:ext cx="5397500" cy="461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Heuristic #2: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Two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-</a:t>
            </a:r>
            <a:r>
              <a:rPr kumimoji="0" sz="24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Opt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cs typeface="Helvetica"/>
              <a:sym typeface="Helvet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741C33-0DEB-60E2-9A9C-DACE3B050272}"/>
              </a:ext>
            </a:extLst>
          </p:cNvPr>
          <p:cNvSpPr txBox="1"/>
          <p:nvPr/>
        </p:nvSpPr>
        <p:spPr>
          <a:xfrm>
            <a:off x="5647155" y="701775"/>
            <a:ext cx="6182895" cy="923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Two-opt heuristic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5B9BD5">
                    <a:lumMod val="75000"/>
                  </a:srgbClr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removes edge crossings IF the switch would result in a shorter total tour length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In TSP, crossed edges </a:t>
            </a:r>
            <a:r>
              <a:rPr kumimoji="0" lang="en-US" sz="18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usually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means the path is suboptimal.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3A582-82AA-24A8-5F51-F6C43A1B30C0}"/>
              </a:ext>
            </a:extLst>
          </p:cNvPr>
          <p:cNvSpPr txBox="1"/>
          <p:nvPr/>
        </p:nvSpPr>
        <p:spPr>
          <a:xfrm>
            <a:off x="5848350" y="1738854"/>
            <a:ext cx="554355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of a simple Two-opt: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ACD83F-9209-3487-DFD4-604521A8F3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534"/>
          <a:stretch>
            <a:fillRect/>
          </a:stretch>
        </p:blipFill>
        <p:spPr>
          <a:xfrm>
            <a:off x="6375400" y="2239126"/>
            <a:ext cx="2413001" cy="15814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2D0C08-C14D-50E9-6341-DD1716CDB0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235" r="39960"/>
          <a:stretch>
            <a:fillRect/>
          </a:stretch>
        </p:blipFill>
        <p:spPr>
          <a:xfrm rot="5400000">
            <a:off x="7303795" y="3616046"/>
            <a:ext cx="897527" cy="13700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93FD-759C-04AB-BAC3-5E494A6AE9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007"/>
          <a:stretch>
            <a:fillRect/>
          </a:stretch>
        </p:blipFill>
        <p:spPr>
          <a:xfrm>
            <a:off x="6375400" y="4749816"/>
            <a:ext cx="2244726" cy="156448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>
            <a:spLocks noGrp="1"/>
          </p:cNvSpPr>
          <p:nvPr>
            <p:ph type="title"/>
          </p:nvPr>
        </p:nvSpPr>
        <p:spPr>
          <a:xfrm>
            <a:off x="50796" y="1022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 – non-Optimal test case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EFF93C16-9679-4A66-25B6-96915DC081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08" b="3017"/>
          <a:stretch>
            <a:fillRect/>
          </a:stretch>
        </p:blipFill>
        <p:spPr>
          <a:xfrm>
            <a:off x="1819962" y="1188098"/>
            <a:ext cx="7541752" cy="561560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039D-F30B-620A-D3DD-9AED928E2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>
            <a:extLst>
              <a:ext uri="{FF2B5EF4-FFF2-40B4-BE49-F238E27FC236}">
                <a16:creationId xmlns:a16="http://schemas.microsoft.com/office/drawing/2014/main" id="{E82A6F1A-8758-96A7-1C7A-9F4726D5B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1C720-6C0F-14CA-4AA7-3F72BB931D42}"/>
              </a:ext>
            </a:extLst>
          </p:cNvPr>
          <p:cNvSpPr txBox="1"/>
          <p:nvPr/>
        </p:nvSpPr>
        <p:spPr>
          <a:xfrm>
            <a:off x="6275793" y="1605144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8A3EA1-6CA7-1FF2-A952-2B9888927D7D}"/>
              </a:ext>
            </a:extLst>
          </p:cNvPr>
          <p:cNvSpPr txBox="1"/>
          <p:nvPr/>
        </p:nvSpPr>
        <p:spPr>
          <a:xfrm>
            <a:off x="6311496" y="3370107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A7A7A7">
                    <a:lumMod val="20000"/>
                    <a:lumOff val="80000"/>
                  </a:srgbClr>
                </a:solidFill>
                <a:effectLst/>
                <a:highlight>
                  <a:srgbClr val="FF00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599331D3-951C-B5D3-7BCA-2571AB849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BACAA02-2530-95CA-A102-509B9435FC8E}"/>
              </a:ext>
            </a:extLst>
          </p:cNvPr>
          <p:cNvSpPr/>
          <p:nvPr/>
        </p:nvSpPr>
        <p:spPr>
          <a:xfrm rot="10186203">
            <a:off x="932045" y="5672333"/>
            <a:ext cx="1758648" cy="140886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FAE2E46-19A0-6CE2-F3EE-B48C4BFD2E21}"/>
              </a:ext>
            </a:extLst>
          </p:cNvPr>
          <p:cNvSpPr/>
          <p:nvPr/>
        </p:nvSpPr>
        <p:spPr>
          <a:xfrm rot="11215856">
            <a:off x="2955057" y="5672849"/>
            <a:ext cx="2411132" cy="131476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CC7248D-F0DE-AC0F-46D7-29275C585D91}"/>
              </a:ext>
            </a:extLst>
          </p:cNvPr>
          <p:cNvSpPr/>
          <p:nvPr/>
        </p:nvSpPr>
        <p:spPr>
          <a:xfrm rot="5400000">
            <a:off x="4229300" y="4421113"/>
            <a:ext cx="2495386" cy="110677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612DB31-B9D8-669F-1F6D-876C6ADD88ED}"/>
              </a:ext>
            </a:extLst>
          </p:cNvPr>
          <p:cNvSpPr/>
          <p:nvPr/>
        </p:nvSpPr>
        <p:spPr>
          <a:xfrm rot="2336117">
            <a:off x="4303539" y="2518252"/>
            <a:ext cx="1165642" cy="106423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06347DE-4920-F14F-87FE-D38768EEE05D}"/>
              </a:ext>
            </a:extLst>
          </p:cNvPr>
          <p:cNvSpPr/>
          <p:nvPr/>
        </p:nvSpPr>
        <p:spPr>
          <a:xfrm rot="21431375">
            <a:off x="732038" y="2095775"/>
            <a:ext cx="3418136" cy="98779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EE857BC-581E-B774-F358-4F9BAD1ED3C6}"/>
              </a:ext>
            </a:extLst>
          </p:cNvPr>
          <p:cNvSpPr/>
          <p:nvPr/>
        </p:nvSpPr>
        <p:spPr>
          <a:xfrm rot="15917001">
            <a:off x="-1010610" y="4059978"/>
            <a:ext cx="3398826" cy="97587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037A24-E8BB-8C57-F82C-984B355CBCCD}"/>
              </a:ext>
            </a:extLst>
          </p:cNvPr>
          <p:cNvSpPr txBox="1"/>
          <p:nvPr/>
        </p:nvSpPr>
        <p:spPr>
          <a:xfrm>
            <a:off x="6181970" y="5327288"/>
            <a:ext cx="6108192" cy="8225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 Any single 2‑edge swap in A B C D E F A increases cost (e.g., replacing (B,C) + (F,A) = 1 + 100 with (B,F) + (C,A) = 40 + 100), so the algorithm remains at 143.0 rather than reaching 104.0.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27BCE9-23B7-8616-054F-9156196A6F74}"/>
              </a:ext>
            </a:extLst>
          </p:cNvPr>
          <p:cNvSpPr txBox="1"/>
          <p:nvPr/>
        </p:nvSpPr>
        <p:spPr>
          <a:xfrm>
            <a:off x="6168261" y="4991890"/>
            <a:ext cx="2898648" cy="2863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WHAT ABOUT TWO-OPT?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388E98-5A9E-A27B-2DD6-4C0F558871EA}"/>
              </a:ext>
            </a:extLst>
          </p:cNvPr>
          <p:cNvSpPr txBox="1"/>
          <p:nvPr/>
        </p:nvSpPr>
        <p:spPr>
          <a:xfrm>
            <a:off x="3994484" y="6295600"/>
            <a:ext cx="3128211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Calibri"/>
                <a:ea typeface="Calibri"/>
                <a:cs typeface="Calibri"/>
                <a:sym typeface="Calibri"/>
              </a:rPr>
              <a:t>NOT BAD…..BUT NOT OPTIMAL</a:t>
            </a:r>
          </a:p>
        </p:txBody>
      </p:sp>
    </p:spTree>
    <p:extLst>
      <p:ext uri="{BB962C8B-B14F-4D97-AF65-F5344CB8AC3E}">
        <p14:creationId xmlns:p14="http://schemas.microsoft.com/office/powerpoint/2010/main" val="67330110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D62D7-E1BB-F733-9E1F-E9AA98A30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>
            <a:extLst>
              <a:ext uri="{FF2B5EF4-FFF2-40B4-BE49-F238E27FC236}">
                <a16:creationId xmlns:a16="http://schemas.microsoft.com/office/drawing/2014/main" id="{A93CB102-F48E-1BF4-1F78-73DFA457DB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F37559-AFFE-2A3B-0E6B-51AD5918FBF5}"/>
              </a:ext>
            </a:extLst>
          </p:cNvPr>
          <p:cNvSpPr txBox="1"/>
          <p:nvPr/>
        </p:nvSpPr>
        <p:spPr>
          <a:xfrm>
            <a:off x="6288000" y="2235136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E4F19D-EA17-A272-005D-CAD5A05C10B6}"/>
              </a:ext>
            </a:extLst>
          </p:cNvPr>
          <p:cNvSpPr txBox="1"/>
          <p:nvPr/>
        </p:nvSpPr>
        <p:spPr>
          <a:xfrm>
            <a:off x="6288000" y="4050523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6EFBA14C-4E9F-9FAA-A6BB-9935B1BD6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70DEF4BF-7111-7B61-FB6F-C85329E6C615}"/>
              </a:ext>
            </a:extLst>
          </p:cNvPr>
          <p:cNvSpPr/>
          <p:nvPr/>
        </p:nvSpPr>
        <p:spPr>
          <a:xfrm>
            <a:off x="996696" y="5900184"/>
            <a:ext cx="4361688" cy="98280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CAACBAAA-33CC-6C8B-8AA5-EECAB48FF937}"/>
              </a:ext>
            </a:extLst>
          </p:cNvPr>
          <p:cNvSpPr/>
          <p:nvPr/>
        </p:nvSpPr>
        <p:spPr>
          <a:xfrm rot="11215856">
            <a:off x="2955057" y="5672849"/>
            <a:ext cx="2411132" cy="131476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107867C-9C44-58B7-FE64-4D05525191FB}"/>
              </a:ext>
            </a:extLst>
          </p:cNvPr>
          <p:cNvSpPr/>
          <p:nvPr/>
        </p:nvSpPr>
        <p:spPr>
          <a:xfrm rot="19024859">
            <a:off x="2520360" y="4265115"/>
            <a:ext cx="3349183" cy="110677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DDE288D-EFB1-D56A-7F42-57A6F15FE288}"/>
              </a:ext>
            </a:extLst>
          </p:cNvPr>
          <p:cNvSpPr/>
          <p:nvPr/>
        </p:nvSpPr>
        <p:spPr>
          <a:xfrm rot="13217629">
            <a:off x="4303539" y="2518252"/>
            <a:ext cx="1165642" cy="106423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EB7D6A0-D6F8-2B8B-F1F2-2A2A2492DEB1}"/>
              </a:ext>
            </a:extLst>
          </p:cNvPr>
          <p:cNvSpPr/>
          <p:nvPr/>
        </p:nvSpPr>
        <p:spPr>
          <a:xfrm rot="10648709">
            <a:off x="732038" y="2095775"/>
            <a:ext cx="3418136" cy="98779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37F3F33-3813-CC55-6737-B2590D7C6D22}"/>
              </a:ext>
            </a:extLst>
          </p:cNvPr>
          <p:cNvSpPr/>
          <p:nvPr/>
        </p:nvSpPr>
        <p:spPr>
          <a:xfrm rot="5097061">
            <a:off x="-1010610" y="4059978"/>
            <a:ext cx="3398826" cy="97587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3665112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>
            <a:spLocks noGrp="1"/>
          </p:cNvSpPr>
          <p:nvPr>
            <p:ph type="title"/>
          </p:nvPr>
        </p:nvSpPr>
        <p:spPr>
          <a:xfrm>
            <a:off x="1291386" y="0"/>
            <a:ext cx="10900614" cy="1603464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vs exact solution – compare results</a:t>
            </a:r>
          </a:p>
        </p:txBody>
      </p:sp>
      <p:sp>
        <p:nvSpPr>
          <p:cNvPr id="352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27100" y="6237489"/>
            <a:ext cx="8680451" cy="454250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SzTx/>
              <a:buNone/>
            </a:pPr>
            <a:r>
              <a:rPr lang="en-US" dirty="0"/>
              <a:t>Average amount the approximate tour length was off by: </a:t>
            </a:r>
            <a:r>
              <a:rPr lang="en-US" b="1" dirty="0"/>
              <a:t>253.36835</a:t>
            </a:r>
            <a:endParaRPr b="1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0A2A0E5-ABAA-B1EB-8E0C-A275BABB7FFD}"/>
              </a:ext>
            </a:extLst>
          </p:cNvPr>
          <p:cNvGraphicFramePr>
            <a:graphicFrameLocks/>
          </p:cNvGraphicFramePr>
          <p:nvPr/>
        </p:nvGraphicFramePr>
        <p:xfrm>
          <a:off x="139700" y="1603464"/>
          <a:ext cx="6934200" cy="44036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22BA2E-6A54-BABB-F678-5FBD160C7D1E}"/>
              </a:ext>
            </a:extLst>
          </p:cNvPr>
          <p:cNvGraphicFramePr>
            <a:graphicFrameLocks noGrp="1"/>
          </p:cNvGraphicFramePr>
          <p:nvPr/>
        </p:nvGraphicFramePr>
        <p:xfrm>
          <a:off x="7378701" y="1203088"/>
          <a:ext cx="3746500" cy="4702412"/>
        </p:xfrm>
        <a:graphic>
          <a:graphicData uri="http://schemas.openxmlformats.org/drawingml/2006/table">
            <a:tbl>
              <a:tblPr/>
              <a:tblGrid>
                <a:gridCol w="1496323">
                  <a:extLst>
                    <a:ext uri="{9D8B030D-6E8A-4147-A177-3AD203B41FA5}">
                      <a16:colId xmlns:a16="http://schemas.microsoft.com/office/drawing/2014/main" val="2212796174"/>
                    </a:ext>
                  </a:extLst>
                </a:gridCol>
                <a:gridCol w="1184303">
                  <a:extLst>
                    <a:ext uri="{9D8B030D-6E8A-4147-A177-3AD203B41FA5}">
                      <a16:colId xmlns:a16="http://schemas.microsoft.com/office/drawing/2014/main" val="3243599014"/>
                    </a:ext>
                  </a:extLst>
                </a:gridCol>
                <a:gridCol w="1065874">
                  <a:extLst>
                    <a:ext uri="{9D8B030D-6E8A-4147-A177-3AD203B41FA5}">
                      <a16:colId xmlns:a16="http://schemas.microsoft.com/office/drawing/2014/main" val="3380938175"/>
                    </a:ext>
                  </a:extLst>
                </a:gridCol>
              </a:tblGrid>
              <a:tr h="4274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Approximate Solution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Exact Solution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# of nodes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5823142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1031.4856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1031.4856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9092725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1273.3005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1273.3005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7144966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2276.6625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1914.5123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26642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1718.3959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1718.3959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123529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2344.7589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1985.1023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618475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2203.5933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1759.5073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970020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2884.2341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2049.2393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489543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2304.2997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2004.4347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7113018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2661.431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2079.1254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46222"/>
                  </a:ext>
                </a:extLst>
              </a:tr>
              <a:tr h="4274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1623.9038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1466.5418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334481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vs exact solution – run time (wall clock)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CB98FAC-D56B-8692-6402-3F26E2ADD190}"/>
              </a:ext>
            </a:extLst>
          </p:cNvPr>
          <p:cNvGraphicFramePr>
            <a:graphicFrameLocks noGrp="1"/>
          </p:cNvGraphicFramePr>
          <p:nvPr/>
        </p:nvGraphicFramePr>
        <p:xfrm>
          <a:off x="7279105" y="1612232"/>
          <a:ext cx="3645569" cy="4211064"/>
        </p:xfrm>
        <a:graphic>
          <a:graphicData uri="http://schemas.openxmlformats.org/drawingml/2006/table">
            <a:tbl>
              <a:tblPr/>
              <a:tblGrid>
                <a:gridCol w="1456012">
                  <a:extLst>
                    <a:ext uri="{9D8B030D-6E8A-4147-A177-3AD203B41FA5}">
                      <a16:colId xmlns:a16="http://schemas.microsoft.com/office/drawing/2014/main" val="846597469"/>
                    </a:ext>
                  </a:extLst>
                </a:gridCol>
                <a:gridCol w="1152398">
                  <a:extLst>
                    <a:ext uri="{9D8B030D-6E8A-4147-A177-3AD203B41FA5}">
                      <a16:colId xmlns:a16="http://schemas.microsoft.com/office/drawing/2014/main" val="1860908910"/>
                    </a:ext>
                  </a:extLst>
                </a:gridCol>
                <a:gridCol w="1037159">
                  <a:extLst>
                    <a:ext uri="{9D8B030D-6E8A-4147-A177-3AD203B41FA5}">
                      <a16:colId xmlns:a16="http://schemas.microsoft.com/office/drawing/2014/main" val="1841577022"/>
                    </a:ext>
                  </a:extLst>
                </a:gridCol>
              </a:tblGrid>
              <a:tr h="2339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Approximate Solution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Exact Solution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 of nodes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51157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0.0000088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0.0000077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70362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0.0000115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0.0000153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52150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0.0000128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0.000052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24334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0.0000158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0.0003112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8729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0.0000166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0.0024893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991530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0.0000175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0.0230878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456925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0.0000373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0.2287903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708635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0.0000223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2.4284377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823314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0.0000257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27.6510172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4477869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0.0000294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410.1124702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42114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0.0000302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9600.488107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9928001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0.0000327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244000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445391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0.0000576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3.92E+06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2132834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0.0000879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7.76E+19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36194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0.0003045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3.04E+59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487020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0.001417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1.87E+153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386740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0.2630184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8.04E+269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0783667"/>
                  </a:ext>
                </a:extLst>
              </a:tr>
            </a:tbl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9F077AAF-0E61-97AC-75C1-A95B70EA644A}"/>
              </a:ext>
            </a:extLst>
          </p:cNvPr>
          <p:cNvGraphicFramePr>
            <a:graphicFrameLocks/>
          </p:cNvGraphicFramePr>
          <p:nvPr/>
        </p:nvGraphicFramePr>
        <p:xfrm>
          <a:off x="283514" y="1834776"/>
          <a:ext cx="6810375" cy="39100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vs exact solution – </a:t>
            </a:r>
            <a:r>
              <a:rPr lang="en-US" dirty="0"/>
              <a:t>Time Complexity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60206C-B0AE-C2AE-8510-F4C38D6DA82F}"/>
              </a:ext>
            </a:extLst>
          </p:cNvPr>
          <p:cNvSpPr txBox="1"/>
          <p:nvPr/>
        </p:nvSpPr>
        <p:spPr>
          <a:xfrm>
            <a:off x="4275221" y="2468896"/>
            <a:ext cx="7002379" cy="39703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Every TSP tour 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must connect all nodes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, and MST is the minimal total edge weight connecting all nodes, so the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MST’s length is our lower bound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for TSP.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 = Tour length found by our algorithm – Lower Bound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                                          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(test case ’14.txt’): (14 nodes)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MST Length calculation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≈ 2565.36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 length printed by our algorithm = 2727.8113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= 2727.8113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2565.36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≈ 144.4513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70403-A7FB-36B2-E52D-80A77929D467}"/>
              </a:ext>
            </a:extLst>
          </p:cNvPr>
          <p:cNvSpPr txBox="1"/>
          <p:nvPr/>
        </p:nvSpPr>
        <p:spPr>
          <a:xfrm>
            <a:off x="882315" y="1897468"/>
            <a:ext cx="258679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Worst Case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C004D-279E-C69D-9966-7B154369A560}"/>
              </a:ext>
            </a:extLst>
          </p:cNvPr>
          <p:cNvSpPr txBox="1"/>
          <p:nvPr/>
        </p:nvSpPr>
        <p:spPr>
          <a:xfrm>
            <a:off x="6625389" y="1897467"/>
            <a:ext cx="258679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Lower Bound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E6CB8A-8F85-DDF0-84CF-63B1A7599751}"/>
              </a:ext>
            </a:extLst>
          </p:cNvPr>
          <p:cNvSpPr txBox="1"/>
          <p:nvPr/>
        </p:nvSpPr>
        <p:spPr>
          <a:xfrm>
            <a:off x="268706" y="2683653"/>
            <a:ext cx="3725778" cy="23083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Still Polynomial Time!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O(n)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(build adjacency dictionary)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+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O(n²) (Nearest Neighbor)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O(n²) (Two-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Opt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pair checks)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O(n³) (Two-opt worst case switch)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O(n) (Calculate tour length)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=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O(n³) 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itle 1"/>
          <p:cNvSpPr txBox="1">
            <a:spLocks noGrp="1"/>
          </p:cNvSpPr>
          <p:nvPr>
            <p:ph type="title"/>
          </p:nvPr>
        </p:nvSpPr>
        <p:spPr>
          <a:xfrm>
            <a:off x="149329" y="387551"/>
            <a:ext cx="4896685" cy="3625002"/>
          </a:xfrm>
          <a:prstGeom prst="rect">
            <a:avLst/>
          </a:prstGeom>
        </p:spPr>
        <p:txBody>
          <a:bodyPr/>
          <a:lstStyle/>
          <a:p>
            <a:r>
              <a:rPr dirty="0"/>
              <a:t>Enhancing the Approximate Solution</a:t>
            </a:r>
          </a:p>
        </p:txBody>
      </p:sp>
      <p:sp>
        <p:nvSpPr>
          <p:cNvPr id="381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149329" y="3964334"/>
            <a:ext cx="4896685" cy="2309737"/>
          </a:xfrm>
          <a:prstGeom prst="rect">
            <a:avLst/>
          </a:prstGeom>
        </p:spPr>
        <p:txBody>
          <a:bodyPr/>
          <a:lstStyle/>
          <a:p>
            <a:r>
              <a:rPr dirty="0"/>
              <a:t>Featuring randomness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Where DO We Fall Short?</a:t>
            </a:r>
          </a:p>
        </p:txBody>
      </p:sp>
      <p:sp>
        <p:nvSpPr>
          <p:cNvPr id="385" name="TextBox 1"/>
          <p:cNvSpPr txBox="1"/>
          <p:nvPr/>
        </p:nvSpPr>
        <p:spPr>
          <a:xfrm>
            <a:off x="914399" y="1822536"/>
            <a:ext cx="7496827" cy="2021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>
            <a:spLocks noGrp="1"/>
          </p:cNvSpPr>
          <p:nvPr>
            <p:ph type="title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Making Version 3.5, “Zenith”</a:t>
            </a:r>
          </a:p>
        </p:txBody>
      </p:sp>
      <p:sp>
        <p:nvSpPr>
          <p:cNvPr id="388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6" y="2022248"/>
            <a:ext cx="6413082" cy="3580755"/>
          </a:xfrm>
          <a:prstGeom prst="rect">
            <a:avLst/>
          </a:prstGeom>
        </p:spPr>
        <p:txBody>
          <a:bodyPr/>
          <a:lstStyle/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 b="0"/>
            </a:pPr>
            <a:r>
              <a:t>It was – and is – </a:t>
            </a:r>
            <a:r>
              <a:rPr b="1"/>
              <a:t>an iterative process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Randomly </a:t>
            </a:r>
            <a:r>
              <a:rPr b="0"/>
              <a:t>determines:</a:t>
            </a:r>
            <a:endParaRPr sz="1600"/>
          </a:p>
          <a:p>
            <a:pPr marL="696976" lvl="1" indent="-248920" defTabSz="896111">
              <a:lnSpc>
                <a:spcPct val="72000"/>
              </a:lnSpc>
              <a:spcBef>
                <a:spcPts val="1100"/>
              </a:spcBef>
              <a:defRPr sz="2600" b="0"/>
            </a:pPr>
            <a:r>
              <a:t>Starting node</a:t>
            </a:r>
            <a:endParaRPr sz="1600"/>
          </a:p>
          <a:p>
            <a:pPr marL="696976" lvl="1" indent="-248920" defTabSz="896111">
              <a:lnSpc>
                <a:spcPct val="72000"/>
              </a:lnSpc>
              <a:spcBef>
                <a:spcPts val="1100"/>
              </a:spcBef>
              <a:defRPr sz="2600" b="0"/>
            </a:pPr>
            <a:r>
              <a:t>Min-weight neighbor to choose</a:t>
            </a:r>
            <a:endParaRPr sz="1600"/>
          </a:p>
          <a:p>
            <a:pPr marL="696976" lvl="1" indent="-248920" defTabSz="896111">
              <a:lnSpc>
                <a:spcPct val="72000"/>
              </a:lnSpc>
              <a:spcBef>
                <a:spcPts val="1100"/>
              </a:spcBef>
              <a:defRPr sz="2600" b="0"/>
            </a:pPr>
            <a:r>
              <a:t>Swapping endpoints in a segment.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Reorders output </a:t>
            </a:r>
            <a:r>
              <a:rPr b="0"/>
              <a:t>path to be </a:t>
            </a:r>
            <a:r>
              <a:t>consistent.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Iterates</a:t>
            </a:r>
            <a:r>
              <a:rPr b="0"/>
              <a:t> on solution </a:t>
            </a:r>
            <a:r>
              <a:t>by looping </a:t>
            </a:r>
            <a:r>
              <a:rPr b="0"/>
              <a:t>several times.</a:t>
            </a:r>
          </a:p>
        </p:txBody>
      </p:sp>
      <p:sp>
        <p:nvSpPr>
          <p:cNvPr id="389" name="Straight Connector 8"/>
          <p:cNvSpPr/>
          <p:nvPr/>
        </p:nvSpPr>
        <p:spPr>
          <a:xfrm>
            <a:off x="9438568" y="2945717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90" name="Straight Connector 9"/>
          <p:cNvSpPr/>
          <p:nvPr/>
        </p:nvSpPr>
        <p:spPr>
          <a:xfrm>
            <a:off x="7855246" y="2380096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91" name="Straight Connector 10"/>
          <p:cNvSpPr/>
          <p:nvPr/>
        </p:nvSpPr>
        <p:spPr>
          <a:xfrm>
            <a:off x="7805125" y="3592276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92" name="Straight Connector 11"/>
          <p:cNvSpPr/>
          <p:nvPr/>
        </p:nvSpPr>
        <p:spPr>
          <a:xfrm>
            <a:off x="9518863" y="4321545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93" name="Straight Connector 12"/>
          <p:cNvSpPr/>
          <p:nvPr/>
        </p:nvSpPr>
        <p:spPr>
          <a:xfrm>
            <a:off x="7805125" y="4829885"/>
            <a:ext cx="1834940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94" name="TextBox 14"/>
          <p:cNvSpPr txBox="1"/>
          <p:nvPr/>
        </p:nvSpPr>
        <p:spPr>
          <a:xfrm>
            <a:off x="7724326" y="1977444"/>
            <a:ext cx="1915738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t>Approx. Solution</a:t>
            </a:r>
          </a:p>
        </p:txBody>
      </p:sp>
      <p:sp>
        <p:nvSpPr>
          <p:cNvPr id="395" name="TextBox 15"/>
          <p:cNvSpPr txBox="1"/>
          <p:nvPr/>
        </p:nvSpPr>
        <p:spPr>
          <a:xfrm>
            <a:off x="9561307" y="2560066"/>
            <a:ext cx="2535568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t>v2, limited randomness</a:t>
            </a:r>
          </a:p>
        </p:txBody>
      </p:sp>
      <p:sp>
        <p:nvSpPr>
          <p:cNvPr id="396" name="TextBox 16"/>
          <p:cNvSpPr txBox="1"/>
          <p:nvPr/>
        </p:nvSpPr>
        <p:spPr>
          <a:xfrm>
            <a:off x="8037306" y="3174737"/>
            <a:ext cx="160276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t>v2.5, iteration</a:t>
            </a:r>
          </a:p>
        </p:txBody>
      </p:sp>
      <p:sp>
        <p:nvSpPr>
          <p:cNvPr id="397" name="TextBox 18"/>
          <p:cNvSpPr txBox="1"/>
          <p:nvPr/>
        </p:nvSpPr>
        <p:spPr>
          <a:xfrm>
            <a:off x="9603753" y="3935896"/>
            <a:ext cx="224049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t>v3, more randomess</a:t>
            </a:r>
          </a:p>
        </p:txBody>
      </p:sp>
      <p:sp>
        <p:nvSpPr>
          <p:cNvPr id="398" name="TextBox 19"/>
          <p:cNvSpPr txBox="1"/>
          <p:nvPr/>
        </p:nvSpPr>
        <p:spPr>
          <a:xfrm>
            <a:off x="7449694" y="4468450"/>
            <a:ext cx="224049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t>v3.5, more iteration</a:t>
            </a:r>
          </a:p>
        </p:txBody>
      </p:sp>
      <p:sp>
        <p:nvSpPr>
          <p:cNvPr id="399" name="TextBox 20"/>
          <p:cNvSpPr txBox="1"/>
          <p:nvPr/>
        </p:nvSpPr>
        <p:spPr>
          <a:xfrm>
            <a:off x="8249022" y="4829885"/>
            <a:ext cx="75638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i="1"/>
            </a:lvl1pPr>
          </a:lstStyle>
          <a:p>
            <a:r>
              <a:t>Zenith</a:t>
            </a:r>
          </a:p>
        </p:txBody>
      </p:sp>
      <p:sp>
        <p:nvSpPr>
          <p:cNvPr id="400" name="Straight Arrow Connector 13"/>
          <p:cNvSpPr/>
          <p:nvPr/>
        </p:nvSpPr>
        <p:spPr>
          <a:xfrm>
            <a:off x="9549541" y="1669542"/>
            <a:ext cx="4" cy="3749047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itle 6"/>
          <p:cNvSpPr txBox="1">
            <a:spLocks noGrp="1"/>
          </p:cNvSpPr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r>
              <a:t>Sample Problem: The GRaph</a:t>
            </a:r>
          </a:p>
        </p:txBody>
      </p:sp>
      <p:pic>
        <p:nvPicPr>
          <p:cNvPr id="403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397" y="1552075"/>
            <a:ext cx="5127960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TextBox 9"/>
          <p:cNvSpPr txBox="1"/>
          <p:nvPr/>
        </p:nvSpPr>
        <p:spPr>
          <a:xfrm>
            <a:off x="294573" y="1933123"/>
            <a:ext cx="6670824" cy="3820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Results</a:t>
            </a:r>
          </a:p>
        </p:txBody>
      </p:sp>
      <p:graphicFrame>
        <p:nvGraphicFramePr>
          <p:cNvPr id="407" name="Chart 2"/>
          <p:cNvGraphicFramePr/>
          <p:nvPr/>
        </p:nvGraphicFramePr>
        <p:xfrm>
          <a:off x="378405" y="1718161"/>
          <a:ext cx="6537631" cy="40013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08" name="Chart 5"/>
          <p:cNvGraphicFramePr/>
          <p:nvPr/>
        </p:nvGraphicFramePr>
        <p:xfrm>
          <a:off x="7253686" y="1661012"/>
          <a:ext cx="4032961" cy="40563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Runtimes</a:t>
            </a:r>
          </a:p>
        </p:txBody>
      </p:sp>
      <p:graphicFrame>
        <p:nvGraphicFramePr>
          <p:cNvPr id="411" name="Table 5"/>
          <p:cNvGraphicFramePr/>
          <p:nvPr/>
        </p:nvGraphicFramePr>
        <p:xfrm>
          <a:off x="3048902" y="1867979"/>
          <a:ext cx="6094196" cy="3122042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23450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440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2000" b="1">
                          <a:sym typeface="Helvetica"/>
                        </a:rPr>
                        <a:t>Program</a:t>
                      </a:r>
                    </a:p>
                  </a:txBody>
                  <a:tcPr marL="45720" marR="45720" anchor="b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2000" b="1">
                          <a:sym typeface="Helvetica"/>
                        </a:rPr>
                        <a:t>Average Runtime (Seconds)</a:t>
                      </a:r>
                    </a:p>
                  </a:txBody>
                  <a:tcPr marL="45720" marR="45720" anchor="b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Exact</a:t>
                      </a:r>
                    </a:p>
                  </a:txBody>
                  <a:tcPr marL="45720" marR="4572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36.25096352</a:t>
                      </a:r>
                    </a:p>
                  </a:txBody>
                  <a:tcPr marL="45720" marR="4572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Approximate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0.000046262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Zenith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0.017063243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Parallelized Zenith</a:t>
                      </a:r>
                    </a:p>
                  </a:txBody>
                  <a:tcPr marL="45720" marR="4572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0.755844638</a:t>
                      </a:r>
                    </a:p>
                  </a:txBody>
                  <a:tcPr marL="45720" marR="4572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Takeaways</a:t>
            </a:r>
          </a:p>
        </p:txBody>
      </p:sp>
      <p:sp>
        <p:nvSpPr>
          <p:cNvPr id="414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11363"/>
            <a:ext cx="7273640" cy="4155762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/>
              <a:t>Randomness and iterative improvement </a:t>
            </a:r>
            <a:r>
              <a:rPr b="0" dirty="0"/>
              <a:t>greatly increases accuracy</a:t>
            </a:r>
          </a:p>
          <a:p>
            <a:r>
              <a:rPr dirty="0"/>
              <a:t>However, it also </a:t>
            </a:r>
            <a:r>
              <a:rPr b="1" dirty="0"/>
              <a:t>greatly increases cost</a:t>
            </a:r>
          </a:p>
          <a:p>
            <a:r>
              <a:rPr dirty="0"/>
              <a:t>Ultimately, the </a:t>
            </a:r>
            <a:r>
              <a:rPr b="1" dirty="0"/>
              <a:t>tradeoff is worth it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8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19" name="Title 6"/>
          <p:cNvSpPr txBox="1">
            <a:spLocks noGrp="1"/>
          </p:cNvSpPr>
          <p:nvPr>
            <p:ph type="title"/>
          </p:nvPr>
        </p:nvSpPr>
        <p:spPr>
          <a:xfrm>
            <a:off x="6091515" y="374084"/>
            <a:ext cx="5057105" cy="3624997"/>
          </a:xfrm>
          <a:prstGeom prst="rect">
            <a:avLst/>
          </a:prstGeom>
        </p:spPr>
        <p:txBody>
          <a:bodyPr/>
          <a:lstStyle/>
          <a:p>
            <a:r>
              <a:t>Questions?</a:t>
            </a:r>
          </a:p>
        </p:txBody>
      </p:sp>
      <p:sp>
        <p:nvSpPr>
          <p:cNvPr id="420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74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1686</Words>
  <Application>Microsoft Office PowerPoint</Application>
  <PresentationFormat>Widescreen</PresentationFormat>
  <Paragraphs>352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 Narrow</vt:lpstr>
      <vt:lpstr>Arial</vt:lpstr>
      <vt:lpstr>Calibri</vt:lpstr>
      <vt:lpstr>Cambria Math</vt:lpstr>
      <vt:lpstr>Courier New</vt:lpstr>
      <vt:lpstr>Helvetica</vt:lpstr>
      <vt:lpstr>Tenorite</vt:lpstr>
      <vt:lpstr>Wingdings</vt:lpstr>
      <vt:lpstr>Custom</vt:lpstr>
      <vt:lpstr>Traveling salesman problem</vt:lpstr>
      <vt:lpstr>TSP</vt:lpstr>
      <vt:lpstr>Tsp</vt:lpstr>
      <vt:lpstr>Certificate verification</vt:lpstr>
      <vt:lpstr>NP-HARD Reduction</vt:lpstr>
      <vt:lpstr>NP-HARD Reduction</vt:lpstr>
      <vt:lpstr>PowerPoint Presentation</vt:lpstr>
      <vt:lpstr>Test creation</vt:lpstr>
      <vt:lpstr>Empirical analysis</vt:lpstr>
      <vt:lpstr>Approximate Solution</vt:lpstr>
      <vt:lpstr>Approximate Solution</vt:lpstr>
      <vt:lpstr>Approximate Solution</vt:lpstr>
      <vt:lpstr>Approximate Solution – non-Optimal test case</vt:lpstr>
      <vt:lpstr>Approximate Solution – non-Optimal test case</vt:lpstr>
      <vt:lpstr>Approximate Solution – non-Optimal test case</vt:lpstr>
      <vt:lpstr>Approximate vs exact solution – compare results</vt:lpstr>
      <vt:lpstr>Approximate vs exact solution – run time (wall clock)</vt:lpstr>
      <vt:lpstr>Approximate vs exact solution – Time Complexity</vt:lpstr>
      <vt:lpstr>Enhancing the Approximate Solution</vt:lpstr>
      <vt:lpstr>Where DO We Fall Short?</vt:lpstr>
      <vt:lpstr>Making Version 3.5, “Zenith”</vt:lpstr>
      <vt:lpstr>Sample Problem: The GRaph</vt:lpstr>
      <vt:lpstr>Sample Problem: The Results</vt:lpstr>
      <vt:lpstr>Sample Problem: The Runtimes</vt:lpstr>
      <vt:lpstr>Takeaways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Julie Pietrak</cp:lastModifiedBy>
  <cp:revision>1</cp:revision>
  <dcterms:modified xsi:type="dcterms:W3CDTF">2025-12-04T21:05:57Z</dcterms:modified>
</cp:coreProperties>
</file>
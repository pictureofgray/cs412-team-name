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g"/>
  <Default Extension="png" ContentType="image/png"/>
  <Default Extension="bmp" ContentType="image/bmp"/>
  <Default Extension="gif" ContentType="image/gif"/>
  <Default Extension="tif" ContentType="image/tif"/>
  <Default Extension="pdf" ContentType="application/pdf"/>
  <Default Extension="mov" ContentType="application/movie"/>
  <Default Extension="vml" ContentType="application/vnd.openxmlformats-officedocument.vmlDrawing"/>
  <Default Extension="xlsx" ContentType="application/vnd.openxmlformats-officedocument.spreadsheetml.sheet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commentAuthors.xml" ContentType="application/vnd.openxmlformats-officedocument.presentationml.commentAuthors+xml"/>
  <Override PartName="/ppt/tableStyles.xml" ContentType="application/vnd.openxmlformats-officedocument.presentationml.tableStyle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</p:sldIdLst>
  <p:sldSz cx="12192000" cy="6858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1pPr>
    <a:lvl2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2pPr>
    <a:lvl3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3pPr>
    <a:lvl4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4pPr>
    <a:lvl5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5pPr>
    <a:lvl6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6pPr>
    <a:lvl7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7pPr>
    <a:lvl8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8pPr>
    <a:lvl9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Col>
    <a:lastRow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  <a:tblStyle styleId="{C7B018BB-80A7-4F77-B60F-C8B233D01FF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F6F5F3"/>
          </a:solidFill>
        </a:fill>
      </a:tcStyle>
    </a:wholeTbl>
    <a:band2H>
      <a:tcTxStyle b="def" i="def"/>
      <a:tcStyle>
        <a:tcBdr/>
        <a:fill>
          <a:solidFill>
            <a:srgbClr val="FBFAF9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381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381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E0E0E0"/>
          </a:solidFill>
        </a:fill>
      </a:tcStyle>
    </a:wholeTbl>
    <a:band2H>
      <a:tcTxStyle b="def" i="def"/>
      <a:tcStyle>
        <a:tcBdr/>
        <a:fill>
          <a:solidFill>
            <a:srgbClr val="F0F0F0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381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381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D4E2CE"/>
          </a:solidFill>
        </a:fill>
      </a:tcStyle>
    </a:wholeTbl>
    <a:band2H>
      <a:tcTxStyle b="def" i="def"/>
      <a:tcStyle>
        <a:tcBdr/>
        <a:fill>
          <a:solidFill>
            <a:srgbClr val="EBF1E8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381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381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 b="def" i="def"/>
      <a:tcStyle>
        <a:tcBdr/>
        <a:fill>
          <a:solidFill>
            <a:srgbClr val="000000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 b="def" i="def"/>
      <a:tcStyle>
        <a:tcBdr/>
        <a:fill>
          <a:solidFill>
            <a:srgbClr val="E6E6E6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381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381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"1.0" encoding="UTF-8"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/Relationships>

</file>

<file path=ppt/charts/_rels/chart1.xml.rels><?xml version="1.0" encoding="UTF-8"?>
<Relationships xmlns="http://schemas.openxmlformats.org/package/2006/relationships"><Relationship Id="rId1" Type="http://schemas.openxmlformats.org/officeDocument/2006/relationships/package" Target="../embeddings/Microsoft_Excel_Sheet1.xlsx"/></Relationships>

</file>

<file path=ppt/charts/_rels/chart2.xml.rels><?xml version="1.0" encoding="UTF-8"?>
<Relationships xmlns="http://schemas.openxmlformats.org/package/2006/relationships"><Relationship Id="rId1" Type="http://schemas.openxmlformats.org/officeDocument/2006/relationships/package" Target="../embeddings/Microsoft_Excel_Sheet2.xlsx"/></Relationships>

</file>

<file path=ppt/charts/_rels/chart3.xml.rels><?xml version="1.0" encoding="UTF-8"?>
<Relationships xmlns="http://schemas.openxmlformats.org/package/2006/relationships"><Relationship Id="rId1" Type="http://schemas.openxmlformats.org/officeDocument/2006/relationships/package" Target="../embeddings/Microsoft_Excel_Sheet3.xlsx"/></Relationships>

</file>

<file path=ppt/charts/_rels/chart4.xml.rels><?xml version="1.0" encoding="UTF-8"?>
<Relationships xmlns="http://schemas.openxmlformats.org/package/2006/relationships"><Relationship Id="rId1" Type="http://schemas.openxmlformats.org/officeDocument/2006/relationships/package" Target="../embeddings/Microsoft_Excel_Sheet4.xlsx"/></Relationships>
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1"/>
  <c:roundedCorners val="0"/>
  <c:chart>
    <c:title>
      <c:tx>
        <c:rich>
          <a:bodyPr rot="0"/>
          <a:lstStyle/>
          <a:p>
            <a:pPr>
              <a:defRPr b="0" i="0" strike="noStrike" sz="1400" u="none">
                <a:solidFill>
                  <a:srgbClr val="000000"/>
                </a:solidFill>
                <a:latin typeface="Calibri"/>
              </a:defRPr>
            </a:pPr>
            <a:r>
              <a:rPr b="0" i="0" strike="noStrike" sz="1400" u="none">
                <a:solidFill>
                  <a:srgbClr val="000000"/>
                </a:solidFill>
                <a:latin typeface="Calibri"/>
              </a:rPr>
              <a:t>Approximate Solution vs. Exact Solution Results</a:t>
            </a:r>
          </a:p>
        </c:rich>
      </c:tx>
      <c:layout>
        <c:manualLayout>
          <c:xMode val="edge"/>
          <c:yMode val="edge"/>
          <c:x val="0.240327"/>
          <c:y val="0"/>
          <c:w val="0.519347"/>
          <c:h val="0.0768233"/>
        </c:manualLayout>
      </c:layout>
      <c:overlay val="1"/>
      <c:spPr>
        <a:noFill/>
        <a:effectLst/>
      </c:spPr>
    </c:title>
    <c:autoTitleDeleted val="1"/>
    <c:plotArea>
      <c:layout>
        <c:manualLayout>
          <c:layoutTarget val="inner"/>
          <c:xMode val="edge"/>
          <c:yMode val="edge"/>
          <c:x val="0.0846928"/>
          <c:y val="0.0768233"/>
          <c:w val="0.910307"/>
          <c:h val="0.743867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Approximate Solution</c:v>
                </c:pt>
              </c:strCache>
            </c:strRef>
          </c:tx>
          <c:spPr>
            <a:solidFill>
              <a:srgbClr val="156082"/>
            </a:solidFill>
            <a:ln w="12700" cap="flat">
              <a:noFill/>
              <a:miter lim="400000"/>
            </a:ln>
            <a:effectLst/>
          </c:spPr>
          <c:invertIfNegative val="0"/>
          <c:dLbls>
            <c:numFmt formatCode="0.####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00000"/>
                    </a:solidFill>
                    <a:latin typeface="Calibri"/>
                  </a:defRPr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Sheet1!$A$2:$A$11</c:f>
              <c:strCache>
                <c:ptCount val="10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</c:strCache>
            </c:strRef>
          </c:cat>
          <c:val>
            <c:numRef>
              <c:f>Sheet1!$B$2:$B$11</c:f>
              <c:numCache>
                <c:ptCount val="10"/>
                <c:pt idx="0">
                  <c:v>1031.485600</c:v>
                </c:pt>
                <c:pt idx="1">
                  <c:v>1273.300500</c:v>
                </c:pt>
                <c:pt idx="2">
                  <c:v>2276.662500</c:v>
                </c:pt>
                <c:pt idx="3">
                  <c:v>1718.395900</c:v>
                </c:pt>
                <c:pt idx="4">
                  <c:v>2344.758900</c:v>
                </c:pt>
                <c:pt idx="5">
                  <c:v>2203.593300</c:v>
                </c:pt>
                <c:pt idx="6">
                  <c:v>2884.234100</c:v>
                </c:pt>
                <c:pt idx="7">
                  <c:v>2304.299700</c:v>
                </c:pt>
                <c:pt idx="8">
                  <c:v>2661.431000</c:v>
                </c:pt>
                <c:pt idx="9">
                  <c:v>1623.903800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Exact Solution</c:v>
                </c:pt>
              </c:strCache>
            </c:strRef>
          </c:tx>
          <c:spPr>
            <a:solidFill>
              <a:srgbClr val="E97132"/>
            </a:solidFill>
            <a:ln w="12700" cap="flat">
              <a:noFill/>
              <a:miter lim="400000"/>
            </a:ln>
            <a:effectLst/>
          </c:spPr>
          <c:invertIfNegative val="0"/>
          <c:dLbls>
            <c:numFmt formatCode="0.####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00000"/>
                    </a:solidFill>
                    <a:latin typeface="Calibri"/>
                  </a:defRPr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Sheet1!$A$2:$A$11</c:f>
              <c:strCache>
                <c:ptCount val="10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</c:strCache>
            </c:strRef>
          </c:cat>
          <c:val>
            <c:numRef>
              <c:f>Sheet1!$C$2:$C$11</c:f>
              <c:numCache>
                <c:ptCount val="10"/>
                <c:pt idx="0">
                  <c:v>1031.485600</c:v>
                </c:pt>
                <c:pt idx="1">
                  <c:v>1273.300500</c:v>
                </c:pt>
                <c:pt idx="2">
                  <c:v>1914.512300</c:v>
                </c:pt>
                <c:pt idx="3">
                  <c:v>1718.395900</c:v>
                </c:pt>
                <c:pt idx="4">
                  <c:v>1985.102300</c:v>
                </c:pt>
                <c:pt idx="5">
                  <c:v>1759.507300</c:v>
                </c:pt>
                <c:pt idx="6">
                  <c:v>2049.239300</c:v>
                </c:pt>
                <c:pt idx="7">
                  <c:v>2004.434700</c:v>
                </c:pt>
                <c:pt idx="8">
                  <c:v>2079.125400</c:v>
                </c:pt>
                <c:pt idx="9">
                  <c:v>1466.541800</c:v>
                </c:pt>
              </c:numCache>
            </c:numRef>
          </c:val>
        </c:ser>
        <c:gapWidth val="219"/>
        <c:overlap val="-27"/>
        <c:axId val="2094734552"/>
        <c:axId val="2094734553"/>
      </c:barChart>
      <c:catAx>
        <c:axId val="2094734552"/>
        <c:scaling>
          <c:orientation val="minMax"/>
        </c:scaling>
        <c:delete val="0"/>
        <c:axPos val="b"/>
        <c:title>
          <c:tx>
            <c:rich>
              <a:bodyPr rot="0"/>
              <a:lstStyle/>
              <a:p>
                <a:pPr>
                  <a:defRPr b="0" i="0" strike="noStrike" sz="1000" u="none">
                    <a:solidFill>
                      <a:srgbClr val="000000"/>
                    </a:solidFill>
                    <a:latin typeface="Calibri"/>
                  </a:defRPr>
                </a:pPr>
                <a:r>
                  <a:rPr b="0" i="0" strike="noStrike" sz="1000" u="none">
                    <a:solidFill>
                      <a:srgbClr val="000000"/>
                    </a:solidFill>
                    <a:latin typeface="Calibri"/>
                  </a:rPr>
                  <a:t>Number of Nodes</a:t>
                </a:r>
              </a:p>
            </c:rich>
          </c:tx>
          <c:layout/>
          <c:overlay val="1"/>
        </c:title>
        <c:numFmt formatCode="General" sourceLinked="0"/>
        <c:majorTickMark val="none"/>
        <c:minorTickMark val="none"/>
        <c:tickLblPos val="low"/>
        <c:spPr>
          <a:ln w="12700" cap="flat">
            <a:solidFill>
              <a:srgbClr val="D9D9D9"/>
            </a:solidFill>
            <a:prstDash val="solid"/>
            <a:round/>
          </a:ln>
        </c:spPr>
        <c:txPr>
          <a:bodyPr rot="0"/>
          <a:lstStyle/>
          <a:p>
            <a:pPr>
              <a:defRPr b="0" i="0" strike="noStrike" sz="900" u="none">
                <a:solidFill>
                  <a:srgbClr val="595959"/>
                </a:solidFill>
                <a:latin typeface="Calibri"/>
              </a:defRPr>
            </a:pPr>
          </a:p>
        </c:txPr>
        <c:crossAx val="2094734553"/>
        <c:crosses val="autoZero"/>
        <c:auto val="1"/>
        <c:lblAlgn val="ctr"/>
        <c:noMultiLvlLbl val="1"/>
      </c:catAx>
      <c:valAx>
        <c:axId val="2094734553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D9D9D9"/>
              </a:solidFill>
              <a:prstDash val="solid"/>
              <a:round/>
            </a:ln>
          </c:spPr>
        </c:majorGridlines>
        <c:title>
          <c:tx>
            <c:rich>
              <a:bodyPr rot="-5400000"/>
              <a:lstStyle/>
              <a:p>
                <a:pPr>
                  <a:defRPr b="0" i="0" strike="noStrike" sz="1000" u="none">
                    <a:solidFill>
                      <a:srgbClr val="000000"/>
                    </a:solidFill>
                    <a:latin typeface="Calibri"/>
                  </a:defRPr>
                </a:pPr>
                <a:r>
                  <a:rPr b="0" i="0" strike="noStrike" sz="1000" u="none">
                    <a:solidFill>
                      <a:srgbClr val="000000"/>
                    </a:solidFill>
                    <a:latin typeface="Calibri"/>
                  </a:rPr>
                  <a:t> Tour Length</a:t>
                </a:r>
              </a:p>
            </c:rich>
          </c:tx>
          <c:layout/>
          <c:overlay val="1"/>
        </c:title>
        <c:numFmt formatCode="0.####" sourceLinked="0"/>
        <c:majorTickMark val="none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 rot="0"/>
          <a:lstStyle/>
          <a:p>
            <a:pPr>
              <a:defRPr b="0" i="0" strike="noStrike" sz="900" u="none">
                <a:solidFill>
                  <a:srgbClr val="000000"/>
                </a:solidFill>
                <a:latin typeface="Calibri"/>
              </a:defRPr>
            </a:pPr>
          </a:p>
        </c:txPr>
        <c:crossAx val="2094734552"/>
        <c:crosses val="autoZero"/>
        <c:crossBetween val="between"/>
        <c:majorUnit val="750"/>
        <c:minorUnit val="375"/>
      </c:valAx>
      <c:spPr>
        <a:noFill/>
        <a:ln w="12700" cap="flat">
          <a:noFill/>
          <a:miter lim="400000"/>
        </a:ln>
        <a:effectLst/>
      </c:spPr>
    </c:plotArea>
    <c:legend>
      <c:legendPos val="b"/>
      <c:layout>
        <c:manualLayout>
          <c:xMode val="edge"/>
          <c:yMode val="edge"/>
          <c:x val="0.326116"/>
          <c:y val="0.958556"/>
          <c:w val="0.347896"/>
          <c:h val="0.0414444"/>
        </c:manualLayout>
      </c:layout>
      <c:overlay val="1"/>
      <c:spPr>
        <a:noFill/>
        <a:ln w="12700" cap="flat">
          <a:noFill/>
          <a:miter lim="400000"/>
        </a:ln>
        <a:effectLst/>
      </c:spPr>
      <c:txPr>
        <a:bodyPr rot="0"/>
        <a:lstStyle/>
        <a:p>
          <a:pPr>
            <a:defRPr b="0" i="0" strike="noStrike" sz="900" u="none">
              <a:solidFill>
                <a:srgbClr val="000000"/>
              </a:solidFill>
              <a:latin typeface="Calibri"/>
            </a:defRPr>
          </a:pPr>
        </a:p>
      </c:txPr>
    </c:legend>
    <c:plotVisOnly val="1"/>
    <c:dispBlanksAs val="gap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1"/>
  <c:roundedCorners val="0"/>
  <c:chart>
    <c:title>
      <c:tx>
        <c:rich>
          <a:bodyPr rot="0"/>
          <a:lstStyle/>
          <a:p>
            <a:pPr>
              <a:defRPr b="0" i="0" strike="noStrike" sz="1400" u="none">
                <a:solidFill>
                  <a:srgbClr val="000000"/>
                </a:solidFill>
                <a:latin typeface="Calibri"/>
              </a:defRPr>
            </a:pPr>
            <a:r>
              <a:rPr b="0" i="0" strike="noStrike" sz="1400" u="none">
                <a:solidFill>
                  <a:srgbClr val="000000"/>
                </a:solidFill>
                <a:latin typeface="Calibri"/>
              </a:rPr>
              <a:t>Approximate Solution vs. Exact Solution Wall Clock</a:t>
            </a:r>
          </a:p>
        </c:rich>
      </c:tx>
      <c:layout>
        <c:manualLayout>
          <c:xMode val="edge"/>
          <c:yMode val="edge"/>
          <c:x val="0.226495"/>
          <c:y val="0"/>
          <c:w val="0.547009"/>
          <c:h val="0.0877791"/>
        </c:manualLayout>
      </c:layout>
      <c:overlay val="1"/>
      <c:spPr>
        <a:noFill/>
        <a:effectLst/>
      </c:spPr>
    </c:title>
    <c:autoTitleDeleted val="1"/>
    <c:plotArea>
      <c:layout>
        <c:manualLayout>
          <c:layoutTarget val="inner"/>
          <c:xMode val="edge"/>
          <c:yMode val="edge"/>
          <c:x val="0.096498"/>
          <c:y val="0.0877791"/>
          <c:w val="0.898502"/>
          <c:h val="0.709122"/>
        </c:manualLayout>
      </c:layout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Approximate Solution</c:v>
                </c:pt>
              </c:strCache>
            </c:strRef>
          </c:tx>
          <c:spPr>
            <a:solidFill>
              <a:srgbClr val="156082"/>
            </a:solidFill>
            <a:ln w="28575" cap="rnd">
              <a:solidFill>
                <a:srgbClr val="156082"/>
              </a:solidFill>
              <a:prstDash val="solid"/>
              <a:round/>
            </a:ln>
            <a:effectLst/>
          </c:spPr>
          <c:marker>
            <c:symbol val="circle"/>
            <c:size val="4"/>
            <c:spPr>
              <a:solidFill>
                <a:srgbClr val="156082"/>
              </a:solidFill>
              <a:ln w="9525" cap="flat">
                <a:solidFill>
                  <a:srgbClr val="156082"/>
                </a:solidFill>
                <a:prstDash val="solid"/>
                <a:round/>
              </a:ln>
              <a:effectLst/>
            </c:spPr>
          </c:marker>
          <c:dLbls>
            <c:numFmt formatCode="0.####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00000"/>
                    </a:solidFill>
                    <a:latin typeface="Calibri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Sheet1!$A$2:$A$18</c:f>
              <c:strCache>
                <c:ptCount val="17"/>
                <c:pt idx="0">
                  <c:v>3</c:v>
                </c:pt>
                <c:pt idx="1">
                  <c:v>4</c:v>
                </c:pt>
                <c:pt idx="2">
                  <c:v>5</c:v>
                </c:pt>
                <c:pt idx="3">
                  <c:v>6</c:v>
                </c:pt>
                <c:pt idx="4">
                  <c:v>7</c:v>
                </c:pt>
                <c:pt idx="5">
                  <c:v>8</c:v>
                </c:pt>
                <c:pt idx="6">
                  <c:v>9</c:v>
                </c:pt>
                <c:pt idx="7">
                  <c:v>10</c:v>
                </c:pt>
                <c:pt idx="8">
                  <c:v>11</c:v>
                </c:pt>
                <c:pt idx="9">
                  <c:v>12</c:v>
                </c:pt>
                <c:pt idx="10">
                  <c:v>13</c:v>
                </c:pt>
                <c:pt idx="11">
                  <c:v>14</c:v>
                </c:pt>
                <c:pt idx="12">
                  <c:v>15</c:v>
                </c:pt>
                <c:pt idx="13">
                  <c:v>25</c:v>
                </c:pt>
                <c:pt idx="14">
                  <c:v>50</c:v>
                </c:pt>
                <c:pt idx="15">
                  <c:v>100</c:v>
                </c:pt>
                <c:pt idx="16">
                  <c:v>1000</c:v>
                </c:pt>
              </c:strCache>
            </c:strRef>
          </c:cat>
          <c:val>
            <c:numRef>
              <c:f>Sheet1!$B$2:$B$18</c:f>
              <c:numCache>
                <c:ptCount val="17"/>
                <c:pt idx="0">
                  <c:v>0.000009</c:v>
                </c:pt>
                <c:pt idx="1">
                  <c:v>0.000012</c:v>
                </c:pt>
                <c:pt idx="2">
                  <c:v>0.000013</c:v>
                </c:pt>
                <c:pt idx="3">
                  <c:v>0.000016</c:v>
                </c:pt>
                <c:pt idx="4">
                  <c:v>0.000017</c:v>
                </c:pt>
                <c:pt idx="5">
                  <c:v>0.000017</c:v>
                </c:pt>
                <c:pt idx="6">
                  <c:v>0.000037</c:v>
                </c:pt>
                <c:pt idx="7">
                  <c:v>0.000022</c:v>
                </c:pt>
                <c:pt idx="8">
                  <c:v>0.000026</c:v>
                </c:pt>
                <c:pt idx="9">
                  <c:v>0.000029</c:v>
                </c:pt>
                <c:pt idx="10">
                  <c:v>0.000030</c:v>
                </c:pt>
                <c:pt idx="11">
                  <c:v>0.000033</c:v>
                </c:pt>
                <c:pt idx="12">
                  <c:v>0.000058</c:v>
                </c:pt>
                <c:pt idx="13">
                  <c:v>0.000088</c:v>
                </c:pt>
                <c:pt idx="14">
                  <c:v>0.000304</c:v>
                </c:pt>
                <c:pt idx="15">
                  <c:v>0.001417</c:v>
                </c:pt>
                <c:pt idx="16">
                  <c:v>0.263018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Exact Solution</c:v>
                </c:pt>
              </c:strCache>
            </c:strRef>
          </c:tx>
          <c:spPr>
            <a:solidFill>
              <a:srgbClr val="E97132"/>
            </a:solidFill>
            <a:ln w="28575" cap="rnd">
              <a:solidFill>
                <a:srgbClr val="E97132"/>
              </a:solidFill>
              <a:prstDash val="solid"/>
              <a:round/>
            </a:ln>
            <a:effectLst/>
          </c:spPr>
          <c:marker>
            <c:symbol val="circle"/>
            <c:size val="4"/>
            <c:spPr>
              <a:solidFill>
                <a:srgbClr val="E97132"/>
              </a:solidFill>
              <a:ln w="9525" cap="flat">
                <a:solidFill>
                  <a:srgbClr val="E97132"/>
                </a:solidFill>
                <a:prstDash val="solid"/>
                <a:round/>
              </a:ln>
              <a:effectLst/>
            </c:spPr>
          </c:marker>
          <c:dLbls>
            <c:numFmt formatCode="0.####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00000"/>
                    </a:solidFill>
                    <a:latin typeface="Calibri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Sheet1!$A$2:$A$18</c:f>
              <c:strCache>
                <c:ptCount val="17"/>
                <c:pt idx="0">
                  <c:v>3</c:v>
                </c:pt>
                <c:pt idx="1">
                  <c:v>4</c:v>
                </c:pt>
                <c:pt idx="2">
                  <c:v>5</c:v>
                </c:pt>
                <c:pt idx="3">
                  <c:v>6</c:v>
                </c:pt>
                <c:pt idx="4">
                  <c:v>7</c:v>
                </c:pt>
                <c:pt idx="5">
                  <c:v>8</c:v>
                </c:pt>
                <c:pt idx="6">
                  <c:v>9</c:v>
                </c:pt>
                <c:pt idx="7">
                  <c:v>10</c:v>
                </c:pt>
                <c:pt idx="8">
                  <c:v>11</c:v>
                </c:pt>
                <c:pt idx="9">
                  <c:v>12</c:v>
                </c:pt>
                <c:pt idx="10">
                  <c:v>13</c:v>
                </c:pt>
                <c:pt idx="11">
                  <c:v>14</c:v>
                </c:pt>
                <c:pt idx="12">
                  <c:v>15</c:v>
                </c:pt>
                <c:pt idx="13">
                  <c:v>25</c:v>
                </c:pt>
                <c:pt idx="14">
                  <c:v>50</c:v>
                </c:pt>
                <c:pt idx="15">
                  <c:v>100</c:v>
                </c:pt>
                <c:pt idx="16">
                  <c:v>1000</c:v>
                </c:pt>
              </c:strCache>
            </c:strRef>
          </c:cat>
          <c:val>
            <c:numRef>
              <c:f>Sheet1!$C$2:$C$18</c:f>
              <c:numCache>
                <c:ptCount val="17"/>
                <c:pt idx="0">
                  <c:v>0.000008</c:v>
                </c:pt>
                <c:pt idx="1">
                  <c:v>0.000015</c:v>
                </c:pt>
                <c:pt idx="2">
                  <c:v>0.000052</c:v>
                </c:pt>
                <c:pt idx="3">
                  <c:v>0.000311</c:v>
                </c:pt>
                <c:pt idx="4">
                  <c:v>0.002489</c:v>
                </c:pt>
                <c:pt idx="5">
                  <c:v>0.023088</c:v>
                </c:pt>
                <c:pt idx="6">
                  <c:v>0.228790</c:v>
                </c:pt>
                <c:pt idx="7">
                  <c:v>2.428438</c:v>
                </c:pt>
                <c:pt idx="8">
                  <c:v>27.651017</c:v>
                </c:pt>
                <c:pt idx="9">
                  <c:v>410.112470</c:v>
                </c:pt>
                <c:pt idx="10">
                  <c:v>9600.488107</c:v>
                </c:pt>
                <c:pt idx="11">
                  <c:v>244000.000000</c:v>
                </c:pt>
                <c:pt idx="12">
                  <c:v>3920000.000000</c:v>
                </c:pt>
                <c:pt idx="13">
                  <c:v>77600000000000000000.000000</c:v>
                </c:pt>
                <c:pt idx="14">
                  <c:v>303999999999999989609056054781361319260948976421309639557120.000000</c:v>
                </c:pt>
                <c:pt idx="15">
                  <c:v>1869999999999999856227014284560267237797148954868022791564736132921435258019584371840743477472741940230881821703859644400625891928832292253308066625224704.000000</c:v>
                </c:pt>
                <c:pt idx="16">
                  <c:v>803999999999999985975892185874412822256733610163508949102110152033352402612664627773644086569745890760572702819993896698809357325618538479624349544215329347765417247861820924938823413459180038872898797460283142093834213906313537150520040041325484854244321704477749936128.000000</c:v>
                </c:pt>
              </c:numCache>
            </c:numRef>
          </c:val>
          <c:smooth val="0"/>
        </c:ser>
        <c:marker val="1"/>
        <c:axId val="2094734552"/>
        <c:axId val="2094734553"/>
      </c:lineChart>
      <c:catAx>
        <c:axId val="2094734552"/>
        <c:scaling>
          <c:orientation val="minMax"/>
        </c:scaling>
        <c:delete val="0"/>
        <c:axPos val="b"/>
        <c:title>
          <c:tx>
            <c:rich>
              <a:bodyPr rot="0"/>
              <a:lstStyle/>
              <a:p>
                <a:pPr>
                  <a:defRPr b="0" i="0" strike="noStrike" sz="1000" u="none">
                    <a:solidFill>
                      <a:srgbClr val="000000"/>
                    </a:solidFill>
                    <a:latin typeface="Calibri"/>
                  </a:defRPr>
                </a:pPr>
                <a:r>
                  <a:rPr b="0" i="0" strike="noStrike" sz="1000" u="none">
                    <a:solidFill>
                      <a:srgbClr val="000000"/>
                    </a:solidFill>
                    <a:latin typeface="Calibri"/>
                  </a:rPr>
                  <a:t>Test Cases
 (# nodes per test case)</a:t>
                </a:r>
              </a:p>
            </c:rich>
          </c:tx>
          <c:layout/>
          <c:overlay val="1"/>
        </c:title>
        <c:numFmt formatCode="General" sourceLinked="0"/>
        <c:majorTickMark val="none"/>
        <c:minorTickMark val="none"/>
        <c:tickLblPos val="low"/>
        <c:spPr>
          <a:ln w="12700" cap="flat">
            <a:solidFill>
              <a:srgbClr val="D9D9D9"/>
            </a:solidFill>
            <a:prstDash val="solid"/>
            <a:round/>
          </a:ln>
        </c:spPr>
        <c:txPr>
          <a:bodyPr rot="0"/>
          <a:lstStyle/>
          <a:p>
            <a:pPr>
              <a:defRPr b="0" i="0" strike="noStrike" sz="900" u="none">
                <a:solidFill>
                  <a:srgbClr val="000000"/>
                </a:solidFill>
                <a:latin typeface="Calibri"/>
              </a:defRPr>
            </a:pPr>
          </a:p>
        </c:txPr>
        <c:crossAx val="2094734553"/>
        <c:crosses val="autoZero"/>
        <c:auto val="1"/>
        <c:lblAlgn val="ctr"/>
        <c:noMultiLvlLbl val="1"/>
      </c:catAx>
      <c:valAx>
        <c:axId val="2094734553"/>
        <c:scaling>
          <c:logBase val="10"/>
          <c:orientation val="minMax"/>
          <c:max val="1e+10"/>
        </c:scaling>
        <c:delete val="0"/>
        <c:axPos val="l"/>
        <c:majorGridlines>
          <c:spPr>
            <a:ln w="12700" cap="flat">
              <a:solidFill>
                <a:srgbClr val="D9D9D9"/>
              </a:solidFill>
              <a:prstDash val="solid"/>
              <a:round/>
            </a:ln>
          </c:spPr>
        </c:majorGridlines>
        <c:title>
          <c:tx>
            <c:rich>
              <a:bodyPr rot="-5400000"/>
              <a:lstStyle/>
              <a:p>
                <a:pPr>
                  <a:defRPr b="0" i="0" strike="noStrike" sz="1000" u="none">
                    <a:solidFill>
                      <a:srgbClr val="000000"/>
                    </a:solidFill>
                    <a:latin typeface="Calibri"/>
                  </a:defRPr>
                </a:pPr>
                <a:r>
                  <a:rPr b="0" i="0" strike="noStrike" sz="1000" u="none">
                    <a:solidFill>
                      <a:srgbClr val="000000"/>
                    </a:solidFill>
                    <a:latin typeface="Calibri"/>
                  </a:rPr>
                  <a:t>Time (seconds)</a:t>
                </a:r>
              </a:p>
            </c:rich>
          </c:tx>
          <c:layout/>
          <c:overlay val="1"/>
        </c:title>
        <c:numFmt formatCode="0.####" sourceLinked="0"/>
        <c:majorTickMark val="none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 rot="0"/>
          <a:lstStyle/>
          <a:p>
            <a:pPr>
              <a:defRPr b="0" i="0" strike="noStrike" sz="900" u="none">
                <a:solidFill>
                  <a:srgbClr val="000000"/>
                </a:solidFill>
                <a:latin typeface="Calibri"/>
              </a:defRPr>
            </a:pPr>
          </a:p>
        </c:txPr>
        <c:crossAx val="2094734552"/>
        <c:crosses val="autoZero"/>
        <c:crossBetween val="between"/>
      </c:valAx>
      <c:spPr>
        <a:noFill/>
        <a:ln w="12700" cap="flat">
          <a:noFill/>
          <a:miter lim="400000"/>
        </a:ln>
        <a:effectLst/>
      </c:spPr>
    </c:plotArea>
    <c:legend>
      <c:legendPos val="b"/>
      <c:layout>
        <c:manualLayout>
          <c:xMode val="edge"/>
          <c:yMode val="edge"/>
          <c:x val="0.328337"/>
          <c:y val="0.954428"/>
          <c:w val="0.370462"/>
          <c:h val="0.0455721"/>
        </c:manualLayout>
      </c:layout>
      <c:overlay val="1"/>
      <c:spPr>
        <a:noFill/>
        <a:ln w="12700" cap="flat">
          <a:noFill/>
          <a:miter lim="400000"/>
        </a:ln>
        <a:effectLst/>
      </c:spPr>
      <c:txPr>
        <a:bodyPr rot="0"/>
        <a:lstStyle/>
        <a:p>
          <a:pPr>
            <a:defRPr b="0" i="0" strike="noStrike" sz="900" u="none">
              <a:solidFill>
                <a:srgbClr val="000000"/>
              </a:solidFill>
              <a:latin typeface="Calibri"/>
            </a:defRPr>
          </a:pPr>
        </a:p>
      </c:txPr>
    </c:legend>
    <c:plotVisOnly val="1"/>
    <c:dispBlanksAs val="gap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1"/>
  <c:roundedCorners val="0"/>
  <c:chart>
    <c:title>
      <c:tx>
        <c:rich>
          <a:bodyPr rot="0"/>
          <a:lstStyle/>
          <a:p>
            <a:pPr>
              <a:defRPr b="0" i="0" strike="noStrike" sz="2000" u="none">
                <a:solidFill>
                  <a:srgbClr val="000000"/>
                </a:solidFill>
                <a:latin typeface="Helvetica"/>
              </a:defRPr>
            </a:pPr>
            <a:r>
              <a:rPr b="0" i="0" strike="noStrike" sz="2000" u="none">
                <a:solidFill>
                  <a:srgbClr val="000000"/>
                </a:solidFill>
                <a:latin typeface="Helvetica"/>
              </a:rPr>
              <a:t>Lengths Produced from Approx. Solution</a:t>
            </a:r>
          </a:p>
        </c:rich>
      </c:tx>
      <c:layout>
        <c:manualLayout>
          <c:xMode val="edge"/>
          <c:yMode val="edge"/>
          <c:x val="0.148365"/>
          <c:y val="0"/>
          <c:w val="0.70327"/>
          <c:h val="0.112495"/>
        </c:manualLayout>
      </c:layout>
      <c:overlay val="1"/>
      <c:spPr>
        <a:noFill/>
        <a:effectLst/>
      </c:spPr>
    </c:title>
    <c:autoTitleDeleted val="1"/>
    <c:plotArea>
      <c:layout>
        <c:manualLayout>
          <c:layoutTarget val="inner"/>
          <c:xMode val="edge"/>
          <c:yMode val="edge"/>
          <c:x val="0.0839725"/>
          <c:y val="0.112495"/>
          <c:w val="0.911027"/>
          <c:h val="0.757689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Sheet1!$A$2</c:f>
              <c:strCache>
                <c:ptCount val="1"/>
                <c:pt idx="0">
                  <c:v>Lengths Produced</c:v>
                </c:pt>
              </c:strCache>
            </c:strRef>
          </c:tx>
          <c:spPr>
            <a:solidFill>
              <a:srgbClr val="BF9000"/>
            </a:solidFill>
            <a:ln w="9525" cap="flat">
              <a:solidFill>
                <a:srgbClr val="806000"/>
              </a:solidFill>
              <a:prstDash val="solid"/>
              <a:round/>
            </a:ln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Helvetica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Sheet1!$B$1:$I$1</c:f>
              <c:strCache>
                <c:ptCount val="8"/>
                <c:pt idx="0">
                  <c:v>12.6</c:v>
                </c:pt>
                <c:pt idx="1">
                  <c:v>13.6</c:v>
                </c:pt>
                <c:pt idx="2">
                  <c:v>14.6</c:v>
                </c:pt>
                <c:pt idx="3">
                  <c:v>60.7</c:v>
                </c:pt>
                <c:pt idx="4">
                  <c:v>61.7</c:v>
                </c:pt>
                <c:pt idx="5">
                  <c:v>62.7</c:v>
                </c:pt>
                <c:pt idx="6">
                  <c:v>1011.7</c:v>
                </c:pt>
                <c:pt idx="7">
                  <c:v>1012.7</c:v>
                </c:pt>
              </c:strCache>
            </c:strRef>
          </c:cat>
          <c:val>
            <c:numRef>
              <c:f>Sheet1!$B$2:$I$2</c:f>
              <c:numCache>
                <c:ptCount val="8"/>
                <c:pt idx="0">
                  <c:v>18.000000</c:v>
                </c:pt>
                <c:pt idx="1">
                  <c:v>15.000000</c:v>
                </c:pt>
                <c:pt idx="2">
                  <c:v>1.000000</c:v>
                </c:pt>
                <c:pt idx="3">
                  <c:v>7.000000</c:v>
                </c:pt>
                <c:pt idx="4">
                  <c:v>34.000000</c:v>
                </c:pt>
                <c:pt idx="5">
                  <c:v>11.000000</c:v>
                </c:pt>
                <c:pt idx="6">
                  <c:v>12.000000</c:v>
                </c:pt>
                <c:pt idx="7">
                  <c:v>2.000000</c:v>
                </c:pt>
              </c:numCache>
            </c:numRef>
          </c:val>
        </c:ser>
        <c:gapWidth val="219"/>
        <c:overlap val="-27"/>
        <c:axId val="2094734552"/>
        <c:axId val="2094734553"/>
      </c:barChart>
      <c:catAx>
        <c:axId val="2094734552"/>
        <c:scaling>
          <c:orientation val="minMax"/>
        </c:scaling>
        <c:delete val="0"/>
        <c:axPos val="b"/>
        <c:title>
          <c:tx>
            <c:rich>
              <a:bodyPr rot="0"/>
              <a:lstStyle/>
              <a:p>
                <a:pPr>
                  <a:defRPr b="0" i="0" strike="noStrike" sz="1400" u="none">
                    <a:solidFill>
                      <a:srgbClr val="000000"/>
                    </a:solidFill>
                    <a:latin typeface="Helvetica"/>
                  </a:defRPr>
                </a:pPr>
                <a:r>
                  <a:rPr b="0" i="0" strike="noStrike" sz="1400" u="none">
                    <a:solidFill>
                      <a:srgbClr val="000000"/>
                    </a:solidFill>
                    <a:latin typeface="Helvetica"/>
                  </a:rPr>
                  <a:t>Lengths Produced</a:t>
                </a:r>
              </a:p>
            </c:rich>
          </c:tx>
          <c:layout/>
          <c:overlay val="1"/>
        </c:title>
        <c:numFmt formatCode="General" sourceLinked="0"/>
        <c:majorTickMark val="none"/>
        <c:minorTickMark val="none"/>
        <c:tickLblPos val="low"/>
        <c:spPr>
          <a:ln w="12700" cap="flat">
            <a:solidFill>
              <a:srgbClr val="D9D9D9"/>
            </a:solidFill>
            <a:prstDash val="solid"/>
            <a:round/>
          </a:ln>
        </c:spPr>
        <c:txPr>
          <a:bodyPr rot="0"/>
          <a:lstStyle/>
          <a:p>
            <a:pPr>
              <a:defRPr b="0" i="0" strike="noStrike" sz="900" u="none">
                <a:solidFill>
                  <a:srgbClr val="000000"/>
                </a:solidFill>
                <a:latin typeface="Helvetica"/>
              </a:defRPr>
            </a:pPr>
          </a:p>
        </c:txPr>
        <c:crossAx val="2094734553"/>
        <c:crosses val="autoZero"/>
        <c:auto val="1"/>
        <c:lblAlgn val="ctr"/>
        <c:noMultiLvlLbl val="1"/>
      </c:catAx>
      <c:valAx>
        <c:axId val="2094734553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D9D9D9"/>
              </a:solidFill>
              <a:prstDash val="solid"/>
              <a:round/>
            </a:ln>
          </c:spPr>
        </c:majorGridlines>
        <c:title>
          <c:tx>
            <c:rich>
              <a:bodyPr rot="-5400000"/>
              <a:lstStyle/>
              <a:p>
                <a:pPr>
                  <a:defRPr b="0" i="0" strike="noStrike" sz="1400" u="none">
                    <a:solidFill>
                      <a:srgbClr val="000000"/>
                    </a:solidFill>
                    <a:latin typeface="Helvetica"/>
                  </a:defRPr>
                </a:pPr>
                <a:r>
                  <a:rPr b="0" i="0" strike="noStrike" sz="1400" u="none">
                    <a:solidFill>
                      <a:srgbClr val="000000"/>
                    </a:solidFill>
                    <a:latin typeface="Helvetica"/>
                  </a:rPr>
                  <a:t>Frequency</a:t>
                </a:r>
              </a:p>
            </c:rich>
          </c:tx>
          <c:layout/>
          <c:overlay val="1"/>
        </c:title>
        <c:numFmt formatCode="0" sourceLinked="0"/>
        <c:majorTickMark val="none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 rot="0"/>
          <a:lstStyle/>
          <a:p>
            <a:pPr>
              <a:defRPr b="0" i="0" strike="noStrike" sz="900" u="none">
                <a:solidFill>
                  <a:srgbClr val="000000"/>
                </a:solidFill>
                <a:latin typeface="Helvetica"/>
              </a:defRPr>
            </a:pPr>
          </a:p>
        </c:txPr>
        <c:crossAx val="2094734552"/>
        <c:crosses val="autoZero"/>
        <c:crossBetween val="between"/>
        <c:majorUnit val="10"/>
        <c:minorUnit val="5"/>
      </c:valAx>
      <c:spPr>
        <a:noFill/>
        <a:ln w="12700" cap="flat">
          <a:noFill/>
          <a:miter lim="400000"/>
        </a:ln>
        <a:effectLst/>
      </c:spPr>
    </c:plotArea>
    <c:plotVisOnly val="1"/>
    <c:dispBlanksAs val="gap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1"/>
  <c:roundedCorners val="0"/>
  <c:chart>
    <c:title>
      <c:tx>
        <c:rich>
          <a:bodyPr rot="0"/>
          <a:lstStyle/>
          <a:p>
            <a:pPr>
              <a:defRPr b="0" i="0" strike="noStrike" sz="2000" u="none">
                <a:solidFill>
                  <a:srgbClr val="0D0D0D"/>
                </a:solidFill>
                <a:latin typeface="Helvetica"/>
              </a:defRPr>
            </a:pPr>
            <a:r>
              <a:rPr b="0" i="0" strike="noStrike" sz="2000" u="none">
                <a:solidFill>
                  <a:srgbClr val="0D0D0D"/>
                </a:solidFill>
                <a:latin typeface="Helvetica"/>
              </a:rPr>
              <a:t>Lengths Produced from Zenith</a:t>
            </a:r>
          </a:p>
        </c:rich>
      </c:tx>
      <c:layout>
        <c:manualLayout>
          <c:xMode val="edge"/>
          <c:yMode val="edge"/>
          <c:x val="0.0742563"/>
          <c:y val="0"/>
          <c:w val="0.851487"/>
          <c:h val="0.187093"/>
        </c:manualLayout>
      </c:layout>
      <c:overlay val="1"/>
      <c:spPr>
        <a:noFill/>
        <a:effectLst/>
      </c:spPr>
    </c:title>
    <c:autoTitleDeleted val="1"/>
    <c:plotArea>
      <c:layout>
        <c:manualLayout>
          <c:layoutTarget val="inner"/>
          <c:xMode val="edge"/>
          <c:yMode val="edge"/>
          <c:x val="0.151965"/>
          <c:y val="0.187093"/>
          <c:w val="0.843035"/>
          <c:h val="0.692866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Sheet1!$A$2</c:f>
              <c:strCache>
                <c:ptCount val="1"/>
                <c:pt idx="0">
                  <c:v>Frequency</c:v>
                </c:pt>
              </c:strCache>
            </c:strRef>
          </c:tx>
          <c:spPr>
            <a:solidFill>
              <a:srgbClr val="BF9000"/>
            </a:solidFill>
            <a:ln w="9525" cap="flat">
              <a:solidFill>
                <a:srgbClr val="806000"/>
              </a:solidFill>
              <a:prstDash val="solid"/>
              <a:round/>
            </a:ln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D0D0D"/>
                    </a:solidFill>
                    <a:latin typeface="Helvetica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Sheet1!$B$1:$B$1</c:f>
              <c:strCache>
                <c:ptCount val="1"/>
                <c:pt idx="0">
                  <c:v>12.6</c:v>
                </c:pt>
              </c:strCache>
            </c:strRef>
          </c:cat>
          <c:val>
            <c:numRef>
              <c:f>Sheet1!$B$2:$B$2</c:f>
              <c:numCache>
                <c:ptCount val="1"/>
                <c:pt idx="0">
                  <c:v>100.000000</c:v>
                </c:pt>
              </c:numCache>
            </c:numRef>
          </c:val>
        </c:ser>
        <c:gapWidth val="219"/>
        <c:overlap val="-27"/>
        <c:axId val="2094734552"/>
        <c:axId val="2094734553"/>
      </c:barChart>
      <c:catAx>
        <c:axId val="2094734552"/>
        <c:scaling>
          <c:orientation val="minMax"/>
        </c:scaling>
        <c:delete val="0"/>
        <c:axPos val="b"/>
        <c:title>
          <c:tx>
            <c:rich>
              <a:bodyPr rot="0"/>
              <a:lstStyle/>
              <a:p>
                <a:pPr>
                  <a:defRPr b="0" i="0" strike="noStrike" sz="1400" u="none">
                    <a:solidFill>
                      <a:srgbClr val="0D0D0D"/>
                    </a:solidFill>
                    <a:latin typeface="Helvetica"/>
                  </a:defRPr>
                </a:pPr>
                <a:r>
                  <a:rPr b="0" i="0" strike="noStrike" sz="1400" u="none">
                    <a:solidFill>
                      <a:srgbClr val="0D0D0D"/>
                    </a:solidFill>
                    <a:latin typeface="Helvetica"/>
                  </a:rPr>
                  <a:t>Lengths Produced</a:t>
                </a:r>
              </a:p>
            </c:rich>
          </c:tx>
          <c:layout/>
          <c:overlay val="1"/>
        </c:title>
        <c:numFmt formatCode="General" sourceLinked="0"/>
        <c:majorTickMark val="none"/>
        <c:minorTickMark val="none"/>
        <c:tickLblPos val="low"/>
        <c:spPr>
          <a:ln w="12700" cap="flat">
            <a:solidFill>
              <a:srgbClr val="D9D9D9"/>
            </a:solidFill>
            <a:prstDash val="solid"/>
            <a:round/>
          </a:ln>
        </c:spPr>
        <c:txPr>
          <a:bodyPr rot="0"/>
          <a:lstStyle/>
          <a:p>
            <a:pPr>
              <a:defRPr b="0" i="0" strike="noStrike" sz="900" u="none">
                <a:solidFill>
                  <a:srgbClr val="0D0D0D"/>
                </a:solidFill>
                <a:latin typeface="Helvetica"/>
              </a:defRPr>
            </a:pPr>
          </a:p>
        </c:txPr>
        <c:crossAx val="2094734553"/>
        <c:crosses val="autoZero"/>
        <c:auto val="1"/>
        <c:lblAlgn val="ctr"/>
        <c:noMultiLvlLbl val="1"/>
      </c:catAx>
      <c:valAx>
        <c:axId val="2094734553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D9D9D9"/>
              </a:solidFill>
              <a:prstDash val="solid"/>
              <a:round/>
            </a:ln>
          </c:spPr>
        </c:majorGridlines>
        <c:title>
          <c:tx>
            <c:rich>
              <a:bodyPr rot="-5400000"/>
              <a:lstStyle/>
              <a:p>
                <a:pPr>
                  <a:defRPr b="0" i="0" strike="noStrike" sz="1400" u="none">
                    <a:solidFill>
                      <a:srgbClr val="0D0D0D"/>
                    </a:solidFill>
                    <a:latin typeface="Helvetica"/>
                  </a:defRPr>
                </a:pPr>
                <a:r>
                  <a:rPr b="0" i="0" strike="noStrike" sz="1400" u="none">
                    <a:solidFill>
                      <a:srgbClr val="0D0D0D"/>
                    </a:solidFill>
                    <a:latin typeface="Helvetica"/>
                  </a:rPr>
                  <a:t>Frequency</a:t>
                </a:r>
              </a:p>
            </c:rich>
          </c:tx>
          <c:layout/>
          <c:overlay val="1"/>
        </c:title>
        <c:numFmt formatCode="0" sourceLinked="0"/>
        <c:majorTickMark val="none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 rot="0"/>
          <a:lstStyle/>
          <a:p>
            <a:pPr>
              <a:defRPr b="0" i="0" strike="noStrike" sz="900" u="none">
                <a:solidFill>
                  <a:srgbClr val="0D0D0D"/>
                </a:solidFill>
                <a:latin typeface="Helvetica"/>
              </a:defRPr>
            </a:pPr>
          </a:p>
        </c:txPr>
        <c:crossAx val="2094734552"/>
        <c:crosses val="autoZero"/>
        <c:crossBetween val="between"/>
        <c:majorUnit val="25"/>
        <c:minorUnit val="12.5"/>
      </c:valAx>
      <c:spPr>
        <a:noFill/>
        <a:ln w="12700" cap="flat">
          <a:noFill/>
          <a:miter lim="400000"/>
        </a:ln>
        <a:effectLst/>
      </c:spPr>
    </c:plotArea>
    <c:plotVisOnly val="1"/>
    <c:dispBlanksAs val="gap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Shape 133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34" name="Shape 134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latinLnBrk="0">
      <a:defRPr sz="1200">
        <a:latin typeface="+mn-lt"/>
        <a:ea typeface="+mn-ea"/>
        <a:cs typeface="+mn-cs"/>
        <a:sym typeface="Calibri"/>
      </a:defRPr>
    </a:lvl1pPr>
    <a:lvl2pPr indent="228600" latinLnBrk="0">
      <a:defRPr sz="1200">
        <a:latin typeface="+mn-lt"/>
        <a:ea typeface="+mn-ea"/>
        <a:cs typeface="+mn-cs"/>
        <a:sym typeface="Calibri"/>
      </a:defRPr>
    </a:lvl2pPr>
    <a:lvl3pPr indent="457200" latinLnBrk="0">
      <a:defRPr sz="1200">
        <a:latin typeface="+mn-lt"/>
        <a:ea typeface="+mn-ea"/>
        <a:cs typeface="+mn-cs"/>
        <a:sym typeface="Calibri"/>
      </a:defRPr>
    </a:lvl3pPr>
    <a:lvl4pPr indent="685800" latinLnBrk="0">
      <a:defRPr sz="1200">
        <a:latin typeface="+mn-lt"/>
        <a:ea typeface="+mn-ea"/>
        <a:cs typeface="+mn-cs"/>
        <a:sym typeface="Calibri"/>
      </a:defRPr>
    </a:lvl4pPr>
    <a:lvl5pPr indent="914400" latinLnBrk="0">
      <a:defRPr sz="1200">
        <a:latin typeface="+mn-lt"/>
        <a:ea typeface="+mn-ea"/>
        <a:cs typeface="+mn-cs"/>
        <a:sym typeface="Calibri"/>
      </a:defRPr>
    </a:lvl5pPr>
    <a:lvl6pPr indent="1143000" latinLnBrk="0">
      <a:defRPr sz="1200">
        <a:latin typeface="+mn-lt"/>
        <a:ea typeface="+mn-ea"/>
        <a:cs typeface="+mn-cs"/>
        <a:sym typeface="Calibri"/>
      </a:defRPr>
    </a:lvl6pPr>
    <a:lvl7pPr indent="1371600" latinLnBrk="0">
      <a:defRPr sz="1200">
        <a:latin typeface="+mn-lt"/>
        <a:ea typeface="+mn-ea"/>
        <a:cs typeface="+mn-cs"/>
        <a:sym typeface="Calibri"/>
      </a:defRPr>
    </a:lvl7pPr>
    <a:lvl8pPr indent="1600200" latinLnBrk="0">
      <a:defRPr sz="1200">
        <a:latin typeface="+mn-lt"/>
        <a:ea typeface="+mn-ea"/>
        <a:cs typeface="+mn-cs"/>
        <a:sym typeface="Calibri"/>
      </a:defRPr>
    </a:lvl8pPr>
    <a:lvl9pPr indent="1828800" latinLnBrk="0">
      <a:defRPr sz="1200">
        <a:latin typeface="+mn-lt"/>
        <a:ea typeface="+mn-ea"/>
        <a:cs typeface="+mn-cs"/>
        <a:sym typeface="Calibri"/>
      </a:defRPr>
    </a:lvl9pPr>
  </p:notesStyle>
</p:notesMaster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1.png"/></Relationships>
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8.png"/></Relationships>
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Title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Click to add title"/>
          <p:cNvSpPr txBox="1"/>
          <p:nvPr>
            <p:ph type="title" hasCustomPrompt="1"/>
          </p:nvPr>
        </p:nvSpPr>
        <p:spPr>
          <a:xfrm>
            <a:off x="6096000" y="2773681"/>
            <a:ext cx="5674360" cy="3200403"/>
          </a:xfrm>
          <a:prstGeom prst="rect">
            <a:avLst/>
          </a:prstGeom>
        </p:spPr>
        <p:txBody>
          <a:bodyPr anchor="b"/>
          <a:lstStyle>
            <a:lvl1pPr>
              <a:defRPr sz="4800">
                <a:solidFill>
                  <a:srgbClr val="FFFFFF"/>
                </a:solidFill>
              </a:defRPr>
            </a:lvl1pPr>
          </a:lstStyle>
          <a:p>
            <a:pPr/>
            <a:r>
              <a:t>Click to add title</a:t>
            </a:r>
          </a:p>
        </p:txBody>
      </p:sp>
      <p:pic>
        <p:nvPicPr>
          <p:cNvPr id="13" name="Graphic 6" descr="Graphic 6"/>
          <p:cNvPicPr>
            <a:picLocks noChangeAspect="1"/>
          </p:cNvPicPr>
          <p:nvPr/>
        </p:nvPicPr>
        <p:blipFill>
          <a:blip r:embed="rId2">
            <a:extLst/>
          </a:blip>
          <a:srcRect l="18454" t="1727" r="0" b="0"/>
          <a:stretch>
            <a:fillRect/>
          </a:stretch>
        </p:blipFill>
        <p:spPr>
          <a:xfrm>
            <a:off x="-13" y="0"/>
            <a:ext cx="8265013" cy="5320146"/>
          </a:xfrm>
          <a:prstGeom prst="rect">
            <a:avLst/>
          </a:prstGeom>
          <a:ln w="12700">
            <a:miter lim="400000"/>
          </a:ln>
        </p:spPr>
      </p:pic>
      <p:sp>
        <p:nvSpPr>
          <p:cNvPr id="14" name="Slide Number"/>
          <p:cNvSpPr txBox="1"/>
          <p:nvPr>
            <p:ph type="sldNum" sz="quarter" idx="2"/>
          </p:nvPr>
        </p:nvSpPr>
        <p:spPr>
          <a:xfrm>
            <a:off x="8506330" y="6240782"/>
            <a:ext cx="231273" cy="231137"/>
          </a:xfrm>
          <a:prstGeom prst="rect">
            <a:avLst/>
          </a:prstGeom>
        </p:spPr>
        <p:txBody>
          <a:bodyPr/>
          <a:lstStyle>
            <a:lvl1pPr algn="r">
              <a:defRPr sz="900">
                <a:solidFill>
                  <a:srgbClr val="888888"/>
                </a:solidFill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Section Title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raphic 6" descr="Graphic 6"/>
          <p:cNvPicPr>
            <a:picLocks noChangeAspect="1"/>
          </p:cNvPicPr>
          <p:nvPr/>
        </p:nvPicPr>
        <p:blipFill>
          <a:blip r:embed="rId2">
            <a:extLst/>
          </a:blip>
          <a:srcRect l="13300" t="13815" r="0" b="0"/>
          <a:stretch>
            <a:fillRect/>
          </a:stretch>
        </p:blipFill>
        <p:spPr>
          <a:xfrm>
            <a:off x="0" y="-1"/>
            <a:ext cx="4239206" cy="3776194"/>
          </a:xfrm>
          <a:prstGeom prst="rect">
            <a:avLst/>
          </a:prstGeom>
          <a:ln w="12700">
            <a:miter lim="400000"/>
          </a:ln>
        </p:spPr>
      </p:pic>
      <p:sp>
        <p:nvSpPr>
          <p:cNvPr id="22" name="Click to add title"/>
          <p:cNvSpPr txBox="1"/>
          <p:nvPr>
            <p:ph type="title" hasCustomPrompt="1"/>
          </p:nvPr>
        </p:nvSpPr>
        <p:spPr>
          <a:xfrm>
            <a:off x="914400" y="2580638"/>
            <a:ext cx="5181600" cy="3368824"/>
          </a:xfrm>
          <a:prstGeom prst="rect">
            <a:avLst/>
          </a:prstGeom>
        </p:spPr>
        <p:txBody>
          <a:bodyPr anchor="b"/>
          <a:lstStyle>
            <a:lvl1pPr>
              <a:defRPr sz="4800">
                <a:solidFill>
                  <a:srgbClr val="FFFFFF"/>
                </a:solidFill>
              </a:defRPr>
            </a:lvl1pPr>
          </a:lstStyle>
          <a:p>
            <a:pPr/>
            <a:r>
              <a:t>Click to add title</a:t>
            </a:r>
          </a:p>
        </p:txBody>
      </p:sp>
      <p:sp>
        <p:nvSpPr>
          <p:cNvPr id="23" name="Picture Placeholder 8"/>
          <p:cNvSpPr/>
          <p:nvPr>
            <p:ph type="pic" idx="21"/>
          </p:nvPr>
        </p:nvSpPr>
        <p:spPr>
          <a:xfrm>
            <a:off x="6085840" y="-10165"/>
            <a:ext cx="6116328" cy="686817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24" name="Slide Number"/>
          <p:cNvSpPr txBox="1"/>
          <p:nvPr>
            <p:ph type="sldNum" sz="quarter" idx="2"/>
          </p:nvPr>
        </p:nvSpPr>
        <p:spPr>
          <a:xfrm>
            <a:off x="8506330" y="6240782"/>
            <a:ext cx="231273" cy="231137"/>
          </a:xfrm>
          <a:prstGeom prst="rect">
            <a:avLst/>
          </a:prstGeom>
        </p:spPr>
        <p:txBody>
          <a:bodyPr/>
          <a:lstStyle>
            <a:lvl1pPr algn="r">
              <a:defRPr sz="900">
                <a:solidFill>
                  <a:srgbClr val="888888"/>
                </a:solidFill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Overview">
    <p:bg>
      <p:bgPr>
        <a:solidFill>
          <a:schemeClr val="accen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Graphic 7" descr="Graphic 7"/>
          <p:cNvPicPr>
            <a:picLocks noChangeAspect="1"/>
          </p:cNvPicPr>
          <p:nvPr/>
        </p:nvPicPr>
        <p:blipFill>
          <a:blip r:embed="rId2">
            <a:extLst/>
          </a:blip>
          <a:srcRect l="15158" t="0" r="0" b="78533"/>
          <a:stretch>
            <a:fillRect/>
          </a:stretch>
        </p:blipFill>
        <p:spPr>
          <a:xfrm rot="10800000">
            <a:off x="6324598" y="-8"/>
            <a:ext cx="5867405" cy="1317517"/>
          </a:xfrm>
          <a:prstGeom prst="rect">
            <a:avLst/>
          </a:prstGeom>
          <a:ln w="12700">
            <a:miter lim="400000"/>
          </a:ln>
        </p:spPr>
      </p:pic>
      <p:sp>
        <p:nvSpPr>
          <p:cNvPr id="32" name="Click to add title"/>
          <p:cNvSpPr txBox="1"/>
          <p:nvPr>
            <p:ph type="title" hasCustomPrompt="1"/>
          </p:nvPr>
        </p:nvSpPr>
        <p:spPr>
          <a:xfrm>
            <a:off x="6126479" y="1310638"/>
            <a:ext cx="4806001" cy="2689632"/>
          </a:xfrm>
          <a:prstGeom prst="rect">
            <a:avLst/>
          </a:prstGeom>
        </p:spPr>
        <p:txBody>
          <a:bodyPr anchor="b"/>
          <a:lstStyle>
            <a:lvl1pPr>
              <a:defRPr sz="4800"/>
            </a:lvl1pPr>
          </a:lstStyle>
          <a:p>
            <a:pPr/>
            <a:r>
              <a:t>Click to add title</a:t>
            </a:r>
          </a:p>
        </p:txBody>
      </p:sp>
      <p:sp>
        <p:nvSpPr>
          <p:cNvPr id="33" name="Picture Placeholder 11"/>
          <p:cNvSpPr/>
          <p:nvPr>
            <p:ph type="pic" idx="21"/>
          </p:nvPr>
        </p:nvSpPr>
        <p:spPr>
          <a:xfrm>
            <a:off x="0" y="-10165"/>
            <a:ext cx="6096000" cy="6858007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34" name="Body Level One…"/>
          <p:cNvSpPr txBox="1"/>
          <p:nvPr>
            <p:ph type="body" sz="quarter" idx="1" hasCustomPrompt="1"/>
          </p:nvPr>
        </p:nvSpPr>
        <p:spPr>
          <a:xfrm>
            <a:off x="6126162" y="4172989"/>
            <a:ext cx="4806001" cy="2389748"/>
          </a:xfrm>
          <a:prstGeom prst="rect">
            <a:avLst/>
          </a:prstGeom>
        </p:spPr>
        <p:txBody>
          <a:bodyPr/>
          <a:lstStyle>
            <a:lvl1pPr marL="0" indent="0">
              <a:buSzTx/>
              <a:buFontTx/>
              <a:buNone/>
              <a:defRPr sz="2000"/>
            </a:lvl1pPr>
            <a:lvl2pPr marL="0" indent="0">
              <a:buSzTx/>
              <a:buFontTx/>
              <a:buNone/>
              <a:defRPr sz="2000"/>
            </a:lvl2pPr>
            <a:lvl3pPr marL="0" indent="0">
              <a:buSzTx/>
              <a:buFontTx/>
              <a:buNone/>
              <a:defRPr sz="2000"/>
            </a:lvl3pPr>
            <a:lvl4pPr marL="0" indent="0">
              <a:buSzTx/>
              <a:buFontTx/>
              <a:buNone/>
              <a:defRPr sz="2000"/>
            </a:lvl4pPr>
            <a:lvl5pPr marL="0" indent="0">
              <a:buSzTx/>
              <a:buFontTx/>
              <a:buNone/>
              <a:defRPr sz="2000"/>
            </a:lvl5pPr>
          </a:lstStyle>
          <a:p>
            <a:pPr/>
            <a:r>
              <a:t>Click to add text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35" name="Slide Number"/>
          <p:cNvSpPr txBox="1"/>
          <p:nvPr>
            <p:ph type="sldNum" sz="quarter" idx="2"/>
          </p:nvPr>
        </p:nvSpPr>
        <p:spPr>
          <a:xfrm>
            <a:off x="8506330" y="6240782"/>
            <a:ext cx="231273" cy="231137"/>
          </a:xfrm>
          <a:prstGeom prst="rect">
            <a:avLst/>
          </a:prstGeom>
        </p:spPr>
        <p:txBody>
          <a:bodyPr/>
          <a:lstStyle>
            <a:lvl1pPr algn="r">
              <a:defRPr sz="900">
                <a:solidFill>
                  <a:srgbClr val="888888"/>
                </a:solidFill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" name="Graphic 2" descr="Graphic 2"/>
          <p:cNvPicPr>
            <a:picLocks noChangeAspect="1"/>
          </p:cNvPicPr>
          <p:nvPr/>
        </p:nvPicPr>
        <p:blipFill>
          <a:blip r:embed="rId2">
            <a:extLst/>
          </a:blip>
          <a:srcRect l="45239" t="0" r="0" b="0"/>
          <a:stretch>
            <a:fillRect/>
          </a:stretch>
        </p:blipFill>
        <p:spPr>
          <a:xfrm flipH="1">
            <a:off x="9135412" y="0"/>
            <a:ext cx="3056597" cy="6858000"/>
          </a:xfrm>
          <a:prstGeom prst="rect">
            <a:avLst/>
          </a:prstGeom>
          <a:ln w="12700">
            <a:miter lim="400000"/>
          </a:ln>
        </p:spPr>
      </p:pic>
      <p:pic>
        <p:nvPicPr>
          <p:cNvPr id="43" name="Graphic 8" descr="Graphic 8"/>
          <p:cNvPicPr>
            <a:picLocks noChangeAspect="1"/>
          </p:cNvPicPr>
          <p:nvPr/>
        </p:nvPicPr>
        <p:blipFill>
          <a:blip r:embed="rId3">
            <a:extLst/>
          </a:blip>
          <a:srcRect l="0" t="0" r="0" b="2330"/>
          <a:stretch>
            <a:fillRect/>
          </a:stretch>
        </p:blipFill>
        <p:spPr>
          <a:xfrm>
            <a:off x="7810500" y="3025140"/>
            <a:ext cx="4381500" cy="3832860"/>
          </a:xfrm>
          <a:prstGeom prst="rect">
            <a:avLst/>
          </a:prstGeom>
          <a:ln w="12700">
            <a:miter lim="400000"/>
          </a:ln>
        </p:spPr>
      </p:pic>
      <p:sp>
        <p:nvSpPr>
          <p:cNvPr id="44" name="Click to add title"/>
          <p:cNvSpPr txBox="1"/>
          <p:nvPr>
            <p:ph type="title" hasCustomPrompt="1"/>
          </p:nvPr>
        </p:nvSpPr>
        <p:spPr>
          <a:xfrm>
            <a:off x="914399" y="365125"/>
            <a:ext cx="7273637" cy="1646555"/>
          </a:xfrm>
          <a:prstGeom prst="rect">
            <a:avLst/>
          </a:prstGeom>
        </p:spPr>
        <p:txBody>
          <a:bodyPr/>
          <a:lstStyle/>
          <a:p>
            <a:pPr/>
            <a:r>
              <a:t>Click to add title</a:t>
            </a:r>
          </a:p>
        </p:txBody>
      </p:sp>
      <p:sp>
        <p:nvSpPr>
          <p:cNvPr id="45" name="Body Level One…"/>
          <p:cNvSpPr txBox="1"/>
          <p:nvPr>
            <p:ph type="body" sz="half" idx="1" hasCustomPrompt="1"/>
          </p:nvPr>
        </p:nvSpPr>
        <p:spPr>
          <a:xfrm>
            <a:off x="914399" y="2011363"/>
            <a:ext cx="7273640" cy="4155760"/>
          </a:xfrm>
          <a:prstGeom prst="rect">
            <a:avLst/>
          </a:prstGeom>
        </p:spPr>
        <p:txBody>
          <a:bodyPr/>
          <a:lstStyle>
            <a:lvl1pPr>
              <a:spcBef>
                <a:spcPts val="1200"/>
              </a:spcBef>
              <a:defRPr sz="2000"/>
            </a:lvl1pPr>
            <a:lvl2pPr marL="711200" indent="-254000">
              <a:spcBef>
                <a:spcPts val="1200"/>
              </a:spcBef>
              <a:defRPr sz="2000"/>
            </a:lvl2pPr>
            <a:lvl3pPr marL="1200150" indent="-285750">
              <a:spcBef>
                <a:spcPts val="1200"/>
              </a:spcBef>
              <a:defRPr sz="2000"/>
            </a:lvl3pPr>
            <a:lvl4pPr marL="1698169" indent="-326569">
              <a:spcBef>
                <a:spcPts val="1200"/>
              </a:spcBef>
              <a:defRPr sz="2000"/>
            </a:lvl4pPr>
            <a:lvl5pPr marL="2155369" indent="-326569">
              <a:spcBef>
                <a:spcPts val="1200"/>
              </a:spcBef>
              <a:defRPr sz="2000"/>
            </a:lvl5pPr>
          </a:lstStyle>
          <a:p>
            <a:pPr/>
            <a:r>
              <a:t>Click to add text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46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Title Content and left Image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" name="Graphic 5" descr="Graphic 5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 rot="16200000">
            <a:off x="8039100" y="228599"/>
            <a:ext cx="4381500" cy="3924302"/>
          </a:xfrm>
          <a:prstGeom prst="rect">
            <a:avLst/>
          </a:prstGeom>
          <a:ln w="12700">
            <a:miter lim="400000"/>
          </a:ln>
        </p:spPr>
      </p:pic>
      <p:sp>
        <p:nvSpPr>
          <p:cNvPr id="54" name="Title Text"/>
          <p:cNvSpPr txBox="1"/>
          <p:nvPr>
            <p:ph type="title"/>
          </p:nvPr>
        </p:nvSpPr>
        <p:spPr>
          <a:xfrm>
            <a:off x="6096000" y="375283"/>
            <a:ext cx="4896678" cy="3624989"/>
          </a:xfrm>
          <a:prstGeom prst="rect">
            <a:avLst/>
          </a:prstGeom>
        </p:spPr>
        <p:txBody>
          <a:bodyPr anchor="b"/>
          <a:lstStyle>
            <a:lvl1pPr>
              <a:defRPr sz="4800">
                <a:solidFill>
                  <a:srgbClr val="FFFFFF"/>
                </a:solidFill>
              </a:defRPr>
            </a:lvl1pPr>
          </a:lstStyle>
          <a:p>
            <a:pPr/>
            <a:r>
              <a:t>Title Text</a:t>
            </a:r>
          </a:p>
        </p:txBody>
      </p:sp>
      <p:sp>
        <p:nvSpPr>
          <p:cNvPr id="55" name="Picture Placeholder 10"/>
          <p:cNvSpPr/>
          <p:nvPr>
            <p:ph type="pic" idx="21"/>
          </p:nvPr>
        </p:nvSpPr>
        <p:spPr>
          <a:xfrm>
            <a:off x="0" y="0"/>
            <a:ext cx="6096000" cy="68580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56" name="Body Level One…"/>
          <p:cNvSpPr txBox="1"/>
          <p:nvPr>
            <p:ph type="body" sz="quarter" idx="1" hasCustomPrompt="1"/>
          </p:nvPr>
        </p:nvSpPr>
        <p:spPr>
          <a:xfrm>
            <a:off x="6096000" y="4172989"/>
            <a:ext cx="4896678" cy="2309731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1200"/>
              </a:spcBef>
              <a:buSzTx/>
              <a:buFontTx/>
              <a:buNone/>
              <a:defRPr sz="2000">
                <a:solidFill>
                  <a:srgbClr val="FFFFFF"/>
                </a:solidFill>
              </a:defRPr>
            </a:lvl1pPr>
            <a:lvl2pPr marL="774700" indent="-317500">
              <a:spcBef>
                <a:spcPts val="1200"/>
              </a:spcBef>
              <a:buFontTx/>
              <a:defRPr sz="2000">
                <a:solidFill>
                  <a:srgbClr val="FFFFFF"/>
                </a:solidFill>
              </a:defRPr>
            </a:lvl2pPr>
            <a:lvl3pPr marL="1271587" indent="-357187">
              <a:spcBef>
                <a:spcPts val="1200"/>
              </a:spcBef>
              <a:buFontTx/>
              <a:defRPr sz="2000">
                <a:solidFill>
                  <a:srgbClr val="FFFFFF"/>
                </a:solidFill>
              </a:defRPr>
            </a:lvl3pPr>
            <a:lvl4pPr marL="1779814" indent="-408214">
              <a:spcBef>
                <a:spcPts val="1200"/>
              </a:spcBef>
              <a:buFontTx/>
              <a:defRPr sz="2000">
                <a:solidFill>
                  <a:srgbClr val="FFFFFF"/>
                </a:solidFill>
              </a:defRPr>
            </a:lvl4pPr>
            <a:lvl5pPr marL="2237014" indent="-408214">
              <a:spcBef>
                <a:spcPts val="1200"/>
              </a:spcBef>
              <a:buFontTx/>
              <a:defRPr sz="2000">
                <a:solidFill>
                  <a:srgbClr val="FFFFFF"/>
                </a:solidFill>
              </a:defRPr>
            </a:lvl5pPr>
          </a:lstStyle>
          <a:p>
            <a:pPr/>
            <a:r>
              <a:t>Click to add text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57" name="Slide Number"/>
          <p:cNvSpPr txBox="1"/>
          <p:nvPr>
            <p:ph type="sldNum" sz="quarter" idx="2"/>
          </p:nvPr>
        </p:nvSpPr>
        <p:spPr>
          <a:xfrm>
            <a:off x="8506330" y="6240782"/>
            <a:ext cx="231273" cy="231137"/>
          </a:xfrm>
          <a:prstGeom prst="rect">
            <a:avLst/>
          </a:prstGeom>
        </p:spPr>
        <p:txBody>
          <a:bodyPr/>
          <a:lstStyle>
            <a:lvl1pPr algn="r">
              <a:defRPr sz="900">
                <a:solidFill>
                  <a:srgbClr val="888888"/>
                </a:solidFill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Title and two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4" name="Graphic 7" descr="Graphic 7"/>
          <p:cNvPicPr>
            <a:picLocks noChangeAspect="1"/>
          </p:cNvPicPr>
          <p:nvPr/>
        </p:nvPicPr>
        <p:blipFill>
          <a:blip r:embed="rId2">
            <a:extLst/>
          </a:blip>
          <a:srcRect l="1981" t="40714" r="61027" b="44471"/>
          <a:stretch>
            <a:fillRect/>
          </a:stretch>
        </p:blipFill>
        <p:spPr>
          <a:xfrm flipH="1">
            <a:off x="-26836" y="5950036"/>
            <a:ext cx="2513536" cy="914413"/>
          </a:xfrm>
          <a:prstGeom prst="rect">
            <a:avLst/>
          </a:prstGeom>
          <a:ln w="12700">
            <a:miter lim="400000"/>
          </a:ln>
        </p:spPr>
      </p:pic>
      <p:pic>
        <p:nvPicPr>
          <p:cNvPr id="65" name="Graphic 8" descr="Graphic 8"/>
          <p:cNvPicPr>
            <a:picLocks noChangeAspect="1"/>
          </p:cNvPicPr>
          <p:nvPr/>
        </p:nvPicPr>
        <p:blipFill>
          <a:blip r:embed="rId3">
            <a:extLst/>
          </a:blip>
          <a:srcRect l="18883" t="18052" r="46634" b="0"/>
          <a:stretch>
            <a:fillRect/>
          </a:stretch>
        </p:blipFill>
        <p:spPr>
          <a:xfrm rot="5400000">
            <a:off x="9553763" y="-952311"/>
            <a:ext cx="1685940" cy="3590550"/>
          </a:xfrm>
          <a:prstGeom prst="rect">
            <a:avLst/>
          </a:prstGeom>
          <a:ln w="12700">
            <a:miter lim="400000"/>
          </a:ln>
        </p:spPr>
      </p:pic>
      <p:sp>
        <p:nvSpPr>
          <p:cNvPr id="66" name="Click to add title"/>
          <p:cNvSpPr txBox="1"/>
          <p:nvPr>
            <p:ph type="title" hasCustomPrompt="1"/>
          </p:nvPr>
        </p:nvSpPr>
        <p:spPr>
          <a:xfrm>
            <a:off x="914396" y="365125"/>
            <a:ext cx="10439404" cy="1617017"/>
          </a:xfrm>
          <a:prstGeom prst="rect">
            <a:avLst/>
          </a:prstGeom>
        </p:spPr>
        <p:txBody>
          <a:bodyPr/>
          <a:lstStyle/>
          <a:p>
            <a:pPr/>
            <a:r>
              <a:t>Click to add title</a:t>
            </a:r>
          </a:p>
        </p:txBody>
      </p:sp>
      <p:sp>
        <p:nvSpPr>
          <p:cNvPr id="67" name="Body Level One…"/>
          <p:cNvSpPr txBox="1"/>
          <p:nvPr>
            <p:ph type="body" sz="quarter" idx="1" hasCustomPrompt="1"/>
          </p:nvPr>
        </p:nvSpPr>
        <p:spPr>
          <a:xfrm>
            <a:off x="914399" y="2022250"/>
            <a:ext cx="3310129" cy="3747181"/>
          </a:xfrm>
          <a:prstGeom prst="rect">
            <a:avLst/>
          </a:prstGeom>
        </p:spPr>
        <p:txBody>
          <a:bodyPr/>
          <a:lstStyle>
            <a:lvl1pPr>
              <a:spcBef>
                <a:spcPts val="1200"/>
              </a:spcBef>
              <a:defRPr b="1" sz="2000"/>
            </a:lvl1pPr>
            <a:lvl2pPr marL="711200" indent="-254000">
              <a:spcBef>
                <a:spcPts val="1200"/>
              </a:spcBef>
              <a:defRPr b="1" sz="2000"/>
            </a:lvl2pPr>
            <a:lvl3pPr marL="1200150" indent="-285750">
              <a:spcBef>
                <a:spcPts val="1200"/>
              </a:spcBef>
              <a:defRPr b="1" sz="2000"/>
            </a:lvl3pPr>
            <a:lvl4pPr marL="1698169" indent="-326569">
              <a:spcBef>
                <a:spcPts val="1200"/>
              </a:spcBef>
              <a:defRPr b="1" sz="2000"/>
            </a:lvl4pPr>
            <a:lvl5pPr marL="2155369" indent="-326569">
              <a:spcBef>
                <a:spcPts val="1200"/>
              </a:spcBef>
              <a:defRPr b="1" sz="2000"/>
            </a:lvl5pPr>
          </a:lstStyle>
          <a:p>
            <a:pPr/>
            <a:r>
              <a:t>Click to add text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68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Title Content and Tabl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5" name="Graphic 1" descr="Graphic 1"/>
          <p:cNvPicPr>
            <a:picLocks noChangeAspect="1"/>
          </p:cNvPicPr>
          <p:nvPr/>
        </p:nvPicPr>
        <p:blipFill>
          <a:blip r:embed="rId2">
            <a:extLst/>
          </a:blip>
          <a:srcRect l="0" t="0" r="55824" b="26760"/>
          <a:stretch>
            <a:fillRect/>
          </a:stretch>
        </p:blipFill>
        <p:spPr>
          <a:xfrm>
            <a:off x="9229725" y="1835239"/>
            <a:ext cx="2962276" cy="5022761"/>
          </a:xfrm>
          <a:prstGeom prst="rect">
            <a:avLst/>
          </a:prstGeom>
          <a:ln w="12700">
            <a:miter lim="400000"/>
          </a:ln>
        </p:spPr>
      </p:pic>
      <p:sp>
        <p:nvSpPr>
          <p:cNvPr id="76" name="Rectangle 13"/>
          <p:cNvSpPr/>
          <p:nvPr/>
        </p:nvSpPr>
        <p:spPr>
          <a:xfrm>
            <a:off x="4443412" y="1835236"/>
            <a:ext cx="7000876" cy="4279816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Tenorite"/>
                <a:ea typeface="Tenorite"/>
                <a:cs typeface="Tenorite"/>
                <a:sym typeface="Tenorite"/>
              </a:defRPr>
            </a:pPr>
          </a:p>
        </p:txBody>
      </p:sp>
      <p:pic>
        <p:nvPicPr>
          <p:cNvPr id="77" name="Graphic 8" descr="Graphic 8"/>
          <p:cNvPicPr>
            <a:picLocks noChangeAspect="1"/>
          </p:cNvPicPr>
          <p:nvPr/>
        </p:nvPicPr>
        <p:blipFill>
          <a:blip r:embed="rId2">
            <a:extLst/>
          </a:blip>
          <a:srcRect l="0" t="60903" r="75060" b="10346"/>
          <a:stretch>
            <a:fillRect/>
          </a:stretch>
        </p:blipFill>
        <p:spPr>
          <a:xfrm rot="16200000">
            <a:off x="149647" y="-149658"/>
            <a:ext cx="1672379" cy="1971682"/>
          </a:xfrm>
          <a:prstGeom prst="rect">
            <a:avLst/>
          </a:prstGeom>
          <a:ln w="12700">
            <a:miter lim="400000"/>
          </a:ln>
        </p:spPr>
      </p:pic>
      <p:sp>
        <p:nvSpPr>
          <p:cNvPr id="78" name="Click to add title"/>
          <p:cNvSpPr txBox="1"/>
          <p:nvPr>
            <p:ph type="title" hasCustomPrompt="1"/>
          </p:nvPr>
        </p:nvSpPr>
        <p:spPr>
          <a:xfrm>
            <a:off x="914399" y="365125"/>
            <a:ext cx="10363204" cy="1603463"/>
          </a:xfrm>
          <a:prstGeom prst="rect">
            <a:avLst/>
          </a:prstGeom>
        </p:spPr>
        <p:txBody>
          <a:bodyPr/>
          <a:lstStyle/>
          <a:p>
            <a:pPr/>
            <a:r>
              <a:t>Click to add title</a:t>
            </a:r>
          </a:p>
        </p:txBody>
      </p:sp>
      <p:sp>
        <p:nvSpPr>
          <p:cNvPr id="79" name="Body Level One…"/>
          <p:cNvSpPr txBox="1"/>
          <p:nvPr>
            <p:ph type="body" sz="quarter" idx="1" hasCustomPrompt="1"/>
          </p:nvPr>
        </p:nvSpPr>
        <p:spPr>
          <a:xfrm>
            <a:off x="914399" y="2022250"/>
            <a:ext cx="3299015" cy="3914910"/>
          </a:xfrm>
          <a:prstGeom prst="rect">
            <a:avLst/>
          </a:prstGeom>
        </p:spPr>
        <p:txBody>
          <a:bodyPr/>
          <a:lstStyle>
            <a:lvl1pPr>
              <a:spcBef>
                <a:spcPts val="1200"/>
              </a:spcBef>
              <a:defRPr sz="2000"/>
            </a:lvl1pPr>
            <a:lvl2pPr marL="711200" indent="-254000">
              <a:spcBef>
                <a:spcPts val="1200"/>
              </a:spcBef>
              <a:defRPr sz="2000"/>
            </a:lvl2pPr>
            <a:lvl3pPr marL="1200150" indent="-285750">
              <a:spcBef>
                <a:spcPts val="1200"/>
              </a:spcBef>
              <a:defRPr sz="2000"/>
            </a:lvl3pPr>
            <a:lvl4pPr marL="1698169" indent="-326569">
              <a:spcBef>
                <a:spcPts val="1200"/>
              </a:spcBef>
              <a:defRPr sz="2000"/>
            </a:lvl4pPr>
            <a:lvl5pPr marL="2155369" indent="-326569">
              <a:spcBef>
                <a:spcPts val="1200"/>
              </a:spcBef>
              <a:defRPr sz="2000"/>
            </a:lvl5pPr>
          </a:lstStyle>
          <a:p>
            <a:pPr/>
            <a:r>
              <a:t>Click to add text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80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Title and two Content 3">
    <p:bg>
      <p:bgPr>
        <a:solidFill>
          <a:schemeClr val="accen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raphic 7" descr="Graphic 7"/>
          <p:cNvPicPr>
            <a:picLocks noChangeAspect="1"/>
          </p:cNvPicPr>
          <p:nvPr/>
        </p:nvPicPr>
        <p:blipFill>
          <a:blip r:embed="rId2">
            <a:extLst/>
          </a:blip>
          <a:srcRect l="18883" t="34408" r="46634" b="1"/>
          <a:stretch>
            <a:fillRect/>
          </a:stretch>
        </p:blipFill>
        <p:spPr>
          <a:xfrm rot="10800000">
            <a:off x="10506071" y="3984078"/>
            <a:ext cx="1685940" cy="2873926"/>
          </a:xfrm>
          <a:prstGeom prst="rect">
            <a:avLst/>
          </a:prstGeom>
          <a:ln w="12700">
            <a:miter lim="400000"/>
          </a:ln>
        </p:spPr>
      </p:pic>
      <p:pic>
        <p:nvPicPr>
          <p:cNvPr id="88" name="Graphic 8" descr="Graphic 8"/>
          <p:cNvPicPr>
            <a:picLocks noChangeAspect="1"/>
          </p:cNvPicPr>
          <p:nvPr/>
        </p:nvPicPr>
        <p:blipFill>
          <a:blip r:embed="rId3">
            <a:extLst/>
          </a:blip>
          <a:srcRect l="29718" t="47145" r="39388" b="8751"/>
          <a:stretch>
            <a:fillRect/>
          </a:stretch>
        </p:blipFill>
        <p:spPr>
          <a:xfrm flipH="1" rot="16200000">
            <a:off x="9781526" y="-311518"/>
            <a:ext cx="2098976" cy="2721997"/>
          </a:xfrm>
          <a:prstGeom prst="rect">
            <a:avLst/>
          </a:prstGeom>
          <a:ln w="12700">
            <a:miter lim="400000"/>
          </a:ln>
        </p:spPr>
      </p:pic>
      <p:sp>
        <p:nvSpPr>
          <p:cNvPr id="89" name="Click to add title"/>
          <p:cNvSpPr txBox="1"/>
          <p:nvPr>
            <p:ph type="title" hasCustomPrompt="1"/>
          </p:nvPr>
        </p:nvSpPr>
        <p:spPr>
          <a:xfrm>
            <a:off x="891990" y="434223"/>
            <a:ext cx="9524998" cy="1499630"/>
          </a:xfrm>
          <a:prstGeom prst="rect">
            <a:avLst/>
          </a:prstGeom>
        </p:spPr>
        <p:txBody>
          <a:bodyPr/>
          <a:lstStyle/>
          <a:p>
            <a:pPr/>
            <a:r>
              <a:t>Click to add title</a:t>
            </a:r>
          </a:p>
        </p:txBody>
      </p:sp>
      <p:sp>
        <p:nvSpPr>
          <p:cNvPr id="90" name="Body Level One…"/>
          <p:cNvSpPr txBox="1"/>
          <p:nvPr>
            <p:ph type="body" sz="half" idx="1" hasCustomPrompt="1"/>
          </p:nvPr>
        </p:nvSpPr>
        <p:spPr>
          <a:xfrm>
            <a:off x="914399" y="2022250"/>
            <a:ext cx="6257367" cy="3914910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1200"/>
              </a:spcBef>
              <a:buSzTx/>
              <a:buFontTx/>
              <a:buNone/>
              <a:defRPr sz="2000"/>
            </a:lvl1pPr>
            <a:lvl2pPr marL="228600" indent="-228600">
              <a:spcBef>
                <a:spcPts val="1200"/>
              </a:spcBef>
              <a:buFontTx/>
              <a:defRPr sz="2000"/>
            </a:lvl2pPr>
            <a:lvl3pPr marL="711200" indent="-254000">
              <a:spcBef>
                <a:spcPts val="1200"/>
              </a:spcBef>
              <a:buFontTx/>
              <a:defRPr sz="2000"/>
            </a:lvl3pPr>
            <a:lvl4pPr marL="971550" indent="-285750">
              <a:spcBef>
                <a:spcPts val="1200"/>
              </a:spcBef>
              <a:buFontTx/>
              <a:defRPr sz="2000"/>
            </a:lvl4pPr>
            <a:lvl5pPr marL="1200150" indent="-285750">
              <a:spcBef>
                <a:spcPts val="1200"/>
              </a:spcBef>
              <a:buFontTx/>
              <a:defRPr sz="2000"/>
            </a:lvl5pPr>
          </a:lstStyle>
          <a:p>
            <a:pPr/>
            <a:r>
              <a:t>Click to add text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91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Click to add title"/>
          <p:cNvSpPr txBox="1"/>
          <p:nvPr>
            <p:ph type="title" hasCustomPrompt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Click to add title</a:t>
            </a:r>
          </a:p>
        </p:txBody>
      </p:sp>
      <p:sp>
        <p:nvSpPr>
          <p:cNvPr id="99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Closing 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Click to add title"/>
          <p:cNvSpPr txBox="1"/>
          <p:nvPr>
            <p:ph type="title" hasCustomPrompt="1"/>
          </p:nvPr>
        </p:nvSpPr>
        <p:spPr>
          <a:xfrm>
            <a:off x="6091515" y="374090"/>
            <a:ext cx="5057105" cy="3624985"/>
          </a:xfrm>
          <a:prstGeom prst="rect">
            <a:avLst/>
          </a:prstGeom>
        </p:spPr>
        <p:txBody>
          <a:bodyPr anchor="b"/>
          <a:lstStyle>
            <a:lvl1pPr>
              <a:defRPr sz="4800">
                <a:solidFill>
                  <a:srgbClr val="FFFFFF"/>
                </a:solidFill>
              </a:defRPr>
            </a:lvl1pPr>
          </a:lstStyle>
          <a:p>
            <a:pPr/>
            <a:r>
              <a:t>Click to add title</a:t>
            </a:r>
          </a:p>
        </p:txBody>
      </p:sp>
      <p:sp>
        <p:nvSpPr>
          <p:cNvPr id="107" name="Body Level One…"/>
          <p:cNvSpPr txBox="1"/>
          <p:nvPr>
            <p:ph type="body" sz="quarter" idx="1" hasCustomPrompt="1"/>
          </p:nvPr>
        </p:nvSpPr>
        <p:spPr>
          <a:xfrm>
            <a:off x="6091513" y="4172989"/>
            <a:ext cx="5057105" cy="2519375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buSzTx/>
              <a:buFontTx/>
              <a:buNone/>
              <a:defRPr sz="2000">
                <a:solidFill>
                  <a:srgbClr val="FFFFFF"/>
                </a:solidFill>
              </a:defRPr>
            </a:lvl1pPr>
            <a:lvl2pPr marL="774700" indent="-317500">
              <a:spcBef>
                <a:spcPts val="0"/>
              </a:spcBef>
              <a:buFontTx/>
              <a:defRPr sz="2000">
                <a:solidFill>
                  <a:srgbClr val="FFFFFF"/>
                </a:solidFill>
              </a:defRPr>
            </a:lvl2pPr>
            <a:lvl3pPr marL="1271587" indent="-357187">
              <a:spcBef>
                <a:spcPts val="0"/>
              </a:spcBef>
              <a:buFontTx/>
              <a:defRPr sz="2000">
                <a:solidFill>
                  <a:srgbClr val="FFFFFF"/>
                </a:solidFill>
              </a:defRPr>
            </a:lvl3pPr>
            <a:lvl4pPr marL="1779814" indent="-408214">
              <a:spcBef>
                <a:spcPts val="0"/>
              </a:spcBef>
              <a:buFontTx/>
              <a:defRPr sz="2000">
                <a:solidFill>
                  <a:srgbClr val="FFFFFF"/>
                </a:solidFill>
              </a:defRPr>
            </a:lvl4pPr>
            <a:lvl5pPr marL="2114550" indent="-285750">
              <a:spcBef>
                <a:spcPts val="0"/>
              </a:spcBef>
              <a:buFontTx/>
              <a:defRPr sz="2000">
                <a:solidFill>
                  <a:srgbClr val="FFFFFF"/>
                </a:solidFill>
              </a:defRPr>
            </a:lvl5pPr>
          </a:lstStyle>
          <a:p>
            <a:pPr/>
            <a:r>
              <a:t>Click to add content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pic>
        <p:nvPicPr>
          <p:cNvPr id="108" name="Graphic 1" descr="Graphic 1"/>
          <p:cNvPicPr>
            <a:picLocks noChangeAspect="1"/>
          </p:cNvPicPr>
          <p:nvPr/>
        </p:nvPicPr>
        <p:blipFill>
          <a:blip r:embed="rId2">
            <a:extLst/>
          </a:blip>
          <a:srcRect l="4151" t="0" r="18576" b="0"/>
          <a:stretch>
            <a:fillRect/>
          </a:stretch>
        </p:blipFill>
        <p:spPr>
          <a:xfrm flipH="1">
            <a:off x="-5" y="0"/>
            <a:ext cx="5181609" cy="6858000"/>
          </a:xfrm>
          <a:prstGeom prst="rect">
            <a:avLst/>
          </a:prstGeom>
          <a:ln w="12700">
            <a:miter lim="400000"/>
          </a:ln>
        </p:spPr>
      </p:pic>
      <p:sp>
        <p:nvSpPr>
          <p:cNvPr id="109" name="Slide Number"/>
          <p:cNvSpPr txBox="1"/>
          <p:nvPr>
            <p:ph type="sldNum" sz="quarter" idx="2"/>
          </p:nvPr>
        </p:nvSpPr>
        <p:spPr>
          <a:xfrm>
            <a:off x="8506330" y="6240782"/>
            <a:ext cx="231273" cy="231137"/>
          </a:xfrm>
          <a:prstGeom prst="rect">
            <a:avLst/>
          </a:prstGeom>
        </p:spPr>
        <p:txBody>
          <a:bodyPr/>
          <a:lstStyle>
            <a:lvl1pPr algn="r">
              <a:defRPr sz="900">
                <a:solidFill>
                  <a:srgbClr val="888888"/>
                </a:solidFill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Intr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Overview">
    <p:bg>
      <p:bgPr>
        <a:solidFill>
          <a:schemeClr val="accen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3" name="Graphic 7" descr="Graphic 7"/>
          <p:cNvPicPr>
            <a:picLocks noChangeAspect="1"/>
          </p:cNvPicPr>
          <p:nvPr/>
        </p:nvPicPr>
        <p:blipFill>
          <a:blip r:embed="rId2">
            <a:extLst/>
          </a:blip>
          <a:srcRect l="15158" t="0" r="0" b="78533"/>
          <a:stretch>
            <a:fillRect/>
          </a:stretch>
        </p:blipFill>
        <p:spPr>
          <a:xfrm rot="10800000">
            <a:off x="8553446" y="-39575"/>
            <a:ext cx="5867406" cy="1317517"/>
          </a:xfrm>
          <a:prstGeom prst="rect">
            <a:avLst/>
          </a:prstGeom>
          <a:ln w="12700">
            <a:miter lim="400000"/>
          </a:ln>
        </p:spPr>
      </p:pic>
      <p:sp>
        <p:nvSpPr>
          <p:cNvPr id="124" name="Click to add title"/>
          <p:cNvSpPr txBox="1"/>
          <p:nvPr>
            <p:ph type="title" hasCustomPrompt="1"/>
          </p:nvPr>
        </p:nvSpPr>
        <p:spPr>
          <a:xfrm>
            <a:off x="6126479" y="1310638"/>
            <a:ext cx="4806001" cy="2689632"/>
          </a:xfrm>
          <a:prstGeom prst="rect">
            <a:avLst/>
          </a:prstGeom>
        </p:spPr>
        <p:txBody>
          <a:bodyPr anchor="b"/>
          <a:lstStyle>
            <a:lvl1pPr>
              <a:defRPr sz="4800"/>
            </a:lvl1pPr>
          </a:lstStyle>
          <a:p>
            <a:pPr/>
            <a:r>
              <a:t>Click to add title</a:t>
            </a:r>
          </a:p>
        </p:txBody>
      </p:sp>
      <p:sp>
        <p:nvSpPr>
          <p:cNvPr id="125" name="Picture Placeholder 11"/>
          <p:cNvSpPr/>
          <p:nvPr>
            <p:ph type="pic" idx="21"/>
          </p:nvPr>
        </p:nvSpPr>
        <p:spPr>
          <a:xfrm>
            <a:off x="0" y="-10165"/>
            <a:ext cx="6096000" cy="6858007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126" name="Body Level One…"/>
          <p:cNvSpPr txBox="1"/>
          <p:nvPr>
            <p:ph type="body" sz="quarter" idx="1" hasCustomPrompt="1"/>
          </p:nvPr>
        </p:nvSpPr>
        <p:spPr>
          <a:xfrm>
            <a:off x="6126162" y="4172989"/>
            <a:ext cx="4806001" cy="2389749"/>
          </a:xfrm>
          <a:prstGeom prst="rect">
            <a:avLst/>
          </a:prstGeom>
        </p:spPr>
        <p:txBody>
          <a:bodyPr/>
          <a:lstStyle>
            <a:lvl1pPr marL="0" indent="0">
              <a:buSzTx/>
              <a:buFontTx/>
              <a:buNone/>
              <a:defRPr sz="2000"/>
            </a:lvl1pPr>
            <a:lvl2pPr marL="0" indent="0">
              <a:buSzTx/>
              <a:buFontTx/>
              <a:buNone/>
              <a:defRPr sz="2000"/>
            </a:lvl2pPr>
            <a:lvl3pPr marL="0" indent="0">
              <a:buSzTx/>
              <a:buFontTx/>
              <a:buNone/>
              <a:defRPr sz="2000"/>
            </a:lvl3pPr>
            <a:lvl4pPr marL="0" indent="0">
              <a:buSzTx/>
              <a:buFontTx/>
              <a:buNone/>
              <a:defRPr sz="2000"/>
            </a:lvl4pPr>
            <a:lvl5pPr marL="0" indent="0">
              <a:buSzTx/>
              <a:buFontTx/>
              <a:buNone/>
              <a:defRPr sz="2000"/>
            </a:lvl5pPr>
          </a:lstStyle>
          <a:p>
            <a:pPr/>
            <a:r>
              <a:t>Click to add text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127" name="Slide Number"/>
          <p:cNvSpPr txBox="1"/>
          <p:nvPr>
            <p:ph type="sldNum" sz="quarter" idx="2"/>
          </p:nvPr>
        </p:nvSpPr>
        <p:spPr>
          <a:xfrm>
            <a:off x="8506333" y="6240782"/>
            <a:ext cx="231273" cy="231137"/>
          </a:xfrm>
          <a:prstGeom prst="rect">
            <a:avLst/>
          </a:prstGeom>
        </p:spPr>
        <p:txBody>
          <a:bodyPr/>
          <a:lstStyle>
            <a:lvl1pPr algn="r">
              <a:defRPr sz="900">
                <a:solidFill>
                  <a:srgbClr val="888888"/>
                </a:solidFill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1.xml"/><Relationship Id="rId4" Type="http://schemas.openxmlformats.org/officeDocument/2006/relationships/slideLayout" Target="../slideLayouts/slideLayout2.xml"/><Relationship Id="rId5" Type="http://schemas.openxmlformats.org/officeDocument/2006/relationships/slideLayout" Target="../slideLayouts/slideLayout3.xml"/><Relationship Id="rId6" Type="http://schemas.openxmlformats.org/officeDocument/2006/relationships/slideLayout" Target="../slideLayouts/slideLayout4.xml"/><Relationship Id="rId7" Type="http://schemas.openxmlformats.org/officeDocument/2006/relationships/slideLayout" Target="../slideLayouts/slideLayout5.xml"/><Relationship Id="rId8" Type="http://schemas.openxmlformats.org/officeDocument/2006/relationships/slideLayout" Target="../slideLayouts/slideLayout6.xml"/><Relationship Id="rId9" Type="http://schemas.openxmlformats.org/officeDocument/2006/relationships/slideLayout" Target="../slideLayouts/slideLayout7.xml"/><Relationship Id="rId10" Type="http://schemas.openxmlformats.org/officeDocument/2006/relationships/slideLayout" Target="../slideLayouts/slideLayout8.xml"/><Relationship Id="rId11" Type="http://schemas.openxmlformats.org/officeDocument/2006/relationships/slideLayout" Target="../slideLayouts/slideLayout9.xml"/><Relationship Id="rId12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1.xml"/><Relationship Id="rId14" Type="http://schemas.openxmlformats.org/officeDocument/2006/relationships/slideLayout" Target="../slideLayouts/slideLayout12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2" descr="Graphic 2"/>
          <p:cNvPicPr>
            <a:picLocks noChangeAspect="1"/>
          </p:cNvPicPr>
          <p:nvPr/>
        </p:nvPicPr>
        <p:blipFill>
          <a:blip r:embed="rId2">
            <a:extLst/>
          </a:blip>
          <a:srcRect l="18883" t="18052" r="46634" b="0"/>
          <a:stretch>
            <a:fillRect/>
          </a:stretch>
        </p:blipFill>
        <p:spPr>
          <a:xfrm rot="5400000">
            <a:off x="9553763" y="-952311"/>
            <a:ext cx="1685940" cy="3590550"/>
          </a:xfrm>
          <a:prstGeom prst="rect">
            <a:avLst/>
          </a:prstGeom>
          <a:ln w="12700">
            <a:miter lim="400000"/>
          </a:ln>
        </p:spPr>
      </p:pic>
      <p:sp>
        <p:nvSpPr>
          <p:cNvPr id="3" name="Click to add title"/>
          <p:cNvSpPr txBox="1"/>
          <p:nvPr>
            <p:ph type="title" hasCustomPrompt="1"/>
          </p:nvPr>
        </p:nvSpPr>
        <p:spPr>
          <a:xfrm>
            <a:off x="923544" y="584477"/>
            <a:ext cx="10354055" cy="120976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normAutofit fontScale="100000" lnSpcReduction="0"/>
          </a:bodyPr>
          <a:lstStyle/>
          <a:p>
            <a:pPr/>
            <a:r>
              <a:t>Click to add title</a:t>
            </a:r>
          </a:p>
        </p:txBody>
      </p:sp>
      <p:sp>
        <p:nvSpPr>
          <p:cNvPr id="4" name="Body Level One…"/>
          <p:cNvSpPr txBox="1"/>
          <p:nvPr>
            <p:ph type="body" idx="1"/>
          </p:nvPr>
        </p:nvSpPr>
        <p:spPr>
          <a:xfrm>
            <a:off x="6805083" y="2438400"/>
            <a:ext cx="4775201" cy="44196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normAutofit fontScale="100000" lnSpcReduction="0"/>
          </a:bodyPr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5" name="Slide Number"/>
          <p:cNvSpPr txBox="1"/>
          <p:nvPr>
            <p:ph type="sldNum" sz="quarter" idx="2"/>
          </p:nvPr>
        </p:nvSpPr>
        <p:spPr>
          <a:xfrm>
            <a:off x="914400" y="6259742"/>
            <a:ext cx="273652" cy="269237"/>
          </a:xfrm>
          <a:prstGeom prst="rect">
            <a:avLst/>
          </a:prstGeom>
          <a:ln w="12700">
            <a:miter lim="400000"/>
          </a:ln>
        </p:spPr>
        <p:txBody>
          <a:bodyPr wrap="none" lIns="45718" tIns="45718" rIns="45718" bIns="45718" anchor="ctr">
            <a:spAutoFit/>
          </a:bodyPr>
          <a:lstStyle>
            <a:lvl1pPr>
              <a:defRPr sz="1200">
                <a:latin typeface="Tenorite"/>
                <a:ea typeface="Tenorite"/>
                <a:cs typeface="Tenorite"/>
                <a:sym typeface="Tenorite"/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  <p:sldLayoutId id="2147483659" r:id="rId13"/>
    <p:sldLayoutId id="2147483660" r:id="rId14"/>
  </p:sldLayoutIdLst>
  <p:transition xmlns:p14="http://schemas.microsoft.com/office/powerpoint/2010/main" spd="med" advClick="1"/>
  <p:txStyles>
    <p:titleStyle>
      <a:lvl1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all" i="0" spc="0" strike="noStrike" sz="3200" u="none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1pPr>
      <a:lvl2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all" i="0" spc="0" strike="noStrike" sz="3200" u="none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2pPr>
      <a:lvl3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all" i="0" spc="0" strike="noStrike" sz="3200" u="none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3pPr>
      <a:lvl4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all" i="0" spc="0" strike="noStrike" sz="3200" u="none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4pPr>
      <a:lvl5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all" i="0" spc="0" strike="noStrike" sz="3200" u="none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5pPr>
      <a:lvl6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all" i="0" spc="0" strike="noStrike" sz="3200" u="none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6pPr>
      <a:lvl7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all" i="0" spc="0" strike="noStrike" sz="3200" u="none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7pPr>
      <a:lvl8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all" i="0" spc="0" strike="noStrike" sz="3200" u="none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8pPr>
      <a:lvl9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all" i="0" spc="0" strike="noStrike" sz="3200" u="none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9pPr>
    </p:titleStyle>
    <p:bodyStyle>
      <a:lvl1pPr marL="228600" marR="0" indent="-228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1pPr>
      <a:lvl2pPr marL="723900" marR="0" indent="-2667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2pPr>
      <a:lvl3pPr marL="1234438" marR="0" indent="-320038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3pPr>
      <a:lvl4pPr marL="17272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4pPr>
      <a:lvl5pPr marL="21844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5pPr>
      <a:lvl6pPr marL="26416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6pPr>
      <a:lvl7pPr marL="30988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7pPr>
      <a:lvl8pPr marL="35560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8pPr>
      <a:lvl9pPr marL="40132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9pPr>
    </p:bodyStyle>
    <p:otherStyle>
      <a:lvl1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Tenorite"/>
        </a:defRPr>
      </a:lvl1pPr>
      <a:lvl2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Tenorite"/>
        </a:defRPr>
      </a:lvl2pPr>
      <a:lvl3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Tenorite"/>
        </a:defRPr>
      </a:lvl3pPr>
      <a:lvl4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Tenorite"/>
        </a:defRPr>
      </a:lvl4pPr>
      <a:lvl5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Tenorite"/>
        </a:defRPr>
      </a:lvl5pPr>
      <a:lvl6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Tenorite"/>
        </a:defRPr>
      </a:lvl6pPr>
      <a:lvl7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Tenorite"/>
        </a:defRPr>
      </a:lvl7pPr>
      <a:lvl8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Tenorite"/>
        </a:defRPr>
      </a:lvl8pPr>
      <a:lvl9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Tenorite"/>
        </a:defRPr>
      </a:lvl9pPr>
    </p:otherStyle>
  </p:txStyles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1.png"/></Relationships>
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</Relationships>
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2.xml"/></Relationships>
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</Relationships>
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12.png"/></Relationships>
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3.png"/></Relationships>
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/Relationships>
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6.png"/></Relationships>
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7.png"/></Relationships>
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8.png"/></Relationships>
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9.png"/></Relationships>
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9.png"/></Relationships>
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9.png"/></Relationships>
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</Relationships>
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/Relationships>
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</Relationships>
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0.png"/></Relationships>
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chart" Target="../charts/chart3.xml"/><Relationship Id="rId3" Type="http://schemas.openxmlformats.org/officeDocument/2006/relationships/chart" Target="../charts/chart4.xml"/></Relationships>
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8.xml"/></Relationships>
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/Relationships>
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0.png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Title 1"/>
          <p:cNvSpPr txBox="1"/>
          <p:nvPr>
            <p:ph type="title"/>
          </p:nvPr>
        </p:nvSpPr>
        <p:spPr>
          <a:xfrm>
            <a:off x="6095998" y="2773681"/>
            <a:ext cx="5674367" cy="3200412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Traveling salesman problem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0" name="LAX"/>
          <p:cNvGrpSpPr/>
          <p:nvPr/>
        </p:nvGrpSpPr>
        <p:grpSpPr>
          <a:xfrm>
            <a:off x="1191309" y="3073270"/>
            <a:ext cx="694213" cy="694213"/>
            <a:chOff x="0" y="0"/>
            <a:chExt cx="694211" cy="694211"/>
          </a:xfrm>
        </p:grpSpPr>
        <p:sp>
          <p:nvSpPr>
            <p:cNvPr id="138" name="Circle"/>
            <p:cNvSpPr/>
            <p:nvPr/>
          </p:nvSpPr>
          <p:spPr>
            <a:xfrm>
              <a:off x="-1" y="-1"/>
              <a:ext cx="694212" cy="694212"/>
            </a:xfrm>
            <a:prstGeom prst="ellipse">
              <a:avLst/>
            </a:prstGeom>
            <a:gradFill flip="none" rotWithShape="1">
              <a:gsLst>
                <a:gs pos="0">
                  <a:srgbClr val="1287F6"/>
                </a:gs>
                <a:gs pos="100000">
                  <a:schemeClr val="accent5">
                    <a:hueOff val="329330"/>
                    <a:satOff val="40776"/>
                    <a:lumOff val="24655"/>
                  </a:schemeClr>
                </a:gs>
              </a:gsLst>
              <a:lin ang="16976440" scaled="0"/>
            </a:gradFill>
            <a:ln w="9525" cap="flat">
              <a:solidFill>
                <a:srgbClr val="4F80EF"/>
              </a:solidFill>
              <a:prstDash val="solid"/>
              <a:round/>
            </a:ln>
            <a:effectLst>
              <a:outerShdw sx="100000" sy="100000" kx="0" ky="0" algn="b" rotWithShape="0" blurRad="63500" dist="25400" dir="5400000">
                <a:srgbClr val="000000">
                  <a:alpha val="5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139" name="LAX"/>
            <p:cNvSpPr txBox="1"/>
            <p:nvPr/>
          </p:nvSpPr>
          <p:spPr>
            <a:xfrm>
              <a:off x="106426" y="208098"/>
              <a:ext cx="481352" cy="27799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1500">
                  <a:solidFill>
                    <a:srgbClr val="FFFFFF"/>
                  </a:solidFill>
                </a:defRPr>
              </a:lvl1pPr>
            </a:lstStyle>
            <a:p>
              <a:pPr/>
              <a:r>
                <a:t>LA</a:t>
              </a:r>
            </a:p>
          </p:txBody>
        </p:sp>
      </p:grpSp>
      <p:grpSp>
        <p:nvGrpSpPr>
          <p:cNvPr id="143" name="JFK"/>
          <p:cNvGrpSpPr/>
          <p:nvPr/>
        </p:nvGrpSpPr>
        <p:grpSpPr>
          <a:xfrm>
            <a:off x="2605999" y="1605411"/>
            <a:ext cx="694213" cy="694211"/>
            <a:chOff x="-1" y="0"/>
            <a:chExt cx="694211" cy="694210"/>
          </a:xfrm>
        </p:grpSpPr>
        <p:sp>
          <p:nvSpPr>
            <p:cNvPr id="141" name="Circle"/>
            <p:cNvSpPr/>
            <p:nvPr/>
          </p:nvSpPr>
          <p:spPr>
            <a:xfrm>
              <a:off x="-2" y="-1"/>
              <a:ext cx="694213" cy="694211"/>
            </a:xfrm>
            <a:prstGeom prst="ellipse">
              <a:avLst/>
            </a:prstGeom>
            <a:gradFill flip="none" rotWithShape="1">
              <a:gsLst>
                <a:gs pos="0">
                  <a:srgbClr val="1287F6"/>
                </a:gs>
                <a:gs pos="100000">
                  <a:schemeClr val="accent5">
                    <a:hueOff val="329330"/>
                    <a:satOff val="40776"/>
                    <a:lumOff val="24655"/>
                  </a:schemeClr>
                </a:gs>
              </a:gsLst>
              <a:lin ang="16976440" scaled="0"/>
            </a:gradFill>
            <a:ln w="9525" cap="flat">
              <a:solidFill>
                <a:srgbClr val="4F80EF"/>
              </a:solidFill>
              <a:prstDash val="solid"/>
              <a:round/>
            </a:ln>
            <a:effectLst>
              <a:outerShdw sx="100000" sy="100000" kx="0" ky="0" algn="b" rotWithShape="0" blurRad="63500" dist="25400" dir="5400000">
                <a:srgbClr val="000000">
                  <a:alpha val="5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142" name="JFK"/>
            <p:cNvSpPr txBox="1"/>
            <p:nvPr/>
          </p:nvSpPr>
          <p:spPr>
            <a:xfrm>
              <a:off x="106425" y="208097"/>
              <a:ext cx="481353" cy="27799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1500">
                  <a:solidFill>
                    <a:srgbClr val="FFFFFF"/>
                  </a:solidFill>
                </a:defRPr>
              </a:lvl1pPr>
            </a:lstStyle>
            <a:p>
              <a:pPr/>
              <a:r>
                <a:t>NYC</a:t>
              </a:r>
            </a:p>
          </p:txBody>
        </p:sp>
      </p:grpSp>
      <p:grpSp>
        <p:nvGrpSpPr>
          <p:cNvPr id="146" name="MIA"/>
          <p:cNvGrpSpPr/>
          <p:nvPr/>
        </p:nvGrpSpPr>
        <p:grpSpPr>
          <a:xfrm>
            <a:off x="4020688" y="3073270"/>
            <a:ext cx="694211" cy="694213"/>
            <a:chOff x="0" y="0"/>
            <a:chExt cx="694210" cy="694211"/>
          </a:xfrm>
        </p:grpSpPr>
        <p:sp>
          <p:nvSpPr>
            <p:cNvPr id="144" name="Circle"/>
            <p:cNvSpPr/>
            <p:nvPr/>
          </p:nvSpPr>
          <p:spPr>
            <a:xfrm>
              <a:off x="-1" y="-1"/>
              <a:ext cx="694211" cy="694212"/>
            </a:xfrm>
            <a:prstGeom prst="ellipse">
              <a:avLst/>
            </a:prstGeom>
            <a:gradFill flip="none" rotWithShape="1">
              <a:gsLst>
                <a:gs pos="0">
                  <a:srgbClr val="1287F6"/>
                </a:gs>
                <a:gs pos="100000">
                  <a:schemeClr val="accent5">
                    <a:hueOff val="329330"/>
                    <a:satOff val="40776"/>
                    <a:lumOff val="24655"/>
                  </a:schemeClr>
                </a:gs>
              </a:gsLst>
              <a:lin ang="16976440" scaled="0"/>
            </a:gradFill>
            <a:ln w="9525" cap="flat">
              <a:solidFill>
                <a:srgbClr val="4F80EF"/>
              </a:solidFill>
              <a:prstDash val="solid"/>
              <a:round/>
            </a:ln>
            <a:effectLst>
              <a:outerShdw sx="100000" sy="100000" kx="0" ky="0" algn="b" rotWithShape="0" blurRad="63500" dist="25400" dir="5400000">
                <a:srgbClr val="000000">
                  <a:alpha val="5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145" name="MIA"/>
            <p:cNvSpPr txBox="1"/>
            <p:nvPr/>
          </p:nvSpPr>
          <p:spPr>
            <a:xfrm>
              <a:off x="106425" y="208098"/>
              <a:ext cx="481351" cy="27799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1500">
                  <a:solidFill>
                    <a:srgbClr val="FFFFFF"/>
                  </a:solidFill>
                </a:defRPr>
              </a:lvl1pPr>
            </a:lstStyle>
            <a:p>
              <a:pPr/>
              <a:r>
                <a:t>MIA</a:t>
              </a:r>
            </a:p>
          </p:txBody>
        </p:sp>
      </p:grpSp>
      <p:grpSp>
        <p:nvGrpSpPr>
          <p:cNvPr id="149" name="HOU"/>
          <p:cNvGrpSpPr/>
          <p:nvPr/>
        </p:nvGrpSpPr>
        <p:grpSpPr>
          <a:xfrm>
            <a:off x="2605999" y="4541128"/>
            <a:ext cx="694213" cy="694211"/>
            <a:chOff x="-1" y="0"/>
            <a:chExt cx="694211" cy="694210"/>
          </a:xfrm>
        </p:grpSpPr>
        <p:sp>
          <p:nvSpPr>
            <p:cNvPr id="147" name="Circle"/>
            <p:cNvSpPr/>
            <p:nvPr/>
          </p:nvSpPr>
          <p:spPr>
            <a:xfrm>
              <a:off x="-2" y="-1"/>
              <a:ext cx="694213" cy="694211"/>
            </a:xfrm>
            <a:prstGeom prst="ellipse">
              <a:avLst/>
            </a:prstGeom>
            <a:gradFill flip="none" rotWithShape="1">
              <a:gsLst>
                <a:gs pos="0">
                  <a:srgbClr val="1287F6"/>
                </a:gs>
                <a:gs pos="100000">
                  <a:schemeClr val="accent5">
                    <a:hueOff val="329330"/>
                    <a:satOff val="40776"/>
                    <a:lumOff val="24655"/>
                  </a:schemeClr>
                </a:gs>
              </a:gsLst>
              <a:lin ang="16976440" scaled="0"/>
            </a:gradFill>
            <a:ln w="9525" cap="flat">
              <a:solidFill>
                <a:srgbClr val="4F80EF"/>
              </a:solidFill>
              <a:prstDash val="solid"/>
              <a:round/>
            </a:ln>
            <a:effectLst>
              <a:outerShdw sx="100000" sy="100000" kx="0" ky="0" algn="b" rotWithShape="0" blurRad="63500" dist="25400" dir="5400000">
                <a:srgbClr val="000000">
                  <a:alpha val="5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148" name="HOU"/>
            <p:cNvSpPr txBox="1"/>
            <p:nvPr/>
          </p:nvSpPr>
          <p:spPr>
            <a:xfrm>
              <a:off x="106425" y="208097"/>
              <a:ext cx="481353" cy="27799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1500">
                  <a:solidFill>
                    <a:srgbClr val="FFFFFF"/>
                  </a:solidFill>
                </a:defRPr>
              </a:lvl1pPr>
            </a:lstStyle>
            <a:p>
              <a:pPr/>
              <a:r>
                <a:t>HOU</a:t>
              </a:r>
            </a:p>
          </p:txBody>
        </p:sp>
      </p:grpSp>
      <p:sp>
        <p:nvSpPr>
          <p:cNvPr id="150" name="Line"/>
          <p:cNvSpPr/>
          <p:nvPr/>
        </p:nvSpPr>
        <p:spPr>
          <a:xfrm flipV="1">
            <a:off x="3183420" y="3663086"/>
            <a:ext cx="942989" cy="967102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51" name="Line"/>
          <p:cNvSpPr/>
          <p:nvPr/>
        </p:nvSpPr>
        <p:spPr>
          <a:xfrm flipV="1">
            <a:off x="1738265" y="2172368"/>
            <a:ext cx="945356" cy="945350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52" name="Line"/>
          <p:cNvSpPr/>
          <p:nvPr/>
        </p:nvSpPr>
        <p:spPr>
          <a:xfrm flipH="1" flipV="1">
            <a:off x="1797816" y="3652993"/>
            <a:ext cx="894032" cy="1000098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53" name="Line"/>
          <p:cNvSpPr/>
          <p:nvPr/>
        </p:nvSpPr>
        <p:spPr>
          <a:xfrm flipH="1" flipV="1">
            <a:off x="3224068" y="2173196"/>
            <a:ext cx="893842" cy="999206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54" name="Line"/>
          <p:cNvSpPr/>
          <p:nvPr/>
        </p:nvSpPr>
        <p:spPr>
          <a:xfrm flipH="1" flipV="1">
            <a:off x="2968113" y="2299416"/>
            <a:ext cx="109" cy="2237885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55" name="Line"/>
          <p:cNvSpPr/>
          <p:nvPr/>
        </p:nvSpPr>
        <p:spPr>
          <a:xfrm flipH="1">
            <a:off x="1889535" y="3406540"/>
            <a:ext cx="2127140" cy="12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56" name="2.475"/>
          <p:cNvSpPr txBox="1"/>
          <p:nvPr/>
        </p:nvSpPr>
        <p:spPr>
          <a:xfrm>
            <a:off x="1651721" y="2339706"/>
            <a:ext cx="625295" cy="3330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/>
            <a:r>
              <a:t>2.776</a:t>
            </a:r>
          </a:p>
        </p:txBody>
      </p:sp>
      <p:sp>
        <p:nvSpPr>
          <p:cNvPr id="157" name="1.09"/>
          <p:cNvSpPr txBox="1"/>
          <p:nvPr/>
        </p:nvSpPr>
        <p:spPr>
          <a:xfrm>
            <a:off x="3775173" y="2339706"/>
            <a:ext cx="625295" cy="3330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/>
            <a:r>
              <a:t>1.288</a:t>
            </a:r>
          </a:p>
        </p:txBody>
      </p:sp>
      <p:sp>
        <p:nvSpPr>
          <p:cNvPr id="158" name="1.39"/>
          <p:cNvSpPr txBox="1"/>
          <p:nvPr/>
        </p:nvSpPr>
        <p:spPr>
          <a:xfrm>
            <a:off x="1709651" y="4167951"/>
            <a:ext cx="625295" cy="3330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/>
            <a:r>
              <a:t>1.546</a:t>
            </a:r>
          </a:p>
        </p:txBody>
      </p:sp>
      <p:sp>
        <p:nvSpPr>
          <p:cNvPr id="159" name="1.1"/>
          <p:cNvSpPr txBox="1"/>
          <p:nvPr/>
        </p:nvSpPr>
        <p:spPr>
          <a:xfrm>
            <a:off x="3775173" y="4146631"/>
            <a:ext cx="625295" cy="3330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/>
            <a:r>
              <a:t>1.189</a:t>
            </a:r>
          </a:p>
        </p:txBody>
      </p:sp>
      <p:sp>
        <p:nvSpPr>
          <p:cNvPr id="160" name="1.74"/>
          <p:cNvSpPr txBox="1"/>
          <p:nvPr/>
        </p:nvSpPr>
        <p:spPr>
          <a:xfrm>
            <a:off x="2949132" y="2682563"/>
            <a:ext cx="625295" cy="3330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/>
            <a:r>
              <a:t>1.629</a:t>
            </a:r>
          </a:p>
        </p:txBody>
      </p:sp>
      <p:sp>
        <p:nvSpPr>
          <p:cNvPr id="161" name="2.342"/>
          <p:cNvSpPr txBox="1"/>
          <p:nvPr/>
        </p:nvSpPr>
        <p:spPr>
          <a:xfrm>
            <a:off x="2136699" y="3393840"/>
            <a:ext cx="676976" cy="3330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/>
            <a:r>
              <a:t> 2.735</a:t>
            </a:r>
          </a:p>
        </p:txBody>
      </p:sp>
      <p:sp>
        <p:nvSpPr>
          <p:cNvPr id="162" name="Weights in 1K air miles"/>
          <p:cNvSpPr txBox="1"/>
          <p:nvPr/>
        </p:nvSpPr>
        <p:spPr>
          <a:xfrm>
            <a:off x="5141083" y="6096677"/>
            <a:ext cx="1909831" cy="3330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/>
            <a:r>
              <a:t>Weights in 1K miles</a:t>
            </a:r>
          </a:p>
        </p:txBody>
      </p:sp>
      <p:sp>
        <p:nvSpPr>
          <p:cNvPr id="163" name="TSP"/>
          <p:cNvSpPr txBox="1"/>
          <p:nvPr>
            <p:ph type="title" idx="4294967295"/>
          </p:nvPr>
        </p:nvSpPr>
        <p:spPr>
          <a:xfrm>
            <a:off x="151728" y="113540"/>
            <a:ext cx="5602753" cy="647783"/>
          </a:xfrm>
          <a:prstGeom prst="rect">
            <a:avLst/>
          </a:prstGeom>
        </p:spPr>
        <p:txBody>
          <a:bodyPr/>
          <a:lstStyle/>
          <a:p>
            <a:pPr/>
            <a:r>
              <a:t>TSP</a:t>
            </a:r>
          </a:p>
        </p:txBody>
      </p:sp>
      <p:sp>
        <p:nvSpPr>
          <p:cNvPr id="164" name="Decision vs. Optimization"/>
          <p:cNvSpPr txBox="1"/>
          <p:nvPr/>
        </p:nvSpPr>
        <p:spPr>
          <a:xfrm>
            <a:off x="6541637" y="1314914"/>
            <a:ext cx="808001" cy="38256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b="1" sz="2300"/>
            </a:lvl1pPr>
          </a:lstStyle>
          <a:p>
            <a:pPr/>
            <a:r>
              <a:t>TSP-D</a:t>
            </a:r>
          </a:p>
        </p:txBody>
      </p:sp>
      <p:sp>
        <p:nvSpPr>
          <p:cNvPr id="165" name="Text"/>
          <p:cNvSpPr txBox="1"/>
          <p:nvPr/>
        </p:nvSpPr>
        <p:spPr>
          <a:xfrm>
            <a:off x="2080744" y="5445116"/>
            <a:ext cx="1628660" cy="220219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>
            <a:spAutoFit/>
          </a:bodyPr>
          <a:lstStyle/>
          <a:p>
            <a:pPr latinLnBrk="1"/>
            <a14:m>
              <m:oMathPara>
                <m:oMathParaPr>
                  <m:jc m:val="centerGroup"/>
                </m:oMathParaPr>
                <m:oMath>
                  <m:r>
                    <a:rPr xmlns:a="http://schemas.openxmlformats.org/drawingml/2006/main" sz="20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𝑂</m:t>
                  </m:r>
                  <m:r>
                    <a:rPr xmlns:a="http://schemas.openxmlformats.org/drawingml/2006/main" sz="20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𝑝</m:t>
                  </m:r>
                  <m:r>
                    <a:rPr xmlns:a="http://schemas.openxmlformats.org/drawingml/2006/main" sz="20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𝑡</m:t>
                  </m:r>
                  <m:r>
                    <a:rPr xmlns:a="http://schemas.openxmlformats.org/drawingml/2006/main" sz="20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(</m:t>
                  </m:r>
                  <m:r>
                    <a:rPr xmlns:a="http://schemas.openxmlformats.org/drawingml/2006/main" sz="20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𝐺</m:t>
                  </m:r>
                  <m:r>
                    <a:rPr xmlns:a="http://schemas.openxmlformats.org/drawingml/2006/main" sz="20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)</m:t>
                  </m:r>
                  <m:r>
                    <a:rPr xmlns:a="http://schemas.openxmlformats.org/drawingml/2006/main" sz="20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=</m:t>
                  </m:r>
                  <m:r>
                    <a:rPr xmlns:a="http://schemas.openxmlformats.org/drawingml/2006/main" sz="20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6.799</m:t>
                  </m:r>
                </m:oMath>
              </m:oMathPara>
            </a14:m>
            <a:endParaRPr sz="2000"/>
          </a:p>
        </p:txBody>
      </p:sp>
      <p:sp>
        <p:nvSpPr>
          <p:cNvPr id="166" name="Decision vs. Optimization"/>
          <p:cNvSpPr txBox="1"/>
          <p:nvPr/>
        </p:nvSpPr>
        <p:spPr>
          <a:xfrm>
            <a:off x="9402680" y="1314914"/>
            <a:ext cx="821408" cy="38256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b="1" sz="2300"/>
            </a:lvl1pPr>
          </a:lstStyle>
          <a:p>
            <a:pPr/>
            <a:r>
              <a:t>TSP-O</a:t>
            </a:r>
          </a:p>
        </p:txBody>
      </p:sp>
      <p:sp>
        <p:nvSpPr>
          <p:cNvPr id="167" name="?"/>
          <p:cNvSpPr txBox="1"/>
          <p:nvPr/>
        </p:nvSpPr>
        <p:spPr>
          <a:xfrm>
            <a:off x="6402719" y="1926693"/>
            <a:ext cx="1085837" cy="4020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defRPr sz="2100">
                <a:latin typeface="Cambria Math"/>
                <a:ea typeface="Cambria Math"/>
                <a:cs typeface="Cambria Math"/>
                <a:sym typeface="Cambria Math"/>
              </a:defRPr>
            </a:pPr>
            <a14:m>
              <m:oMath>
                <m:sSub>
                  <m:e>
                    <m:r>
                      <a:rPr xmlns:a="http://schemas.openxmlformats.org/drawingml/2006/main" sz="21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𝑊</m:t>
                    </m:r>
                  </m:e>
                  <m:sub>
                    <m:r>
                      <a:rPr xmlns:a="http://schemas.openxmlformats.org/drawingml/2006/main" sz="21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𝑐</m:t>
                    </m:r>
                  </m:sub>
                </m:sSub>
                <m:r>
                  <a:rPr xmlns:a="http://schemas.openxmlformats.org/drawingml/2006/main" sz="2100" i="1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m:t>&lt;</m:t>
                </m:r>
                <m:r>
                  <a:rPr xmlns:a="http://schemas.openxmlformats.org/drawingml/2006/main" sz="2100" i="1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m:t>𝑥</m:t>
                </m:r>
              </m:oMath>
            </a14:m>
            <a:r>
              <a:rPr sz="1800">
                <a:latin typeface="+mj-lt"/>
                <a:ea typeface="+mj-ea"/>
                <a:cs typeface="+mj-cs"/>
                <a:sym typeface="Helvetica"/>
              </a:rPr>
              <a:t> ?</a:t>
            </a:r>
            <a:endParaRPr sz="1981"/>
          </a:p>
        </p:txBody>
      </p:sp>
      <p:pic>
        <p:nvPicPr>
          <p:cNvPr id="168" name="pasted-movie.png" descr="pasted-movie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6474135" y="3069525"/>
            <a:ext cx="3829721" cy="2154224"/>
          </a:xfrm>
          <a:prstGeom prst="rect">
            <a:avLst/>
          </a:prstGeom>
          <a:ln w="25400">
            <a:solidFill>
              <a:srgbClr val="DDDDDD"/>
            </a:solidFill>
            <a:miter lim="400000"/>
          </a:ln>
        </p:spPr>
      </p:pic>
      <p:sp>
        <p:nvSpPr>
          <p:cNvPr id="169" name="vs."/>
          <p:cNvSpPr txBox="1"/>
          <p:nvPr/>
        </p:nvSpPr>
        <p:spPr>
          <a:xfrm>
            <a:off x="8178034" y="1320781"/>
            <a:ext cx="421922" cy="3708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b="1">
                <a:latin typeface="+mj-lt"/>
                <a:ea typeface="+mj-ea"/>
                <a:cs typeface="+mj-cs"/>
                <a:sym typeface="Helvetica"/>
              </a:defRPr>
            </a:lvl1pPr>
          </a:lstStyle>
          <a:p>
            <a:pPr/>
            <a:r>
              <a:t>vs.</a:t>
            </a:r>
          </a:p>
        </p:txBody>
      </p:sp>
      <p:sp>
        <p:nvSpPr>
          <p:cNvPr id="170" name="Text"/>
          <p:cNvSpPr txBox="1"/>
          <p:nvPr/>
        </p:nvSpPr>
        <p:spPr>
          <a:xfrm>
            <a:off x="9228507" y="2024820"/>
            <a:ext cx="1227253" cy="216663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>
            <a:spAutoFit/>
          </a:bodyPr>
          <a:lstStyle/>
          <a:p>
            <a:pPr latinLnBrk="1"/>
            <a14:m>
              <m:oMathPara>
                <m:oMathParaPr>
                  <m:jc m:val="centerGroup"/>
                </m:oMathParaPr>
                <m:oMath>
                  <m:r>
                    <a:rPr xmlns:a="http://schemas.openxmlformats.org/drawingml/2006/main" sz="20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𝐶</m:t>
                  </m:r>
                  <m:r>
                    <a:rPr xmlns:a="http://schemas.openxmlformats.org/drawingml/2006/main" sz="20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=</m:t>
                  </m:r>
                  <m:r>
                    <a:rPr xmlns:a="http://schemas.openxmlformats.org/drawingml/2006/main" sz="20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𝑚</m:t>
                  </m:r>
                  <m:r>
                    <a:rPr xmlns:a="http://schemas.openxmlformats.org/drawingml/2006/main" sz="20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𝑖</m:t>
                  </m:r>
                  <m:r>
                    <a:rPr xmlns:a="http://schemas.openxmlformats.org/drawingml/2006/main" sz="20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𝑛</m:t>
                  </m:r>
                  <m:r>
                    <a:rPr xmlns:a="http://schemas.openxmlformats.org/drawingml/2006/main" sz="20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(</m:t>
                  </m:r>
                  <m:r>
                    <a:rPr xmlns:a="http://schemas.openxmlformats.org/drawingml/2006/main" sz="20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𝑤</m:t>
                  </m:r>
                  <m:r>
                    <a:rPr xmlns:a="http://schemas.openxmlformats.org/drawingml/2006/main" sz="20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)</m:t>
                  </m:r>
                </m:oMath>
              </m:oMathPara>
            </a14:m>
            <a:endParaRPr sz="2000"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4" name="LAX"/>
          <p:cNvGrpSpPr/>
          <p:nvPr/>
        </p:nvGrpSpPr>
        <p:grpSpPr>
          <a:xfrm>
            <a:off x="1772212" y="3076307"/>
            <a:ext cx="694213" cy="694213"/>
            <a:chOff x="0" y="0"/>
            <a:chExt cx="694211" cy="694211"/>
          </a:xfrm>
        </p:grpSpPr>
        <p:sp>
          <p:nvSpPr>
            <p:cNvPr id="172" name="Circle"/>
            <p:cNvSpPr/>
            <p:nvPr/>
          </p:nvSpPr>
          <p:spPr>
            <a:xfrm>
              <a:off x="-1" y="-1"/>
              <a:ext cx="694212" cy="694212"/>
            </a:xfrm>
            <a:prstGeom prst="ellipse">
              <a:avLst/>
            </a:prstGeom>
            <a:gradFill flip="none" rotWithShape="1">
              <a:gsLst>
                <a:gs pos="0">
                  <a:srgbClr val="1287F6"/>
                </a:gs>
                <a:gs pos="100000">
                  <a:schemeClr val="accent5">
                    <a:hueOff val="329330"/>
                    <a:satOff val="40776"/>
                    <a:lumOff val="24655"/>
                  </a:schemeClr>
                </a:gs>
              </a:gsLst>
              <a:lin ang="16976440" scaled="0"/>
            </a:gradFill>
            <a:ln w="9525" cap="flat">
              <a:solidFill>
                <a:srgbClr val="4F80EF"/>
              </a:solidFill>
              <a:prstDash val="solid"/>
              <a:round/>
            </a:ln>
            <a:effectLst>
              <a:outerShdw sx="100000" sy="100000" kx="0" ky="0" algn="b" rotWithShape="0" blurRad="63500" dist="25400" dir="5400000">
                <a:srgbClr val="000000">
                  <a:alpha val="5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173" name="G"/>
            <p:cNvSpPr txBox="1"/>
            <p:nvPr/>
          </p:nvSpPr>
          <p:spPr>
            <a:xfrm>
              <a:off x="106427" y="180557"/>
              <a:ext cx="481353" cy="33308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>
                  <a:solidFill>
                    <a:srgbClr val="FFFFFF"/>
                  </a:solidFill>
                </a:defRPr>
              </a:lvl1pPr>
            </a:lstStyle>
            <a:p>
              <a:pPr/>
              <a:r>
                <a:t>G</a:t>
              </a:r>
            </a:p>
          </p:txBody>
        </p:sp>
      </p:grpSp>
      <p:grpSp>
        <p:nvGrpSpPr>
          <p:cNvPr id="177" name="JFK"/>
          <p:cNvGrpSpPr/>
          <p:nvPr/>
        </p:nvGrpSpPr>
        <p:grpSpPr>
          <a:xfrm>
            <a:off x="3972236" y="1130404"/>
            <a:ext cx="694212" cy="694213"/>
            <a:chOff x="0" y="0"/>
            <a:chExt cx="694211" cy="694211"/>
          </a:xfrm>
        </p:grpSpPr>
        <p:sp>
          <p:nvSpPr>
            <p:cNvPr id="175" name="Circle"/>
            <p:cNvSpPr/>
            <p:nvPr/>
          </p:nvSpPr>
          <p:spPr>
            <a:xfrm>
              <a:off x="-1" y="-1"/>
              <a:ext cx="694212" cy="694212"/>
            </a:xfrm>
            <a:prstGeom prst="ellipse">
              <a:avLst/>
            </a:prstGeom>
            <a:gradFill flip="none" rotWithShape="1">
              <a:gsLst>
                <a:gs pos="0">
                  <a:srgbClr val="1287F6"/>
                </a:gs>
                <a:gs pos="100000">
                  <a:schemeClr val="accent5">
                    <a:hueOff val="329330"/>
                    <a:satOff val="40776"/>
                    <a:lumOff val="24655"/>
                  </a:schemeClr>
                </a:gs>
              </a:gsLst>
              <a:lin ang="16976440" scaled="0"/>
            </a:gradFill>
            <a:ln w="9525" cap="flat">
              <a:solidFill>
                <a:srgbClr val="4F80EF"/>
              </a:solidFill>
              <a:prstDash val="solid"/>
              <a:round/>
            </a:ln>
            <a:effectLst>
              <a:outerShdw sx="100000" sy="100000" kx="0" ky="0" algn="b" rotWithShape="0" blurRad="63500" dist="25400" dir="5400000">
                <a:srgbClr val="000000">
                  <a:alpha val="5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176" name="A"/>
            <p:cNvSpPr txBox="1"/>
            <p:nvPr/>
          </p:nvSpPr>
          <p:spPr>
            <a:xfrm>
              <a:off x="106427" y="180557"/>
              <a:ext cx="481352" cy="33308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>
                  <a:solidFill>
                    <a:srgbClr val="FFFFFF"/>
                  </a:solidFill>
                </a:defRPr>
              </a:lvl1pPr>
            </a:lstStyle>
            <a:p>
              <a:pPr/>
              <a:r>
                <a:t>A</a:t>
              </a:r>
            </a:p>
          </p:txBody>
        </p:sp>
      </p:grpSp>
      <p:grpSp>
        <p:nvGrpSpPr>
          <p:cNvPr id="180" name="MIA"/>
          <p:cNvGrpSpPr/>
          <p:nvPr/>
        </p:nvGrpSpPr>
        <p:grpSpPr>
          <a:xfrm>
            <a:off x="6159388" y="3076307"/>
            <a:ext cx="694213" cy="694213"/>
            <a:chOff x="0" y="0"/>
            <a:chExt cx="694211" cy="694211"/>
          </a:xfrm>
        </p:grpSpPr>
        <p:sp>
          <p:nvSpPr>
            <p:cNvPr id="178" name="Circle"/>
            <p:cNvSpPr/>
            <p:nvPr/>
          </p:nvSpPr>
          <p:spPr>
            <a:xfrm>
              <a:off x="-1" y="-1"/>
              <a:ext cx="694212" cy="694212"/>
            </a:xfrm>
            <a:prstGeom prst="ellipse">
              <a:avLst/>
            </a:prstGeom>
            <a:gradFill flip="none" rotWithShape="1">
              <a:gsLst>
                <a:gs pos="0">
                  <a:srgbClr val="1287F6"/>
                </a:gs>
                <a:gs pos="100000">
                  <a:schemeClr val="accent5">
                    <a:hueOff val="329330"/>
                    <a:satOff val="40776"/>
                    <a:lumOff val="24655"/>
                  </a:schemeClr>
                </a:gs>
              </a:gsLst>
              <a:lin ang="16976440" scaled="0"/>
            </a:gradFill>
            <a:ln w="9525" cap="flat">
              <a:solidFill>
                <a:srgbClr val="4F80EF"/>
              </a:solidFill>
              <a:prstDash val="solid"/>
              <a:round/>
            </a:ln>
            <a:effectLst>
              <a:outerShdw sx="100000" sy="100000" kx="0" ky="0" algn="b" rotWithShape="0" blurRad="63500" dist="25400" dir="5400000">
                <a:srgbClr val="000000">
                  <a:alpha val="5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179" name="C"/>
            <p:cNvSpPr txBox="1"/>
            <p:nvPr/>
          </p:nvSpPr>
          <p:spPr>
            <a:xfrm>
              <a:off x="106427" y="180557"/>
              <a:ext cx="481352" cy="33308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>
                  <a:solidFill>
                    <a:srgbClr val="FFFFFF"/>
                  </a:solidFill>
                </a:defRPr>
              </a:lvl1pPr>
            </a:lstStyle>
            <a:p>
              <a:pPr/>
              <a:r>
                <a:t>C</a:t>
              </a:r>
            </a:p>
          </p:txBody>
        </p:sp>
      </p:grpSp>
      <p:grpSp>
        <p:nvGrpSpPr>
          <p:cNvPr id="183" name="HOU"/>
          <p:cNvGrpSpPr/>
          <p:nvPr/>
        </p:nvGrpSpPr>
        <p:grpSpPr>
          <a:xfrm>
            <a:off x="3972236" y="5033389"/>
            <a:ext cx="694212" cy="694213"/>
            <a:chOff x="0" y="0"/>
            <a:chExt cx="694211" cy="694211"/>
          </a:xfrm>
        </p:grpSpPr>
        <p:sp>
          <p:nvSpPr>
            <p:cNvPr id="181" name="Circle"/>
            <p:cNvSpPr/>
            <p:nvPr/>
          </p:nvSpPr>
          <p:spPr>
            <a:xfrm>
              <a:off x="-1" y="-1"/>
              <a:ext cx="694212" cy="694213"/>
            </a:xfrm>
            <a:prstGeom prst="ellipse">
              <a:avLst/>
            </a:prstGeom>
            <a:gradFill flip="none" rotWithShape="1">
              <a:gsLst>
                <a:gs pos="0">
                  <a:srgbClr val="1287F6"/>
                </a:gs>
                <a:gs pos="100000">
                  <a:schemeClr val="accent5">
                    <a:hueOff val="329330"/>
                    <a:satOff val="40776"/>
                    <a:lumOff val="24655"/>
                  </a:schemeClr>
                </a:gs>
              </a:gsLst>
              <a:lin ang="16976440" scaled="0"/>
            </a:gradFill>
            <a:ln w="9525" cap="flat">
              <a:solidFill>
                <a:srgbClr val="4F80EF"/>
              </a:solidFill>
              <a:prstDash val="solid"/>
              <a:round/>
            </a:ln>
            <a:effectLst>
              <a:outerShdw sx="100000" sy="100000" kx="0" ky="0" algn="b" rotWithShape="0" blurRad="63500" dist="25400" dir="5400000">
                <a:srgbClr val="000000">
                  <a:alpha val="5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182" name="E"/>
            <p:cNvSpPr txBox="1"/>
            <p:nvPr/>
          </p:nvSpPr>
          <p:spPr>
            <a:xfrm>
              <a:off x="106427" y="180557"/>
              <a:ext cx="481352" cy="33308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>
                  <a:solidFill>
                    <a:srgbClr val="FFFFFF"/>
                  </a:solidFill>
                </a:defRPr>
              </a:lvl1pPr>
            </a:lstStyle>
            <a:p>
              <a:pPr/>
              <a:r>
                <a:t>E</a:t>
              </a:r>
            </a:p>
          </p:txBody>
        </p:sp>
      </p:grpSp>
      <p:grpSp>
        <p:nvGrpSpPr>
          <p:cNvPr id="186" name="JFK"/>
          <p:cNvGrpSpPr/>
          <p:nvPr/>
        </p:nvGrpSpPr>
        <p:grpSpPr>
          <a:xfrm>
            <a:off x="2518923" y="1774121"/>
            <a:ext cx="694213" cy="694213"/>
            <a:chOff x="0" y="0"/>
            <a:chExt cx="694211" cy="694211"/>
          </a:xfrm>
        </p:grpSpPr>
        <p:sp>
          <p:nvSpPr>
            <p:cNvPr id="184" name="Circle"/>
            <p:cNvSpPr/>
            <p:nvPr/>
          </p:nvSpPr>
          <p:spPr>
            <a:xfrm>
              <a:off x="-1" y="-1"/>
              <a:ext cx="694212" cy="694212"/>
            </a:xfrm>
            <a:prstGeom prst="ellipse">
              <a:avLst/>
            </a:prstGeom>
            <a:gradFill flip="none" rotWithShape="1">
              <a:gsLst>
                <a:gs pos="0">
                  <a:srgbClr val="1287F6"/>
                </a:gs>
                <a:gs pos="100000">
                  <a:schemeClr val="accent5">
                    <a:hueOff val="329330"/>
                    <a:satOff val="40776"/>
                    <a:lumOff val="24655"/>
                  </a:schemeClr>
                </a:gs>
              </a:gsLst>
              <a:lin ang="16976440" scaled="0"/>
            </a:gradFill>
            <a:ln w="9525" cap="flat">
              <a:solidFill>
                <a:srgbClr val="4F80EF"/>
              </a:solidFill>
              <a:prstDash val="solid"/>
              <a:round/>
            </a:ln>
            <a:effectLst>
              <a:outerShdw sx="100000" sy="100000" kx="0" ky="0" algn="b" rotWithShape="0" blurRad="63500" dist="25400" dir="5400000">
                <a:srgbClr val="000000">
                  <a:alpha val="5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185" name="H"/>
            <p:cNvSpPr txBox="1"/>
            <p:nvPr/>
          </p:nvSpPr>
          <p:spPr>
            <a:xfrm>
              <a:off x="106427" y="180557"/>
              <a:ext cx="481353" cy="33308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>
                  <a:solidFill>
                    <a:srgbClr val="FFFFFF"/>
                  </a:solidFill>
                </a:defRPr>
              </a:lvl1pPr>
            </a:lstStyle>
            <a:p>
              <a:pPr/>
              <a:r>
                <a:t>H</a:t>
              </a:r>
            </a:p>
          </p:txBody>
        </p:sp>
      </p:grpSp>
      <p:grpSp>
        <p:nvGrpSpPr>
          <p:cNvPr id="189" name="JFK"/>
          <p:cNvGrpSpPr/>
          <p:nvPr/>
        </p:nvGrpSpPr>
        <p:grpSpPr>
          <a:xfrm>
            <a:off x="5425550" y="1774121"/>
            <a:ext cx="694212" cy="694213"/>
            <a:chOff x="0" y="0"/>
            <a:chExt cx="694211" cy="694211"/>
          </a:xfrm>
        </p:grpSpPr>
        <p:sp>
          <p:nvSpPr>
            <p:cNvPr id="187" name="Circle"/>
            <p:cNvSpPr/>
            <p:nvPr/>
          </p:nvSpPr>
          <p:spPr>
            <a:xfrm>
              <a:off x="-1" y="-1"/>
              <a:ext cx="694212" cy="694212"/>
            </a:xfrm>
            <a:prstGeom prst="ellipse">
              <a:avLst/>
            </a:prstGeom>
            <a:gradFill flip="none" rotWithShape="1">
              <a:gsLst>
                <a:gs pos="0">
                  <a:srgbClr val="1287F6"/>
                </a:gs>
                <a:gs pos="100000">
                  <a:schemeClr val="accent5">
                    <a:hueOff val="329330"/>
                    <a:satOff val="40776"/>
                    <a:lumOff val="24655"/>
                  </a:schemeClr>
                </a:gs>
              </a:gsLst>
              <a:lin ang="16976440" scaled="0"/>
            </a:gradFill>
            <a:ln w="9525" cap="flat">
              <a:solidFill>
                <a:srgbClr val="4F80EF"/>
              </a:solidFill>
              <a:prstDash val="solid"/>
              <a:round/>
            </a:ln>
            <a:effectLst>
              <a:outerShdw sx="100000" sy="100000" kx="0" ky="0" algn="b" rotWithShape="0" blurRad="63500" dist="25400" dir="5400000">
                <a:srgbClr val="000000">
                  <a:alpha val="5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188" name="B"/>
            <p:cNvSpPr txBox="1"/>
            <p:nvPr/>
          </p:nvSpPr>
          <p:spPr>
            <a:xfrm>
              <a:off x="106427" y="180557"/>
              <a:ext cx="481352" cy="33308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>
                  <a:solidFill>
                    <a:srgbClr val="FFFFFF"/>
                  </a:solidFill>
                </a:defRPr>
              </a:lvl1pPr>
            </a:lstStyle>
            <a:p>
              <a:pPr/>
              <a:r>
                <a:t>B</a:t>
              </a:r>
            </a:p>
          </p:txBody>
        </p:sp>
      </p:grpSp>
      <p:grpSp>
        <p:nvGrpSpPr>
          <p:cNvPr id="192" name="JFK"/>
          <p:cNvGrpSpPr/>
          <p:nvPr/>
        </p:nvGrpSpPr>
        <p:grpSpPr>
          <a:xfrm>
            <a:off x="5425550" y="4389672"/>
            <a:ext cx="694212" cy="694213"/>
            <a:chOff x="0" y="0"/>
            <a:chExt cx="694211" cy="694211"/>
          </a:xfrm>
        </p:grpSpPr>
        <p:sp>
          <p:nvSpPr>
            <p:cNvPr id="190" name="Circle"/>
            <p:cNvSpPr/>
            <p:nvPr/>
          </p:nvSpPr>
          <p:spPr>
            <a:xfrm>
              <a:off x="-1" y="-1"/>
              <a:ext cx="694212" cy="694212"/>
            </a:xfrm>
            <a:prstGeom prst="ellipse">
              <a:avLst/>
            </a:prstGeom>
            <a:gradFill flip="none" rotWithShape="1">
              <a:gsLst>
                <a:gs pos="0">
                  <a:srgbClr val="1287F6"/>
                </a:gs>
                <a:gs pos="100000">
                  <a:schemeClr val="accent5">
                    <a:hueOff val="329330"/>
                    <a:satOff val="40776"/>
                    <a:lumOff val="24655"/>
                  </a:schemeClr>
                </a:gs>
              </a:gsLst>
              <a:lin ang="16976440" scaled="0"/>
            </a:gradFill>
            <a:ln w="9525" cap="flat">
              <a:solidFill>
                <a:srgbClr val="4F80EF"/>
              </a:solidFill>
              <a:prstDash val="solid"/>
              <a:round/>
            </a:ln>
            <a:effectLst>
              <a:outerShdw sx="100000" sy="100000" kx="0" ky="0" algn="b" rotWithShape="0" blurRad="63500" dist="25400" dir="5400000">
                <a:srgbClr val="000000">
                  <a:alpha val="5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191" name="D"/>
            <p:cNvSpPr txBox="1"/>
            <p:nvPr/>
          </p:nvSpPr>
          <p:spPr>
            <a:xfrm>
              <a:off x="106427" y="180557"/>
              <a:ext cx="481352" cy="33308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>
                  <a:solidFill>
                    <a:srgbClr val="FFFFFF"/>
                  </a:solidFill>
                </a:defRPr>
              </a:lvl1pPr>
            </a:lstStyle>
            <a:p>
              <a:pPr/>
              <a:r>
                <a:t>D</a:t>
              </a:r>
            </a:p>
          </p:txBody>
        </p:sp>
      </p:grpSp>
      <p:grpSp>
        <p:nvGrpSpPr>
          <p:cNvPr id="195" name="JFK"/>
          <p:cNvGrpSpPr/>
          <p:nvPr/>
        </p:nvGrpSpPr>
        <p:grpSpPr>
          <a:xfrm>
            <a:off x="2518923" y="4389672"/>
            <a:ext cx="694213" cy="694213"/>
            <a:chOff x="0" y="0"/>
            <a:chExt cx="694211" cy="694211"/>
          </a:xfrm>
        </p:grpSpPr>
        <p:sp>
          <p:nvSpPr>
            <p:cNvPr id="193" name="Circle"/>
            <p:cNvSpPr/>
            <p:nvPr/>
          </p:nvSpPr>
          <p:spPr>
            <a:xfrm>
              <a:off x="-1" y="-1"/>
              <a:ext cx="694212" cy="694212"/>
            </a:xfrm>
            <a:prstGeom prst="ellipse">
              <a:avLst/>
            </a:prstGeom>
            <a:gradFill flip="none" rotWithShape="1">
              <a:gsLst>
                <a:gs pos="0">
                  <a:srgbClr val="1287F6"/>
                </a:gs>
                <a:gs pos="100000">
                  <a:schemeClr val="accent5">
                    <a:hueOff val="329330"/>
                    <a:satOff val="40776"/>
                    <a:lumOff val="24655"/>
                  </a:schemeClr>
                </a:gs>
              </a:gsLst>
              <a:lin ang="16976440" scaled="0"/>
            </a:gradFill>
            <a:ln w="9525" cap="flat">
              <a:solidFill>
                <a:srgbClr val="4F80EF"/>
              </a:solidFill>
              <a:prstDash val="solid"/>
              <a:round/>
            </a:ln>
            <a:effectLst>
              <a:outerShdw sx="100000" sy="100000" kx="0" ky="0" algn="b" rotWithShape="0" blurRad="63500" dist="25400" dir="5400000">
                <a:srgbClr val="000000">
                  <a:alpha val="5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194" name="F"/>
            <p:cNvSpPr txBox="1"/>
            <p:nvPr/>
          </p:nvSpPr>
          <p:spPr>
            <a:xfrm>
              <a:off x="106427" y="180557"/>
              <a:ext cx="481353" cy="33308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>
                  <a:solidFill>
                    <a:srgbClr val="FFFFFF"/>
                  </a:solidFill>
                </a:defRPr>
              </a:lvl1pPr>
            </a:lstStyle>
            <a:p>
              <a:pPr/>
              <a:r>
                <a:t>F</a:t>
              </a:r>
            </a:p>
          </p:txBody>
        </p:sp>
      </p:grpSp>
      <p:sp>
        <p:nvSpPr>
          <p:cNvPr id="196" name="Text"/>
          <p:cNvSpPr txBox="1"/>
          <p:nvPr/>
        </p:nvSpPr>
        <p:spPr>
          <a:xfrm>
            <a:off x="8912952" y="2123971"/>
            <a:ext cx="1049555" cy="254865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>
            <a:spAutoFit/>
          </a:bodyPr>
          <a:lstStyle/>
          <a:p>
            <a:pPr latinLnBrk="1"/>
            <a14:m>
              <m:oMathPara>
                <m:oMathParaPr>
                  <m:jc m:val="centerGroup"/>
                </m:oMathParaPr>
                <m:oMath>
                  <m:r>
                    <a:rPr xmlns:a="http://schemas.openxmlformats.org/drawingml/2006/main" sz="29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𝐶</m:t>
                  </m:r>
                  <m:r>
                    <a:rPr xmlns:a="http://schemas.openxmlformats.org/drawingml/2006/main" sz="29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=</m:t>
                  </m:r>
                  <m:r>
                    <a:rPr xmlns:a="http://schemas.openxmlformats.org/drawingml/2006/main" sz="29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𝑉</m:t>
                  </m:r>
                  <m:r>
                    <a:rPr xmlns:a="http://schemas.openxmlformats.org/drawingml/2006/main" sz="29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!</m:t>
                  </m:r>
                </m:oMath>
              </m:oMathPara>
            </a14:m>
            <a:endParaRPr sz="2900"/>
          </a:p>
        </p:txBody>
      </p:sp>
      <p:sp>
        <p:nvSpPr>
          <p:cNvPr id="197" name="Text"/>
          <p:cNvSpPr txBox="1"/>
          <p:nvPr/>
        </p:nvSpPr>
        <p:spPr>
          <a:xfrm>
            <a:off x="8830958" y="3385149"/>
            <a:ext cx="1184162" cy="225844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>
            <a:spAutoFit/>
          </a:bodyPr>
          <a:lstStyle/>
          <a:p>
            <a:pPr latinLnBrk="1"/>
            <a14:m>
              <m:oMathPara>
                <m:oMathParaPr>
                  <m:jc m:val="centerGroup"/>
                </m:oMathParaPr>
                <m:oMath>
                  <m:sSub>
                    <m:e>
                      <m:r>
                        <a:rPr xmlns:a="http://schemas.openxmlformats.org/drawingml/2006/main" sz="1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𝐶</m:t>
                      </m:r>
                    </m:e>
                    <m:sub>
                      <m:r>
                        <a:rPr xmlns:a="http://schemas.openxmlformats.org/drawingml/2006/main" sz="1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8</m:t>
                      </m:r>
                    </m:sub>
                  </m:sSub>
                  <m:r>
                    <a:rPr xmlns:a="http://schemas.openxmlformats.org/drawingml/2006/main" sz="19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=</m:t>
                  </m:r>
                  <m:r>
                    <a:rPr xmlns:a="http://schemas.openxmlformats.org/drawingml/2006/main" sz="19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40,320</m:t>
                  </m:r>
                </m:oMath>
              </m:oMathPara>
            </a14:m>
            <a:endParaRPr sz="1900"/>
          </a:p>
        </p:txBody>
      </p:sp>
      <p:sp>
        <p:nvSpPr>
          <p:cNvPr id="198" name="Line"/>
          <p:cNvSpPr/>
          <p:nvPr/>
        </p:nvSpPr>
        <p:spPr>
          <a:xfrm>
            <a:off x="2281714" y="3731138"/>
            <a:ext cx="392073" cy="718317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99" name="Line"/>
          <p:cNvSpPr/>
          <p:nvPr/>
        </p:nvSpPr>
        <p:spPr>
          <a:xfrm flipH="1">
            <a:off x="5991914" y="3751553"/>
            <a:ext cx="392881" cy="714458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00" name="Line"/>
          <p:cNvSpPr/>
          <p:nvPr/>
        </p:nvSpPr>
        <p:spPr>
          <a:xfrm>
            <a:off x="3170714" y="4912238"/>
            <a:ext cx="802469" cy="398360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01" name="Line"/>
          <p:cNvSpPr/>
          <p:nvPr/>
        </p:nvSpPr>
        <p:spPr>
          <a:xfrm flipH="1">
            <a:off x="4654729" y="4912240"/>
            <a:ext cx="812068" cy="373952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02" name="Hamiltonian Cycles"/>
          <p:cNvSpPr txBox="1"/>
          <p:nvPr/>
        </p:nvSpPr>
        <p:spPr>
          <a:xfrm>
            <a:off x="8432820" y="1592536"/>
            <a:ext cx="1975614" cy="3962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lnSpc>
                <a:spcPct val="90000"/>
              </a:lnSpc>
              <a:spcBef>
                <a:spcPts val="1200"/>
              </a:spcBef>
              <a:defRPr b="1" sz="2000">
                <a:latin typeface="Tenorite"/>
                <a:ea typeface="Tenorite"/>
                <a:cs typeface="Tenorite"/>
                <a:sym typeface="Tenorite"/>
              </a:defRPr>
            </a:lvl1pPr>
          </a:lstStyle>
          <a:p>
            <a:pPr/>
            <a:r>
              <a:t>Possible Tours</a:t>
            </a:r>
          </a:p>
        </p:txBody>
      </p:sp>
      <p:sp>
        <p:nvSpPr>
          <p:cNvPr id="203" name="Line"/>
          <p:cNvSpPr/>
          <p:nvPr/>
        </p:nvSpPr>
        <p:spPr>
          <a:xfrm flipH="1" flipV="1">
            <a:off x="2465609" y="3423408"/>
            <a:ext cx="3693509" cy="11188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04" name="Line"/>
          <p:cNvSpPr/>
          <p:nvPr/>
        </p:nvSpPr>
        <p:spPr>
          <a:xfrm flipH="1">
            <a:off x="2285849" y="2409288"/>
            <a:ext cx="387925" cy="710746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05" name="Line"/>
          <p:cNvSpPr/>
          <p:nvPr/>
        </p:nvSpPr>
        <p:spPr>
          <a:xfrm>
            <a:off x="5991914" y="2391991"/>
            <a:ext cx="402679" cy="699055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06" name="Line"/>
          <p:cNvSpPr/>
          <p:nvPr/>
        </p:nvSpPr>
        <p:spPr>
          <a:xfrm flipV="1">
            <a:off x="3170714" y="1540551"/>
            <a:ext cx="803784" cy="401713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07" name="Line"/>
          <p:cNvSpPr/>
          <p:nvPr/>
        </p:nvSpPr>
        <p:spPr>
          <a:xfrm flipH="1" flipV="1">
            <a:off x="4656616" y="1550884"/>
            <a:ext cx="806907" cy="409320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08" name="Line"/>
          <p:cNvSpPr/>
          <p:nvPr/>
        </p:nvSpPr>
        <p:spPr>
          <a:xfrm flipV="1">
            <a:off x="4317817" y="1819123"/>
            <a:ext cx="19454" cy="3208918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09" name="Line"/>
          <p:cNvSpPr/>
          <p:nvPr/>
        </p:nvSpPr>
        <p:spPr>
          <a:xfrm flipH="1" flipV="1">
            <a:off x="3108236" y="2371492"/>
            <a:ext cx="2420558" cy="2119655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10" name="Line"/>
          <p:cNvSpPr/>
          <p:nvPr/>
        </p:nvSpPr>
        <p:spPr>
          <a:xfrm flipH="1">
            <a:off x="3113880" y="2356531"/>
            <a:ext cx="2405162" cy="2134582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11" name="Line"/>
          <p:cNvSpPr/>
          <p:nvPr/>
        </p:nvSpPr>
        <p:spPr>
          <a:xfrm>
            <a:off x="4522230" y="1756578"/>
            <a:ext cx="1717291" cy="1444562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12" name="Line"/>
          <p:cNvSpPr/>
          <p:nvPr/>
        </p:nvSpPr>
        <p:spPr>
          <a:xfrm>
            <a:off x="4423340" y="1813922"/>
            <a:ext cx="1206976" cy="2606852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13" name="Line"/>
          <p:cNvSpPr/>
          <p:nvPr/>
        </p:nvSpPr>
        <p:spPr>
          <a:xfrm flipH="1">
            <a:off x="3023814" y="1811095"/>
            <a:ext cx="1209155" cy="2618459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14" name="Line"/>
          <p:cNvSpPr/>
          <p:nvPr/>
        </p:nvSpPr>
        <p:spPr>
          <a:xfrm flipH="1">
            <a:off x="2410390" y="1742948"/>
            <a:ext cx="1675111" cy="1483586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15" name="Line"/>
          <p:cNvSpPr/>
          <p:nvPr/>
        </p:nvSpPr>
        <p:spPr>
          <a:xfrm flipH="1">
            <a:off x="5766999" y="2465079"/>
            <a:ext cx="4372" cy="1926535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16" name="Line"/>
          <p:cNvSpPr/>
          <p:nvPr/>
        </p:nvSpPr>
        <p:spPr>
          <a:xfrm flipH="1">
            <a:off x="2863843" y="2471284"/>
            <a:ext cx="7" cy="1915394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17" name="Line"/>
          <p:cNvSpPr/>
          <p:nvPr/>
        </p:nvSpPr>
        <p:spPr>
          <a:xfrm flipH="1">
            <a:off x="4523618" y="2455751"/>
            <a:ext cx="1153213" cy="2639737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18" name="Line"/>
          <p:cNvSpPr/>
          <p:nvPr/>
        </p:nvSpPr>
        <p:spPr>
          <a:xfrm>
            <a:off x="2994211" y="2443594"/>
            <a:ext cx="1121865" cy="2655302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19" name="Line"/>
          <p:cNvSpPr/>
          <p:nvPr/>
        </p:nvSpPr>
        <p:spPr>
          <a:xfrm flipH="1">
            <a:off x="2458295" y="2265876"/>
            <a:ext cx="3002942" cy="1072671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20" name="Line"/>
          <p:cNvSpPr/>
          <p:nvPr/>
        </p:nvSpPr>
        <p:spPr>
          <a:xfrm>
            <a:off x="3192052" y="2253175"/>
            <a:ext cx="2976888" cy="1071025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21" name="Line"/>
          <p:cNvSpPr/>
          <p:nvPr/>
        </p:nvSpPr>
        <p:spPr>
          <a:xfrm flipH="1" flipV="1">
            <a:off x="3211638" y="2109341"/>
            <a:ext cx="2215404" cy="6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22" name="Line"/>
          <p:cNvSpPr/>
          <p:nvPr/>
        </p:nvSpPr>
        <p:spPr>
          <a:xfrm flipH="1" flipV="1">
            <a:off x="3210079" y="4724715"/>
            <a:ext cx="2216987" cy="2152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23" name="Line"/>
          <p:cNvSpPr/>
          <p:nvPr/>
        </p:nvSpPr>
        <p:spPr>
          <a:xfrm flipH="1">
            <a:off x="3185752" y="3591900"/>
            <a:ext cx="3017769" cy="1012964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24" name="Line"/>
          <p:cNvSpPr/>
          <p:nvPr/>
        </p:nvSpPr>
        <p:spPr>
          <a:xfrm>
            <a:off x="2429097" y="3581427"/>
            <a:ext cx="3026712" cy="1012964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25" name="Line"/>
          <p:cNvSpPr/>
          <p:nvPr/>
        </p:nvSpPr>
        <p:spPr>
          <a:xfrm flipV="1">
            <a:off x="4616851" y="3693278"/>
            <a:ext cx="1665536" cy="1498808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26" name="Line"/>
          <p:cNvSpPr/>
          <p:nvPr/>
        </p:nvSpPr>
        <p:spPr>
          <a:xfrm flipH="1" flipV="1">
            <a:off x="2373764" y="3660268"/>
            <a:ext cx="1672391" cy="1506051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27" name="Text"/>
          <p:cNvSpPr txBox="1"/>
          <p:nvPr/>
        </p:nvSpPr>
        <p:spPr>
          <a:xfrm>
            <a:off x="8617208" y="3852519"/>
            <a:ext cx="1611664" cy="227774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>
            <a:spAutoFit/>
          </a:bodyPr>
          <a:lstStyle/>
          <a:p>
            <a:pPr latinLnBrk="1"/>
            <a14:m>
              <m:oMathPara>
                <m:oMathParaPr>
                  <m:jc m:val="centerGroup"/>
                </m:oMathParaPr>
                <m:oMath>
                  <m:sSub>
                    <m:e>
                      <m:r>
                        <a:rPr xmlns:a="http://schemas.openxmlformats.org/drawingml/2006/main" sz="1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𝐶</m:t>
                      </m:r>
                    </m:e>
                    <m:sub>
                      <m:r>
                        <a:rPr xmlns:a="http://schemas.openxmlformats.org/drawingml/2006/main" sz="1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10</m:t>
                      </m:r>
                    </m:sub>
                  </m:sSub>
                  <m:r>
                    <a:rPr xmlns:a="http://schemas.openxmlformats.org/drawingml/2006/main" sz="19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=</m:t>
                  </m:r>
                  <m:r>
                    <a:rPr xmlns:a="http://schemas.openxmlformats.org/drawingml/2006/main" sz="19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3,628</m:t>
                  </m:r>
                  <m:r>
                    <a:rPr xmlns:a="http://schemas.openxmlformats.org/drawingml/2006/main" sz="19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,</m:t>
                  </m:r>
                  <m:r>
                    <a:rPr xmlns:a="http://schemas.openxmlformats.org/drawingml/2006/main" sz="19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800</m:t>
                  </m:r>
                </m:oMath>
              </m:oMathPara>
            </a14:m>
            <a:endParaRPr sz="1900"/>
          </a:p>
        </p:txBody>
      </p:sp>
      <p:sp>
        <p:nvSpPr>
          <p:cNvPr id="228" name="Text"/>
          <p:cNvSpPr txBox="1"/>
          <p:nvPr/>
        </p:nvSpPr>
        <p:spPr>
          <a:xfrm>
            <a:off x="8574337" y="4321819"/>
            <a:ext cx="1697648" cy="228739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>
            <a:spAutoFit/>
          </a:bodyPr>
          <a:lstStyle/>
          <a:p>
            <a:pPr latinLnBrk="1"/>
            <a14:m>
              <m:oMathPara>
                <m:oMathParaPr>
                  <m:jc m:val="centerGroup"/>
                </m:oMathParaPr>
                <m:oMath>
                  <m:sSub>
                    <m:e>
                      <m:r>
                        <a:rPr xmlns:a="http://schemas.openxmlformats.org/drawingml/2006/main" sz="1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𝐶</m:t>
                      </m:r>
                    </m:e>
                    <m:sub>
                      <m:r>
                        <a:rPr xmlns:a="http://schemas.openxmlformats.org/drawingml/2006/main" sz="1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100</m:t>
                      </m:r>
                    </m:sub>
                  </m:sSub>
                  <m:r>
                    <a:rPr xmlns:a="http://schemas.openxmlformats.org/drawingml/2006/main" sz="19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≈</m:t>
                  </m:r>
                  <m:r>
                    <a:rPr xmlns:a="http://schemas.openxmlformats.org/drawingml/2006/main" sz="19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9.332</m:t>
                  </m:r>
                  <m:r>
                    <a:rPr xmlns:a="http://schemas.openxmlformats.org/drawingml/2006/main" sz="19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𝑒</m:t>
                  </m:r>
                  <m:r>
                    <a:rPr xmlns:a="http://schemas.openxmlformats.org/drawingml/2006/main" sz="19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157</m:t>
                  </m:r>
                </m:oMath>
              </m:oMathPara>
            </a14:m>
            <a:endParaRPr sz="1900"/>
          </a:p>
        </p:txBody>
      </p:sp>
      <p:sp>
        <p:nvSpPr>
          <p:cNvPr id="229" name="Tsp"/>
          <p:cNvSpPr txBox="1"/>
          <p:nvPr>
            <p:ph type="title" idx="4294967295"/>
          </p:nvPr>
        </p:nvSpPr>
        <p:spPr>
          <a:xfrm>
            <a:off x="151728" y="113540"/>
            <a:ext cx="5602753" cy="647783"/>
          </a:xfrm>
          <a:prstGeom prst="rect">
            <a:avLst/>
          </a:prstGeom>
        </p:spPr>
        <p:txBody>
          <a:bodyPr/>
          <a:lstStyle/>
          <a:p>
            <a:pPr/>
            <a:r>
              <a:t>Tsp</a:t>
            </a:r>
          </a:p>
        </p:txBody>
      </p:sp>
      <p:sp>
        <p:nvSpPr>
          <p:cNvPr id="230" name="Equation"/>
          <p:cNvSpPr txBox="1"/>
          <p:nvPr/>
        </p:nvSpPr>
        <p:spPr>
          <a:xfrm>
            <a:off x="9042458" y="3005625"/>
            <a:ext cx="761163" cy="223444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>
            <a:spAutoFit/>
          </a:bodyPr>
          <a:lstStyle/>
          <a:p>
            <a:pPr latinLnBrk="1"/>
            <a14:m>
              <m:oMathPara>
                <m:oMathParaPr>
                  <m:jc m:val="centerGroup"/>
                </m:oMathParaPr>
                <m:oMath>
                  <m:sSub>
                    <m:e>
                      <m:r>
                        <a:rPr xmlns:a="http://schemas.openxmlformats.org/drawingml/2006/main" sz="1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𝐶</m:t>
                      </m:r>
                    </m:e>
                    <m:sub>
                      <m:r>
                        <a:rPr xmlns:a="http://schemas.openxmlformats.org/drawingml/2006/main" sz="1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4</m:t>
                      </m:r>
                    </m:sub>
                  </m:sSub>
                  <m:r>
                    <a:rPr xmlns:a="http://schemas.openxmlformats.org/drawingml/2006/main" sz="19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=</m:t>
                  </m:r>
                  <m:r>
                    <a:rPr xmlns:a="http://schemas.openxmlformats.org/drawingml/2006/main" sz="19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24</m:t>
                  </m:r>
                </m:oMath>
              </m:oMathPara>
            </a14:m>
            <a:endParaRPr sz="1900"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✅ “MIA HOU NYC LA MIA“…"/>
          <p:cNvSpPr txBox="1"/>
          <p:nvPr/>
        </p:nvSpPr>
        <p:spPr>
          <a:xfrm>
            <a:off x="6710497" y="2561882"/>
            <a:ext cx="3683156" cy="20689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defRPr sz="2200"/>
            </a:pPr>
            <a:r>
              <a:t>✅ “MIA HOU NYC LA MIA“</a:t>
            </a:r>
          </a:p>
          <a:p>
            <a:pPr>
              <a:defRPr sz="2200"/>
            </a:pPr>
          </a:p>
          <a:p>
            <a:pPr>
              <a:defRPr sz="2200"/>
            </a:pPr>
            <a:r>
              <a:t>❌ “MIA NYC LA NYC HOU MIA”</a:t>
            </a:r>
          </a:p>
          <a:p>
            <a:pPr>
              <a:defRPr sz="2200"/>
            </a:pPr>
          </a:p>
          <a:p>
            <a:pPr>
              <a:defRPr sz="2200"/>
            </a:pPr>
            <a:r>
              <a:t>❌ “MIA NYC LA MIA”</a:t>
            </a:r>
          </a:p>
        </p:txBody>
      </p:sp>
      <p:sp>
        <p:nvSpPr>
          <p:cNvPr id="233" name="Title 6"/>
          <p:cNvSpPr txBox="1"/>
          <p:nvPr>
            <p:ph type="title"/>
          </p:nvPr>
        </p:nvSpPr>
        <p:spPr>
          <a:xfrm>
            <a:off x="151728" y="113540"/>
            <a:ext cx="5602753" cy="647783"/>
          </a:xfrm>
          <a:prstGeom prst="rect">
            <a:avLst/>
          </a:prstGeom>
        </p:spPr>
        <p:txBody>
          <a:bodyPr anchor="ctr"/>
          <a:lstStyle>
            <a:lvl1pPr defTabSz="786383">
              <a:defRPr sz="3100"/>
            </a:lvl1pPr>
          </a:lstStyle>
          <a:p>
            <a:pPr/>
            <a:r>
              <a:t>Certificate verification</a:t>
            </a:r>
          </a:p>
        </p:txBody>
      </p:sp>
      <p:graphicFrame>
        <p:nvGraphicFramePr>
          <p:cNvPr id="234" name="Table 1"/>
          <p:cNvGraphicFramePr/>
          <p:nvPr/>
        </p:nvGraphicFramePr>
        <p:xfrm>
          <a:off x="1736730" y="1591445"/>
          <a:ext cx="3022726" cy="4009841"/>
        </p:xfrm>
        <a:graphic xmlns:a="http://schemas.openxmlformats.org/drawingml/2006/main">
          <a:graphicData uri="http://schemas.openxmlformats.org/drawingml/2006/table">
            <a:tbl>
              <a:tblPr firstCol="0" firstRow="0" lastCol="0" lastRow="0" bandCol="0" bandRow="1" rtl="0">
                <a:tableStyleId>{4C3C2611-4C71-4FC5-86AE-919BDF0F9419}</a:tableStyleId>
              </a:tblPr>
              <a:tblGrid>
                <a:gridCol w="1511362"/>
                <a:gridCol w="1511362"/>
              </a:tblGrid>
              <a:tr h="1002460">
                <a:tc>
                  <a:txBody>
                    <a:bodyPr/>
                    <a:lstStyle/>
                    <a:p>
                      <a:pPr algn="ctr">
                        <a:defRPr sz="1800">
                          <a:sym typeface="Helvetica"/>
                        </a:defRPr>
                      </a:pPr>
                    </a:p>
                    <a:p>
                      <a:pPr algn="ctr">
                        <a:defRPr sz="1800">
                          <a:sym typeface="Helvetica"/>
                        </a:defRPr>
                      </a:pPr>
                      <a:r>
                        <a:t>MIA</a:t>
                      </a:r>
                    </a:p>
                  </a:txBody>
                  <a:tcPr marL="0" marR="0" marT="0" marB="0" anchor="t" anchorCtr="0" horzOverflow="overflow">
                    <a:solidFill>
                      <a:srgbClr val="F6F5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ym typeface="Helvetica"/>
                        </a:defRPr>
                      </a:pPr>
                      <a:r>
                        <a:t>{NYC: 1.288},</a:t>
                      </a:r>
                    </a:p>
                    <a:p>
                      <a:pPr>
                        <a:defRPr sz="1400">
                          <a:sym typeface="Helvetica"/>
                        </a:defRPr>
                      </a:pPr>
                      <a:r>
                        <a:t>{LA: 2.735},</a:t>
                      </a:r>
                    </a:p>
                    <a:p>
                      <a:pPr>
                        <a:defRPr sz="1400">
                          <a:sym typeface="Helvetica"/>
                        </a:defRPr>
                      </a:pPr>
                      <a:r>
                        <a:t>{HOU: 1.189}</a:t>
                      </a:r>
                    </a:p>
                  </a:txBody>
                  <a:tcPr marL="0" marR="0" marT="0" marB="0" anchor="t" anchorCtr="0" horzOverflow="overflow">
                    <a:solidFill>
                      <a:srgbClr val="F6F5F3"/>
                    </a:solidFill>
                  </a:tcPr>
                </a:tc>
              </a:tr>
              <a:tr h="1002460">
                <a:tc>
                  <a:txBody>
                    <a:bodyPr/>
                    <a:lstStyle/>
                    <a:p>
                      <a:pPr algn="ctr">
                        <a:defRPr sz="1800">
                          <a:sym typeface="Helvetica"/>
                        </a:defRPr>
                      </a:pPr>
                    </a:p>
                    <a:p>
                      <a:pPr algn="ctr">
                        <a:defRPr sz="1800">
                          <a:sym typeface="Helvetica"/>
                        </a:defRPr>
                      </a:pPr>
                      <a:r>
                        <a:t>NYC</a:t>
                      </a:r>
                    </a:p>
                  </a:txBody>
                  <a:tcPr marL="0" marR="0" marT="0" marB="0" anchor="t" anchorCtr="0" horzOverflow="overflow">
                    <a:solidFill>
                      <a:srgbClr val="FBFA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ym typeface="Helvetica"/>
                        </a:defRPr>
                      </a:pPr>
                      <a:r>
                        <a:t>{LA: 2.776},</a:t>
                      </a:r>
                    </a:p>
                    <a:p>
                      <a:pPr>
                        <a:defRPr sz="1400">
                          <a:sym typeface="Helvetica"/>
                        </a:defRPr>
                      </a:pPr>
                      <a:r>
                        <a:t>{HOU: 1.629},</a:t>
                      </a:r>
                    </a:p>
                    <a:p>
                      <a:pPr>
                        <a:defRPr sz="1400">
                          <a:sym typeface="Helvetica"/>
                        </a:defRPr>
                      </a:pPr>
                      <a:r>
                        <a:t>{MIA: 1.189}</a:t>
                      </a:r>
                    </a:p>
                  </a:txBody>
                  <a:tcPr marL="0" marR="0" marT="0" marB="0" anchor="t" anchorCtr="0" horzOverflow="overflow">
                    <a:solidFill>
                      <a:srgbClr val="FBFAF9"/>
                    </a:solidFill>
                  </a:tcPr>
                </a:tc>
              </a:tr>
              <a:tr h="1002460">
                <a:tc>
                  <a:txBody>
                    <a:bodyPr/>
                    <a:lstStyle/>
                    <a:p>
                      <a:pPr algn="ctr">
                        <a:defRPr sz="1800">
                          <a:sym typeface="Helvetica"/>
                        </a:defRPr>
                      </a:pPr>
                    </a:p>
                    <a:p>
                      <a:pPr algn="ctr">
                        <a:defRPr sz="1800">
                          <a:sym typeface="Helvetica"/>
                        </a:defRPr>
                      </a:pPr>
                      <a:r>
                        <a:t>LA</a:t>
                      </a:r>
                    </a:p>
                  </a:txBody>
                  <a:tcPr marL="0" marR="0" marT="0" marB="0" anchor="t" anchorCtr="0" horzOverflow="overflow">
                    <a:solidFill>
                      <a:srgbClr val="F6F5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ym typeface="Helvetica"/>
                        </a:defRPr>
                      </a:pPr>
                      <a:r>
                        <a:t>{NYC: 2.776},</a:t>
                      </a:r>
                    </a:p>
                    <a:p>
                      <a:pPr>
                        <a:defRPr sz="1400">
                          <a:sym typeface="Helvetica"/>
                        </a:defRPr>
                      </a:pPr>
                      <a:r>
                        <a:t>{MIA: 2.735},</a:t>
                      </a:r>
                    </a:p>
                    <a:p>
                      <a:pPr>
                        <a:defRPr sz="1400">
                          <a:sym typeface="Helvetica"/>
                        </a:defRPr>
                      </a:pPr>
                      <a:r>
                        <a:t>{HOU: 1.546}</a:t>
                      </a:r>
                    </a:p>
                  </a:txBody>
                  <a:tcPr marL="0" marR="0" marT="0" marB="0" anchor="t" anchorCtr="0" horzOverflow="overflow">
                    <a:solidFill>
                      <a:srgbClr val="F6F5F3"/>
                    </a:solidFill>
                  </a:tcPr>
                </a:tc>
              </a:tr>
              <a:tr h="1002460">
                <a:tc>
                  <a:txBody>
                    <a:bodyPr/>
                    <a:lstStyle/>
                    <a:p>
                      <a:pPr algn="ctr">
                        <a:defRPr sz="1800">
                          <a:sym typeface="Helvetica"/>
                        </a:defRPr>
                      </a:pPr>
                    </a:p>
                    <a:p>
                      <a:pPr algn="ctr">
                        <a:defRPr sz="1800">
                          <a:sym typeface="Helvetica"/>
                        </a:defRPr>
                      </a:pPr>
                      <a:r>
                        <a:t>HOU</a:t>
                      </a:r>
                    </a:p>
                  </a:txBody>
                  <a:tcPr marL="0" marR="0" marT="0" marB="0" anchor="t" anchorCtr="0" horzOverflow="overflow">
                    <a:solidFill>
                      <a:srgbClr val="FBFA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ym typeface="Helvetica"/>
                        </a:defRPr>
                      </a:pPr>
                      <a:r>
                        <a:t>{LA: 1.546},</a:t>
                      </a:r>
                      <a:br/>
                      <a:r>
                        <a:t>{NYC: 1.629},</a:t>
                      </a:r>
                    </a:p>
                    <a:p>
                      <a:pPr>
                        <a:defRPr sz="1400">
                          <a:sym typeface="Helvetica"/>
                        </a:defRPr>
                      </a:pPr>
                      <a:r>
                        <a:t>{MIA: 1.189}</a:t>
                      </a:r>
                    </a:p>
                  </a:txBody>
                  <a:tcPr marL="0" marR="0" marT="0" marB="0" anchor="t" anchorCtr="0" horzOverflow="overflow">
                    <a:solidFill>
                      <a:srgbClr val="FBFA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xmlns:p14="http://schemas.microsoft.com/office/powerpoint/2010/main" spd="med" advClick="1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Title 1"/>
          <p:cNvSpPr txBox="1"/>
          <p:nvPr>
            <p:ph type="title"/>
          </p:nvPr>
        </p:nvSpPr>
        <p:spPr>
          <a:xfrm>
            <a:off x="151728" y="113540"/>
            <a:ext cx="5602753" cy="647783"/>
          </a:xfrm>
          <a:prstGeom prst="rect">
            <a:avLst/>
          </a:prstGeom>
        </p:spPr>
        <p:txBody>
          <a:bodyPr/>
          <a:lstStyle/>
          <a:p>
            <a:pPr/>
            <a:r>
              <a:t>NP-HARD Reduction</a:t>
            </a:r>
          </a:p>
        </p:txBody>
      </p:sp>
      <p:grpSp>
        <p:nvGrpSpPr>
          <p:cNvPr id="239" name="Hamiltonian Cycle"/>
          <p:cNvGrpSpPr/>
          <p:nvPr/>
        </p:nvGrpSpPr>
        <p:grpSpPr>
          <a:xfrm>
            <a:off x="2284986" y="5029548"/>
            <a:ext cx="1654590" cy="903729"/>
            <a:chOff x="0" y="0"/>
            <a:chExt cx="1654588" cy="903727"/>
          </a:xfrm>
        </p:grpSpPr>
        <p:sp>
          <p:nvSpPr>
            <p:cNvPr id="237" name="Rectangle"/>
            <p:cNvSpPr/>
            <p:nvPr/>
          </p:nvSpPr>
          <p:spPr>
            <a:xfrm>
              <a:off x="-1" y="0"/>
              <a:ext cx="1654589" cy="903729"/>
            </a:xfrm>
            <a:prstGeom prst="rect">
              <a:avLst/>
            </a:prstGeom>
            <a:solidFill>
              <a:srgbClr val="84B4DF"/>
            </a:solidFill>
            <a:ln w="9525" cap="flat">
              <a:solidFill>
                <a:srgbClr val="4B5AB6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238" name="Hamiltonian Cycle"/>
            <p:cNvSpPr txBox="1"/>
            <p:nvPr/>
          </p:nvSpPr>
          <p:spPr>
            <a:xfrm>
              <a:off x="4762" y="139267"/>
              <a:ext cx="1645064" cy="62518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>
                  <a:solidFill>
                    <a:srgbClr val="FFFFFF"/>
                  </a:solidFill>
                </a:defRPr>
              </a:lvl1pPr>
            </a:lstStyle>
            <a:p>
              <a:pPr/>
              <a:r>
                <a:t>Hamiltonian Cycle</a:t>
              </a:r>
            </a:p>
          </p:txBody>
        </p:sp>
      </p:grpSp>
      <p:grpSp>
        <p:nvGrpSpPr>
          <p:cNvPr id="242" name="LAX"/>
          <p:cNvGrpSpPr/>
          <p:nvPr/>
        </p:nvGrpSpPr>
        <p:grpSpPr>
          <a:xfrm>
            <a:off x="1668925" y="2683304"/>
            <a:ext cx="694211" cy="694211"/>
            <a:chOff x="0" y="0"/>
            <a:chExt cx="694210" cy="694210"/>
          </a:xfrm>
        </p:grpSpPr>
        <p:sp>
          <p:nvSpPr>
            <p:cNvPr id="240" name="Circle"/>
            <p:cNvSpPr/>
            <p:nvPr/>
          </p:nvSpPr>
          <p:spPr>
            <a:xfrm>
              <a:off x="-1" y="-1"/>
              <a:ext cx="694211" cy="694211"/>
            </a:xfrm>
            <a:prstGeom prst="ellipse">
              <a:avLst/>
            </a:prstGeom>
            <a:gradFill flip="none" rotWithShape="1">
              <a:gsLst>
                <a:gs pos="0">
                  <a:srgbClr val="1287F6"/>
                </a:gs>
                <a:gs pos="100000">
                  <a:schemeClr val="accent5">
                    <a:hueOff val="329330"/>
                    <a:satOff val="40776"/>
                    <a:lumOff val="24655"/>
                  </a:schemeClr>
                </a:gs>
              </a:gsLst>
              <a:lin ang="16976440" scaled="0"/>
            </a:gradFill>
            <a:ln w="9525" cap="flat">
              <a:solidFill>
                <a:srgbClr val="4F80EF"/>
              </a:solidFill>
              <a:prstDash val="solid"/>
              <a:round/>
            </a:ln>
            <a:effectLst>
              <a:outerShdw sx="100000" sy="100000" kx="0" ky="0" algn="b" rotWithShape="0" blurRad="63500" dist="25400" dir="5400000">
                <a:srgbClr val="000000">
                  <a:alpha val="5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241" name="LAX"/>
            <p:cNvSpPr txBox="1"/>
            <p:nvPr/>
          </p:nvSpPr>
          <p:spPr>
            <a:xfrm>
              <a:off x="106425" y="208097"/>
              <a:ext cx="481352" cy="27799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1500">
                  <a:solidFill>
                    <a:srgbClr val="FFFFFF"/>
                  </a:solidFill>
                </a:defRPr>
              </a:lvl1pPr>
            </a:lstStyle>
            <a:p>
              <a:pPr/>
              <a:r>
                <a:t>LA</a:t>
              </a:r>
            </a:p>
          </p:txBody>
        </p:sp>
      </p:grpSp>
      <p:grpSp>
        <p:nvGrpSpPr>
          <p:cNvPr id="245" name="JFK"/>
          <p:cNvGrpSpPr/>
          <p:nvPr/>
        </p:nvGrpSpPr>
        <p:grpSpPr>
          <a:xfrm>
            <a:off x="2765178" y="1578610"/>
            <a:ext cx="694213" cy="694213"/>
            <a:chOff x="0" y="0"/>
            <a:chExt cx="694211" cy="694211"/>
          </a:xfrm>
        </p:grpSpPr>
        <p:sp>
          <p:nvSpPr>
            <p:cNvPr id="243" name="Circle"/>
            <p:cNvSpPr/>
            <p:nvPr/>
          </p:nvSpPr>
          <p:spPr>
            <a:xfrm>
              <a:off x="-1" y="-1"/>
              <a:ext cx="694212" cy="694212"/>
            </a:xfrm>
            <a:prstGeom prst="ellipse">
              <a:avLst/>
            </a:prstGeom>
            <a:gradFill flip="none" rotWithShape="1">
              <a:gsLst>
                <a:gs pos="0">
                  <a:srgbClr val="1287F6"/>
                </a:gs>
                <a:gs pos="100000">
                  <a:schemeClr val="accent5">
                    <a:hueOff val="329330"/>
                    <a:satOff val="40776"/>
                    <a:lumOff val="24655"/>
                  </a:schemeClr>
                </a:gs>
              </a:gsLst>
              <a:lin ang="16976440" scaled="0"/>
            </a:gradFill>
            <a:ln w="9525" cap="flat">
              <a:solidFill>
                <a:srgbClr val="4F80EF"/>
              </a:solidFill>
              <a:prstDash val="solid"/>
              <a:round/>
            </a:ln>
            <a:effectLst>
              <a:outerShdw sx="100000" sy="100000" kx="0" ky="0" algn="b" rotWithShape="0" blurRad="63500" dist="25400" dir="5400000">
                <a:srgbClr val="000000">
                  <a:alpha val="5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244" name="JFK"/>
            <p:cNvSpPr txBox="1"/>
            <p:nvPr/>
          </p:nvSpPr>
          <p:spPr>
            <a:xfrm>
              <a:off x="106425" y="208097"/>
              <a:ext cx="481353" cy="27799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1500">
                  <a:solidFill>
                    <a:srgbClr val="FFFFFF"/>
                  </a:solidFill>
                </a:defRPr>
              </a:lvl1pPr>
            </a:lstStyle>
            <a:p>
              <a:pPr/>
              <a:r>
                <a:t>NYC</a:t>
              </a:r>
            </a:p>
          </p:txBody>
        </p:sp>
      </p:grpSp>
      <p:grpSp>
        <p:nvGrpSpPr>
          <p:cNvPr id="248" name="MIA"/>
          <p:cNvGrpSpPr/>
          <p:nvPr/>
        </p:nvGrpSpPr>
        <p:grpSpPr>
          <a:xfrm>
            <a:off x="3870697" y="2683304"/>
            <a:ext cx="694216" cy="694211"/>
            <a:chOff x="-1" y="0"/>
            <a:chExt cx="694214" cy="694210"/>
          </a:xfrm>
        </p:grpSpPr>
        <p:sp>
          <p:nvSpPr>
            <p:cNvPr id="246" name="Circle"/>
            <p:cNvSpPr/>
            <p:nvPr/>
          </p:nvSpPr>
          <p:spPr>
            <a:xfrm>
              <a:off x="-2" y="-1"/>
              <a:ext cx="694216" cy="694211"/>
            </a:xfrm>
            <a:prstGeom prst="ellipse">
              <a:avLst/>
            </a:prstGeom>
            <a:gradFill flip="none" rotWithShape="1">
              <a:gsLst>
                <a:gs pos="0">
                  <a:srgbClr val="1287F6"/>
                </a:gs>
                <a:gs pos="100000">
                  <a:schemeClr val="accent5">
                    <a:hueOff val="329330"/>
                    <a:satOff val="40776"/>
                    <a:lumOff val="24655"/>
                  </a:schemeClr>
                </a:gs>
              </a:gsLst>
              <a:lin ang="16976440" scaled="0"/>
            </a:gradFill>
            <a:ln w="9525" cap="flat">
              <a:solidFill>
                <a:srgbClr val="4F80EF"/>
              </a:solidFill>
              <a:prstDash val="solid"/>
              <a:round/>
            </a:ln>
            <a:effectLst>
              <a:outerShdw sx="100000" sy="100000" kx="0" ky="0" algn="b" rotWithShape="0" blurRad="63500" dist="25400" dir="5400000">
                <a:srgbClr val="000000">
                  <a:alpha val="5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247" name="MIA"/>
            <p:cNvSpPr txBox="1"/>
            <p:nvPr/>
          </p:nvSpPr>
          <p:spPr>
            <a:xfrm>
              <a:off x="106426" y="208097"/>
              <a:ext cx="481353" cy="27799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1500">
                  <a:solidFill>
                    <a:srgbClr val="FFFFFF"/>
                  </a:solidFill>
                </a:defRPr>
              </a:lvl1pPr>
            </a:lstStyle>
            <a:p>
              <a:pPr/>
              <a:r>
                <a:t>MIA</a:t>
              </a:r>
            </a:p>
          </p:txBody>
        </p:sp>
      </p:grpSp>
      <p:grpSp>
        <p:nvGrpSpPr>
          <p:cNvPr id="251" name="HOU"/>
          <p:cNvGrpSpPr/>
          <p:nvPr/>
        </p:nvGrpSpPr>
        <p:grpSpPr>
          <a:xfrm>
            <a:off x="2765178" y="3778428"/>
            <a:ext cx="694213" cy="694211"/>
            <a:chOff x="0" y="0"/>
            <a:chExt cx="694211" cy="694210"/>
          </a:xfrm>
        </p:grpSpPr>
        <p:sp>
          <p:nvSpPr>
            <p:cNvPr id="249" name="Circle"/>
            <p:cNvSpPr/>
            <p:nvPr/>
          </p:nvSpPr>
          <p:spPr>
            <a:xfrm>
              <a:off x="-1" y="-1"/>
              <a:ext cx="694212" cy="694211"/>
            </a:xfrm>
            <a:prstGeom prst="ellipse">
              <a:avLst/>
            </a:prstGeom>
            <a:gradFill flip="none" rotWithShape="1">
              <a:gsLst>
                <a:gs pos="0">
                  <a:srgbClr val="1287F6"/>
                </a:gs>
                <a:gs pos="100000">
                  <a:schemeClr val="accent5">
                    <a:hueOff val="329330"/>
                    <a:satOff val="40776"/>
                    <a:lumOff val="24655"/>
                  </a:schemeClr>
                </a:gs>
              </a:gsLst>
              <a:lin ang="16976440" scaled="0"/>
            </a:gradFill>
            <a:ln w="9525" cap="flat">
              <a:solidFill>
                <a:srgbClr val="4F80EF"/>
              </a:solidFill>
              <a:prstDash val="solid"/>
              <a:round/>
            </a:ln>
            <a:effectLst>
              <a:outerShdw sx="100000" sy="100000" kx="0" ky="0" algn="b" rotWithShape="0" blurRad="63500" dist="25400" dir="5400000">
                <a:srgbClr val="000000">
                  <a:alpha val="5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250" name="HOU"/>
            <p:cNvSpPr txBox="1"/>
            <p:nvPr/>
          </p:nvSpPr>
          <p:spPr>
            <a:xfrm>
              <a:off x="106425" y="208097"/>
              <a:ext cx="481353" cy="27799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1500">
                  <a:solidFill>
                    <a:srgbClr val="FFFFFF"/>
                  </a:solidFill>
                </a:defRPr>
              </a:lvl1pPr>
            </a:lstStyle>
            <a:p>
              <a:pPr/>
              <a:r>
                <a:t>HOU</a:t>
              </a:r>
            </a:p>
          </p:txBody>
        </p:sp>
      </p:grpSp>
      <p:sp>
        <p:nvSpPr>
          <p:cNvPr id="252" name="Line"/>
          <p:cNvSpPr/>
          <p:nvPr/>
        </p:nvSpPr>
        <p:spPr>
          <a:xfrm flipV="1">
            <a:off x="2241618" y="2145980"/>
            <a:ext cx="587106" cy="613361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53" name="Line"/>
          <p:cNvSpPr/>
          <p:nvPr/>
        </p:nvSpPr>
        <p:spPr>
          <a:xfrm flipV="1">
            <a:off x="3100750" y="2278133"/>
            <a:ext cx="20531" cy="1500050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54" name="Line"/>
          <p:cNvSpPr/>
          <p:nvPr/>
        </p:nvSpPr>
        <p:spPr>
          <a:xfrm flipV="1">
            <a:off x="3366160" y="3283158"/>
            <a:ext cx="610074" cy="613361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55" name="Line"/>
          <p:cNvSpPr/>
          <p:nvPr/>
        </p:nvSpPr>
        <p:spPr>
          <a:xfrm flipH="1" flipV="1">
            <a:off x="2362192" y="3030408"/>
            <a:ext cx="1500189" cy="9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grpSp>
        <p:nvGrpSpPr>
          <p:cNvPr id="258" name="LAX"/>
          <p:cNvGrpSpPr/>
          <p:nvPr/>
        </p:nvGrpSpPr>
        <p:grpSpPr>
          <a:xfrm>
            <a:off x="7627089" y="2688089"/>
            <a:ext cx="694211" cy="694211"/>
            <a:chOff x="0" y="0"/>
            <a:chExt cx="694210" cy="694210"/>
          </a:xfrm>
        </p:grpSpPr>
        <p:sp>
          <p:nvSpPr>
            <p:cNvPr id="256" name="Circle"/>
            <p:cNvSpPr/>
            <p:nvPr/>
          </p:nvSpPr>
          <p:spPr>
            <a:xfrm>
              <a:off x="-1" y="-1"/>
              <a:ext cx="694211" cy="694211"/>
            </a:xfrm>
            <a:prstGeom prst="ellipse">
              <a:avLst/>
            </a:prstGeom>
            <a:gradFill flip="none" rotWithShape="1">
              <a:gsLst>
                <a:gs pos="0">
                  <a:srgbClr val="1287F6"/>
                </a:gs>
                <a:gs pos="100000">
                  <a:schemeClr val="accent5">
                    <a:hueOff val="329330"/>
                    <a:satOff val="40776"/>
                    <a:lumOff val="24655"/>
                  </a:schemeClr>
                </a:gs>
              </a:gsLst>
              <a:lin ang="16976440" scaled="0"/>
            </a:gradFill>
            <a:ln w="9525" cap="flat">
              <a:solidFill>
                <a:srgbClr val="4F80EF"/>
              </a:solidFill>
              <a:prstDash val="solid"/>
              <a:round/>
            </a:ln>
            <a:effectLst>
              <a:outerShdw sx="100000" sy="100000" kx="0" ky="0" algn="b" rotWithShape="0" blurRad="63500" dist="25400" dir="5400000">
                <a:srgbClr val="000000">
                  <a:alpha val="5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257" name="LAX"/>
            <p:cNvSpPr txBox="1"/>
            <p:nvPr/>
          </p:nvSpPr>
          <p:spPr>
            <a:xfrm>
              <a:off x="106425" y="208097"/>
              <a:ext cx="481352" cy="27799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1500">
                  <a:solidFill>
                    <a:srgbClr val="FFFFFF"/>
                  </a:solidFill>
                </a:defRPr>
              </a:lvl1pPr>
            </a:lstStyle>
            <a:p>
              <a:pPr/>
              <a:r>
                <a:t>LA</a:t>
              </a:r>
            </a:p>
          </p:txBody>
        </p:sp>
      </p:grpSp>
      <p:grpSp>
        <p:nvGrpSpPr>
          <p:cNvPr id="261" name="JFK"/>
          <p:cNvGrpSpPr/>
          <p:nvPr/>
        </p:nvGrpSpPr>
        <p:grpSpPr>
          <a:xfrm>
            <a:off x="8723341" y="1583394"/>
            <a:ext cx="694211" cy="694211"/>
            <a:chOff x="0" y="0"/>
            <a:chExt cx="694210" cy="694210"/>
          </a:xfrm>
        </p:grpSpPr>
        <p:sp>
          <p:nvSpPr>
            <p:cNvPr id="259" name="Circle"/>
            <p:cNvSpPr/>
            <p:nvPr/>
          </p:nvSpPr>
          <p:spPr>
            <a:xfrm>
              <a:off x="-1" y="-1"/>
              <a:ext cx="694211" cy="694211"/>
            </a:xfrm>
            <a:prstGeom prst="ellipse">
              <a:avLst/>
            </a:prstGeom>
            <a:gradFill flip="none" rotWithShape="1">
              <a:gsLst>
                <a:gs pos="0">
                  <a:srgbClr val="1287F6"/>
                </a:gs>
                <a:gs pos="100000">
                  <a:schemeClr val="accent5">
                    <a:hueOff val="329330"/>
                    <a:satOff val="40776"/>
                    <a:lumOff val="24655"/>
                  </a:schemeClr>
                </a:gs>
              </a:gsLst>
              <a:lin ang="16976440" scaled="0"/>
            </a:gradFill>
            <a:ln w="9525" cap="flat">
              <a:solidFill>
                <a:srgbClr val="4F80EF"/>
              </a:solidFill>
              <a:prstDash val="solid"/>
              <a:round/>
            </a:ln>
            <a:effectLst>
              <a:outerShdw sx="100000" sy="100000" kx="0" ky="0" algn="b" rotWithShape="0" blurRad="63500" dist="25400" dir="5400000">
                <a:srgbClr val="000000">
                  <a:alpha val="5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260" name="JFK"/>
            <p:cNvSpPr txBox="1"/>
            <p:nvPr/>
          </p:nvSpPr>
          <p:spPr>
            <a:xfrm>
              <a:off x="106425" y="208097"/>
              <a:ext cx="481352" cy="27799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1500">
                  <a:solidFill>
                    <a:srgbClr val="FFFFFF"/>
                  </a:solidFill>
                </a:defRPr>
              </a:lvl1pPr>
            </a:lstStyle>
            <a:p>
              <a:pPr/>
              <a:r>
                <a:t>NYC</a:t>
              </a:r>
            </a:p>
          </p:txBody>
        </p:sp>
      </p:grpSp>
      <p:grpSp>
        <p:nvGrpSpPr>
          <p:cNvPr id="264" name="MIA"/>
          <p:cNvGrpSpPr/>
          <p:nvPr/>
        </p:nvGrpSpPr>
        <p:grpSpPr>
          <a:xfrm>
            <a:off x="9828864" y="2688088"/>
            <a:ext cx="694211" cy="694215"/>
            <a:chOff x="0" y="-1"/>
            <a:chExt cx="694210" cy="694214"/>
          </a:xfrm>
        </p:grpSpPr>
        <p:sp>
          <p:nvSpPr>
            <p:cNvPr id="262" name="Circle"/>
            <p:cNvSpPr/>
            <p:nvPr/>
          </p:nvSpPr>
          <p:spPr>
            <a:xfrm>
              <a:off x="-1" y="-2"/>
              <a:ext cx="694211" cy="694216"/>
            </a:xfrm>
            <a:prstGeom prst="ellipse">
              <a:avLst/>
            </a:prstGeom>
            <a:gradFill flip="none" rotWithShape="1">
              <a:gsLst>
                <a:gs pos="0">
                  <a:srgbClr val="1287F6"/>
                </a:gs>
                <a:gs pos="100000">
                  <a:schemeClr val="accent5">
                    <a:hueOff val="329330"/>
                    <a:satOff val="40776"/>
                    <a:lumOff val="24655"/>
                  </a:schemeClr>
                </a:gs>
              </a:gsLst>
              <a:lin ang="16976440" scaled="0"/>
            </a:gradFill>
            <a:ln w="9525" cap="flat">
              <a:solidFill>
                <a:srgbClr val="4F80EF"/>
              </a:solidFill>
              <a:prstDash val="solid"/>
              <a:round/>
            </a:ln>
            <a:effectLst>
              <a:outerShdw sx="100000" sy="100000" kx="0" ky="0" algn="b" rotWithShape="0" blurRad="63500" dist="25400" dir="5400000">
                <a:srgbClr val="000000">
                  <a:alpha val="5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263" name="MIA"/>
            <p:cNvSpPr txBox="1"/>
            <p:nvPr/>
          </p:nvSpPr>
          <p:spPr>
            <a:xfrm>
              <a:off x="106425" y="208098"/>
              <a:ext cx="481351" cy="27799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1500">
                  <a:solidFill>
                    <a:srgbClr val="FFFFFF"/>
                  </a:solidFill>
                </a:defRPr>
              </a:lvl1pPr>
            </a:lstStyle>
            <a:p>
              <a:pPr/>
              <a:r>
                <a:t>MIA</a:t>
              </a:r>
            </a:p>
          </p:txBody>
        </p:sp>
      </p:grpSp>
      <p:grpSp>
        <p:nvGrpSpPr>
          <p:cNvPr id="267" name="HOU"/>
          <p:cNvGrpSpPr/>
          <p:nvPr/>
        </p:nvGrpSpPr>
        <p:grpSpPr>
          <a:xfrm>
            <a:off x="8723341" y="3783213"/>
            <a:ext cx="694211" cy="694211"/>
            <a:chOff x="0" y="0"/>
            <a:chExt cx="694210" cy="694210"/>
          </a:xfrm>
        </p:grpSpPr>
        <p:sp>
          <p:nvSpPr>
            <p:cNvPr id="265" name="Circle"/>
            <p:cNvSpPr/>
            <p:nvPr/>
          </p:nvSpPr>
          <p:spPr>
            <a:xfrm>
              <a:off x="-1" y="-1"/>
              <a:ext cx="694211" cy="694211"/>
            </a:xfrm>
            <a:prstGeom prst="ellipse">
              <a:avLst/>
            </a:prstGeom>
            <a:gradFill flip="none" rotWithShape="1">
              <a:gsLst>
                <a:gs pos="0">
                  <a:srgbClr val="1287F6"/>
                </a:gs>
                <a:gs pos="100000">
                  <a:schemeClr val="accent5">
                    <a:hueOff val="329330"/>
                    <a:satOff val="40776"/>
                    <a:lumOff val="24655"/>
                  </a:schemeClr>
                </a:gs>
              </a:gsLst>
              <a:lin ang="16976440" scaled="0"/>
            </a:gradFill>
            <a:ln w="9525" cap="flat">
              <a:solidFill>
                <a:srgbClr val="4F80EF"/>
              </a:solidFill>
              <a:prstDash val="solid"/>
              <a:round/>
            </a:ln>
            <a:effectLst>
              <a:outerShdw sx="100000" sy="100000" kx="0" ky="0" algn="b" rotWithShape="0" blurRad="63500" dist="25400" dir="5400000">
                <a:srgbClr val="000000">
                  <a:alpha val="5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266" name="HOU"/>
            <p:cNvSpPr txBox="1"/>
            <p:nvPr/>
          </p:nvSpPr>
          <p:spPr>
            <a:xfrm>
              <a:off x="106425" y="208097"/>
              <a:ext cx="481352" cy="27799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1500">
                  <a:solidFill>
                    <a:srgbClr val="FFFFFF"/>
                  </a:solidFill>
                </a:defRPr>
              </a:lvl1pPr>
            </a:lstStyle>
            <a:p>
              <a:pPr/>
              <a:r>
                <a:t>HOU</a:t>
              </a:r>
            </a:p>
          </p:txBody>
        </p:sp>
      </p:grpSp>
      <p:sp>
        <p:nvSpPr>
          <p:cNvPr id="268" name="Line"/>
          <p:cNvSpPr/>
          <p:nvPr/>
        </p:nvSpPr>
        <p:spPr>
          <a:xfrm flipV="1">
            <a:off x="8199783" y="2150765"/>
            <a:ext cx="587106" cy="613361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69" name="Line"/>
          <p:cNvSpPr/>
          <p:nvPr/>
        </p:nvSpPr>
        <p:spPr>
          <a:xfrm flipV="1">
            <a:off x="9058912" y="2282917"/>
            <a:ext cx="20531" cy="1500050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70" name="Line"/>
          <p:cNvSpPr/>
          <p:nvPr/>
        </p:nvSpPr>
        <p:spPr>
          <a:xfrm flipV="1">
            <a:off x="9324326" y="3287943"/>
            <a:ext cx="610074" cy="613362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71" name="Line"/>
          <p:cNvSpPr/>
          <p:nvPr/>
        </p:nvSpPr>
        <p:spPr>
          <a:xfrm flipH="1" flipV="1">
            <a:off x="8320354" y="3035193"/>
            <a:ext cx="1500189" cy="9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72" name="Line"/>
          <p:cNvSpPr/>
          <p:nvPr/>
        </p:nvSpPr>
        <p:spPr>
          <a:xfrm flipH="1" flipV="1">
            <a:off x="9352336" y="2145980"/>
            <a:ext cx="604907" cy="612610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73" name="1.74"/>
          <p:cNvSpPr txBox="1"/>
          <p:nvPr/>
        </p:nvSpPr>
        <p:spPr>
          <a:xfrm>
            <a:off x="9666027" y="2135639"/>
            <a:ext cx="189181" cy="103760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>
            <a:spAutoFit/>
          </a:bodyPr>
          <a:lstStyle/>
          <a:p>
            <a:pPr latinLnBrk="1"/>
            <a14:m>
              <m:oMathPara>
                <m:oMathParaPr>
                  <m:jc m:val="centerGroup"/>
                </m:oMathParaPr>
                <m:oMath>
                  <m:r>
                    <a:rPr xmlns:a="http://schemas.openxmlformats.org/drawingml/2006/main" sz="19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∞</m:t>
                  </m:r>
                </m:oMath>
              </m:oMathPara>
            </a14:m>
            <a:endParaRPr sz="1900"/>
          </a:p>
        </p:txBody>
      </p:sp>
      <p:sp>
        <p:nvSpPr>
          <p:cNvPr id="274" name="Line"/>
          <p:cNvSpPr/>
          <p:nvPr/>
        </p:nvSpPr>
        <p:spPr>
          <a:xfrm flipH="1" flipV="1">
            <a:off x="8182122" y="3305659"/>
            <a:ext cx="604907" cy="612612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75" name="1.74"/>
          <p:cNvSpPr txBox="1"/>
          <p:nvPr/>
        </p:nvSpPr>
        <p:spPr>
          <a:xfrm>
            <a:off x="8138522" y="3660121"/>
            <a:ext cx="189180" cy="103760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>
            <a:spAutoFit/>
          </a:bodyPr>
          <a:lstStyle/>
          <a:p>
            <a:pPr latinLnBrk="1"/>
            <a14:m>
              <m:oMathPara>
                <m:oMathParaPr>
                  <m:jc m:val="centerGroup"/>
                </m:oMathParaPr>
                <m:oMath>
                  <m:r>
                    <a:rPr xmlns:a="http://schemas.openxmlformats.org/drawingml/2006/main" sz="19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∞</m:t>
                  </m:r>
                </m:oMath>
              </m:oMathPara>
            </a14:m>
            <a:endParaRPr sz="1900"/>
          </a:p>
        </p:txBody>
      </p:sp>
      <p:sp>
        <p:nvSpPr>
          <p:cNvPr id="276" name="Line"/>
          <p:cNvSpPr/>
          <p:nvPr/>
        </p:nvSpPr>
        <p:spPr>
          <a:xfrm>
            <a:off x="5168212" y="3030409"/>
            <a:ext cx="1846312" cy="7"/>
          </a:xfrm>
          <a:prstGeom prst="line">
            <a:avLst/>
          </a:prstGeom>
          <a:ln w="152400">
            <a:solidFill>
              <a:srgbClr val="000000"/>
            </a:solidFill>
            <a:tailEnd type="triangle"/>
          </a:ln>
        </p:spPr>
        <p:txBody>
          <a:bodyPr lIns="45718" tIns="45718" rIns="45718" bIns="45718"/>
          <a:lstStyle/>
          <a:p>
            <a:pPr/>
          </a:p>
        </p:txBody>
      </p:sp>
      <p:grpSp>
        <p:nvGrpSpPr>
          <p:cNvPr id="279" name="Traveling Salesman"/>
          <p:cNvGrpSpPr/>
          <p:nvPr/>
        </p:nvGrpSpPr>
        <p:grpSpPr>
          <a:xfrm>
            <a:off x="8243151" y="5029548"/>
            <a:ext cx="1654590" cy="903729"/>
            <a:chOff x="0" y="0"/>
            <a:chExt cx="1654588" cy="903727"/>
          </a:xfrm>
        </p:grpSpPr>
        <p:sp>
          <p:nvSpPr>
            <p:cNvPr id="277" name="Rectangle"/>
            <p:cNvSpPr/>
            <p:nvPr/>
          </p:nvSpPr>
          <p:spPr>
            <a:xfrm>
              <a:off x="-1" y="0"/>
              <a:ext cx="1654589" cy="903729"/>
            </a:xfrm>
            <a:prstGeom prst="rect">
              <a:avLst/>
            </a:prstGeom>
            <a:solidFill>
              <a:srgbClr val="84B4DF"/>
            </a:solidFill>
            <a:ln w="9525" cap="flat">
              <a:solidFill>
                <a:srgbClr val="4B5AB6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278" name="Traveling Salesman"/>
            <p:cNvSpPr txBox="1"/>
            <p:nvPr/>
          </p:nvSpPr>
          <p:spPr>
            <a:xfrm>
              <a:off x="4762" y="139267"/>
              <a:ext cx="1645063" cy="62518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>
                  <a:solidFill>
                    <a:srgbClr val="FFFFFF"/>
                  </a:solidFill>
                </a:defRPr>
              </a:lvl1pPr>
            </a:lstStyle>
            <a:p>
              <a:pPr/>
              <a:r>
                <a:t>Traveling Salesman</a:t>
              </a:r>
            </a:p>
          </p:txBody>
        </p:sp>
      </p:grpSp>
      <p:sp>
        <p:nvSpPr>
          <p:cNvPr id="280" name="Text"/>
          <p:cNvSpPr txBox="1"/>
          <p:nvPr/>
        </p:nvSpPr>
        <p:spPr>
          <a:xfrm>
            <a:off x="5844516" y="3214627"/>
            <a:ext cx="255377" cy="263748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>
            <a:spAutoFit/>
          </a:bodyPr>
          <a:lstStyle/>
          <a:p>
            <a:pPr latinLnBrk="1"/>
            <a14:m>
              <m:oMathPara>
                <m:oMathParaPr>
                  <m:jc m:val="centerGroup"/>
                </m:oMathParaPr>
                <m:oMath>
                  <m:sSub>
                    <m:e>
                      <m:r>
                        <a:rPr xmlns:a="http://schemas.openxmlformats.org/drawingml/2006/main" sz="21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</m:e>
                    <m:sub>
                      <m:r>
                        <a:rPr xmlns:a="http://schemas.openxmlformats.org/drawingml/2006/main" sz="21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𝑝</m:t>
                      </m:r>
                    </m:sub>
                  </m:sSub>
                </m:oMath>
              </m:oMathPara>
            </a14:m>
            <a:endParaRPr sz="2100"/>
          </a:p>
        </p:txBody>
      </p:sp>
      <p:sp>
        <p:nvSpPr>
          <p:cNvPr id="281" name="2.475"/>
          <p:cNvSpPr txBox="1"/>
          <p:nvPr/>
        </p:nvSpPr>
        <p:spPr>
          <a:xfrm>
            <a:off x="1920810" y="2134907"/>
            <a:ext cx="625295" cy="3330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/>
            <a:r>
              <a:t>2.776</a:t>
            </a:r>
          </a:p>
        </p:txBody>
      </p:sp>
      <p:sp>
        <p:nvSpPr>
          <p:cNvPr id="282" name="1.1"/>
          <p:cNvSpPr txBox="1"/>
          <p:nvPr/>
        </p:nvSpPr>
        <p:spPr>
          <a:xfrm>
            <a:off x="3671194" y="3589835"/>
            <a:ext cx="625296" cy="3330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/>
            <a:r>
              <a:t>1.189</a:t>
            </a:r>
          </a:p>
        </p:txBody>
      </p:sp>
      <p:sp>
        <p:nvSpPr>
          <p:cNvPr id="283" name="1.74"/>
          <p:cNvSpPr txBox="1"/>
          <p:nvPr/>
        </p:nvSpPr>
        <p:spPr>
          <a:xfrm>
            <a:off x="3088051" y="2445210"/>
            <a:ext cx="625295" cy="3330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/>
            <a:r>
              <a:t>1.629</a:t>
            </a:r>
          </a:p>
        </p:txBody>
      </p:sp>
      <p:sp>
        <p:nvSpPr>
          <p:cNvPr id="284" name="2.342"/>
          <p:cNvSpPr txBox="1"/>
          <p:nvPr/>
        </p:nvSpPr>
        <p:spPr>
          <a:xfrm>
            <a:off x="2362461" y="3028156"/>
            <a:ext cx="676976" cy="3330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/>
            <a:r>
              <a:t> 2.735</a:t>
            </a:r>
          </a:p>
        </p:txBody>
      </p:sp>
      <p:sp>
        <p:nvSpPr>
          <p:cNvPr id="285" name="2.475"/>
          <p:cNvSpPr txBox="1"/>
          <p:nvPr/>
        </p:nvSpPr>
        <p:spPr>
          <a:xfrm>
            <a:off x="7882607" y="2134148"/>
            <a:ext cx="625296" cy="3330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/>
            <a:r>
              <a:t>2.776</a:t>
            </a:r>
          </a:p>
        </p:txBody>
      </p:sp>
      <p:sp>
        <p:nvSpPr>
          <p:cNvPr id="286" name="1.1"/>
          <p:cNvSpPr txBox="1"/>
          <p:nvPr/>
        </p:nvSpPr>
        <p:spPr>
          <a:xfrm>
            <a:off x="9632991" y="3589077"/>
            <a:ext cx="625295" cy="3330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/>
            <a:r>
              <a:t>1.189</a:t>
            </a:r>
          </a:p>
        </p:txBody>
      </p:sp>
      <p:sp>
        <p:nvSpPr>
          <p:cNvPr id="287" name="1.74"/>
          <p:cNvSpPr txBox="1"/>
          <p:nvPr/>
        </p:nvSpPr>
        <p:spPr>
          <a:xfrm>
            <a:off x="9049846" y="2444450"/>
            <a:ext cx="625295" cy="3330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/>
            <a:r>
              <a:t>1.629</a:t>
            </a:r>
          </a:p>
        </p:txBody>
      </p:sp>
      <p:sp>
        <p:nvSpPr>
          <p:cNvPr id="288" name="2.342"/>
          <p:cNvSpPr txBox="1"/>
          <p:nvPr/>
        </p:nvSpPr>
        <p:spPr>
          <a:xfrm>
            <a:off x="8324257" y="3027396"/>
            <a:ext cx="676976" cy="3330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/>
            <a:r>
              <a:t> 2.735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Title 1"/>
          <p:cNvSpPr txBox="1"/>
          <p:nvPr>
            <p:ph type="title"/>
          </p:nvPr>
        </p:nvSpPr>
        <p:spPr>
          <a:xfrm>
            <a:off x="151728" y="113540"/>
            <a:ext cx="5602753" cy="647783"/>
          </a:xfrm>
          <a:prstGeom prst="rect">
            <a:avLst/>
          </a:prstGeom>
        </p:spPr>
        <p:txBody>
          <a:bodyPr/>
          <a:lstStyle/>
          <a:p>
            <a:pPr/>
            <a:r>
              <a:t>NP-HARD Reduction</a:t>
            </a:r>
          </a:p>
        </p:txBody>
      </p:sp>
      <p:pic>
        <p:nvPicPr>
          <p:cNvPr id="291" name="Screenshot 2025-11-26 at 4.34.41 PM.png" descr="Screenshot 2025-11-26 at 4.34.41 PM.png"/>
          <p:cNvPicPr>
            <a:picLocks noChangeAspect="1"/>
          </p:cNvPicPr>
          <p:nvPr/>
        </p:nvPicPr>
        <p:blipFill>
          <a:blip r:embed="rId2">
            <a:extLst/>
          </a:blip>
          <a:srcRect l="0" t="5399" r="0" b="19332"/>
          <a:stretch>
            <a:fillRect/>
          </a:stretch>
        </p:blipFill>
        <p:spPr>
          <a:xfrm>
            <a:off x="2548926" y="2202406"/>
            <a:ext cx="7094336" cy="2161862"/>
          </a:xfrm>
          <a:prstGeom prst="rect">
            <a:avLst/>
          </a:prstGeom>
          <a:ln w="12700">
            <a:miter lim="400000"/>
          </a:ln>
        </p:spPr>
      </p:pic>
      <p:sp>
        <p:nvSpPr>
          <p:cNvPr id="292" name="Equation"/>
          <p:cNvSpPr txBox="1"/>
          <p:nvPr/>
        </p:nvSpPr>
        <p:spPr>
          <a:xfrm>
            <a:off x="5597723" y="4880681"/>
            <a:ext cx="1036279" cy="443442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>
            <a:spAutoFit/>
          </a:bodyPr>
          <a:lstStyle/>
          <a:p>
            <a:pPr latinLnBrk="1"/>
            <a14:m>
              <m:oMathPara>
                <m:oMathParaPr>
                  <m:jc m:val="centerGroup"/>
                </m:oMathParaPr>
                <m:oMath>
                  <m:r>
                    <a:rPr xmlns:a="http://schemas.openxmlformats.org/drawingml/2006/main" sz="34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𝑂</m:t>
                  </m:r>
                  <m:r>
                    <a:rPr xmlns:a="http://schemas.openxmlformats.org/drawingml/2006/main" sz="34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(</m:t>
                  </m:r>
                  <m:sSup>
                    <m:e>
                      <m:r>
                        <a:rPr xmlns:a="http://schemas.openxmlformats.org/drawingml/2006/main" sz="3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𝑉</m:t>
                      </m:r>
                    </m:e>
                    <m:sup>
                      <m:r>
                        <a:rPr xmlns:a="http://schemas.openxmlformats.org/drawingml/2006/main" sz="3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</m:sup>
                  </m:sSup>
                  <m:r>
                    <a:rPr xmlns:a="http://schemas.openxmlformats.org/drawingml/2006/main" sz="34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)</m:t>
                  </m:r>
                </m:oMath>
              </m:oMathPara>
            </a14:m>
            <a:endParaRPr sz="3400"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4" name="Screenshot 2025-11-26 at 5.28.10 PM.png" descr="Screenshot 2025-11-26 at 5.28.10 PM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2820446" y="1519393"/>
            <a:ext cx="6551108" cy="3819215"/>
          </a:xfrm>
          <a:prstGeom prst="rect">
            <a:avLst/>
          </a:prstGeom>
          <a:ln w="12700">
            <a:miter lim="400000"/>
          </a:ln>
        </p:spPr>
      </p:pic>
      <p:sp>
        <p:nvSpPr>
          <p:cNvPr id="295" name="Equation"/>
          <p:cNvSpPr txBox="1"/>
          <p:nvPr/>
        </p:nvSpPr>
        <p:spPr>
          <a:xfrm>
            <a:off x="5276910" y="5792587"/>
            <a:ext cx="1707423" cy="368326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>
            <a:spAutoFit/>
          </a:bodyPr>
          <a:lstStyle/>
          <a:p>
            <a:pPr latinLnBrk="1"/>
            <a14:m>
              <m:oMathPara>
                <m:oMathParaPr>
                  <m:jc m:val="centerGroup"/>
                </m:oMathParaPr>
                <m:oMath>
                  <m:r>
                    <a:rPr xmlns:a="http://schemas.openxmlformats.org/drawingml/2006/main" sz="34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𝑂</m:t>
                  </m:r>
                  <m:r>
                    <a:rPr xmlns:a="http://schemas.openxmlformats.org/drawingml/2006/main" sz="34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(</m:t>
                  </m:r>
                  <m:r>
                    <a:rPr xmlns:a="http://schemas.openxmlformats.org/drawingml/2006/main" sz="34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𝑉</m:t>
                  </m:r>
                  <m:r>
                    <a:rPr xmlns:a="http://schemas.openxmlformats.org/drawingml/2006/main" sz="34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!</m:t>
                  </m:r>
                  <m:r>
                    <a:rPr xmlns:a="http://schemas.openxmlformats.org/drawingml/2006/main" sz="34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∙</m:t>
                  </m:r>
                  <m:r>
                    <a:rPr xmlns:a="http://schemas.openxmlformats.org/drawingml/2006/main" sz="34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𝑉</m:t>
                  </m:r>
                  <m:r>
                    <a:rPr xmlns:a="http://schemas.openxmlformats.org/drawingml/2006/main" sz="34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)</m:t>
                  </m:r>
                </m:oMath>
              </m:oMathPara>
            </a14:m>
            <a:endParaRPr sz="3400"/>
          </a:p>
        </p:txBody>
      </p:sp>
      <p:sp>
        <p:nvSpPr>
          <p:cNvPr id="296" name="Title 1"/>
          <p:cNvSpPr txBox="1"/>
          <p:nvPr/>
        </p:nvSpPr>
        <p:spPr>
          <a:xfrm>
            <a:off x="151728" y="113540"/>
            <a:ext cx="8831799" cy="6477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normAutofit fontScale="100000" lnSpcReduction="0"/>
          </a:bodyPr>
          <a:lstStyle>
            <a:lvl1pPr>
              <a:lnSpc>
                <a:spcPct val="90000"/>
              </a:lnSpc>
              <a:defRPr cap="all" sz="3200">
                <a:latin typeface="Tenorite"/>
                <a:ea typeface="Tenorite"/>
                <a:cs typeface="Tenorite"/>
                <a:sym typeface="Tenorite"/>
              </a:defRPr>
            </a:lvl1pPr>
          </a:lstStyle>
          <a:p>
            <a:pPr/>
            <a:r>
              <a:t>Analytical runtime OF exact solution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CDC4B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Title 1"/>
          <p:cNvSpPr txBox="1"/>
          <p:nvPr>
            <p:ph type="title"/>
          </p:nvPr>
        </p:nvSpPr>
        <p:spPr>
          <a:xfrm>
            <a:off x="151723" y="113540"/>
            <a:ext cx="6344755" cy="647783"/>
          </a:xfrm>
          <a:prstGeom prst="rect">
            <a:avLst/>
          </a:prstGeom>
        </p:spPr>
        <p:txBody>
          <a:bodyPr/>
          <a:lstStyle/>
          <a:p>
            <a:pPr/>
            <a:r>
              <a:t>Test creation</a:t>
            </a:r>
          </a:p>
        </p:txBody>
      </p:sp>
      <p:pic>
        <p:nvPicPr>
          <p:cNvPr id="299" name="Screenshot 2025-12-02 at 9.44.47 PM.png" descr="Screenshot 2025-12-02 at 9.44.47 PM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2355873" y="1793064"/>
            <a:ext cx="7480256" cy="1462487"/>
          </a:xfrm>
          <a:prstGeom prst="rect">
            <a:avLst/>
          </a:prstGeom>
          <a:ln w="12700">
            <a:miter lim="400000"/>
          </a:ln>
        </p:spPr>
      </p:pic>
      <p:pic>
        <p:nvPicPr>
          <p:cNvPr id="300" name="Screenshot 2025-12-03 at 12.19.16 PM.png" descr="Screenshot 2025-12-03 at 12.19.16 PM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2350247" y="4111273"/>
            <a:ext cx="7491508" cy="1462490"/>
          </a:xfrm>
          <a:prstGeom prst="rect">
            <a:avLst/>
          </a:prstGeom>
          <a:ln w="12700">
            <a:miter lim="400000"/>
          </a:ln>
        </p:spPr>
      </p:pic>
      <p:sp>
        <p:nvSpPr>
          <p:cNvPr id="301" name="generator.py"/>
          <p:cNvSpPr txBox="1"/>
          <p:nvPr/>
        </p:nvSpPr>
        <p:spPr>
          <a:xfrm>
            <a:off x="2354613" y="1390908"/>
            <a:ext cx="1375167" cy="3708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 lvl="5">
              <a:defRPr>
                <a:latin typeface="+mj-lt"/>
                <a:ea typeface="+mj-ea"/>
                <a:cs typeface="+mj-cs"/>
                <a:sym typeface="Helvetica"/>
              </a:defRPr>
            </a:pPr>
            <a:r>
              <a:t>generator.py</a:t>
            </a:r>
          </a:p>
        </p:txBody>
      </p:sp>
      <p:sp>
        <p:nvSpPr>
          <p:cNvPr id="302" name="run_tests.sh"/>
          <p:cNvSpPr txBox="1"/>
          <p:nvPr/>
        </p:nvSpPr>
        <p:spPr>
          <a:xfrm>
            <a:off x="2354614" y="3670472"/>
            <a:ext cx="1349381" cy="3708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>
                <a:latin typeface="+mj-lt"/>
                <a:ea typeface="+mj-ea"/>
                <a:cs typeface="+mj-cs"/>
                <a:sym typeface="Helvetica"/>
              </a:defRPr>
            </a:lvl1pPr>
          </a:lstStyle>
          <a:p>
            <a:pPr/>
            <a:r>
              <a:t>run_tests.sh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CDC4B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Title 1"/>
          <p:cNvSpPr txBox="1"/>
          <p:nvPr>
            <p:ph type="title"/>
          </p:nvPr>
        </p:nvSpPr>
        <p:spPr>
          <a:xfrm>
            <a:off x="151723" y="113540"/>
            <a:ext cx="6344755" cy="647783"/>
          </a:xfrm>
          <a:prstGeom prst="rect">
            <a:avLst/>
          </a:prstGeom>
        </p:spPr>
        <p:txBody>
          <a:bodyPr/>
          <a:lstStyle/>
          <a:p>
            <a:pPr/>
            <a:r>
              <a:t>Empirical analysis</a:t>
            </a:r>
          </a:p>
        </p:txBody>
      </p:sp>
      <p:pic>
        <p:nvPicPr>
          <p:cNvPr id="305" name="emperial.png" descr="emperial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912354" y="1293070"/>
            <a:ext cx="5983715" cy="4487785"/>
          </a:xfrm>
          <a:prstGeom prst="rect">
            <a:avLst/>
          </a:prstGeom>
          <a:ln w="12700">
            <a:miter lim="400000"/>
          </a:ln>
        </p:spPr>
      </p:pic>
      <p:sp>
        <p:nvSpPr>
          <p:cNvPr id="306" name="Text"/>
          <p:cNvSpPr txBox="1"/>
          <p:nvPr/>
        </p:nvSpPr>
        <p:spPr>
          <a:xfrm>
            <a:off x="7354747" y="3424859"/>
            <a:ext cx="1477171" cy="249616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>
            <a:spAutoFit/>
          </a:bodyPr>
          <a:lstStyle/>
          <a:p>
            <a:pPr latinLnBrk="1"/>
            <a14:m>
              <m:oMathPara>
                <m:oMathParaPr>
                  <m:jc m:val="centerGroup"/>
                </m:oMathParaPr>
                <m:oMath>
                  <m:r>
                    <a:rPr xmlns:a="http://schemas.openxmlformats.org/drawingml/2006/main" sz="21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[</m:t>
                  </m:r>
                  <m:sSub>
                    <m:e>
                      <m:r>
                        <a:rPr xmlns:a="http://schemas.openxmlformats.org/drawingml/2006/main" sz="21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e>
                    <m:sub>
                      <m:r>
                        <a:rPr xmlns:a="http://schemas.openxmlformats.org/drawingml/2006/main" sz="21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</m:sub>
                  </m:sSub>
                  <m:r>
                    <a:rPr xmlns:a="http://schemas.openxmlformats.org/drawingml/2006/main" sz="21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:</m:t>
                  </m:r>
                  <m:sSub>
                    <m:e>
                      <m:r>
                        <a:rPr xmlns:a="http://schemas.openxmlformats.org/drawingml/2006/main" sz="21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e>
                    <m:sub>
                      <m:r>
                        <a:rPr xmlns:a="http://schemas.openxmlformats.org/drawingml/2006/main" sz="21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6</m:t>
                      </m:r>
                    </m:sub>
                  </m:sSub>
                  <m:r>
                    <a:rPr xmlns:a="http://schemas.openxmlformats.org/drawingml/2006/main" sz="21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]</m:t>
                  </m:r>
                  <m:r>
                    <a:rPr xmlns:a="http://schemas.openxmlformats.org/drawingml/2006/main" sz="21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≤</m:t>
                  </m:r>
                  <m:r>
                    <a:rPr xmlns:a="http://schemas.openxmlformats.org/drawingml/2006/main" sz="21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1</m:t>
                  </m:r>
                  <m:r>
                    <a:rPr xmlns:a="http://schemas.openxmlformats.org/drawingml/2006/main" sz="21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𝑚</m:t>
                  </m:r>
                  <m:r>
                    <a:rPr xmlns:a="http://schemas.openxmlformats.org/drawingml/2006/main" sz="21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𝑠</m:t>
                  </m:r>
                </m:oMath>
              </m:oMathPara>
            </a14:m>
            <a:endParaRPr sz="2100"/>
          </a:p>
        </p:txBody>
      </p:sp>
      <p:sp>
        <p:nvSpPr>
          <p:cNvPr id="307" name="Text"/>
          <p:cNvSpPr txBox="1"/>
          <p:nvPr/>
        </p:nvSpPr>
        <p:spPr>
          <a:xfrm>
            <a:off x="7348218" y="3886591"/>
            <a:ext cx="1295173" cy="25113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>
            <a:spAutoFit/>
          </a:bodyPr>
          <a:lstStyle/>
          <a:p>
            <a:pPr latinLnBrk="1"/>
            <a14:m>
              <m:oMathPara>
                <m:oMathParaPr>
                  <m:jc m:val="centerGroup"/>
                </m:oMathParaPr>
                <m:oMath>
                  <m:r>
                    <a:rPr xmlns:a="http://schemas.openxmlformats.org/drawingml/2006/main" sz="21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[</m:t>
                  </m:r>
                  <m:sSub>
                    <m:e>
                      <m:r>
                        <a:rPr xmlns:a="http://schemas.openxmlformats.org/drawingml/2006/main" sz="21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e>
                    <m:sub>
                      <m:r>
                        <a:rPr xmlns:a="http://schemas.openxmlformats.org/drawingml/2006/main" sz="21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7</m:t>
                      </m:r>
                    </m:sub>
                  </m:sSub>
                  <m:r>
                    <a:rPr xmlns:a="http://schemas.openxmlformats.org/drawingml/2006/main" sz="21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:</m:t>
                  </m:r>
                  <m:sSub>
                    <m:e>
                      <m:r>
                        <a:rPr xmlns:a="http://schemas.openxmlformats.org/drawingml/2006/main" sz="21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e>
                    <m:sub>
                      <m:r>
                        <a:rPr xmlns:a="http://schemas.openxmlformats.org/drawingml/2006/main" sz="21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9</m:t>
                      </m:r>
                    </m:sub>
                  </m:sSub>
                  <m:r>
                    <a:rPr xmlns:a="http://schemas.openxmlformats.org/drawingml/2006/main" sz="21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]</m:t>
                  </m:r>
                  <m:r>
                    <a:rPr xmlns:a="http://schemas.openxmlformats.org/drawingml/2006/main" sz="21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≤</m:t>
                  </m:r>
                  <m:r>
                    <a:rPr xmlns:a="http://schemas.openxmlformats.org/drawingml/2006/main" sz="21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1</m:t>
                  </m:r>
                  <m:r>
                    <a:rPr xmlns:a="http://schemas.openxmlformats.org/drawingml/2006/main" sz="21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𝑠</m:t>
                  </m:r>
                </m:oMath>
              </m:oMathPara>
            </a14:m>
            <a:endParaRPr sz="2100"/>
          </a:p>
        </p:txBody>
      </p:sp>
      <p:sp>
        <p:nvSpPr>
          <p:cNvPr id="308" name="Text"/>
          <p:cNvSpPr txBox="1"/>
          <p:nvPr/>
        </p:nvSpPr>
        <p:spPr>
          <a:xfrm>
            <a:off x="7352218" y="4349913"/>
            <a:ext cx="1543381" cy="249616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>
            <a:spAutoFit/>
          </a:bodyPr>
          <a:lstStyle/>
          <a:p>
            <a:pPr latinLnBrk="1"/>
            <a14:m>
              <m:oMathPara>
                <m:oMathParaPr>
                  <m:jc m:val="centerGroup"/>
                </m:oMathParaPr>
                <m:oMath>
                  <m:r>
                    <a:rPr xmlns:a="http://schemas.openxmlformats.org/drawingml/2006/main" sz="21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[</m:t>
                  </m:r>
                  <m:sSub>
                    <m:e>
                      <m:r>
                        <a:rPr xmlns:a="http://schemas.openxmlformats.org/drawingml/2006/main" sz="21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e>
                    <m:sub>
                      <m:r>
                        <a:rPr xmlns:a="http://schemas.openxmlformats.org/drawingml/2006/main" sz="21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10</m:t>
                      </m:r>
                    </m:sub>
                  </m:sSub>
                  <m:r>
                    <a:rPr xmlns:a="http://schemas.openxmlformats.org/drawingml/2006/main" sz="21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:</m:t>
                  </m:r>
                  <m:sSub>
                    <m:e>
                      <m:r>
                        <a:rPr xmlns:a="http://schemas.openxmlformats.org/drawingml/2006/main" sz="21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e>
                    <m:sub>
                      <m:r>
                        <a:rPr xmlns:a="http://schemas.openxmlformats.org/drawingml/2006/main" sz="21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11</m:t>
                      </m:r>
                    </m:sub>
                  </m:sSub>
                  <m:r>
                    <a:rPr xmlns:a="http://schemas.openxmlformats.org/drawingml/2006/main" sz="21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]</m:t>
                  </m:r>
                  <m:r>
                    <a:rPr xmlns:a="http://schemas.openxmlformats.org/drawingml/2006/main" sz="21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≤</m:t>
                  </m:r>
                  <m:r>
                    <a:rPr xmlns:a="http://schemas.openxmlformats.org/drawingml/2006/main" sz="21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1</m:t>
                  </m:r>
                  <m:r>
                    <a:rPr xmlns:a="http://schemas.openxmlformats.org/drawingml/2006/main" sz="21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𝑚</m:t>
                  </m:r>
                </m:oMath>
              </m:oMathPara>
            </a14:m>
            <a:endParaRPr sz="2100"/>
          </a:p>
        </p:txBody>
      </p:sp>
      <p:sp>
        <p:nvSpPr>
          <p:cNvPr id="309" name="Text"/>
          <p:cNvSpPr txBox="1"/>
          <p:nvPr/>
        </p:nvSpPr>
        <p:spPr>
          <a:xfrm>
            <a:off x="7353952" y="4817197"/>
            <a:ext cx="950098" cy="246965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>
            <a:spAutoFit/>
          </a:bodyPr>
          <a:lstStyle/>
          <a:p>
            <a:pPr latinLnBrk="1"/>
            <a14:m>
              <m:oMathPara>
                <m:oMathParaPr>
                  <m:jc m:val="centerGroup"/>
                </m:oMathParaPr>
                <m:oMath>
                  <m:sSub>
                    <m:e>
                      <m:r>
                        <a:rPr xmlns:a="http://schemas.openxmlformats.org/drawingml/2006/main" sz="21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e>
                    <m:sub>
                      <m:r>
                        <a:rPr xmlns:a="http://schemas.openxmlformats.org/drawingml/2006/main" sz="21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12</m:t>
                      </m:r>
                    </m:sub>
                  </m:sSub>
                  <m:r>
                    <a:rPr xmlns:a="http://schemas.openxmlformats.org/drawingml/2006/main" sz="21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≈</m:t>
                  </m:r>
                  <m:r>
                    <a:rPr xmlns:a="http://schemas.openxmlformats.org/drawingml/2006/main" sz="21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8</m:t>
                  </m:r>
                  <m:r>
                    <a:rPr xmlns:a="http://schemas.openxmlformats.org/drawingml/2006/main" sz="21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𝑚</m:t>
                  </m:r>
                </m:oMath>
              </m:oMathPara>
            </a14:m>
            <a:endParaRPr sz="2100"/>
          </a:p>
        </p:txBody>
      </p:sp>
      <p:sp>
        <p:nvSpPr>
          <p:cNvPr id="310" name="Text"/>
          <p:cNvSpPr txBox="1"/>
          <p:nvPr/>
        </p:nvSpPr>
        <p:spPr>
          <a:xfrm>
            <a:off x="7350752" y="5267033"/>
            <a:ext cx="1096250" cy="251749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>
            <a:spAutoFit/>
          </a:bodyPr>
          <a:lstStyle/>
          <a:p>
            <a:pPr latinLnBrk="1"/>
            <a14:m>
              <m:oMathPara>
                <m:oMathParaPr>
                  <m:jc m:val="centerGroup"/>
                </m:oMathParaPr>
                <m:oMath>
                  <m:sSub>
                    <m:e>
                      <m:r>
                        <a:rPr xmlns:a="http://schemas.openxmlformats.org/drawingml/2006/main" sz="21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e>
                    <m:sub>
                      <m:r>
                        <a:rPr xmlns:a="http://schemas.openxmlformats.org/drawingml/2006/main" sz="21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13</m:t>
                      </m:r>
                    </m:sub>
                  </m:sSub>
                  <m:r>
                    <a:rPr xmlns:a="http://schemas.openxmlformats.org/drawingml/2006/main" sz="21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≈</m:t>
                  </m:r>
                  <m:r>
                    <a:rPr xmlns:a="http://schemas.openxmlformats.org/drawingml/2006/main" sz="21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2.6</m:t>
                  </m:r>
                  <m:r>
                    <a:rPr xmlns:a="http://schemas.openxmlformats.org/drawingml/2006/main" sz="21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h</m:t>
                  </m:r>
                </m:oMath>
              </m:oMathPara>
            </a14:m>
            <a:endParaRPr sz="2100"/>
          </a:p>
        </p:txBody>
      </p:sp>
      <p:sp>
        <p:nvSpPr>
          <p:cNvPr id="311" name="Text"/>
          <p:cNvSpPr txBox="1"/>
          <p:nvPr/>
        </p:nvSpPr>
        <p:spPr>
          <a:xfrm>
            <a:off x="9625366" y="3432045"/>
            <a:ext cx="1229600" cy="249098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>
            <a:spAutoFit/>
          </a:bodyPr>
          <a:lstStyle/>
          <a:p>
            <a:pPr latinLnBrk="1"/>
            <a14:m>
              <m:oMathPara>
                <m:oMathParaPr>
                  <m:jc m:val="centerGroup"/>
                </m:oMathParaPr>
                <m:oMath>
                  <m:sSub>
                    <m:e>
                      <m:r>
                        <a:rPr xmlns:a="http://schemas.openxmlformats.org/drawingml/2006/main" sz="21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e>
                    <m:sub>
                      <m:r>
                        <a:rPr xmlns:a="http://schemas.openxmlformats.org/drawingml/2006/main" sz="21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14</m:t>
                      </m:r>
                    </m:sub>
                  </m:sSub>
                  <m:r>
                    <a:rPr xmlns:a="http://schemas.openxmlformats.org/drawingml/2006/main" sz="21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≈</m:t>
                  </m:r>
                  <m:r>
                    <a:rPr xmlns:a="http://schemas.openxmlformats.org/drawingml/2006/main" sz="21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36.4</m:t>
                  </m:r>
                  <m:r>
                    <a:rPr xmlns:a="http://schemas.openxmlformats.org/drawingml/2006/main" sz="21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h</m:t>
                  </m:r>
                </m:oMath>
              </m:oMathPara>
            </a14:m>
            <a:endParaRPr sz="2100"/>
          </a:p>
        </p:txBody>
      </p:sp>
      <p:sp>
        <p:nvSpPr>
          <p:cNvPr id="312" name="Text"/>
          <p:cNvSpPr txBox="1"/>
          <p:nvPr/>
        </p:nvSpPr>
        <p:spPr>
          <a:xfrm>
            <a:off x="9622832" y="3919163"/>
            <a:ext cx="1250136" cy="252816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>
            <a:spAutoFit/>
          </a:bodyPr>
          <a:lstStyle/>
          <a:p>
            <a:pPr latinLnBrk="1"/>
            <a14:m>
              <m:oMathPara>
                <m:oMathParaPr>
                  <m:jc m:val="centerGroup"/>
                </m:oMathParaPr>
                <m:oMath>
                  <m:sSub>
                    <m:e>
                      <m:r>
                        <a:rPr xmlns:a="http://schemas.openxmlformats.org/drawingml/2006/main" sz="21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e>
                    <m:sub>
                      <m:r>
                        <a:rPr xmlns:a="http://schemas.openxmlformats.org/drawingml/2006/main" sz="21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15</m:t>
                      </m:r>
                    </m:sub>
                  </m:sSub>
                  <m:r>
                    <a:rPr xmlns:a="http://schemas.openxmlformats.org/drawingml/2006/main" sz="21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&gt;</m:t>
                  </m:r>
                  <m:r>
                    <a:rPr xmlns:a="http://schemas.openxmlformats.org/drawingml/2006/main" sz="21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1.5</m:t>
                  </m:r>
                  <m:r>
                    <a:rPr xmlns:a="http://schemas.openxmlformats.org/drawingml/2006/main" sz="21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𝑀</m:t>
                  </m:r>
                </m:oMath>
              </m:oMathPara>
            </a14:m>
            <a:endParaRPr sz="2100"/>
          </a:p>
        </p:txBody>
      </p:sp>
      <p:sp>
        <p:nvSpPr>
          <p:cNvPr id="313" name="Text"/>
          <p:cNvSpPr txBox="1"/>
          <p:nvPr/>
        </p:nvSpPr>
        <p:spPr>
          <a:xfrm>
            <a:off x="9622832" y="4346388"/>
            <a:ext cx="1328821" cy="245882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>
            <a:spAutoFit/>
          </a:bodyPr>
          <a:lstStyle/>
          <a:p>
            <a:pPr latinLnBrk="1"/>
            <a14:m>
              <m:oMathPara>
                <m:oMathParaPr>
                  <m:jc m:val="centerGroup"/>
                </m:oMathParaPr>
                <m:oMath>
                  <m:r>
                    <a:rPr xmlns:a="http://schemas.openxmlformats.org/drawingml/2006/main" sz="21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[</m:t>
                  </m:r>
                  <m:sSub>
                    <m:e>
                      <m:r>
                        <a:rPr xmlns:a="http://schemas.openxmlformats.org/drawingml/2006/main" sz="21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e>
                    <m:sub>
                      <m:r>
                        <a:rPr xmlns:a="http://schemas.openxmlformats.org/drawingml/2006/main" sz="21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16</m:t>
                      </m:r>
                    </m:sub>
                  </m:sSub>
                  <m:r>
                    <a:rPr xmlns:a="http://schemas.openxmlformats.org/drawingml/2006/main" sz="21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:</m:t>
                  </m:r>
                  <m:sSub>
                    <m:e>
                      <m:r>
                        <a:rPr xmlns:a="http://schemas.openxmlformats.org/drawingml/2006/main" sz="21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e>
                    <m:sub>
                      <m:r>
                        <a:rPr xmlns:a="http://schemas.openxmlformats.org/drawingml/2006/main" sz="21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</m:sub>
                  </m:sSub>
                  <m:r>
                    <a:rPr xmlns:a="http://schemas.openxmlformats.org/drawingml/2006/main" sz="21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]</m:t>
                  </m:r>
                  <m:r>
                    <a:rPr xmlns:a="http://schemas.openxmlformats.org/drawingml/2006/main" sz="21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=</m:t>
                  </m:r>
                  <m:r>
                    <a:rPr xmlns:a="http://schemas.openxmlformats.org/drawingml/2006/main" sz="21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𝑌</m:t>
                  </m:r>
                </m:oMath>
              </m:oMathPara>
            </a14:m>
            <a:endParaRPr sz="2100"/>
          </a:p>
        </p:txBody>
      </p:sp>
      <p:sp>
        <p:nvSpPr>
          <p:cNvPr id="314" name="Text"/>
          <p:cNvSpPr txBox="1"/>
          <p:nvPr/>
        </p:nvSpPr>
        <p:spPr>
          <a:xfrm>
            <a:off x="8556286" y="1588787"/>
            <a:ext cx="1370851" cy="633701"/>
          </a:xfrm>
          <a:prstGeom prst="rect">
            <a:avLst/>
          </a:prstGeom>
          <a:ln w="25400">
            <a:solidFill>
              <a:srgbClr val="000000"/>
            </a:solidFill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1900">
                <a:latin typeface="Cambria Math"/>
                <a:ea typeface="Cambria Math"/>
                <a:cs typeface="Cambria Math"/>
                <a:sym typeface="Cambria Math"/>
              </a:defRPr>
            </a:lvl1pPr>
          </a:lstStyle>
          <a:p>
            <a:pPr/>
            <a14:m>
              <m:oMathPara>
                <m:oMathParaPr>
                  <m:jc m:val="left"/>
                </m:oMathParaPr>
                <m:oMath>
                  <m:sSub>
                    <m:e>
                      <m:r>
                        <a:rPr xmlns:a="http://schemas.openxmlformats.org/drawingml/2006/main" sz="1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</m:e>
                    <m:sub>
                      <m:r>
                        <a:rPr xmlns:a="http://schemas.openxmlformats.org/drawingml/2006/main" sz="1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𝑢</m:t>
                      </m:r>
                    </m:sub>
                  </m:sSub>
                  <m:r>
                    <a:rPr xmlns:a="http://schemas.openxmlformats.org/drawingml/2006/main" sz="19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=</m:t>
                  </m:r>
                  <m:f>
                    <m:fPr>
                      <m:ctrlPr>
                        <a:rPr xmlns:a="http://schemas.openxmlformats.org/drawingml/2006/main" sz="1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</m:ctrlPr>
                      <m:type m:val="bar"/>
                    </m:fPr>
                    <m:num>
                      <m:r>
                        <a:rPr xmlns:a="http://schemas.openxmlformats.org/drawingml/2006/main" sz="1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𝑢</m:t>
                      </m:r>
                      <m:r>
                        <a:rPr xmlns:a="http://schemas.openxmlformats.org/drawingml/2006/main" sz="1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!</m:t>
                      </m:r>
                    </m:num>
                    <m:den>
                      <m:r>
                        <a:rPr xmlns:a="http://schemas.openxmlformats.org/drawingml/2006/main" sz="1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xmlns:a="http://schemas.openxmlformats.org/drawingml/2006/main" sz="1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!</m:t>
                      </m:r>
                    </m:den>
                  </m:f>
                  <m:r>
                    <a:rPr xmlns:a="http://schemas.openxmlformats.org/drawingml/2006/main" sz="19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∗</m:t>
                  </m:r>
                  <m:sSub>
                    <m:e>
                      <m:r>
                        <a:rPr xmlns:a="http://schemas.openxmlformats.org/drawingml/2006/main" sz="1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</m:e>
                    <m:sub>
                      <m:r>
                        <a:rPr xmlns:a="http://schemas.openxmlformats.org/drawingml/2006/main" sz="1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</m:sub>
                  </m:sSub>
                </m:oMath>
              </m:oMathPara>
            </a14:m>
            <a:endParaRPr sz="1792"/>
          </a:p>
        </p:txBody>
      </p:sp>
      <p:sp>
        <p:nvSpPr>
          <p:cNvPr id="315" name="Line"/>
          <p:cNvSpPr/>
          <p:nvPr/>
        </p:nvSpPr>
        <p:spPr>
          <a:xfrm flipV="1">
            <a:off x="9232123" y="2526417"/>
            <a:ext cx="4" cy="3038310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316" name="Text"/>
          <p:cNvSpPr txBox="1"/>
          <p:nvPr/>
        </p:nvSpPr>
        <p:spPr>
          <a:xfrm>
            <a:off x="7989126" y="2665813"/>
            <a:ext cx="313407" cy="374243"/>
          </a:xfrm>
          <a:prstGeom prst="rect">
            <a:avLst/>
          </a:prstGeom>
          <a:ln w="25400">
            <a:solidFill>
              <a:srgbClr val="000000"/>
            </a:solidFill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1900">
                <a:latin typeface="Cambria Math"/>
                <a:ea typeface="Cambria Math"/>
                <a:cs typeface="Cambria Math"/>
                <a:sym typeface="Cambria Math"/>
              </a:defRPr>
            </a:lvl1pPr>
          </a:lstStyle>
          <a:p>
            <a:pPr/>
            <a14:m>
              <m:oMathPara>
                <m:oMathParaPr>
                  <m:jc m:val="left"/>
                </m:oMathParaPr>
                <m:oMath>
                  <m:r>
                    <a:rPr xmlns:a="http://schemas.openxmlformats.org/drawingml/2006/main" sz="19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𝐾</m:t>
                  </m:r>
                </m:oMath>
              </m:oMathPara>
            </a14:m>
            <a:endParaRPr sz="1792"/>
          </a:p>
        </p:txBody>
      </p:sp>
      <p:sp>
        <p:nvSpPr>
          <p:cNvPr id="317" name="Text"/>
          <p:cNvSpPr txBox="1"/>
          <p:nvPr/>
        </p:nvSpPr>
        <p:spPr>
          <a:xfrm>
            <a:off x="10013543" y="2665813"/>
            <a:ext cx="299653" cy="374243"/>
          </a:xfrm>
          <a:prstGeom prst="rect">
            <a:avLst/>
          </a:prstGeom>
          <a:ln w="25400">
            <a:solidFill>
              <a:srgbClr val="000000"/>
            </a:solidFill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1900">
                <a:latin typeface="Cambria Math"/>
                <a:ea typeface="Cambria Math"/>
                <a:cs typeface="Cambria Math"/>
                <a:sym typeface="Cambria Math"/>
              </a:defRPr>
            </a:lvl1pPr>
          </a:lstStyle>
          <a:p>
            <a:pPr/>
            <a14:m>
              <m:oMathPara>
                <m:oMathParaPr>
                  <m:jc m:val="left"/>
                </m:oMathParaPr>
                <m:oMath>
                  <m:r>
                    <a:rPr xmlns:a="http://schemas.openxmlformats.org/drawingml/2006/main" sz="19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𝑈</m:t>
                  </m:r>
                </m:oMath>
              </m:oMathPara>
            </a14:m>
            <a:endParaRPr sz="1792"/>
          </a:p>
        </p:txBody>
      </p:sp>
      <p:sp>
        <p:nvSpPr>
          <p:cNvPr id="318" name="Line"/>
          <p:cNvSpPr/>
          <p:nvPr/>
        </p:nvSpPr>
        <p:spPr>
          <a:xfrm flipH="1" flipV="1">
            <a:off x="7393244" y="3173914"/>
            <a:ext cx="3677759" cy="4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Title 1"/>
          <p:cNvSpPr txBox="1"/>
          <p:nvPr>
            <p:ph type="title"/>
          </p:nvPr>
        </p:nvSpPr>
        <p:spPr>
          <a:xfrm>
            <a:off x="895349" y="376638"/>
            <a:ext cx="7273636" cy="963932"/>
          </a:xfrm>
          <a:prstGeom prst="rect">
            <a:avLst/>
          </a:prstGeom>
        </p:spPr>
        <p:txBody>
          <a:bodyPr/>
          <a:lstStyle/>
          <a:p>
            <a:pPr/>
            <a:r>
              <a:t>Approximate Solution</a:t>
            </a:r>
          </a:p>
        </p:txBody>
      </p:sp>
      <p:sp>
        <p:nvSpPr>
          <p:cNvPr id="321" name="Text Placeholder 2"/>
          <p:cNvSpPr txBox="1"/>
          <p:nvPr>
            <p:ph type="body" idx="1"/>
          </p:nvPr>
        </p:nvSpPr>
        <p:spPr>
          <a:xfrm>
            <a:off x="222701" y="1158582"/>
            <a:ext cx="10701974" cy="5585119"/>
          </a:xfrm>
          <a:prstGeom prst="rect">
            <a:avLst/>
          </a:prstGeom>
        </p:spPr>
        <p:txBody>
          <a:bodyPr/>
          <a:lstStyle/>
          <a:p>
            <a:pPr marL="0" indent="0">
              <a:buSzTx/>
              <a:buNone/>
              <a:defRPr b="1" sz="1800">
                <a:latin typeface="Courier New"/>
                <a:ea typeface="Courier New"/>
                <a:cs typeface="Courier New"/>
                <a:sym typeface="Courier New"/>
              </a:defRPr>
            </a:pPr>
            <a:r>
              <a:t>def main():</a:t>
            </a:r>
          </a:p>
          <a:p>
            <a:pPr lvl="1" marL="0" indent="482600">
              <a:buSzTx/>
              <a:buNone/>
              <a:defRPr b="1" sz="1800">
                <a:latin typeface="Courier New"/>
                <a:ea typeface="Courier New"/>
                <a:cs typeface="Courier New"/>
                <a:sym typeface="Courier New"/>
              </a:defRPr>
            </a:pPr>
            <a:r>
              <a:t>graph and nodes initialized</a:t>
            </a:r>
          </a:p>
          <a:p>
            <a:pPr lvl="1" marL="0" indent="482600">
              <a:buSzTx/>
              <a:buNone/>
              <a:defRPr b="1" sz="1800">
                <a:latin typeface="Courier New"/>
                <a:ea typeface="Courier New"/>
                <a:cs typeface="Courier New"/>
                <a:sym typeface="Courier New"/>
              </a:defRPr>
            </a:pPr>
            <a:r>
              <a:t>for each edge in the graph:  </a:t>
            </a:r>
            <a:r>
              <a:rPr b="0">
                <a:solidFill>
                  <a:srgbClr val="002060"/>
                </a:solidFill>
                <a:latin typeface="Wingdings"/>
                <a:ea typeface="Wingdings"/>
                <a:cs typeface="Wingdings"/>
                <a:sym typeface="Wingdings"/>
              </a:rPr>
              <a:t></a:t>
            </a:r>
            <a:r>
              <a:t> </a:t>
            </a:r>
            <a:r>
              <a:rPr sz="2000">
                <a:solidFill>
                  <a:srgbClr val="002060"/>
                </a:solidFill>
              </a:rPr>
              <a:t>O(n)</a:t>
            </a:r>
          </a:p>
          <a:p>
            <a:pPr lvl="1" marL="0" indent="482600">
              <a:buSzTx/>
              <a:buNone/>
              <a:defRPr b="1" sz="1800">
                <a:latin typeface="Courier New"/>
                <a:ea typeface="Courier New"/>
                <a:cs typeface="Courier New"/>
                <a:sym typeface="Courier New"/>
              </a:defRPr>
            </a:pPr>
            <a:r>
              <a:t>	adjacency dictionary is built here</a:t>
            </a:r>
          </a:p>
          <a:p>
            <a:pPr lvl="1" marL="0" indent="482600">
              <a:buSzTx/>
              <a:buNone/>
              <a:defRPr b="1" sz="1800">
                <a:solidFill>
                  <a:srgbClr val="548235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# Step 1: Build initial path using Nearest Neighbor heuristic</a:t>
            </a:r>
          </a:p>
          <a:p>
            <a:pPr lvl="1" marL="0" indent="482600">
              <a:buSzTx/>
              <a:buNone/>
              <a:defRPr b="1" sz="1800">
                <a:solidFill>
                  <a:srgbClr val="C00000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path_1</a:t>
            </a:r>
            <a:r>
              <a:rPr>
                <a:solidFill>
                  <a:srgbClr val="000000"/>
                </a:solidFill>
              </a:rPr>
              <a:t> is calculated through nearest neighbor </a:t>
            </a:r>
            <a:r>
              <a:rPr b="0">
                <a:solidFill>
                  <a:srgbClr val="002060"/>
                </a:solidFill>
                <a:latin typeface="Wingdings"/>
                <a:ea typeface="Wingdings"/>
                <a:cs typeface="Wingdings"/>
                <a:sym typeface="Wingdings"/>
              </a:rPr>
              <a:t></a:t>
            </a:r>
            <a:r>
              <a:rPr>
                <a:solidFill>
                  <a:srgbClr val="000000"/>
                </a:solidFill>
              </a:rPr>
              <a:t> </a:t>
            </a:r>
            <a:r>
              <a:rPr sz="2000">
                <a:solidFill>
                  <a:srgbClr val="002060"/>
                </a:solidFill>
              </a:rPr>
              <a:t>O(n²)</a:t>
            </a:r>
            <a:endParaRPr>
              <a:solidFill>
                <a:srgbClr val="002060"/>
              </a:solidFill>
              <a:latin typeface="Tenorite"/>
              <a:ea typeface="Tenorite"/>
              <a:cs typeface="Tenorite"/>
              <a:sym typeface="Tenorite"/>
            </a:endParaRPr>
          </a:p>
          <a:p>
            <a:pPr lvl="1" marL="0" indent="482600">
              <a:buSzTx/>
              <a:buNone/>
              <a:defRPr b="1" sz="1800">
                <a:latin typeface="Courier New"/>
                <a:ea typeface="Courier New"/>
                <a:cs typeface="Courier New"/>
                <a:sym typeface="Courier New"/>
              </a:defRPr>
            </a:pPr>
          </a:p>
          <a:p>
            <a:pPr lvl="1" marL="0" indent="482600">
              <a:buSzTx/>
              <a:buNone/>
              <a:defRPr b="1" sz="1800">
                <a:solidFill>
                  <a:srgbClr val="548235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# Step 2: Run 2-opt heuristic for local improvement</a:t>
            </a:r>
          </a:p>
          <a:p>
            <a:pPr lvl="1" marL="0" indent="482600">
              <a:buSzTx/>
              <a:buNone/>
              <a:defRPr b="1" sz="1800">
                <a:solidFill>
                  <a:srgbClr val="C00000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path_2</a:t>
            </a:r>
            <a:r>
              <a:rPr>
                <a:solidFill>
                  <a:srgbClr val="000000"/>
                </a:solidFill>
              </a:rPr>
              <a:t> is calculated using path_1 with</a:t>
            </a:r>
            <a:br>
              <a:rPr>
                <a:solidFill>
                  <a:srgbClr val="000000"/>
                </a:solidFill>
              </a:rPr>
            </a:br>
            <a:r>
              <a:rPr>
                <a:solidFill>
                  <a:srgbClr val="000000"/>
                </a:solidFill>
              </a:rPr>
              <a:t>				two-opt </a:t>
            </a:r>
            <a:r>
              <a:rPr b="0" sz="1600">
                <a:solidFill>
                  <a:srgbClr val="002060"/>
                </a:solidFill>
                <a:latin typeface="Wingdings"/>
                <a:ea typeface="Wingdings"/>
                <a:cs typeface="Wingdings"/>
                <a:sym typeface="Wingdings"/>
              </a:rPr>
              <a:t></a:t>
            </a:r>
            <a:r>
              <a:rPr sz="1600">
                <a:solidFill>
                  <a:srgbClr val="000000"/>
                </a:solidFill>
              </a:rPr>
              <a:t> </a:t>
            </a:r>
            <a:r>
              <a:rPr>
                <a:solidFill>
                  <a:srgbClr val="002060"/>
                </a:solidFill>
              </a:rPr>
              <a:t>O(n³) worst case</a:t>
            </a:r>
          </a:p>
          <a:p>
            <a:pPr lvl="1" marL="0" indent="482600">
              <a:buSzTx/>
              <a:buNone/>
              <a:defRPr b="1" sz="1800">
                <a:solidFill>
                  <a:srgbClr val="548235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# Compute final path length and cycle</a:t>
            </a:r>
          </a:p>
          <a:p>
            <a:pPr lvl="1" marL="0" indent="482600">
              <a:buSzTx/>
              <a:buNone/>
              <a:defRPr b="1" sz="1800">
                <a:latin typeface="Courier New"/>
                <a:ea typeface="Courier New"/>
                <a:cs typeface="Courier New"/>
                <a:sym typeface="Courier New"/>
              </a:defRPr>
            </a:pPr>
            <a:r>
              <a:t>tour_length is calculated from path_2 </a:t>
            </a:r>
            <a:r>
              <a:rPr b="0" sz="1600">
                <a:solidFill>
                  <a:srgbClr val="002060"/>
                </a:solidFill>
                <a:latin typeface="Wingdings"/>
                <a:ea typeface="Wingdings"/>
                <a:cs typeface="Wingdings"/>
                <a:sym typeface="Wingdings"/>
              </a:rPr>
              <a:t></a:t>
            </a:r>
            <a:r>
              <a:rPr sz="1600"/>
              <a:t> </a:t>
            </a:r>
            <a:r>
              <a:rPr sz="2000">
                <a:solidFill>
                  <a:srgbClr val="002060"/>
                </a:solidFill>
              </a:rPr>
              <a:t>O(n)</a:t>
            </a:r>
          </a:p>
          <a:p>
            <a:pPr lvl="1" marL="0" indent="482600">
              <a:buSzTx/>
              <a:buNone/>
              <a:defRPr b="1" sz="1800">
                <a:solidFill>
                  <a:srgbClr val="C00000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path_3</a:t>
            </a:r>
            <a:r>
              <a:rPr>
                <a:solidFill>
                  <a:srgbClr val="000000"/>
                </a:solidFill>
              </a:rPr>
              <a:t> is calculated as:</a:t>
            </a:r>
          </a:p>
          <a:p>
            <a:pPr lvl="1" marL="0" indent="482600">
              <a:buSzTx/>
              <a:buNone/>
              <a:defRPr b="1" sz="1800">
                <a:latin typeface="Courier New"/>
                <a:ea typeface="Courier New"/>
                <a:cs typeface="Courier New"/>
                <a:sym typeface="Courier New"/>
              </a:defRPr>
            </a:pPr>
            <a:r>
              <a:t>	 path_2 + the first node of path_2 </a:t>
            </a:r>
            <a:r>
              <a:rPr b="0">
                <a:solidFill>
                  <a:srgbClr val="7030A0"/>
                </a:solidFill>
                <a:latin typeface="Wingdings"/>
                <a:ea typeface="Wingdings"/>
                <a:cs typeface="Wingdings"/>
                <a:sym typeface="Wingdings"/>
              </a:rPr>
              <a:t> </a:t>
            </a:r>
            <a:r>
              <a:rPr>
                <a:solidFill>
                  <a:srgbClr val="7030A0"/>
                </a:solidFill>
              </a:rPr>
              <a:t>turn into a cycle</a:t>
            </a:r>
          </a:p>
        </p:txBody>
      </p:sp>
      <p:sp>
        <p:nvSpPr>
          <p:cNvPr id="322" name="TextBox 9"/>
          <p:cNvSpPr txBox="1"/>
          <p:nvPr/>
        </p:nvSpPr>
        <p:spPr>
          <a:xfrm>
            <a:off x="7131049" y="1158583"/>
            <a:ext cx="3793626" cy="1513837"/>
          </a:xfrm>
          <a:prstGeom prst="rect">
            <a:avLst/>
          </a:prstGeom>
          <a:ln w="127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defRPr b="1">
                <a:latin typeface="Tenorite"/>
                <a:ea typeface="Tenorite"/>
                <a:cs typeface="Tenorite"/>
                <a:sym typeface="Tenorite"/>
              </a:defRPr>
            </a:pPr>
            <a:r>
              <a:t>Two heuristics used in combination:</a:t>
            </a:r>
            <a:endParaRPr>
              <a:latin typeface="+mn-lt"/>
              <a:ea typeface="+mn-ea"/>
              <a:cs typeface="+mn-cs"/>
              <a:sym typeface="Calibri"/>
            </a:endParaRPr>
          </a:p>
          <a:p>
            <a:pPr>
              <a:defRPr>
                <a:latin typeface="Tenorite"/>
                <a:ea typeface="Tenorite"/>
                <a:cs typeface="Tenorite"/>
                <a:sym typeface="Tenorite"/>
              </a:defRPr>
            </a:pPr>
            <a:br>
              <a:rPr b="1">
                <a:latin typeface="+mn-lt"/>
                <a:ea typeface="+mn-ea"/>
                <a:cs typeface="+mn-cs"/>
                <a:sym typeface="Calibri"/>
              </a:rPr>
            </a:br>
            <a:r>
              <a:t>1. Nearest Neighbor (Greedy)</a:t>
            </a:r>
            <a:br/>
            <a:r>
              <a:t>2. Two-Opt (</a:t>
            </a:r>
            <a:r>
              <a:t>L</a:t>
            </a:r>
            <a:r>
              <a:t>ocal optim</a:t>
            </a:r>
            <a:r>
              <a:t>al</a:t>
            </a:r>
            <a:r>
              <a:t> swap)</a:t>
            </a:r>
          </a:p>
        </p:txBody>
      </p:sp>
      <p:sp>
        <p:nvSpPr>
          <p:cNvPr id="323" name="TextBox 1"/>
          <p:cNvSpPr txBox="1"/>
          <p:nvPr/>
        </p:nvSpPr>
        <p:spPr>
          <a:xfrm>
            <a:off x="8050044" y="3628506"/>
            <a:ext cx="3316457" cy="2243232"/>
          </a:xfrm>
          <a:prstGeom prst="rect">
            <a:avLst/>
          </a:prstGeom>
          <a:ln w="127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defRPr b="1" sz="1700">
                <a:solidFill>
                  <a:srgbClr val="002060"/>
                </a:solidFill>
                <a:latin typeface="Tenorite"/>
                <a:ea typeface="Tenorite"/>
                <a:cs typeface="Tenorite"/>
                <a:sym typeface="Tenorite"/>
              </a:defRPr>
            </a:pPr>
            <a:r>
              <a:t>Polynomial Time:</a:t>
            </a:r>
          </a:p>
          <a:p>
            <a:pPr>
              <a:defRPr sz="1700">
                <a:solidFill>
                  <a:srgbClr val="002060"/>
                </a:solidFill>
                <a:latin typeface="Tenorite"/>
                <a:ea typeface="Tenorite"/>
                <a:cs typeface="Tenorite"/>
                <a:sym typeface="Tenorite"/>
              </a:defRPr>
            </a:pPr>
          </a:p>
          <a:p>
            <a:pPr>
              <a:defRPr sz="1700">
                <a:solidFill>
                  <a:srgbClr val="002060"/>
                </a:solidFill>
              </a:defRPr>
            </a:pPr>
            <a:r>
              <a:t>O(n)</a:t>
            </a:r>
            <a:r>
              <a:rPr>
                <a:latin typeface="Tenorite"/>
                <a:ea typeface="Tenorite"/>
                <a:cs typeface="Tenorite"/>
                <a:sym typeface="Tenorite"/>
              </a:rPr>
              <a:t> (build adjacency dictionary)</a:t>
            </a:r>
            <a:endParaRPr>
              <a:latin typeface="Tenorite"/>
              <a:ea typeface="Tenorite"/>
              <a:cs typeface="Tenorite"/>
              <a:sym typeface="Tenorite"/>
            </a:endParaRPr>
          </a:p>
          <a:p>
            <a:pPr>
              <a:defRPr sz="1700">
                <a:solidFill>
                  <a:srgbClr val="002060"/>
                </a:solidFill>
                <a:latin typeface="Tenorite"/>
                <a:ea typeface="Tenorite"/>
                <a:cs typeface="Tenorite"/>
                <a:sym typeface="Tenorite"/>
              </a:defRPr>
            </a:pPr>
            <a:r>
              <a:t>+ </a:t>
            </a:r>
            <a:r>
              <a:rPr>
                <a:latin typeface="+mn-lt"/>
                <a:ea typeface="+mn-ea"/>
                <a:cs typeface="+mn-cs"/>
                <a:sym typeface="Calibri"/>
              </a:rPr>
              <a:t>O(n²) (Nearest Neighbor)</a:t>
            </a:r>
            <a:endParaRPr>
              <a:latin typeface="+mn-lt"/>
              <a:ea typeface="+mn-ea"/>
              <a:cs typeface="+mn-cs"/>
              <a:sym typeface="Calibri"/>
            </a:endParaRPr>
          </a:p>
          <a:p>
            <a:pPr>
              <a:defRPr sz="1700">
                <a:solidFill>
                  <a:srgbClr val="002060"/>
                </a:solidFill>
              </a:defRPr>
            </a:pPr>
            <a:r>
              <a:t>+ O(n²) (Two-Opt pair checks)</a:t>
            </a:r>
          </a:p>
          <a:p>
            <a:pPr>
              <a:defRPr sz="1700">
                <a:solidFill>
                  <a:srgbClr val="002060"/>
                </a:solidFill>
              </a:defRPr>
            </a:pPr>
            <a:r>
              <a:t>+ O(n³) (Two-opt worst case switch)</a:t>
            </a:r>
          </a:p>
          <a:p>
            <a:pPr>
              <a:defRPr sz="1700">
                <a:solidFill>
                  <a:srgbClr val="002060"/>
                </a:solidFill>
              </a:defRPr>
            </a:pPr>
            <a:r>
              <a:t>+ O(n) (Calculate tour length)</a:t>
            </a:r>
          </a:p>
          <a:p>
            <a:pPr>
              <a:defRPr sz="1700">
                <a:solidFill>
                  <a:srgbClr val="002060"/>
                </a:solidFill>
              </a:defRPr>
            </a:pPr>
            <a:r>
              <a:t> = </a:t>
            </a:r>
            <a:r>
              <a:rPr b="1"/>
              <a:t>O(n³)  worst case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Title 1"/>
          <p:cNvSpPr txBox="1"/>
          <p:nvPr>
            <p:ph type="title"/>
          </p:nvPr>
        </p:nvSpPr>
        <p:spPr>
          <a:xfrm>
            <a:off x="361949" y="126361"/>
            <a:ext cx="7273636" cy="963931"/>
          </a:xfrm>
          <a:prstGeom prst="rect">
            <a:avLst/>
          </a:prstGeom>
        </p:spPr>
        <p:txBody>
          <a:bodyPr/>
          <a:lstStyle/>
          <a:p>
            <a:pPr/>
            <a:r>
              <a:t>Approximate Solution</a:t>
            </a:r>
          </a:p>
        </p:txBody>
      </p:sp>
      <p:sp>
        <p:nvSpPr>
          <p:cNvPr id="326" name="Text Placeholder 2"/>
          <p:cNvSpPr txBox="1"/>
          <p:nvPr>
            <p:ph type="body" sz="half" idx="1"/>
          </p:nvPr>
        </p:nvSpPr>
        <p:spPr>
          <a:xfrm>
            <a:off x="361948" y="1619248"/>
            <a:ext cx="5645153" cy="4984753"/>
          </a:xfrm>
          <a:prstGeom prst="rect">
            <a:avLst/>
          </a:prstGeom>
        </p:spPr>
        <p:txBody>
          <a:bodyPr/>
          <a:lstStyle/>
          <a:p>
            <a:pPr marL="0" indent="0">
              <a:lnSpc>
                <a:spcPct val="81000"/>
              </a:lnSpc>
              <a:buSzTx/>
              <a:buNone/>
              <a:defRPr b="1" sz="1600">
                <a:latin typeface="Courier New"/>
                <a:ea typeface="Courier New"/>
                <a:cs typeface="Courier New"/>
                <a:sym typeface="Courier New"/>
              </a:defRPr>
            </a:pPr>
            <a:r>
              <a:t>def nearest_neighbor(graph, nodes):</a:t>
            </a:r>
            <a:endParaRPr sz="1800"/>
          </a:p>
          <a:p>
            <a:pPr lvl="1" marL="0" indent="482600">
              <a:lnSpc>
                <a:spcPct val="81000"/>
              </a:lnSpc>
              <a:buSzTx/>
              <a:buNone/>
              <a:defRPr b="1" sz="1600">
                <a:solidFill>
                  <a:srgbClr val="FF0000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start</a:t>
            </a:r>
            <a:r>
              <a:rPr b="0">
                <a:solidFill>
                  <a:srgbClr val="000000"/>
                </a:solidFill>
              </a:rPr>
              <a:t> = arbitrary node</a:t>
            </a:r>
            <a:endParaRPr sz="1800"/>
          </a:p>
          <a:p>
            <a:pPr lvl="1" marL="0" indent="482600">
              <a:lnSpc>
                <a:spcPct val="81000"/>
              </a:lnSpc>
              <a:buSzTx/>
              <a:buNone/>
              <a:defRPr b="1" sz="1600">
                <a:solidFill>
                  <a:srgbClr val="002060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unvisited</a:t>
            </a:r>
            <a:r>
              <a:rPr b="0">
                <a:solidFill>
                  <a:srgbClr val="000000"/>
                </a:solidFill>
              </a:rPr>
              <a:t> = copy of all nodes that still need to be visited</a:t>
            </a:r>
            <a:endParaRPr sz="1800"/>
          </a:p>
          <a:p>
            <a:pPr lvl="1" marL="0" indent="482600">
              <a:lnSpc>
                <a:spcPct val="81000"/>
              </a:lnSpc>
              <a:buSzTx/>
              <a:buNone/>
              <a:defRPr sz="1600">
                <a:latin typeface="Courier New"/>
                <a:ea typeface="Courier New"/>
                <a:cs typeface="Courier New"/>
                <a:sym typeface="Courier New"/>
              </a:defRPr>
            </a:pPr>
            <a:r>
              <a:t>mark </a:t>
            </a:r>
            <a:r>
              <a:rPr b="1">
                <a:solidFill>
                  <a:srgbClr val="FF0000"/>
                </a:solidFill>
              </a:rPr>
              <a:t>start</a:t>
            </a:r>
            <a:r>
              <a:t> as visited by removing it from </a:t>
            </a:r>
            <a:r>
              <a:rPr b="1">
                <a:solidFill>
                  <a:srgbClr val="002060"/>
                </a:solidFill>
              </a:rPr>
              <a:t>unvisited</a:t>
            </a:r>
            <a:endParaRPr sz="1800"/>
          </a:p>
          <a:p>
            <a:pPr lvl="1" marL="0" indent="482600">
              <a:lnSpc>
                <a:spcPct val="81000"/>
              </a:lnSpc>
              <a:buSzTx/>
              <a:buNone/>
              <a:defRPr b="1" sz="1600">
                <a:solidFill>
                  <a:srgbClr val="7030A0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tour</a:t>
            </a:r>
            <a:r>
              <a:rPr b="0">
                <a:solidFill>
                  <a:srgbClr val="000000"/>
                </a:solidFill>
              </a:rPr>
              <a:t> initialized only containing </a:t>
            </a:r>
            <a:r>
              <a:rPr>
                <a:solidFill>
                  <a:srgbClr val="FF0000"/>
                </a:solidFill>
              </a:rPr>
              <a:t>start</a:t>
            </a:r>
            <a:endParaRPr sz="1800"/>
          </a:p>
          <a:p>
            <a:pPr lvl="1" marL="0" indent="482600">
              <a:lnSpc>
                <a:spcPct val="81000"/>
              </a:lnSpc>
              <a:buSzTx/>
              <a:buNone/>
              <a:defRPr b="1" sz="1600">
                <a:solidFill>
                  <a:srgbClr val="0070C0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current_node </a:t>
            </a:r>
            <a:r>
              <a:rPr b="0">
                <a:solidFill>
                  <a:srgbClr val="000000"/>
                </a:solidFill>
              </a:rPr>
              <a:t>= </a:t>
            </a:r>
            <a:r>
              <a:rPr>
                <a:solidFill>
                  <a:srgbClr val="FF0000"/>
                </a:solidFill>
              </a:rPr>
              <a:t>start</a:t>
            </a:r>
            <a:endParaRPr sz="1800"/>
          </a:p>
          <a:p>
            <a:pPr lvl="1" marL="0" indent="482600">
              <a:lnSpc>
                <a:spcPct val="81000"/>
              </a:lnSpc>
              <a:buSzTx/>
              <a:buNone/>
              <a:defRPr b="1" sz="1600">
                <a:latin typeface="Courier New"/>
                <a:ea typeface="Courier New"/>
                <a:cs typeface="Courier New"/>
                <a:sym typeface="Courier New"/>
              </a:defRPr>
            </a:pPr>
            <a:r>
              <a:t>while</a:t>
            </a:r>
            <a:r>
              <a:rPr b="0"/>
              <a:t> there are still unvisited nodes:</a:t>
            </a:r>
            <a:endParaRPr sz="1800"/>
          </a:p>
          <a:p>
            <a:pPr lvl="2" marL="0" indent="971550">
              <a:lnSpc>
                <a:spcPct val="81000"/>
              </a:lnSpc>
              <a:buSzTx/>
              <a:buNone/>
              <a:defRPr b="1" sz="1600">
                <a:solidFill>
                  <a:srgbClr val="385724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next_node </a:t>
            </a:r>
            <a:r>
              <a:rPr b="0">
                <a:solidFill>
                  <a:srgbClr val="000000"/>
                </a:solidFill>
              </a:rPr>
              <a:t>= closest to </a:t>
            </a:r>
            <a:r>
              <a:rPr>
                <a:solidFill>
                  <a:srgbClr val="0070C0"/>
                </a:solidFill>
              </a:rPr>
              <a:t>current_node</a:t>
            </a:r>
            <a:endParaRPr sz="1800">
              <a:solidFill>
                <a:srgbClr val="0070C0"/>
              </a:solidFill>
            </a:endParaRPr>
          </a:p>
          <a:p>
            <a:pPr lvl="2" marL="0" indent="971550">
              <a:lnSpc>
                <a:spcPct val="81000"/>
              </a:lnSpc>
              <a:buSzTx/>
              <a:buNone/>
              <a:defRPr sz="1600">
                <a:latin typeface="Courier New"/>
                <a:ea typeface="Courier New"/>
                <a:cs typeface="Courier New"/>
                <a:sym typeface="Courier New"/>
              </a:defRPr>
            </a:pPr>
            <a:r>
              <a:t>add </a:t>
            </a:r>
            <a:r>
              <a:rPr b="1">
                <a:solidFill>
                  <a:srgbClr val="385724"/>
                </a:solidFill>
              </a:rPr>
              <a:t>next_node </a:t>
            </a:r>
            <a:r>
              <a:t>to the </a:t>
            </a:r>
            <a:r>
              <a:rPr b="1">
                <a:solidFill>
                  <a:srgbClr val="7030A0"/>
                </a:solidFill>
              </a:rPr>
              <a:t>tour</a:t>
            </a:r>
            <a:endParaRPr sz="1800"/>
          </a:p>
          <a:p>
            <a:pPr lvl="2" marL="0" indent="971550">
              <a:lnSpc>
                <a:spcPct val="81000"/>
              </a:lnSpc>
              <a:buSzTx/>
              <a:buNone/>
              <a:defRPr sz="1600">
                <a:latin typeface="Courier New"/>
                <a:ea typeface="Courier New"/>
                <a:cs typeface="Courier New"/>
                <a:sym typeface="Courier New"/>
              </a:defRPr>
            </a:pPr>
            <a:r>
              <a:t>mark </a:t>
            </a:r>
            <a:r>
              <a:rPr b="1">
                <a:solidFill>
                  <a:srgbClr val="385724"/>
                </a:solidFill>
              </a:rPr>
              <a:t>next_node </a:t>
            </a:r>
            <a:r>
              <a:t>as visited by removing it from </a:t>
            </a:r>
            <a:r>
              <a:rPr b="1">
                <a:solidFill>
                  <a:srgbClr val="002060"/>
                </a:solidFill>
              </a:rPr>
              <a:t>unvisited</a:t>
            </a:r>
            <a:endParaRPr sz="1800"/>
          </a:p>
          <a:p>
            <a:pPr lvl="2" marL="0" indent="971550">
              <a:lnSpc>
                <a:spcPct val="81000"/>
              </a:lnSpc>
              <a:buSzTx/>
              <a:buNone/>
              <a:defRPr b="1" sz="1600">
                <a:solidFill>
                  <a:srgbClr val="0070C0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current_node </a:t>
            </a:r>
            <a:r>
              <a:rPr b="0">
                <a:solidFill>
                  <a:srgbClr val="002060"/>
                </a:solidFill>
              </a:rPr>
              <a:t>= </a:t>
            </a:r>
            <a:r>
              <a:rPr>
                <a:solidFill>
                  <a:srgbClr val="385724"/>
                </a:solidFill>
              </a:rPr>
              <a:t>next_node</a:t>
            </a:r>
            <a:endParaRPr sz="1800">
              <a:solidFill>
                <a:srgbClr val="385724"/>
              </a:solidFill>
            </a:endParaRPr>
          </a:p>
          <a:p>
            <a:pPr marL="0" indent="0">
              <a:lnSpc>
                <a:spcPct val="81000"/>
              </a:lnSpc>
              <a:buSzTx/>
              <a:buNone/>
              <a:defRPr b="1" sz="1600">
                <a:latin typeface="Courier New"/>
                <a:ea typeface="Courier New"/>
                <a:cs typeface="Courier New"/>
                <a:sym typeface="Courier New"/>
              </a:defRPr>
            </a:pPr>
            <a:r>
              <a:t>return</a:t>
            </a:r>
            <a:r>
              <a:rPr b="0">
                <a:solidFill>
                  <a:srgbClr val="385724"/>
                </a:solidFill>
              </a:rPr>
              <a:t> </a:t>
            </a:r>
            <a:r>
              <a:rPr>
                <a:solidFill>
                  <a:srgbClr val="7030A0"/>
                </a:solidFill>
              </a:rPr>
              <a:t>tour</a:t>
            </a:r>
          </a:p>
        </p:txBody>
      </p:sp>
      <p:sp>
        <p:nvSpPr>
          <p:cNvPr id="327" name="TextBox 3"/>
          <p:cNvSpPr txBox="1"/>
          <p:nvPr/>
        </p:nvSpPr>
        <p:spPr>
          <a:xfrm>
            <a:off x="450850" y="990599"/>
            <a:ext cx="5397500" cy="4597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 sz="2400">
                <a:latin typeface="Tenorite"/>
                <a:ea typeface="Tenorite"/>
                <a:cs typeface="Tenorite"/>
                <a:sym typeface="Tenorite"/>
              </a:defRPr>
            </a:lvl1pPr>
          </a:lstStyle>
          <a:p>
            <a:pPr/>
            <a:r>
              <a:t>Heuristic #1: Nearest Neighbor</a:t>
            </a:r>
          </a:p>
        </p:txBody>
      </p:sp>
      <p:sp>
        <p:nvSpPr>
          <p:cNvPr id="328" name="TextBox 5"/>
          <p:cNvSpPr txBox="1"/>
          <p:nvPr/>
        </p:nvSpPr>
        <p:spPr>
          <a:xfrm>
            <a:off x="5692876" y="701775"/>
            <a:ext cx="6002555" cy="929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defRPr>
                <a:latin typeface="Tenorite"/>
                <a:ea typeface="Tenorite"/>
                <a:cs typeface="Tenorite"/>
                <a:sym typeface="Tenorite"/>
              </a:defRPr>
            </a:pPr>
            <a:r>
              <a:t>The Nearest Neighbor heuristic </a:t>
            </a:r>
            <a:r>
              <a:rPr>
                <a:solidFill>
                  <a:srgbClr val="B4009A"/>
                </a:solidFill>
              </a:rPr>
              <a:t>picks the smallest cost edge first</a:t>
            </a:r>
            <a:r>
              <a:t>.</a:t>
            </a:r>
            <a:br/>
            <a:r>
              <a:t>This is considered a greedy approach.</a:t>
            </a:r>
          </a:p>
        </p:txBody>
      </p:sp>
      <p:sp>
        <p:nvSpPr>
          <p:cNvPr id="329" name="TextBox 6"/>
          <p:cNvSpPr txBox="1"/>
          <p:nvPr/>
        </p:nvSpPr>
        <p:spPr>
          <a:xfrm>
            <a:off x="5894069" y="1738853"/>
            <a:ext cx="5452112" cy="370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>
                <a:latin typeface="Tenorite"/>
                <a:ea typeface="Tenorite"/>
                <a:cs typeface="Tenorite"/>
                <a:sym typeface="Tenorite"/>
              </a:defRPr>
            </a:lvl1pPr>
          </a:lstStyle>
          <a:p>
            <a:pPr/>
            <a:r>
              <a:t>Example of Nearest Neighbor:</a:t>
            </a:r>
          </a:p>
        </p:txBody>
      </p:sp>
      <p:sp>
        <p:nvSpPr>
          <p:cNvPr id="330" name="TextBox 3"/>
          <p:cNvSpPr txBox="1"/>
          <p:nvPr/>
        </p:nvSpPr>
        <p:spPr>
          <a:xfrm>
            <a:off x="6539496" y="4777085"/>
            <a:ext cx="3377935" cy="1767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defRPr>
                <a:latin typeface="Tenorite"/>
                <a:ea typeface="Tenorite"/>
                <a:cs typeface="Tenorite"/>
                <a:sym typeface="Tenorite"/>
              </a:defRPr>
            </a:pPr>
            <a:r>
              <a:t>The Nearest Neighbor heuristic would choose this order starting from D for example:</a:t>
            </a:r>
          </a:p>
          <a:p>
            <a:pPr>
              <a:defRPr>
                <a:latin typeface="Tenorite"/>
                <a:ea typeface="Tenorite"/>
                <a:cs typeface="Tenorite"/>
                <a:sym typeface="Tenorite"/>
              </a:defRPr>
            </a:pPr>
          </a:p>
          <a:p>
            <a:pPr>
              <a:defRPr>
                <a:latin typeface="Tenorite"/>
                <a:ea typeface="Tenorite"/>
                <a:cs typeface="Tenorite"/>
                <a:sym typeface="Tenorite"/>
              </a:defRPr>
            </a:pPr>
            <a:r>
              <a:t>D </a:t>
            </a:r>
            <a:r>
              <a:rPr>
                <a:latin typeface="Wingdings"/>
                <a:ea typeface="Wingdings"/>
                <a:cs typeface="Wingdings"/>
                <a:sym typeface="Wingdings"/>
              </a:rPr>
              <a:t></a:t>
            </a:r>
            <a:r>
              <a:t> A </a:t>
            </a:r>
            <a:r>
              <a:rPr>
                <a:latin typeface="Wingdings"/>
                <a:ea typeface="Wingdings"/>
                <a:cs typeface="Wingdings"/>
                <a:sym typeface="Wingdings"/>
              </a:rPr>
              <a:t></a:t>
            </a:r>
            <a:r>
              <a:t> E </a:t>
            </a:r>
            <a:r>
              <a:rPr>
                <a:latin typeface="Wingdings"/>
                <a:ea typeface="Wingdings"/>
                <a:cs typeface="Wingdings"/>
                <a:sym typeface="Wingdings"/>
              </a:rPr>
              <a:t> </a:t>
            </a:r>
            <a:r>
              <a:t>C ….. And so on</a:t>
            </a:r>
          </a:p>
        </p:txBody>
      </p:sp>
      <p:pic>
        <p:nvPicPr>
          <p:cNvPr id="331" name="Picture 4" descr="Picture 4"/>
          <p:cNvPicPr>
            <a:picLocks noChangeAspect="1"/>
          </p:cNvPicPr>
          <p:nvPr/>
        </p:nvPicPr>
        <p:blipFill>
          <a:blip r:embed="rId2">
            <a:extLst/>
          </a:blip>
          <a:srcRect l="11683" t="9223" r="12328" b="12518"/>
          <a:stretch>
            <a:fillRect/>
          </a:stretch>
        </p:blipFill>
        <p:spPr>
          <a:xfrm>
            <a:off x="6794499" y="2280194"/>
            <a:ext cx="2397965" cy="2469621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" name="Title 1"/>
          <p:cNvSpPr txBox="1"/>
          <p:nvPr>
            <p:ph type="title"/>
          </p:nvPr>
        </p:nvSpPr>
        <p:spPr>
          <a:xfrm>
            <a:off x="361949" y="126361"/>
            <a:ext cx="7273636" cy="963931"/>
          </a:xfrm>
          <a:prstGeom prst="rect">
            <a:avLst/>
          </a:prstGeom>
        </p:spPr>
        <p:txBody>
          <a:bodyPr/>
          <a:lstStyle/>
          <a:p>
            <a:pPr/>
            <a:r>
              <a:t>Approximate Solution</a:t>
            </a:r>
          </a:p>
        </p:txBody>
      </p:sp>
      <p:sp>
        <p:nvSpPr>
          <p:cNvPr id="334" name="Text Placeholder 2"/>
          <p:cNvSpPr txBox="1"/>
          <p:nvPr>
            <p:ph type="body" sz="half" idx="1"/>
          </p:nvPr>
        </p:nvSpPr>
        <p:spPr>
          <a:xfrm>
            <a:off x="127000" y="1492887"/>
            <a:ext cx="6065840" cy="5238753"/>
          </a:xfrm>
          <a:prstGeom prst="rect">
            <a:avLst/>
          </a:prstGeom>
        </p:spPr>
        <p:txBody>
          <a:bodyPr/>
          <a:lstStyle/>
          <a:p>
            <a:pPr marL="0" indent="0">
              <a:lnSpc>
                <a:spcPct val="72000"/>
              </a:lnSpc>
              <a:buSzTx/>
              <a:buNone/>
              <a:defRPr b="1" sz="1200">
                <a:latin typeface="Courier New"/>
                <a:ea typeface="Courier New"/>
                <a:cs typeface="Courier New"/>
                <a:sym typeface="Courier New"/>
              </a:defRPr>
            </a:pPr>
            <a:r>
              <a:t>def two-opt(graph, path):</a:t>
            </a:r>
            <a:endParaRPr sz="1400"/>
          </a:p>
          <a:p>
            <a:pPr marL="0" indent="0">
              <a:lnSpc>
                <a:spcPct val="72000"/>
              </a:lnSpc>
              <a:buSzTx/>
              <a:buNone/>
              <a:defRPr b="1" sz="1200">
                <a:latin typeface="Courier New"/>
                <a:ea typeface="Courier New"/>
                <a:cs typeface="Courier New"/>
                <a:sym typeface="Courier New"/>
              </a:defRPr>
            </a:pPr>
            <a:r>
              <a:t>     </a:t>
            </a:r>
            <a:r>
              <a:rPr>
                <a:solidFill>
                  <a:srgbClr val="CC00CC"/>
                </a:solidFill>
              </a:rPr>
              <a:t>best_path </a:t>
            </a:r>
            <a:r>
              <a:rPr b="0"/>
              <a:t>= path // will be optimized</a:t>
            </a:r>
            <a:endParaRPr sz="1400"/>
          </a:p>
          <a:p>
            <a:pPr lvl="1" marL="0" indent="482600">
              <a:lnSpc>
                <a:spcPct val="72000"/>
              </a:lnSpc>
              <a:buSzTx/>
              <a:buNone/>
              <a:defRPr sz="1200">
                <a:latin typeface="Courier New"/>
                <a:ea typeface="Courier New"/>
                <a:cs typeface="Courier New"/>
                <a:sym typeface="Courier New"/>
              </a:defRPr>
            </a:pPr>
            <a:r>
              <a:t>for </a:t>
            </a:r>
            <a:r>
              <a:rPr b="1">
                <a:solidFill>
                  <a:srgbClr val="385724"/>
                </a:solidFill>
              </a:rPr>
              <a:t>i</a:t>
            </a:r>
            <a:r>
              <a:t> from 1 to n-3: // 1</a:t>
            </a:r>
            <a:r>
              <a:rPr baseline="30000"/>
              <a:t>st</a:t>
            </a:r>
            <a:r>
              <a:t> cut point</a:t>
            </a:r>
            <a:endParaRPr sz="1400"/>
          </a:p>
          <a:p>
            <a:pPr lvl="2" marL="0" indent="971550">
              <a:lnSpc>
                <a:spcPct val="72000"/>
              </a:lnSpc>
              <a:buSzTx/>
              <a:buNone/>
              <a:defRPr sz="1200">
                <a:latin typeface="Courier New"/>
                <a:ea typeface="Courier New"/>
                <a:cs typeface="Courier New"/>
                <a:sym typeface="Courier New"/>
              </a:defRPr>
            </a:pPr>
            <a:r>
              <a:t>for </a:t>
            </a:r>
            <a:r>
              <a:rPr b="1">
                <a:solidFill>
                  <a:srgbClr val="385724"/>
                </a:solidFill>
              </a:rPr>
              <a:t>j</a:t>
            </a:r>
            <a:r>
              <a:t> from </a:t>
            </a:r>
            <a:r>
              <a:rPr b="1">
                <a:solidFill>
                  <a:srgbClr val="385724"/>
                </a:solidFill>
              </a:rPr>
              <a:t>i</a:t>
            </a:r>
            <a:r>
              <a:t>+1 to n-2: // 2</a:t>
            </a:r>
            <a:r>
              <a:rPr baseline="30000"/>
              <a:t>nd</a:t>
            </a:r>
            <a:r>
              <a:t> cut point</a:t>
            </a:r>
            <a:endParaRPr sz="1400"/>
          </a:p>
          <a:p>
            <a:pPr lvl="3" marL="0" indent="1469569">
              <a:lnSpc>
                <a:spcPct val="72000"/>
              </a:lnSpc>
              <a:buSzTx/>
              <a:buNone/>
              <a:defRPr sz="1200">
                <a:latin typeface="Courier New"/>
                <a:ea typeface="Courier New"/>
                <a:cs typeface="Courier New"/>
                <a:sym typeface="Courier New"/>
              </a:defRPr>
            </a:pPr>
            <a:r>
              <a:t>if </a:t>
            </a:r>
            <a:r>
              <a:rPr b="1">
                <a:solidFill>
                  <a:srgbClr val="385724"/>
                </a:solidFill>
              </a:rPr>
              <a:t>start(i)</a:t>
            </a:r>
            <a:r>
              <a:rPr b="1"/>
              <a:t> </a:t>
            </a:r>
            <a:r>
              <a:t>– </a:t>
            </a:r>
            <a:r>
              <a:rPr b="1">
                <a:solidFill>
                  <a:srgbClr val="385724"/>
                </a:solidFill>
              </a:rPr>
              <a:t>end(j)</a:t>
            </a:r>
            <a:r>
              <a:rPr b="1"/>
              <a:t> </a:t>
            </a:r>
            <a:r>
              <a:t>= 1:</a:t>
            </a:r>
            <a:endParaRPr sz="1400"/>
          </a:p>
          <a:p>
            <a:pPr lvl="4" marL="0" indent="1926769">
              <a:lnSpc>
                <a:spcPct val="72000"/>
              </a:lnSpc>
              <a:buSzTx/>
              <a:buNone/>
              <a:defRPr sz="1200">
                <a:latin typeface="Courier New"/>
                <a:ea typeface="Courier New"/>
                <a:cs typeface="Courier New"/>
                <a:sym typeface="Courier New"/>
              </a:defRPr>
            </a:pPr>
            <a:r>
              <a:t>skip if too small to reverse</a:t>
            </a:r>
            <a:endParaRPr sz="1400"/>
          </a:p>
          <a:p>
            <a:pPr lvl="3" marL="0" indent="1469569">
              <a:lnSpc>
                <a:spcPct val="72000"/>
              </a:lnSpc>
              <a:buSzTx/>
              <a:buNone/>
              <a:defRPr sz="1200">
                <a:latin typeface="Courier New"/>
                <a:ea typeface="Courier New"/>
                <a:cs typeface="Courier New"/>
                <a:sym typeface="Courier New"/>
              </a:defRPr>
            </a:pPr>
            <a:r>
              <a:t>a, b = two edges to be removed</a:t>
            </a:r>
            <a:endParaRPr sz="1400"/>
          </a:p>
          <a:p>
            <a:pPr lvl="3" marL="0" indent="1469569">
              <a:lnSpc>
                <a:spcPct val="72000"/>
              </a:lnSpc>
              <a:buSzTx/>
              <a:buNone/>
              <a:defRPr sz="1200">
                <a:latin typeface="Courier New"/>
                <a:ea typeface="Courier New"/>
                <a:cs typeface="Courier New"/>
                <a:sym typeface="Courier New"/>
              </a:defRPr>
            </a:pPr>
            <a:r>
              <a:t>c, d = two edges to be added in their place</a:t>
            </a:r>
            <a:endParaRPr sz="1400"/>
          </a:p>
          <a:p>
            <a:pPr lvl="3" marL="0" indent="1469569">
              <a:lnSpc>
                <a:spcPct val="72000"/>
              </a:lnSpc>
              <a:buSzTx/>
              <a:buNone/>
              <a:defRPr b="1" sz="1200">
                <a:solidFill>
                  <a:srgbClr val="C55A11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old_cost </a:t>
            </a:r>
            <a:r>
              <a:rPr b="0">
                <a:solidFill>
                  <a:srgbClr val="000000"/>
                </a:solidFill>
              </a:rPr>
              <a:t>= cost of old edges being replaced</a:t>
            </a:r>
            <a:endParaRPr sz="1400"/>
          </a:p>
          <a:p>
            <a:pPr lvl="3" marL="0" indent="1469569">
              <a:lnSpc>
                <a:spcPct val="72000"/>
              </a:lnSpc>
              <a:buSzTx/>
              <a:buNone/>
              <a:defRPr b="1" sz="1200">
                <a:solidFill>
                  <a:srgbClr val="0070C0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new_cost </a:t>
            </a:r>
            <a:r>
              <a:rPr b="0">
                <a:solidFill>
                  <a:srgbClr val="000000"/>
                </a:solidFill>
              </a:rPr>
              <a:t>= cost of new edges being added</a:t>
            </a:r>
            <a:endParaRPr sz="1400"/>
          </a:p>
          <a:p>
            <a:pPr lvl="3" marL="0" indent="1469569">
              <a:lnSpc>
                <a:spcPct val="72000"/>
              </a:lnSpc>
              <a:buSzTx/>
              <a:buNone/>
              <a:defRPr sz="1200">
                <a:latin typeface="Courier New"/>
                <a:ea typeface="Courier New"/>
                <a:cs typeface="Courier New"/>
                <a:sym typeface="Courier New"/>
              </a:defRPr>
            </a:pPr>
            <a:r>
              <a:t>if </a:t>
            </a:r>
            <a:r>
              <a:rPr b="1">
                <a:solidFill>
                  <a:srgbClr val="0070C0"/>
                </a:solidFill>
              </a:rPr>
              <a:t>new_cost </a:t>
            </a:r>
            <a:r>
              <a:t>is greater than </a:t>
            </a:r>
            <a:r>
              <a:rPr b="1">
                <a:solidFill>
                  <a:srgbClr val="C55A11"/>
                </a:solidFill>
              </a:rPr>
              <a:t>old_cost</a:t>
            </a:r>
            <a:r>
              <a:t>:</a:t>
            </a:r>
            <a:endParaRPr sz="1400"/>
          </a:p>
          <a:p>
            <a:pPr lvl="4" marL="0" indent="1926769">
              <a:lnSpc>
                <a:spcPct val="72000"/>
              </a:lnSpc>
              <a:buSzTx/>
              <a:buNone/>
              <a:defRPr sz="1200">
                <a:latin typeface="Courier New"/>
                <a:ea typeface="Courier New"/>
                <a:cs typeface="Courier New"/>
                <a:sym typeface="Courier New"/>
              </a:defRPr>
            </a:pPr>
            <a:r>
              <a:t>skip if no improvement</a:t>
            </a:r>
            <a:endParaRPr sz="1400"/>
          </a:p>
          <a:p>
            <a:pPr lvl="3" marL="0" indent="1469569">
              <a:lnSpc>
                <a:spcPct val="72000"/>
              </a:lnSpc>
              <a:buSzTx/>
              <a:buNone/>
              <a:defRPr sz="1200">
                <a:latin typeface="Courier New"/>
                <a:ea typeface="Courier New"/>
                <a:cs typeface="Courier New"/>
                <a:sym typeface="Courier New"/>
              </a:defRPr>
            </a:pPr>
            <a:r>
              <a:t>while </a:t>
            </a:r>
            <a:r>
              <a:rPr b="1">
                <a:solidFill>
                  <a:srgbClr val="385724"/>
                </a:solidFill>
              </a:rPr>
              <a:t>start(i)</a:t>
            </a:r>
            <a:r>
              <a:rPr b="1"/>
              <a:t> </a:t>
            </a:r>
            <a:r>
              <a:t>is less than </a:t>
            </a:r>
            <a:r>
              <a:rPr b="1">
                <a:solidFill>
                  <a:srgbClr val="385724"/>
                </a:solidFill>
              </a:rPr>
              <a:t>end(i)</a:t>
            </a:r>
            <a:r>
              <a:t>:</a:t>
            </a:r>
            <a:endParaRPr sz="1400"/>
          </a:p>
          <a:p>
            <a:pPr lvl="4" marL="0" indent="1926769">
              <a:lnSpc>
                <a:spcPct val="72000"/>
              </a:lnSpc>
              <a:buSzTx/>
              <a:buNone/>
              <a:defRPr b="1" sz="1200">
                <a:solidFill>
                  <a:srgbClr val="CC00CC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best_path</a:t>
            </a:r>
            <a:r>
              <a:rPr b="0">
                <a:solidFill>
                  <a:srgbClr val="000000"/>
                </a:solidFill>
              </a:rPr>
              <a:t>[</a:t>
            </a:r>
            <a:r>
              <a:rPr>
                <a:solidFill>
                  <a:srgbClr val="385724"/>
                </a:solidFill>
              </a:rPr>
              <a:t>i</a:t>
            </a:r>
            <a:r>
              <a:rPr b="0">
                <a:solidFill>
                  <a:srgbClr val="000000"/>
                </a:solidFill>
              </a:rPr>
              <a:t>], </a:t>
            </a:r>
            <a:r>
              <a:t>best_path</a:t>
            </a:r>
            <a:r>
              <a:rPr b="0">
                <a:solidFill>
                  <a:srgbClr val="000000"/>
                </a:solidFill>
              </a:rPr>
              <a:t>[</a:t>
            </a:r>
            <a:r>
              <a:rPr>
                <a:solidFill>
                  <a:srgbClr val="385724"/>
                </a:solidFill>
              </a:rPr>
              <a:t>j</a:t>
            </a:r>
            <a:r>
              <a:rPr b="0">
                <a:solidFill>
                  <a:srgbClr val="000000"/>
                </a:solidFill>
              </a:rPr>
              <a:t>] = </a:t>
            </a:r>
            <a:r>
              <a:t>best_path</a:t>
            </a:r>
            <a:r>
              <a:rPr b="0">
                <a:solidFill>
                  <a:srgbClr val="000000"/>
                </a:solidFill>
              </a:rPr>
              <a:t>[</a:t>
            </a:r>
            <a:r>
              <a:rPr>
                <a:solidFill>
                  <a:srgbClr val="385724"/>
                </a:solidFill>
              </a:rPr>
              <a:t>j</a:t>
            </a:r>
            <a:r>
              <a:rPr b="0">
                <a:solidFill>
                  <a:srgbClr val="000000"/>
                </a:solidFill>
              </a:rPr>
              <a:t>], </a:t>
            </a:r>
            <a:r>
              <a:t>best_path</a:t>
            </a:r>
            <a:r>
              <a:rPr b="0">
                <a:solidFill>
                  <a:srgbClr val="000000"/>
                </a:solidFill>
              </a:rPr>
              <a:t>[</a:t>
            </a:r>
            <a:r>
              <a:rPr>
                <a:solidFill>
                  <a:srgbClr val="385724"/>
                </a:solidFill>
              </a:rPr>
              <a:t>i</a:t>
            </a:r>
            <a:r>
              <a:rPr b="0">
                <a:solidFill>
                  <a:srgbClr val="000000"/>
                </a:solidFill>
              </a:rPr>
              <a:t>]</a:t>
            </a:r>
            <a:endParaRPr sz="1400"/>
          </a:p>
          <a:p>
            <a:pPr lvl="4" marL="0" indent="1926769">
              <a:lnSpc>
                <a:spcPct val="72000"/>
              </a:lnSpc>
              <a:buSzTx/>
              <a:buNone/>
              <a:defRPr sz="1200">
                <a:latin typeface="Courier New"/>
                <a:ea typeface="Courier New"/>
                <a:cs typeface="Courier New"/>
                <a:sym typeface="Courier New"/>
              </a:defRPr>
            </a:pPr>
            <a:r>
              <a:t>    </a:t>
            </a:r>
            <a:r>
              <a:rPr b="1">
                <a:solidFill>
                  <a:srgbClr val="385724"/>
                </a:solidFill>
              </a:rPr>
              <a:t>start(i) </a:t>
            </a:r>
            <a:r>
              <a:t>+= 1</a:t>
            </a:r>
            <a:endParaRPr sz="1400"/>
          </a:p>
          <a:p>
            <a:pPr lvl="4" marL="0" indent="1926769">
              <a:lnSpc>
                <a:spcPct val="72000"/>
              </a:lnSpc>
              <a:buSzTx/>
              <a:buNone/>
              <a:defRPr sz="1200">
                <a:latin typeface="Courier New"/>
                <a:ea typeface="Courier New"/>
                <a:cs typeface="Courier New"/>
                <a:sym typeface="Courier New"/>
              </a:defRPr>
            </a:pPr>
            <a:r>
              <a:t>    </a:t>
            </a:r>
            <a:r>
              <a:rPr b="1">
                <a:solidFill>
                  <a:srgbClr val="385724"/>
                </a:solidFill>
              </a:rPr>
              <a:t>start(j) </a:t>
            </a:r>
            <a:r>
              <a:t>-= 1</a:t>
            </a:r>
            <a:endParaRPr sz="1400"/>
          </a:p>
          <a:p>
            <a:pPr lvl="1" marL="0" indent="482600">
              <a:lnSpc>
                <a:spcPct val="72000"/>
              </a:lnSpc>
              <a:buSzTx/>
              <a:buNone/>
              <a:defRPr b="1" sz="1200">
                <a:latin typeface="Courier New"/>
                <a:ea typeface="Courier New"/>
                <a:cs typeface="Courier New"/>
                <a:sym typeface="Courier New"/>
              </a:defRPr>
            </a:pPr>
            <a:r>
              <a:t>return</a:t>
            </a:r>
            <a:r>
              <a:rPr b="0">
                <a:solidFill>
                  <a:srgbClr val="385724"/>
                </a:solidFill>
              </a:rPr>
              <a:t> </a:t>
            </a:r>
            <a:r>
              <a:rPr>
                <a:solidFill>
                  <a:srgbClr val="CC00CC"/>
                </a:solidFill>
              </a:rPr>
              <a:t>best_path</a:t>
            </a:r>
          </a:p>
        </p:txBody>
      </p:sp>
      <p:sp>
        <p:nvSpPr>
          <p:cNvPr id="335" name="TextBox 3"/>
          <p:cNvSpPr txBox="1"/>
          <p:nvPr/>
        </p:nvSpPr>
        <p:spPr>
          <a:xfrm>
            <a:off x="450850" y="990599"/>
            <a:ext cx="5397500" cy="4597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defRPr b="1" sz="2400">
                <a:latin typeface="Tenorite"/>
                <a:ea typeface="Tenorite"/>
                <a:cs typeface="Tenorite"/>
                <a:sym typeface="Tenorite"/>
              </a:defRPr>
            </a:pPr>
            <a:r>
              <a:t>Heuristic #2: </a:t>
            </a:r>
            <a:r>
              <a:t>Two</a:t>
            </a:r>
            <a:r>
              <a:t>-Opt</a:t>
            </a:r>
          </a:p>
        </p:txBody>
      </p:sp>
      <p:sp>
        <p:nvSpPr>
          <p:cNvPr id="336" name="TextBox 1"/>
          <p:cNvSpPr txBox="1"/>
          <p:nvPr/>
        </p:nvSpPr>
        <p:spPr>
          <a:xfrm>
            <a:off x="5692874" y="701775"/>
            <a:ext cx="6091456" cy="12090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defRPr>
                <a:latin typeface="Tenorite"/>
                <a:ea typeface="Tenorite"/>
                <a:cs typeface="Tenorite"/>
                <a:sym typeface="Tenorite"/>
              </a:defRPr>
            </a:pPr>
            <a:r>
              <a:t>The Two-opt heuristic </a:t>
            </a:r>
            <a:r>
              <a:rPr>
                <a:solidFill>
                  <a:srgbClr val="2E75B6"/>
                </a:solidFill>
              </a:rPr>
              <a:t>removes edge crossings IF the switch would result in a shorter total tour length</a:t>
            </a:r>
            <a:r>
              <a:t>.</a:t>
            </a:r>
            <a:br/>
            <a:r>
              <a:t>In TSP, crossed edges </a:t>
            </a:r>
            <a:r>
              <a:rPr i="1"/>
              <a:t>usually</a:t>
            </a:r>
            <a:r>
              <a:t> means the path is suboptimal.</a:t>
            </a:r>
          </a:p>
        </p:txBody>
      </p:sp>
      <p:sp>
        <p:nvSpPr>
          <p:cNvPr id="337" name="TextBox 2"/>
          <p:cNvSpPr txBox="1"/>
          <p:nvPr/>
        </p:nvSpPr>
        <p:spPr>
          <a:xfrm>
            <a:off x="5894069" y="1738853"/>
            <a:ext cx="5452112" cy="370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>
                <a:latin typeface="Tenorite"/>
                <a:ea typeface="Tenorite"/>
                <a:cs typeface="Tenorite"/>
                <a:sym typeface="Tenorite"/>
              </a:defRPr>
            </a:lvl1pPr>
          </a:lstStyle>
          <a:p>
            <a:pPr/>
            <a:r>
              <a:t>Example of a simple Two-opt:</a:t>
            </a:r>
          </a:p>
        </p:txBody>
      </p:sp>
      <p:pic>
        <p:nvPicPr>
          <p:cNvPr id="338" name="Picture 3" descr="Picture 3"/>
          <p:cNvPicPr>
            <a:picLocks noChangeAspect="1"/>
          </p:cNvPicPr>
          <p:nvPr/>
        </p:nvPicPr>
        <p:blipFill>
          <a:blip r:embed="rId2">
            <a:extLst/>
          </a:blip>
          <a:srcRect l="0" t="0" r="58534" b="0"/>
          <a:stretch>
            <a:fillRect/>
          </a:stretch>
        </p:blipFill>
        <p:spPr>
          <a:xfrm>
            <a:off x="6375399" y="2239125"/>
            <a:ext cx="2413002" cy="1581455"/>
          </a:xfrm>
          <a:prstGeom prst="rect">
            <a:avLst/>
          </a:prstGeom>
          <a:ln w="12700">
            <a:miter lim="400000"/>
          </a:ln>
        </p:spPr>
      </p:pic>
      <p:pic>
        <p:nvPicPr>
          <p:cNvPr id="339" name="Picture 4" descr="Picture 4"/>
          <p:cNvPicPr>
            <a:picLocks noChangeAspect="1"/>
          </p:cNvPicPr>
          <p:nvPr/>
        </p:nvPicPr>
        <p:blipFill>
          <a:blip r:embed="rId2">
            <a:extLst/>
          </a:blip>
          <a:srcRect l="42235" t="0" r="39959" b="0"/>
          <a:stretch>
            <a:fillRect/>
          </a:stretch>
        </p:blipFill>
        <p:spPr>
          <a:xfrm rot="5400000">
            <a:off x="7303795" y="3616045"/>
            <a:ext cx="897528" cy="1370013"/>
          </a:xfrm>
          <a:prstGeom prst="rect">
            <a:avLst/>
          </a:prstGeom>
          <a:ln w="12700">
            <a:miter lim="400000"/>
          </a:ln>
        </p:spPr>
      </p:pic>
      <p:pic>
        <p:nvPicPr>
          <p:cNvPr id="340" name="Picture 5" descr="Picture 5"/>
          <p:cNvPicPr>
            <a:picLocks noChangeAspect="1"/>
          </p:cNvPicPr>
          <p:nvPr/>
        </p:nvPicPr>
        <p:blipFill>
          <a:blip r:embed="rId2">
            <a:extLst/>
          </a:blip>
          <a:srcRect l="61007" t="0" r="0" b="0"/>
          <a:stretch>
            <a:fillRect/>
          </a:stretch>
        </p:blipFill>
        <p:spPr>
          <a:xfrm>
            <a:off x="6375399" y="4749815"/>
            <a:ext cx="2244727" cy="156449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Title 1"/>
          <p:cNvSpPr txBox="1"/>
          <p:nvPr>
            <p:ph type="title"/>
          </p:nvPr>
        </p:nvSpPr>
        <p:spPr>
          <a:xfrm>
            <a:off x="50796" y="102258"/>
            <a:ext cx="10439404" cy="1617020"/>
          </a:xfrm>
          <a:prstGeom prst="rect">
            <a:avLst/>
          </a:prstGeom>
        </p:spPr>
        <p:txBody>
          <a:bodyPr/>
          <a:lstStyle/>
          <a:p>
            <a:pPr/>
            <a:r>
              <a:t>Approximate Solution – non-Optimal test case</a:t>
            </a:r>
          </a:p>
        </p:txBody>
      </p:sp>
      <p:pic>
        <p:nvPicPr>
          <p:cNvPr id="343" name="Picture 323" descr="Picture 323"/>
          <p:cNvPicPr>
            <a:picLocks noChangeAspect="1"/>
          </p:cNvPicPr>
          <p:nvPr/>
        </p:nvPicPr>
        <p:blipFill>
          <a:blip r:embed="rId2">
            <a:extLst/>
          </a:blip>
          <a:srcRect l="0" t="3908" r="0" b="3017"/>
          <a:stretch>
            <a:fillRect/>
          </a:stretch>
        </p:blipFill>
        <p:spPr>
          <a:xfrm>
            <a:off x="1819961" y="1188098"/>
            <a:ext cx="7541754" cy="5615605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Title 1"/>
          <p:cNvSpPr txBox="1"/>
          <p:nvPr>
            <p:ph type="title"/>
          </p:nvPr>
        </p:nvSpPr>
        <p:spPr>
          <a:xfrm>
            <a:off x="228596" y="280058"/>
            <a:ext cx="10439404" cy="1617020"/>
          </a:xfrm>
          <a:prstGeom prst="rect">
            <a:avLst/>
          </a:prstGeom>
        </p:spPr>
        <p:txBody>
          <a:bodyPr/>
          <a:lstStyle/>
          <a:p>
            <a:pPr/>
            <a:r>
              <a:t>Approximate Solution – non-Optimal test case</a:t>
            </a:r>
          </a:p>
        </p:txBody>
      </p:sp>
      <p:sp>
        <p:nvSpPr>
          <p:cNvPr id="346" name="TextBox 4"/>
          <p:cNvSpPr txBox="1"/>
          <p:nvPr/>
        </p:nvSpPr>
        <p:spPr>
          <a:xfrm>
            <a:off x="6321512" y="1605143"/>
            <a:ext cx="5148073" cy="14884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defRPr b="1">
                <a:latin typeface="Tenorite"/>
                <a:ea typeface="Tenorite"/>
                <a:cs typeface="Tenorite"/>
                <a:sym typeface="Tenorite"/>
              </a:defRPr>
            </a:pPr>
            <a:r>
              <a:t>**Optimal cycle**: </a:t>
            </a:r>
            <a:br/>
            <a:r>
              <a:rPr b="0"/>
              <a:t>A → E (60.0) → F (1.0) → D (1.0) → C (40.0) → B (1.0) → A (1.0).</a:t>
            </a:r>
            <a:endParaRPr b="0"/>
          </a:p>
          <a:p>
            <a:pPr>
              <a:defRPr b="1">
                <a:latin typeface="Tenorite"/>
                <a:ea typeface="Tenorite"/>
                <a:cs typeface="Tenorite"/>
                <a:sym typeface="Tenorite"/>
              </a:defRPr>
            </a:pPr>
            <a:r>
              <a:t>Tour: </a:t>
            </a:r>
            <a:r>
              <a:rPr b="0"/>
              <a:t>A E F D C B A</a:t>
            </a:r>
            <a:endParaRPr b="0"/>
          </a:p>
          <a:p>
            <a:pPr>
              <a:defRPr b="1">
                <a:latin typeface="Tenorite"/>
                <a:ea typeface="Tenorite"/>
                <a:cs typeface="Tenorite"/>
                <a:sym typeface="Tenorite"/>
              </a:defRPr>
            </a:pPr>
            <a:r>
              <a:t>Length: </a:t>
            </a:r>
            <a:r>
              <a:rPr b="0"/>
              <a:t>60 + 1 + 1 + 40 + 1 + 1 = 104.0</a:t>
            </a:r>
          </a:p>
        </p:txBody>
      </p:sp>
      <p:sp>
        <p:nvSpPr>
          <p:cNvPr id="347" name="TextBox 5"/>
          <p:cNvSpPr txBox="1"/>
          <p:nvPr/>
        </p:nvSpPr>
        <p:spPr>
          <a:xfrm>
            <a:off x="6357216" y="3370107"/>
            <a:ext cx="5419388" cy="14884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defRPr b="1">
                <a:solidFill>
                  <a:srgbClr val="EDEDED"/>
                </a:solidFill>
                <a:latin typeface="Tenorite"/>
                <a:ea typeface="Tenorite"/>
                <a:cs typeface="Tenorite"/>
                <a:sym typeface="Tenorite"/>
              </a:defRPr>
            </a:pPr>
            <a:r>
              <a:t>**Nearest neighbor from a**:</a:t>
            </a:r>
          </a:p>
          <a:p>
            <a:pPr>
              <a:defRPr>
                <a:latin typeface="Tenorite"/>
                <a:ea typeface="Tenorite"/>
                <a:cs typeface="Tenorite"/>
                <a:sym typeface="Tenorite"/>
              </a:defRPr>
            </a:pPr>
            <a:r>
              <a:t>A → B (1.0) → C (1.0) → D (40.0) → E (1.0) → F (1.0) → A (100.0)</a:t>
            </a:r>
          </a:p>
          <a:p>
            <a:pPr>
              <a:defRPr b="1">
                <a:latin typeface="Tenorite"/>
                <a:ea typeface="Tenorite"/>
                <a:cs typeface="Tenorite"/>
                <a:sym typeface="Tenorite"/>
              </a:defRPr>
            </a:pPr>
            <a:r>
              <a:t>Tour: </a:t>
            </a:r>
            <a:r>
              <a:rPr b="0"/>
              <a:t>A B C D E F A</a:t>
            </a:r>
            <a:endParaRPr b="0"/>
          </a:p>
          <a:p>
            <a:pPr>
              <a:defRPr b="1">
                <a:latin typeface="Tenorite"/>
                <a:ea typeface="Tenorite"/>
                <a:cs typeface="Tenorite"/>
                <a:sym typeface="Tenorite"/>
              </a:defRPr>
            </a:pPr>
            <a:r>
              <a:t>Length: </a:t>
            </a:r>
            <a:r>
              <a:rPr b="0"/>
              <a:t>1 + 1 + 40 + 1 + 1 + 100 = 143.0</a:t>
            </a:r>
          </a:p>
        </p:txBody>
      </p:sp>
      <p:pic>
        <p:nvPicPr>
          <p:cNvPr id="348" name="Picture 323" descr="Picture 323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284939" y="1646751"/>
            <a:ext cx="5811062" cy="4648850"/>
          </a:xfrm>
          <a:prstGeom prst="rect">
            <a:avLst/>
          </a:prstGeom>
          <a:ln w="12700">
            <a:miter lim="400000"/>
          </a:ln>
        </p:spPr>
      </p:pic>
      <p:sp>
        <p:nvSpPr>
          <p:cNvPr id="349" name="Arrow: Right 2"/>
          <p:cNvSpPr/>
          <p:nvPr/>
        </p:nvSpPr>
        <p:spPr>
          <a:xfrm rot="10186203">
            <a:off x="932045" y="5672332"/>
            <a:ext cx="1758649" cy="140887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25400">
            <a:solidFill>
              <a:srgbClr val="C00000"/>
            </a:solidFill>
          </a:ln>
        </p:spPr>
        <p:txBody>
          <a:bodyPr lIns="45718" tIns="45718" rIns="45718" bIns="45718" anchor="ctr"/>
          <a:lstStyle/>
          <a:p>
            <a:pPr/>
          </a:p>
        </p:txBody>
      </p:sp>
      <p:sp>
        <p:nvSpPr>
          <p:cNvPr id="350" name="Arrow: Right 3"/>
          <p:cNvSpPr/>
          <p:nvPr/>
        </p:nvSpPr>
        <p:spPr>
          <a:xfrm rot="11215856">
            <a:off x="2955057" y="5672849"/>
            <a:ext cx="2411133" cy="131477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25400">
            <a:solidFill>
              <a:srgbClr val="C00000"/>
            </a:solidFill>
          </a:ln>
        </p:spPr>
        <p:txBody>
          <a:bodyPr lIns="45718" tIns="45718" rIns="45718" bIns="45718" anchor="ctr"/>
          <a:lstStyle/>
          <a:p>
            <a:pPr/>
          </a:p>
        </p:txBody>
      </p:sp>
      <p:sp>
        <p:nvSpPr>
          <p:cNvPr id="351" name="Arrow: Right 6"/>
          <p:cNvSpPr/>
          <p:nvPr/>
        </p:nvSpPr>
        <p:spPr>
          <a:xfrm rot="5400000">
            <a:off x="4229299" y="4421113"/>
            <a:ext cx="2495388" cy="110678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25400">
            <a:solidFill>
              <a:srgbClr val="C00000"/>
            </a:solidFill>
          </a:ln>
        </p:spPr>
        <p:txBody>
          <a:bodyPr lIns="45718" tIns="45718" rIns="45718" bIns="45718" anchor="ctr"/>
          <a:lstStyle/>
          <a:p>
            <a:pPr/>
          </a:p>
        </p:txBody>
      </p:sp>
      <p:sp>
        <p:nvSpPr>
          <p:cNvPr id="352" name="Arrow: Right 7"/>
          <p:cNvSpPr/>
          <p:nvPr/>
        </p:nvSpPr>
        <p:spPr>
          <a:xfrm rot="2336117">
            <a:off x="4303538" y="2518251"/>
            <a:ext cx="1165643" cy="106424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25400">
            <a:solidFill>
              <a:srgbClr val="C00000"/>
            </a:solidFill>
          </a:ln>
        </p:spPr>
        <p:txBody>
          <a:bodyPr lIns="45718" tIns="45718" rIns="45718" bIns="45718" anchor="ctr"/>
          <a:lstStyle/>
          <a:p>
            <a:pPr/>
          </a:p>
        </p:txBody>
      </p:sp>
      <p:sp>
        <p:nvSpPr>
          <p:cNvPr id="353" name="Arrow: Right 8"/>
          <p:cNvSpPr/>
          <p:nvPr/>
        </p:nvSpPr>
        <p:spPr>
          <a:xfrm rot="21431375">
            <a:off x="732038" y="2095774"/>
            <a:ext cx="3418136" cy="9878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25400">
            <a:solidFill>
              <a:srgbClr val="C00000"/>
            </a:solidFill>
          </a:ln>
        </p:spPr>
        <p:txBody>
          <a:bodyPr lIns="45718" tIns="45718" rIns="45718" bIns="45718" anchor="ctr"/>
          <a:lstStyle/>
          <a:p>
            <a:pPr/>
          </a:p>
        </p:txBody>
      </p:sp>
      <p:sp>
        <p:nvSpPr>
          <p:cNvPr id="354" name="Arrow: Right 9"/>
          <p:cNvSpPr/>
          <p:nvPr/>
        </p:nvSpPr>
        <p:spPr>
          <a:xfrm rot="15917001">
            <a:off x="-1010611" y="4059978"/>
            <a:ext cx="3398827" cy="97588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25400">
            <a:solidFill>
              <a:srgbClr val="C00000"/>
            </a:solidFill>
          </a:ln>
        </p:spPr>
        <p:txBody>
          <a:bodyPr lIns="45718" tIns="45718" rIns="45718" bIns="45718" anchor="ctr"/>
          <a:lstStyle/>
          <a:p>
            <a:pPr/>
          </a:p>
        </p:txBody>
      </p:sp>
      <p:sp>
        <p:nvSpPr>
          <p:cNvPr id="355" name="TextBox 11"/>
          <p:cNvSpPr txBox="1"/>
          <p:nvPr/>
        </p:nvSpPr>
        <p:spPr>
          <a:xfrm>
            <a:off x="6227689" y="5327288"/>
            <a:ext cx="6016754" cy="81965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lnSpc>
                <a:spcPts val="1400"/>
              </a:lnSpc>
              <a:defRPr>
                <a:solidFill>
                  <a:srgbClr val="FF0000"/>
                </a:solidFill>
                <a:latin typeface="Tenorite"/>
                <a:ea typeface="Tenorite"/>
                <a:cs typeface="Tenorite"/>
                <a:sym typeface="Tenorite"/>
              </a:defRPr>
            </a:lvl1pPr>
          </a:lstStyle>
          <a:p>
            <a:pPr/>
            <a:r>
              <a:t>** Any single 2‑edge swap in A B C D E F A increases cost (e.g., replacing (B,C) + (F,A) = 1 + 100 with (B,F) + (C,A) = 40 + 100), so the algorithm remains at 143.0 rather than reaching 104.0.</a:t>
            </a:r>
          </a:p>
        </p:txBody>
      </p:sp>
      <p:sp>
        <p:nvSpPr>
          <p:cNvPr id="356" name="TextBox 13"/>
          <p:cNvSpPr txBox="1"/>
          <p:nvPr/>
        </p:nvSpPr>
        <p:spPr>
          <a:xfrm>
            <a:off x="6213981" y="4991889"/>
            <a:ext cx="2807209" cy="46405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lnSpc>
                <a:spcPts val="1400"/>
              </a:lnSpc>
              <a:defRPr b="1">
                <a:latin typeface="Tenorite"/>
                <a:ea typeface="Tenorite"/>
                <a:cs typeface="Tenorite"/>
                <a:sym typeface="Tenorite"/>
              </a:defRPr>
            </a:lvl1pPr>
          </a:lstStyle>
          <a:p>
            <a:pPr/>
            <a:r>
              <a:t>WHAT ABOUT TWO-OPT?</a:t>
            </a:r>
          </a:p>
        </p:txBody>
      </p:sp>
      <p:sp>
        <p:nvSpPr>
          <p:cNvPr id="357" name="TextBox 1"/>
          <p:cNvSpPr txBox="1"/>
          <p:nvPr/>
        </p:nvSpPr>
        <p:spPr>
          <a:xfrm>
            <a:off x="3994484" y="6295599"/>
            <a:ext cx="3128212" cy="33308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b="1"/>
            </a:lvl1pPr>
          </a:lstStyle>
          <a:p>
            <a:pPr/>
            <a:r>
              <a:t>NOT BAD…..BUT NOT OPTIMAL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" name="Title 1"/>
          <p:cNvSpPr txBox="1"/>
          <p:nvPr>
            <p:ph type="title"/>
          </p:nvPr>
        </p:nvSpPr>
        <p:spPr>
          <a:xfrm>
            <a:off x="228596" y="280058"/>
            <a:ext cx="10439404" cy="1617020"/>
          </a:xfrm>
          <a:prstGeom prst="rect">
            <a:avLst/>
          </a:prstGeom>
        </p:spPr>
        <p:txBody>
          <a:bodyPr/>
          <a:lstStyle/>
          <a:p>
            <a:pPr/>
            <a:r>
              <a:t>Approximate Solution – non-Optimal test case</a:t>
            </a:r>
          </a:p>
        </p:txBody>
      </p:sp>
      <p:sp>
        <p:nvSpPr>
          <p:cNvPr id="360" name="TextBox 4"/>
          <p:cNvSpPr txBox="1"/>
          <p:nvPr/>
        </p:nvSpPr>
        <p:spPr>
          <a:xfrm>
            <a:off x="6333719" y="2235136"/>
            <a:ext cx="5148073" cy="14884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defRPr b="1">
                <a:latin typeface="Tenorite"/>
                <a:ea typeface="Tenorite"/>
                <a:cs typeface="Tenorite"/>
                <a:sym typeface="Tenorite"/>
              </a:defRPr>
            </a:pPr>
            <a:r>
              <a:t>**Optimal cycle**: </a:t>
            </a:r>
            <a:br/>
            <a:r>
              <a:rPr b="0"/>
              <a:t>A → E (60.0) → F (1.0) → D (1.0) → C (40.0) → B (1.0) → A (1.0).</a:t>
            </a:r>
            <a:endParaRPr b="0"/>
          </a:p>
          <a:p>
            <a:pPr>
              <a:defRPr b="1">
                <a:latin typeface="Tenorite"/>
                <a:ea typeface="Tenorite"/>
                <a:cs typeface="Tenorite"/>
                <a:sym typeface="Tenorite"/>
              </a:defRPr>
            </a:pPr>
            <a:r>
              <a:t>Tour: </a:t>
            </a:r>
            <a:r>
              <a:rPr b="0"/>
              <a:t>A E F D C B A</a:t>
            </a:r>
            <a:endParaRPr b="0"/>
          </a:p>
          <a:p>
            <a:pPr>
              <a:defRPr b="1">
                <a:latin typeface="Tenorite"/>
                <a:ea typeface="Tenorite"/>
                <a:cs typeface="Tenorite"/>
                <a:sym typeface="Tenorite"/>
              </a:defRPr>
            </a:pPr>
            <a:r>
              <a:t>Length: </a:t>
            </a:r>
            <a:r>
              <a:rPr b="0"/>
              <a:t>60 + 1 + 1 + 40 + 1 + 1 = 104.0</a:t>
            </a:r>
          </a:p>
        </p:txBody>
      </p:sp>
      <p:sp>
        <p:nvSpPr>
          <p:cNvPr id="361" name="TextBox 5"/>
          <p:cNvSpPr txBox="1"/>
          <p:nvPr/>
        </p:nvSpPr>
        <p:spPr>
          <a:xfrm>
            <a:off x="6333719" y="4050522"/>
            <a:ext cx="5419389" cy="14884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defRPr b="1">
                <a:latin typeface="Tenorite"/>
                <a:ea typeface="Tenorite"/>
                <a:cs typeface="Tenorite"/>
                <a:sym typeface="Tenorite"/>
              </a:defRPr>
            </a:pPr>
            <a:r>
              <a:t>**Nearest neighbor from a**:</a:t>
            </a:r>
          </a:p>
          <a:p>
            <a:pPr>
              <a:defRPr>
                <a:latin typeface="Tenorite"/>
                <a:ea typeface="Tenorite"/>
                <a:cs typeface="Tenorite"/>
                <a:sym typeface="Tenorite"/>
              </a:defRPr>
            </a:pPr>
            <a:r>
              <a:t>A → B (1.0) → C (1.0) → D (40.0) → E (1.0) → F (1.0) → A (100.0)</a:t>
            </a:r>
          </a:p>
          <a:p>
            <a:pPr>
              <a:defRPr b="1">
                <a:latin typeface="Tenorite"/>
                <a:ea typeface="Tenorite"/>
                <a:cs typeface="Tenorite"/>
                <a:sym typeface="Tenorite"/>
              </a:defRPr>
            </a:pPr>
            <a:r>
              <a:t>Tour: </a:t>
            </a:r>
            <a:r>
              <a:rPr b="0"/>
              <a:t>a b c d e f a</a:t>
            </a:r>
            <a:endParaRPr b="0"/>
          </a:p>
          <a:p>
            <a:pPr>
              <a:defRPr b="1">
                <a:latin typeface="Tenorite"/>
                <a:ea typeface="Tenorite"/>
                <a:cs typeface="Tenorite"/>
                <a:sym typeface="Tenorite"/>
              </a:defRPr>
            </a:pPr>
            <a:r>
              <a:t>Length: </a:t>
            </a:r>
            <a:r>
              <a:rPr b="0"/>
              <a:t>1 + 1 + 40 + 1 + 1 + 100 = 143.0</a:t>
            </a:r>
          </a:p>
        </p:txBody>
      </p:sp>
      <p:pic>
        <p:nvPicPr>
          <p:cNvPr id="362" name="Picture 323" descr="Picture 323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284939" y="1646751"/>
            <a:ext cx="5811062" cy="4648850"/>
          </a:xfrm>
          <a:prstGeom prst="rect">
            <a:avLst/>
          </a:prstGeom>
          <a:ln w="12700">
            <a:miter lim="400000"/>
          </a:ln>
        </p:spPr>
      </p:pic>
      <p:sp>
        <p:nvSpPr>
          <p:cNvPr id="363" name="Arrow: Right 2"/>
          <p:cNvSpPr/>
          <p:nvPr/>
        </p:nvSpPr>
        <p:spPr>
          <a:xfrm>
            <a:off x="996696" y="5900184"/>
            <a:ext cx="4361689" cy="98281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00B050"/>
          </a:solidFill>
          <a:ln w="25400">
            <a:solidFill>
              <a:srgbClr val="92D050"/>
            </a:solidFill>
          </a:ln>
        </p:spPr>
        <p:txBody>
          <a:bodyPr lIns="45718" tIns="45718" rIns="45718" bIns="45718" anchor="ctr"/>
          <a:lstStyle/>
          <a:p>
            <a:pPr/>
          </a:p>
        </p:txBody>
      </p:sp>
      <p:sp>
        <p:nvSpPr>
          <p:cNvPr id="364" name="Arrow: Right 3"/>
          <p:cNvSpPr/>
          <p:nvPr/>
        </p:nvSpPr>
        <p:spPr>
          <a:xfrm rot="11215856">
            <a:off x="2955057" y="5672849"/>
            <a:ext cx="2411133" cy="131477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00B050"/>
          </a:solidFill>
          <a:ln w="25400">
            <a:solidFill>
              <a:srgbClr val="92D050"/>
            </a:solidFill>
          </a:ln>
        </p:spPr>
        <p:txBody>
          <a:bodyPr lIns="45718" tIns="45718" rIns="45718" bIns="45718" anchor="ctr"/>
          <a:lstStyle/>
          <a:p>
            <a:pPr/>
          </a:p>
        </p:txBody>
      </p:sp>
      <p:sp>
        <p:nvSpPr>
          <p:cNvPr id="365" name="Arrow: Right 6"/>
          <p:cNvSpPr/>
          <p:nvPr/>
        </p:nvSpPr>
        <p:spPr>
          <a:xfrm rot="19024860">
            <a:off x="2520359" y="4265114"/>
            <a:ext cx="3349185" cy="110678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00B050"/>
          </a:solidFill>
          <a:ln w="25400">
            <a:solidFill>
              <a:srgbClr val="92D050"/>
            </a:solidFill>
          </a:ln>
        </p:spPr>
        <p:txBody>
          <a:bodyPr lIns="45718" tIns="45718" rIns="45718" bIns="45718" anchor="ctr"/>
          <a:lstStyle/>
          <a:p>
            <a:pPr/>
          </a:p>
        </p:txBody>
      </p:sp>
      <p:sp>
        <p:nvSpPr>
          <p:cNvPr id="366" name="Arrow: Right 7"/>
          <p:cNvSpPr/>
          <p:nvPr/>
        </p:nvSpPr>
        <p:spPr>
          <a:xfrm rot="13217629">
            <a:off x="4303538" y="2518251"/>
            <a:ext cx="1165643" cy="106424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00B050"/>
          </a:solidFill>
          <a:ln w="25400">
            <a:solidFill>
              <a:srgbClr val="92D050"/>
            </a:solidFill>
          </a:ln>
        </p:spPr>
        <p:txBody>
          <a:bodyPr lIns="45718" tIns="45718" rIns="45718" bIns="45718" anchor="ctr"/>
          <a:lstStyle/>
          <a:p>
            <a:pPr/>
          </a:p>
        </p:txBody>
      </p:sp>
      <p:sp>
        <p:nvSpPr>
          <p:cNvPr id="367" name="Arrow: Right 8"/>
          <p:cNvSpPr/>
          <p:nvPr/>
        </p:nvSpPr>
        <p:spPr>
          <a:xfrm rot="10648709">
            <a:off x="732038" y="2095774"/>
            <a:ext cx="3418136" cy="9878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00B050"/>
          </a:solidFill>
          <a:ln w="25400">
            <a:solidFill>
              <a:srgbClr val="92D050"/>
            </a:solidFill>
          </a:ln>
        </p:spPr>
        <p:txBody>
          <a:bodyPr lIns="45718" tIns="45718" rIns="45718" bIns="45718" anchor="ctr"/>
          <a:lstStyle/>
          <a:p>
            <a:pPr/>
          </a:p>
        </p:txBody>
      </p:sp>
      <p:sp>
        <p:nvSpPr>
          <p:cNvPr id="368" name="Arrow: Right 9"/>
          <p:cNvSpPr/>
          <p:nvPr/>
        </p:nvSpPr>
        <p:spPr>
          <a:xfrm rot="5097061">
            <a:off x="-1010611" y="4059978"/>
            <a:ext cx="3398827" cy="97588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00B050"/>
          </a:solidFill>
          <a:ln w="25400">
            <a:solidFill>
              <a:srgbClr val="92D050"/>
            </a:solidFill>
          </a:ln>
        </p:spPr>
        <p:txBody>
          <a:bodyPr lIns="45718" tIns="45718" rIns="45718" bIns="45718" anchor="ctr"/>
          <a:lstStyle/>
          <a:p>
            <a:pPr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Title 1"/>
          <p:cNvSpPr txBox="1"/>
          <p:nvPr>
            <p:ph type="title"/>
          </p:nvPr>
        </p:nvSpPr>
        <p:spPr>
          <a:xfrm>
            <a:off x="1291385" y="-1"/>
            <a:ext cx="10900616" cy="1603466"/>
          </a:xfrm>
          <a:prstGeom prst="rect">
            <a:avLst/>
          </a:prstGeom>
        </p:spPr>
        <p:txBody>
          <a:bodyPr/>
          <a:lstStyle/>
          <a:p>
            <a:pPr/>
            <a:r>
              <a:t>Approximate vs exact solution – compare results</a:t>
            </a:r>
          </a:p>
        </p:txBody>
      </p:sp>
      <p:sp>
        <p:nvSpPr>
          <p:cNvPr id="371" name="Text Placeholder 2"/>
          <p:cNvSpPr txBox="1"/>
          <p:nvPr>
            <p:ph type="body" sz="quarter" idx="1"/>
          </p:nvPr>
        </p:nvSpPr>
        <p:spPr>
          <a:xfrm>
            <a:off x="927100" y="6237489"/>
            <a:ext cx="8680451" cy="454251"/>
          </a:xfrm>
          <a:prstGeom prst="rect">
            <a:avLst/>
          </a:prstGeom>
        </p:spPr>
        <p:txBody>
          <a:bodyPr/>
          <a:lstStyle/>
          <a:p>
            <a:pPr marL="0" indent="0">
              <a:buSzTx/>
              <a:buNone/>
            </a:pPr>
            <a:r>
              <a:t>Average amount the approximate tour length was off by: </a:t>
            </a:r>
            <a:r>
              <a:rPr b="1"/>
              <a:t>253.36835</a:t>
            </a:r>
          </a:p>
        </p:txBody>
      </p:sp>
      <p:graphicFrame>
        <p:nvGraphicFramePr>
          <p:cNvPr id="372" name="Chart 1"/>
          <p:cNvGraphicFramePr/>
          <p:nvPr/>
        </p:nvGraphicFramePr>
        <p:xfrm>
          <a:off x="303955" y="1825411"/>
          <a:ext cx="6604846" cy="3954956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373" name="Table 2"/>
          <p:cNvGraphicFramePr/>
          <p:nvPr/>
        </p:nvGraphicFramePr>
        <p:xfrm>
          <a:off x="7378700" y="1203087"/>
          <a:ext cx="3746501" cy="4702413"/>
        </p:xfrm>
        <a:graphic xmlns:a="http://schemas.openxmlformats.org/drawingml/2006/main">
          <a:graphicData uri="http://schemas.openxmlformats.org/drawingml/2006/table">
            <a:tbl>
              <a:tblPr firstCol="0" firstRow="0" lastCol="0" lastRow="0" bandCol="0" bandRow="0" rtl="0">
                <a:tableStyleId>{4C3C2611-4C71-4FC5-86AE-919BDF0F9419}</a:tableStyleId>
              </a:tblPr>
              <a:tblGrid>
                <a:gridCol w="1496323"/>
                <a:gridCol w="1184303"/>
                <a:gridCol w="1065874"/>
              </a:tblGrid>
              <a:tr h="427491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b="1" sz="1200">
                          <a:latin typeface="Aptos Narrow"/>
                          <a:ea typeface="Aptos Narrow"/>
                          <a:cs typeface="Aptos Narrow"/>
                          <a:sym typeface="Aptos Narrow"/>
                        </a:rPr>
                        <a:t>Approximate Solution</a:t>
                      </a:r>
                    </a:p>
                  </a:txBody>
                  <a:tcPr marL="8714" marR="8714" marT="8714" marB="8714" anchor="b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6350">
                      <a:solidFill>
                        <a:srgbClr val="000000"/>
                      </a:solidFill>
                    </a:lnT>
                    <a:lnB w="635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b="1" sz="1200">
                          <a:latin typeface="Aptos Narrow"/>
                          <a:ea typeface="Aptos Narrow"/>
                          <a:cs typeface="Aptos Narrow"/>
                          <a:sym typeface="Aptos Narrow"/>
                        </a:rPr>
                        <a:t>Exact Solution</a:t>
                      </a:r>
                    </a:p>
                  </a:txBody>
                  <a:tcPr marL="8714" marR="8714" marT="8714" marB="8714" anchor="b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6350">
                      <a:solidFill>
                        <a:srgbClr val="000000"/>
                      </a:solidFill>
                    </a:lnT>
                    <a:lnB w="635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b="1" sz="1200">
                          <a:latin typeface="Aptos Narrow"/>
                          <a:ea typeface="Aptos Narrow"/>
                          <a:cs typeface="Aptos Narrow"/>
                          <a:sym typeface="Aptos Narrow"/>
                        </a:rPr>
                        <a:t># of nodes</a:t>
                      </a:r>
                    </a:p>
                  </a:txBody>
                  <a:tcPr marL="8714" marR="8714" marT="8714" marB="8714" anchor="b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6350">
                      <a:solidFill>
                        <a:srgbClr val="000000"/>
                      </a:solidFill>
                    </a:lnT>
                    <a:lnB w="6350">
                      <a:solidFill>
                        <a:srgbClr val="000000"/>
                      </a:solidFill>
                    </a:lnB>
                  </a:tcPr>
                </a:tc>
              </a:tr>
              <a:tr h="427491"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500">
                          <a:latin typeface="Aptos Narrow"/>
                          <a:ea typeface="Aptos Narrow"/>
                          <a:cs typeface="Aptos Narrow"/>
                          <a:sym typeface="Aptos Narrow"/>
                        </a:rPr>
                        <a:t>1031.4856</a:t>
                      </a:r>
                    </a:p>
                  </a:txBody>
                  <a:tcPr marL="8714" marR="8714" marT="8714" marB="8714" anchor="b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6350">
                      <a:solidFill>
                        <a:srgbClr val="000000"/>
                      </a:solidFill>
                    </a:lnT>
                    <a:lnB w="12700">
                      <a:miter lim="400000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500">
                          <a:latin typeface="Aptos Narrow"/>
                          <a:ea typeface="Aptos Narrow"/>
                          <a:cs typeface="Aptos Narrow"/>
                          <a:sym typeface="Aptos Narrow"/>
                        </a:rPr>
                        <a:t>1031.4856</a:t>
                      </a:r>
                    </a:p>
                  </a:txBody>
                  <a:tcPr marL="8714" marR="8714" marT="8714" marB="8714" anchor="b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6350">
                      <a:solidFill>
                        <a:srgbClr val="000000"/>
                      </a:solidFill>
                    </a:lnT>
                    <a:lnB w="12700">
                      <a:miter lim="400000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500">
                          <a:latin typeface="Aptos Narrow"/>
                          <a:ea typeface="Aptos Narrow"/>
                          <a:cs typeface="Aptos Narrow"/>
                          <a:sym typeface="Aptos Narrow"/>
                        </a:rPr>
                        <a:t>3</a:t>
                      </a:r>
                    </a:p>
                  </a:txBody>
                  <a:tcPr marL="8714" marR="8714" marT="8714" marB="8714" anchor="b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6350">
                      <a:solidFill>
                        <a:srgbClr val="000000"/>
                      </a:solidFill>
                    </a:lnT>
                    <a:lnB w="12700">
                      <a:miter lim="400000"/>
                    </a:lnB>
                    <a:solidFill>
                      <a:srgbClr val="D9D9D9"/>
                    </a:solidFill>
                  </a:tcPr>
                </a:tc>
              </a:tr>
              <a:tr h="427491"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500">
                          <a:latin typeface="Aptos Narrow"/>
                          <a:ea typeface="Aptos Narrow"/>
                          <a:cs typeface="Aptos Narrow"/>
                          <a:sym typeface="Aptos Narrow"/>
                        </a:rPr>
                        <a:t>1273.3005</a:t>
                      </a:r>
                    </a:p>
                  </a:txBody>
                  <a:tcPr marL="8714" marR="8714" marT="8714" marB="8714" anchor="b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500">
                          <a:latin typeface="Aptos Narrow"/>
                          <a:ea typeface="Aptos Narrow"/>
                          <a:cs typeface="Aptos Narrow"/>
                          <a:sym typeface="Aptos Narrow"/>
                        </a:rPr>
                        <a:t>1273.3005</a:t>
                      </a:r>
                    </a:p>
                  </a:txBody>
                  <a:tcPr marL="8714" marR="8714" marT="8714" marB="8714" anchor="b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500">
                          <a:latin typeface="Aptos Narrow"/>
                          <a:ea typeface="Aptos Narrow"/>
                          <a:cs typeface="Aptos Narrow"/>
                          <a:sym typeface="Aptos Narrow"/>
                        </a:rPr>
                        <a:t>4</a:t>
                      </a:r>
                    </a:p>
                  </a:txBody>
                  <a:tcPr marL="8714" marR="8714" marT="8714" marB="8714" anchor="b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</a:tcPr>
                </a:tc>
              </a:tr>
              <a:tr h="427491"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500">
                          <a:latin typeface="Aptos Narrow"/>
                          <a:ea typeface="Aptos Narrow"/>
                          <a:cs typeface="Aptos Narrow"/>
                          <a:sym typeface="Aptos Narrow"/>
                        </a:rPr>
                        <a:t>2276.6625</a:t>
                      </a:r>
                    </a:p>
                  </a:txBody>
                  <a:tcPr marL="8714" marR="8714" marT="8714" marB="8714" anchor="b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500">
                          <a:latin typeface="Aptos Narrow"/>
                          <a:ea typeface="Aptos Narrow"/>
                          <a:cs typeface="Aptos Narrow"/>
                          <a:sym typeface="Aptos Narrow"/>
                        </a:rPr>
                        <a:t>1914.5123</a:t>
                      </a:r>
                    </a:p>
                  </a:txBody>
                  <a:tcPr marL="8714" marR="8714" marT="8714" marB="8714" anchor="b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500">
                          <a:latin typeface="Aptos Narrow"/>
                          <a:ea typeface="Aptos Narrow"/>
                          <a:cs typeface="Aptos Narrow"/>
                          <a:sym typeface="Aptos Narrow"/>
                        </a:rPr>
                        <a:t>5</a:t>
                      </a:r>
                    </a:p>
                  </a:txBody>
                  <a:tcPr marL="8714" marR="8714" marT="8714" marB="8714" anchor="b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rgbClr val="D9D9D9"/>
                    </a:solidFill>
                  </a:tcPr>
                </a:tc>
              </a:tr>
              <a:tr h="427491"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500">
                          <a:latin typeface="Aptos Narrow"/>
                          <a:ea typeface="Aptos Narrow"/>
                          <a:cs typeface="Aptos Narrow"/>
                          <a:sym typeface="Aptos Narrow"/>
                        </a:rPr>
                        <a:t>1718.3959</a:t>
                      </a:r>
                    </a:p>
                  </a:txBody>
                  <a:tcPr marL="8714" marR="8714" marT="8714" marB="8714" anchor="b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500">
                          <a:latin typeface="Aptos Narrow"/>
                          <a:ea typeface="Aptos Narrow"/>
                          <a:cs typeface="Aptos Narrow"/>
                          <a:sym typeface="Aptos Narrow"/>
                        </a:rPr>
                        <a:t>1718.3959</a:t>
                      </a:r>
                    </a:p>
                  </a:txBody>
                  <a:tcPr marL="8714" marR="8714" marT="8714" marB="8714" anchor="b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500">
                          <a:latin typeface="Aptos Narrow"/>
                          <a:ea typeface="Aptos Narrow"/>
                          <a:cs typeface="Aptos Narrow"/>
                          <a:sym typeface="Aptos Narrow"/>
                        </a:rPr>
                        <a:t>6</a:t>
                      </a:r>
                    </a:p>
                  </a:txBody>
                  <a:tcPr marL="8714" marR="8714" marT="8714" marB="8714" anchor="b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</a:tcPr>
                </a:tc>
              </a:tr>
              <a:tr h="427491"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500">
                          <a:latin typeface="Aptos Narrow"/>
                          <a:ea typeface="Aptos Narrow"/>
                          <a:cs typeface="Aptos Narrow"/>
                          <a:sym typeface="Aptos Narrow"/>
                        </a:rPr>
                        <a:t>2344.7589</a:t>
                      </a:r>
                    </a:p>
                  </a:txBody>
                  <a:tcPr marL="8714" marR="8714" marT="8714" marB="8714" anchor="b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500">
                          <a:latin typeface="Aptos Narrow"/>
                          <a:ea typeface="Aptos Narrow"/>
                          <a:cs typeface="Aptos Narrow"/>
                          <a:sym typeface="Aptos Narrow"/>
                        </a:rPr>
                        <a:t>1985.1023</a:t>
                      </a:r>
                    </a:p>
                  </a:txBody>
                  <a:tcPr marL="8714" marR="8714" marT="8714" marB="8714" anchor="b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500">
                          <a:latin typeface="Aptos Narrow"/>
                          <a:ea typeface="Aptos Narrow"/>
                          <a:cs typeface="Aptos Narrow"/>
                          <a:sym typeface="Aptos Narrow"/>
                        </a:rPr>
                        <a:t>7</a:t>
                      </a:r>
                    </a:p>
                  </a:txBody>
                  <a:tcPr marL="8714" marR="8714" marT="8714" marB="8714" anchor="b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rgbClr val="D9D9D9"/>
                    </a:solidFill>
                  </a:tcPr>
                </a:tc>
              </a:tr>
              <a:tr h="427491"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500">
                          <a:latin typeface="Aptos Narrow"/>
                          <a:ea typeface="Aptos Narrow"/>
                          <a:cs typeface="Aptos Narrow"/>
                          <a:sym typeface="Aptos Narrow"/>
                        </a:rPr>
                        <a:t>2203.5933</a:t>
                      </a:r>
                    </a:p>
                  </a:txBody>
                  <a:tcPr marL="8714" marR="8714" marT="8714" marB="8714" anchor="b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500">
                          <a:latin typeface="Aptos Narrow"/>
                          <a:ea typeface="Aptos Narrow"/>
                          <a:cs typeface="Aptos Narrow"/>
                          <a:sym typeface="Aptos Narrow"/>
                        </a:rPr>
                        <a:t>1759.5073</a:t>
                      </a:r>
                    </a:p>
                  </a:txBody>
                  <a:tcPr marL="8714" marR="8714" marT="8714" marB="8714" anchor="b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500">
                          <a:latin typeface="Aptos Narrow"/>
                          <a:ea typeface="Aptos Narrow"/>
                          <a:cs typeface="Aptos Narrow"/>
                          <a:sym typeface="Aptos Narrow"/>
                        </a:rPr>
                        <a:t>8</a:t>
                      </a:r>
                    </a:p>
                  </a:txBody>
                  <a:tcPr marL="8714" marR="8714" marT="8714" marB="8714" anchor="b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</a:tcPr>
                </a:tc>
              </a:tr>
              <a:tr h="427491"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500">
                          <a:latin typeface="Aptos Narrow"/>
                          <a:ea typeface="Aptos Narrow"/>
                          <a:cs typeface="Aptos Narrow"/>
                          <a:sym typeface="Aptos Narrow"/>
                        </a:rPr>
                        <a:t>2884.2341</a:t>
                      </a:r>
                    </a:p>
                  </a:txBody>
                  <a:tcPr marL="8714" marR="8714" marT="8714" marB="8714" anchor="b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500">
                          <a:latin typeface="Aptos Narrow"/>
                          <a:ea typeface="Aptos Narrow"/>
                          <a:cs typeface="Aptos Narrow"/>
                          <a:sym typeface="Aptos Narrow"/>
                        </a:rPr>
                        <a:t>2049.2393</a:t>
                      </a:r>
                    </a:p>
                  </a:txBody>
                  <a:tcPr marL="8714" marR="8714" marT="8714" marB="8714" anchor="b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500">
                          <a:latin typeface="Aptos Narrow"/>
                          <a:ea typeface="Aptos Narrow"/>
                          <a:cs typeface="Aptos Narrow"/>
                          <a:sym typeface="Aptos Narrow"/>
                        </a:rPr>
                        <a:t>9</a:t>
                      </a:r>
                    </a:p>
                  </a:txBody>
                  <a:tcPr marL="8714" marR="8714" marT="8714" marB="8714" anchor="b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rgbClr val="D9D9D9"/>
                    </a:solidFill>
                  </a:tcPr>
                </a:tc>
              </a:tr>
              <a:tr h="427491"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500">
                          <a:latin typeface="Aptos Narrow"/>
                          <a:ea typeface="Aptos Narrow"/>
                          <a:cs typeface="Aptos Narrow"/>
                          <a:sym typeface="Aptos Narrow"/>
                        </a:rPr>
                        <a:t>2304.2997</a:t>
                      </a:r>
                    </a:p>
                  </a:txBody>
                  <a:tcPr marL="8714" marR="8714" marT="8714" marB="8714" anchor="b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500">
                          <a:latin typeface="Aptos Narrow"/>
                          <a:ea typeface="Aptos Narrow"/>
                          <a:cs typeface="Aptos Narrow"/>
                          <a:sym typeface="Aptos Narrow"/>
                        </a:rPr>
                        <a:t>2004.4347</a:t>
                      </a:r>
                    </a:p>
                  </a:txBody>
                  <a:tcPr marL="8714" marR="8714" marT="8714" marB="8714" anchor="b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500">
                          <a:latin typeface="Aptos Narrow"/>
                          <a:ea typeface="Aptos Narrow"/>
                          <a:cs typeface="Aptos Narrow"/>
                          <a:sym typeface="Aptos Narrow"/>
                        </a:rPr>
                        <a:t>10</a:t>
                      </a:r>
                    </a:p>
                  </a:txBody>
                  <a:tcPr marL="8714" marR="8714" marT="8714" marB="8714" anchor="b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</a:tcPr>
                </a:tc>
              </a:tr>
              <a:tr h="427491"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500">
                          <a:latin typeface="Aptos Narrow"/>
                          <a:ea typeface="Aptos Narrow"/>
                          <a:cs typeface="Aptos Narrow"/>
                          <a:sym typeface="Aptos Narrow"/>
                        </a:rPr>
                        <a:t>2661.431</a:t>
                      </a:r>
                    </a:p>
                  </a:txBody>
                  <a:tcPr marL="8714" marR="8714" marT="8714" marB="8714" anchor="b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500">
                          <a:latin typeface="Aptos Narrow"/>
                          <a:ea typeface="Aptos Narrow"/>
                          <a:cs typeface="Aptos Narrow"/>
                          <a:sym typeface="Aptos Narrow"/>
                        </a:rPr>
                        <a:t>2079.1254</a:t>
                      </a:r>
                    </a:p>
                  </a:txBody>
                  <a:tcPr marL="8714" marR="8714" marT="8714" marB="8714" anchor="b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500">
                          <a:latin typeface="Aptos Narrow"/>
                          <a:ea typeface="Aptos Narrow"/>
                          <a:cs typeface="Aptos Narrow"/>
                          <a:sym typeface="Aptos Narrow"/>
                        </a:rPr>
                        <a:t>11</a:t>
                      </a:r>
                    </a:p>
                  </a:txBody>
                  <a:tcPr marL="8714" marR="8714" marT="8714" marB="8714" anchor="b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rgbClr val="D9D9D9"/>
                    </a:solidFill>
                  </a:tcPr>
                </a:tc>
              </a:tr>
              <a:tr h="427491"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500">
                          <a:latin typeface="Aptos Narrow"/>
                          <a:ea typeface="Aptos Narrow"/>
                          <a:cs typeface="Aptos Narrow"/>
                          <a:sym typeface="Aptos Narrow"/>
                        </a:rPr>
                        <a:t>1623.9038</a:t>
                      </a:r>
                    </a:p>
                  </a:txBody>
                  <a:tcPr marL="8714" marR="8714" marT="8714" marB="8714" anchor="b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635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500">
                          <a:latin typeface="Aptos Narrow"/>
                          <a:ea typeface="Aptos Narrow"/>
                          <a:cs typeface="Aptos Narrow"/>
                          <a:sym typeface="Aptos Narrow"/>
                        </a:rPr>
                        <a:t>1466.5418</a:t>
                      </a:r>
                    </a:p>
                  </a:txBody>
                  <a:tcPr marL="8714" marR="8714" marT="8714" marB="8714" anchor="b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635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500">
                          <a:latin typeface="Aptos Narrow"/>
                          <a:ea typeface="Aptos Narrow"/>
                          <a:cs typeface="Aptos Narrow"/>
                          <a:sym typeface="Aptos Narrow"/>
                        </a:rPr>
                        <a:t>12</a:t>
                      </a:r>
                    </a:p>
                  </a:txBody>
                  <a:tcPr marL="8714" marR="8714" marT="8714" marB="8714" anchor="b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635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  <p:transition xmlns:p14="http://schemas.microsoft.com/office/powerpoint/2010/main" spd="med" advClick="1"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" name="Title 1"/>
          <p:cNvSpPr txBox="1"/>
          <p:nvPr>
            <p:ph type="title"/>
          </p:nvPr>
        </p:nvSpPr>
        <p:spPr>
          <a:xfrm>
            <a:off x="421104" y="418785"/>
            <a:ext cx="11947360" cy="1603466"/>
          </a:xfrm>
          <a:prstGeom prst="rect">
            <a:avLst/>
          </a:prstGeom>
        </p:spPr>
        <p:txBody>
          <a:bodyPr/>
          <a:lstStyle/>
          <a:p>
            <a:pPr/>
            <a:r>
              <a:t>Approximate vs exact solution – run time (wall clock)</a:t>
            </a:r>
          </a:p>
        </p:txBody>
      </p:sp>
      <p:graphicFrame>
        <p:nvGraphicFramePr>
          <p:cNvPr id="376" name="Table 10"/>
          <p:cNvGraphicFramePr/>
          <p:nvPr/>
        </p:nvGraphicFramePr>
        <p:xfrm>
          <a:off x="7279105" y="1612232"/>
          <a:ext cx="3645570" cy="4211064"/>
        </p:xfrm>
        <a:graphic xmlns:a="http://schemas.openxmlformats.org/drawingml/2006/main">
          <a:graphicData uri="http://schemas.openxmlformats.org/drawingml/2006/table">
            <a:tbl>
              <a:tblPr firstCol="0" firstRow="0" lastCol="0" lastRow="0" bandCol="0" bandRow="0" rtl="0">
                <a:tableStyleId>{4C3C2611-4C71-4FC5-86AE-919BDF0F9419}</a:tableStyleId>
              </a:tblPr>
              <a:tblGrid>
                <a:gridCol w="1456012"/>
                <a:gridCol w="1152398"/>
                <a:gridCol w="1037159"/>
              </a:tblGrid>
              <a:tr h="233948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b="1" sz="1200">
                          <a:solidFill>
                            <a:srgbClr val="FFFFFF"/>
                          </a:solidFill>
                          <a:latin typeface="Aptos Narrow"/>
                          <a:ea typeface="Aptos Narrow"/>
                          <a:cs typeface="Aptos Narrow"/>
                          <a:sym typeface="Aptos Narrow"/>
                        </a:rPr>
                        <a:t>Approximate Solution</a:t>
                      </a:r>
                    </a:p>
                  </a:txBody>
                  <a:tcPr marL="8714" marR="8714" marT="8714" marB="8714" anchor="b" anchorCtr="0" horzOverflow="overflow">
                    <a:lnL w="6350">
                      <a:solidFill>
                        <a:srgbClr val="000000"/>
                      </a:solidFill>
                    </a:lnL>
                    <a:lnR w="12700">
                      <a:miter lim="400000"/>
                    </a:lnR>
                    <a:lnT w="6350">
                      <a:solidFill>
                        <a:srgbClr val="000000"/>
                      </a:solidFill>
                    </a:lnT>
                    <a:lnB w="6350">
                      <a:solidFill>
                        <a:srgbClr val="000000"/>
                      </a:solidFill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b="1" sz="1200">
                          <a:solidFill>
                            <a:srgbClr val="FFFFFF"/>
                          </a:solidFill>
                          <a:latin typeface="Aptos Narrow"/>
                          <a:ea typeface="Aptos Narrow"/>
                          <a:cs typeface="Aptos Narrow"/>
                          <a:sym typeface="Aptos Narrow"/>
                        </a:rPr>
                        <a:t>Exact Solution</a:t>
                      </a:r>
                    </a:p>
                  </a:txBody>
                  <a:tcPr marL="8714" marR="8714" marT="8714" marB="8714" anchor="b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6350">
                      <a:solidFill>
                        <a:srgbClr val="000000"/>
                      </a:solidFill>
                    </a:lnT>
                    <a:lnB w="6350">
                      <a:solidFill>
                        <a:srgbClr val="000000"/>
                      </a:solidFill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b="1" sz="1200">
                          <a:solidFill>
                            <a:srgbClr val="FFFFFF"/>
                          </a:solidFill>
                          <a:latin typeface="Aptos Narrow"/>
                          <a:ea typeface="Aptos Narrow"/>
                          <a:cs typeface="Aptos Narrow"/>
                          <a:sym typeface="Aptos Narrow"/>
                        </a:rPr>
                        <a:t># of nodes</a:t>
                      </a:r>
                    </a:p>
                  </a:txBody>
                  <a:tcPr marL="8714" marR="8714" marT="8714" marB="8714" anchor="b" anchorCtr="0" horzOverflow="overflow">
                    <a:lnL w="12700">
                      <a:miter lim="400000"/>
                    </a:lnL>
                    <a:lnR w="6350">
                      <a:solidFill>
                        <a:srgbClr val="000000"/>
                      </a:solidFill>
                    </a:lnR>
                    <a:lnT w="6350">
                      <a:solidFill>
                        <a:srgbClr val="000000"/>
                      </a:solidFill>
                    </a:lnT>
                    <a:lnB w="6350">
                      <a:solidFill>
                        <a:srgbClr val="000000"/>
                      </a:solidFill>
                    </a:lnB>
                    <a:solidFill>
                      <a:srgbClr val="000000"/>
                    </a:solidFill>
                  </a:tcPr>
                </a:tc>
              </a:tr>
              <a:tr h="233948">
                <a:tc>
                  <a:txBody>
                    <a:bodyPr/>
                    <a:lstStyle/>
                    <a:p>
                      <a:pPr algn="r">
                        <a:defRPr sz="1800"/>
                      </a:pPr>
                      <a:r>
                        <a:rPr sz="1300">
                          <a:latin typeface="Aptos Narrow"/>
                          <a:ea typeface="Aptos Narrow"/>
                          <a:cs typeface="Aptos Narrow"/>
                          <a:sym typeface="Aptos Narrow"/>
                        </a:rPr>
                        <a:t>0.0000088</a:t>
                      </a:r>
                    </a:p>
                  </a:txBody>
                  <a:tcPr marL="8714" marR="8714" marT="8714" marB="8714" anchor="b" anchorCtr="0" horzOverflow="overflow">
                    <a:lnL w="6350">
                      <a:solidFill>
                        <a:srgbClr val="000000"/>
                      </a:solidFill>
                    </a:lnL>
                    <a:lnR w="12700">
                      <a:miter lim="400000"/>
                    </a:lnR>
                    <a:lnT w="6350">
                      <a:solidFill>
                        <a:srgbClr val="000000"/>
                      </a:solidFill>
                    </a:lnT>
                    <a:lnB w="635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defRPr sz="1800"/>
                      </a:pPr>
                      <a:r>
                        <a:rPr sz="1300">
                          <a:latin typeface="Aptos Narrow"/>
                          <a:ea typeface="Aptos Narrow"/>
                          <a:cs typeface="Aptos Narrow"/>
                          <a:sym typeface="Aptos Narrow"/>
                        </a:rPr>
                        <a:t>0.0000077</a:t>
                      </a:r>
                    </a:p>
                  </a:txBody>
                  <a:tcPr marL="8714" marR="8714" marT="8714" marB="8714" anchor="b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6350">
                      <a:solidFill>
                        <a:srgbClr val="000000"/>
                      </a:solidFill>
                    </a:lnT>
                    <a:lnB w="635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defRPr sz="1800"/>
                      </a:pPr>
                      <a:r>
                        <a:rPr sz="1300">
                          <a:latin typeface="Aptos Narrow"/>
                          <a:ea typeface="Aptos Narrow"/>
                          <a:cs typeface="Aptos Narrow"/>
                          <a:sym typeface="Aptos Narrow"/>
                        </a:rPr>
                        <a:t>3</a:t>
                      </a:r>
                    </a:p>
                  </a:txBody>
                  <a:tcPr marL="8714" marR="8714" marT="8714" marB="8714" anchor="b" anchorCtr="0" horzOverflow="overflow">
                    <a:lnL w="12700">
                      <a:miter lim="400000"/>
                    </a:lnL>
                    <a:lnR w="6350">
                      <a:solidFill>
                        <a:srgbClr val="000000"/>
                      </a:solidFill>
                    </a:lnR>
                    <a:lnT w="6350">
                      <a:solidFill>
                        <a:srgbClr val="000000"/>
                      </a:solidFill>
                    </a:lnT>
                    <a:lnB w="6350">
                      <a:solidFill>
                        <a:srgbClr val="000000"/>
                      </a:solidFill>
                    </a:lnB>
                  </a:tcPr>
                </a:tc>
              </a:tr>
              <a:tr h="233948">
                <a:tc>
                  <a:txBody>
                    <a:bodyPr/>
                    <a:lstStyle/>
                    <a:p>
                      <a:pPr algn="r">
                        <a:defRPr sz="1800"/>
                      </a:pPr>
                      <a:r>
                        <a:rPr sz="1300">
                          <a:latin typeface="Aptos Narrow"/>
                          <a:ea typeface="Aptos Narrow"/>
                          <a:cs typeface="Aptos Narrow"/>
                          <a:sym typeface="Aptos Narrow"/>
                        </a:rPr>
                        <a:t>0.0000115</a:t>
                      </a:r>
                    </a:p>
                  </a:txBody>
                  <a:tcPr marL="8714" marR="8714" marT="8714" marB="8714" anchor="b" anchorCtr="0" horzOverflow="overflow">
                    <a:lnL w="6350">
                      <a:solidFill>
                        <a:srgbClr val="000000"/>
                      </a:solidFill>
                    </a:lnL>
                    <a:lnR w="12700">
                      <a:miter lim="400000"/>
                    </a:lnR>
                    <a:lnT w="6350">
                      <a:solidFill>
                        <a:srgbClr val="000000"/>
                      </a:solidFill>
                    </a:lnT>
                    <a:lnB w="635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defRPr sz="1800"/>
                      </a:pPr>
                      <a:r>
                        <a:rPr sz="1300">
                          <a:latin typeface="Aptos Narrow"/>
                          <a:ea typeface="Aptos Narrow"/>
                          <a:cs typeface="Aptos Narrow"/>
                          <a:sym typeface="Aptos Narrow"/>
                        </a:rPr>
                        <a:t>0.0000153</a:t>
                      </a:r>
                    </a:p>
                  </a:txBody>
                  <a:tcPr marL="8714" marR="8714" marT="8714" marB="8714" anchor="b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6350">
                      <a:solidFill>
                        <a:srgbClr val="000000"/>
                      </a:solidFill>
                    </a:lnT>
                    <a:lnB w="635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defRPr sz="1800"/>
                      </a:pPr>
                      <a:r>
                        <a:rPr sz="1300">
                          <a:latin typeface="Aptos Narrow"/>
                          <a:ea typeface="Aptos Narrow"/>
                          <a:cs typeface="Aptos Narrow"/>
                          <a:sym typeface="Aptos Narrow"/>
                        </a:rPr>
                        <a:t>4</a:t>
                      </a:r>
                    </a:p>
                  </a:txBody>
                  <a:tcPr marL="8714" marR="8714" marT="8714" marB="8714" anchor="b" anchorCtr="0" horzOverflow="overflow">
                    <a:lnL w="12700">
                      <a:miter lim="400000"/>
                    </a:lnL>
                    <a:lnR w="6350">
                      <a:solidFill>
                        <a:srgbClr val="000000"/>
                      </a:solidFill>
                    </a:lnR>
                    <a:lnT w="6350">
                      <a:solidFill>
                        <a:srgbClr val="000000"/>
                      </a:solidFill>
                    </a:lnT>
                    <a:lnB w="6350">
                      <a:solidFill>
                        <a:srgbClr val="000000"/>
                      </a:solidFill>
                    </a:lnB>
                  </a:tcPr>
                </a:tc>
              </a:tr>
              <a:tr h="233948">
                <a:tc>
                  <a:txBody>
                    <a:bodyPr/>
                    <a:lstStyle/>
                    <a:p>
                      <a:pPr algn="r">
                        <a:defRPr sz="1800"/>
                      </a:pPr>
                      <a:r>
                        <a:rPr sz="1300">
                          <a:latin typeface="Aptos Narrow"/>
                          <a:ea typeface="Aptos Narrow"/>
                          <a:cs typeface="Aptos Narrow"/>
                          <a:sym typeface="Aptos Narrow"/>
                        </a:rPr>
                        <a:t>0.0000128</a:t>
                      </a:r>
                    </a:p>
                  </a:txBody>
                  <a:tcPr marL="8714" marR="8714" marT="8714" marB="8714" anchor="b" anchorCtr="0" horzOverflow="overflow">
                    <a:lnL w="6350">
                      <a:solidFill>
                        <a:srgbClr val="000000"/>
                      </a:solidFill>
                    </a:lnL>
                    <a:lnR w="12700">
                      <a:miter lim="400000"/>
                    </a:lnR>
                    <a:lnT w="6350">
                      <a:solidFill>
                        <a:srgbClr val="000000"/>
                      </a:solidFill>
                    </a:lnT>
                    <a:lnB w="635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defRPr sz="1800"/>
                      </a:pPr>
                      <a:r>
                        <a:rPr sz="1300">
                          <a:latin typeface="Aptos Narrow"/>
                          <a:ea typeface="Aptos Narrow"/>
                          <a:cs typeface="Aptos Narrow"/>
                          <a:sym typeface="Aptos Narrow"/>
                        </a:rPr>
                        <a:t>0.000052</a:t>
                      </a:r>
                    </a:p>
                  </a:txBody>
                  <a:tcPr marL="8714" marR="8714" marT="8714" marB="8714" anchor="b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6350">
                      <a:solidFill>
                        <a:srgbClr val="000000"/>
                      </a:solidFill>
                    </a:lnT>
                    <a:lnB w="635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defRPr sz="1800"/>
                      </a:pPr>
                      <a:r>
                        <a:rPr sz="1300">
                          <a:latin typeface="Aptos Narrow"/>
                          <a:ea typeface="Aptos Narrow"/>
                          <a:cs typeface="Aptos Narrow"/>
                          <a:sym typeface="Aptos Narrow"/>
                        </a:rPr>
                        <a:t>5</a:t>
                      </a:r>
                    </a:p>
                  </a:txBody>
                  <a:tcPr marL="8714" marR="8714" marT="8714" marB="8714" anchor="b" anchorCtr="0" horzOverflow="overflow">
                    <a:lnL w="12700">
                      <a:miter lim="400000"/>
                    </a:lnL>
                    <a:lnR w="6350">
                      <a:solidFill>
                        <a:srgbClr val="000000"/>
                      </a:solidFill>
                    </a:lnR>
                    <a:lnT w="6350">
                      <a:solidFill>
                        <a:srgbClr val="000000"/>
                      </a:solidFill>
                    </a:lnT>
                    <a:lnB w="6350">
                      <a:solidFill>
                        <a:srgbClr val="000000"/>
                      </a:solidFill>
                    </a:lnB>
                  </a:tcPr>
                </a:tc>
              </a:tr>
              <a:tr h="233948">
                <a:tc>
                  <a:txBody>
                    <a:bodyPr/>
                    <a:lstStyle/>
                    <a:p>
                      <a:pPr algn="r">
                        <a:defRPr sz="1800"/>
                      </a:pPr>
                      <a:r>
                        <a:rPr sz="1300">
                          <a:latin typeface="Aptos Narrow"/>
                          <a:ea typeface="Aptos Narrow"/>
                          <a:cs typeface="Aptos Narrow"/>
                          <a:sym typeface="Aptos Narrow"/>
                        </a:rPr>
                        <a:t>0.0000158</a:t>
                      </a:r>
                    </a:p>
                  </a:txBody>
                  <a:tcPr marL="8714" marR="8714" marT="8714" marB="8714" anchor="b" anchorCtr="0" horzOverflow="overflow">
                    <a:lnL w="6350">
                      <a:solidFill>
                        <a:srgbClr val="000000"/>
                      </a:solidFill>
                    </a:lnL>
                    <a:lnR w="12700">
                      <a:miter lim="400000"/>
                    </a:lnR>
                    <a:lnT w="6350">
                      <a:solidFill>
                        <a:srgbClr val="000000"/>
                      </a:solidFill>
                    </a:lnT>
                    <a:lnB w="635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defRPr sz="1800"/>
                      </a:pPr>
                      <a:r>
                        <a:rPr sz="1300">
                          <a:latin typeface="Aptos Narrow"/>
                          <a:ea typeface="Aptos Narrow"/>
                          <a:cs typeface="Aptos Narrow"/>
                          <a:sym typeface="Aptos Narrow"/>
                        </a:rPr>
                        <a:t>0.0003112</a:t>
                      </a:r>
                    </a:p>
                  </a:txBody>
                  <a:tcPr marL="8714" marR="8714" marT="8714" marB="8714" anchor="b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6350">
                      <a:solidFill>
                        <a:srgbClr val="000000"/>
                      </a:solidFill>
                    </a:lnT>
                    <a:lnB w="635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defRPr sz="1800"/>
                      </a:pPr>
                      <a:r>
                        <a:rPr sz="1300">
                          <a:latin typeface="Aptos Narrow"/>
                          <a:ea typeface="Aptos Narrow"/>
                          <a:cs typeface="Aptos Narrow"/>
                          <a:sym typeface="Aptos Narrow"/>
                        </a:rPr>
                        <a:t>6</a:t>
                      </a:r>
                    </a:p>
                  </a:txBody>
                  <a:tcPr marL="8714" marR="8714" marT="8714" marB="8714" anchor="b" anchorCtr="0" horzOverflow="overflow">
                    <a:lnL w="12700">
                      <a:miter lim="400000"/>
                    </a:lnL>
                    <a:lnR w="6350">
                      <a:solidFill>
                        <a:srgbClr val="000000"/>
                      </a:solidFill>
                    </a:lnR>
                    <a:lnT w="6350">
                      <a:solidFill>
                        <a:srgbClr val="000000"/>
                      </a:solidFill>
                    </a:lnT>
                    <a:lnB w="6350">
                      <a:solidFill>
                        <a:srgbClr val="000000"/>
                      </a:solidFill>
                    </a:lnB>
                  </a:tcPr>
                </a:tc>
              </a:tr>
              <a:tr h="233948">
                <a:tc>
                  <a:txBody>
                    <a:bodyPr/>
                    <a:lstStyle/>
                    <a:p>
                      <a:pPr algn="r">
                        <a:defRPr sz="1800"/>
                      </a:pPr>
                      <a:r>
                        <a:rPr sz="1300">
                          <a:latin typeface="Aptos Narrow"/>
                          <a:ea typeface="Aptos Narrow"/>
                          <a:cs typeface="Aptos Narrow"/>
                          <a:sym typeface="Aptos Narrow"/>
                        </a:rPr>
                        <a:t>0.0000166</a:t>
                      </a:r>
                    </a:p>
                  </a:txBody>
                  <a:tcPr marL="8714" marR="8714" marT="8714" marB="8714" anchor="b" anchorCtr="0" horzOverflow="overflow">
                    <a:lnL w="6350">
                      <a:solidFill>
                        <a:srgbClr val="000000"/>
                      </a:solidFill>
                    </a:lnL>
                    <a:lnR w="12700">
                      <a:miter lim="400000"/>
                    </a:lnR>
                    <a:lnT w="6350">
                      <a:solidFill>
                        <a:srgbClr val="000000"/>
                      </a:solidFill>
                    </a:lnT>
                    <a:lnB w="635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defRPr sz="1800"/>
                      </a:pPr>
                      <a:r>
                        <a:rPr sz="1300">
                          <a:latin typeface="Aptos Narrow"/>
                          <a:ea typeface="Aptos Narrow"/>
                          <a:cs typeface="Aptos Narrow"/>
                          <a:sym typeface="Aptos Narrow"/>
                        </a:rPr>
                        <a:t>0.0024893</a:t>
                      </a:r>
                    </a:p>
                  </a:txBody>
                  <a:tcPr marL="8714" marR="8714" marT="8714" marB="8714" anchor="b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6350">
                      <a:solidFill>
                        <a:srgbClr val="000000"/>
                      </a:solidFill>
                    </a:lnT>
                    <a:lnB w="635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defRPr sz="1800"/>
                      </a:pPr>
                      <a:r>
                        <a:rPr sz="1300">
                          <a:latin typeface="Aptos Narrow"/>
                          <a:ea typeface="Aptos Narrow"/>
                          <a:cs typeface="Aptos Narrow"/>
                          <a:sym typeface="Aptos Narrow"/>
                        </a:rPr>
                        <a:t>7</a:t>
                      </a:r>
                    </a:p>
                  </a:txBody>
                  <a:tcPr marL="8714" marR="8714" marT="8714" marB="8714" anchor="b" anchorCtr="0" horzOverflow="overflow">
                    <a:lnL w="12700">
                      <a:miter lim="400000"/>
                    </a:lnL>
                    <a:lnR w="6350">
                      <a:solidFill>
                        <a:srgbClr val="000000"/>
                      </a:solidFill>
                    </a:lnR>
                    <a:lnT w="6350">
                      <a:solidFill>
                        <a:srgbClr val="000000"/>
                      </a:solidFill>
                    </a:lnT>
                    <a:lnB w="6350">
                      <a:solidFill>
                        <a:srgbClr val="000000"/>
                      </a:solidFill>
                    </a:lnB>
                  </a:tcPr>
                </a:tc>
              </a:tr>
              <a:tr h="233948">
                <a:tc>
                  <a:txBody>
                    <a:bodyPr/>
                    <a:lstStyle/>
                    <a:p>
                      <a:pPr algn="r">
                        <a:defRPr sz="1800"/>
                      </a:pPr>
                      <a:r>
                        <a:rPr sz="1300">
                          <a:latin typeface="Aptos Narrow"/>
                          <a:ea typeface="Aptos Narrow"/>
                          <a:cs typeface="Aptos Narrow"/>
                          <a:sym typeface="Aptos Narrow"/>
                        </a:rPr>
                        <a:t>0.0000175</a:t>
                      </a:r>
                    </a:p>
                  </a:txBody>
                  <a:tcPr marL="8714" marR="8714" marT="8714" marB="8714" anchor="b" anchorCtr="0" horzOverflow="overflow">
                    <a:lnL w="6350">
                      <a:solidFill>
                        <a:srgbClr val="000000"/>
                      </a:solidFill>
                    </a:lnL>
                    <a:lnR w="12700">
                      <a:miter lim="400000"/>
                    </a:lnR>
                    <a:lnT w="6350">
                      <a:solidFill>
                        <a:srgbClr val="000000"/>
                      </a:solidFill>
                    </a:lnT>
                    <a:lnB w="635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defRPr sz="1800"/>
                      </a:pPr>
                      <a:r>
                        <a:rPr sz="1300">
                          <a:latin typeface="Aptos Narrow"/>
                          <a:ea typeface="Aptos Narrow"/>
                          <a:cs typeface="Aptos Narrow"/>
                          <a:sym typeface="Aptos Narrow"/>
                        </a:rPr>
                        <a:t>0.0230878</a:t>
                      </a:r>
                    </a:p>
                  </a:txBody>
                  <a:tcPr marL="8714" marR="8714" marT="8714" marB="8714" anchor="b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6350">
                      <a:solidFill>
                        <a:srgbClr val="000000"/>
                      </a:solidFill>
                    </a:lnT>
                    <a:lnB w="635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defRPr sz="1800"/>
                      </a:pPr>
                      <a:r>
                        <a:rPr sz="1300">
                          <a:latin typeface="Aptos Narrow"/>
                          <a:ea typeface="Aptos Narrow"/>
                          <a:cs typeface="Aptos Narrow"/>
                          <a:sym typeface="Aptos Narrow"/>
                        </a:rPr>
                        <a:t>8</a:t>
                      </a:r>
                    </a:p>
                  </a:txBody>
                  <a:tcPr marL="8714" marR="8714" marT="8714" marB="8714" anchor="b" anchorCtr="0" horzOverflow="overflow">
                    <a:lnL w="12700">
                      <a:miter lim="400000"/>
                    </a:lnL>
                    <a:lnR w="6350">
                      <a:solidFill>
                        <a:srgbClr val="000000"/>
                      </a:solidFill>
                    </a:lnR>
                    <a:lnT w="6350">
                      <a:solidFill>
                        <a:srgbClr val="000000"/>
                      </a:solidFill>
                    </a:lnT>
                    <a:lnB w="6350">
                      <a:solidFill>
                        <a:srgbClr val="000000"/>
                      </a:solidFill>
                    </a:lnB>
                  </a:tcPr>
                </a:tc>
              </a:tr>
              <a:tr h="233948">
                <a:tc>
                  <a:txBody>
                    <a:bodyPr/>
                    <a:lstStyle/>
                    <a:p>
                      <a:pPr algn="r">
                        <a:defRPr sz="1800"/>
                      </a:pPr>
                      <a:r>
                        <a:rPr sz="1300">
                          <a:latin typeface="Aptos Narrow"/>
                          <a:ea typeface="Aptos Narrow"/>
                          <a:cs typeface="Aptos Narrow"/>
                          <a:sym typeface="Aptos Narrow"/>
                        </a:rPr>
                        <a:t>0.0000373</a:t>
                      </a:r>
                    </a:p>
                  </a:txBody>
                  <a:tcPr marL="8714" marR="8714" marT="8714" marB="8714" anchor="b" anchorCtr="0" horzOverflow="overflow">
                    <a:lnL w="6350">
                      <a:solidFill>
                        <a:srgbClr val="000000"/>
                      </a:solidFill>
                    </a:lnL>
                    <a:lnR w="12700">
                      <a:miter lim="400000"/>
                    </a:lnR>
                    <a:lnT w="6350">
                      <a:solidFill>
                        <a:srgbClr val="000000"/>
                      </a:solidFill>
                    </a:lnT>
                    <a:lnB w="635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defRPr sz="1800"/>
                      </a:pPr>
                      <a:r>
                        <a:rPr sz="1300">
                          <a:latin typeface="Aptos Narrow"/>
                          <a:ea typeface="Aptos Narrow"/>
                          <a:cs typeface="Aptos Narrow"/>
                          <a:sym typeface="Aptos Narrow"/>
                        </a:rPr>
                        <a:t>0.2287903</a:t>
                      </a:r>
                    </a:p>
                  </a:txBody>
                  <a:tcPr marL="8714" marR="8714" marT="8714" marB="8714" anchor="b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6350">
                      <a:solidFill>
                        <a:srgbClr val="000000"/>
                      </a:solidFill>
                    </a:lnT>
                    <a:lnB w="635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defRPr sz="1800"/>
                      </a:pPr>
                      <a:r>
                        <a:rPr sz="1300">
                          <a:latin typeface="Aptos Narrow"/>
                          <a:ea typeface="Aptos Narrow"/>
                          <a:cs typeface="Aptos Narrow"/>
                          <a:sym typeface="Aptos Narrow"/>
                        </a:rPr>
                        <a:t>9</a:t>
                      </a:r>
                    </a:p>
                  </a:txBody>
                  <a:tcPr marL="8714" marR="8714" marT="8714" marB="8714" anchor="b" anchorCtr="0" horzOverflow="overflow">
                    <a:lnL w="12700">
                      <a:miter lim="400000"/>
                    </a:lnL>
                    <a:lnR w="6350">
                      <a:solidFill>
                        <a:srgbClr val="000000"/>
                      </a:solidFill>
                    </a:lnR>
                    <a:lnT w="6350">
                      <a:solidFill>
                        <a:srgbClr val="000000"/>
                      </a:solidFill>
                    </a:lnT>
                    <a:lnB w="6350">
                      <a:solidFill>
                        <a:srgbClr val="000000"/>
                      </a:solidFill>
                    </a:lnB>
                  </a:tcPr>
                </a:tc>
              </a:tr>
              <a:tr h="233948">
                <a:tc>
                  <a:txBody>
                    <a:bodyPr/>
                    <a:lstStyle/>
                    <a:p>
                      <a:pPr algn="r">
                        <a:defRPr sz="1800"/>
                      </a:pPr>
                      <a:r>
                        <a:rPr sz="1300">
                          <a:latin typeface="Aptos Narrow"/>
                          <a:ea typeface="Aptos Narrow"/>
                          <a:cs typeface="Aptos Narrow"/>
                          <a:sym typeface="Aptos Narrow"/>
                        </a:rPr>
                        <a:t>0.0000223</a:t>
                      </a:r>
                    </a:p>
                  </a:txBody>
                  <a:tcPr marL="8714" marR="8714" marT="8714" marB="8714" anchor="b" anchorCtr="0" horzOverflow="overflow">
                    <a:lnL w="6350">
                      <a:solidFill>
                        <a:srgbClr val="000000"/>
                      </a:solidFill>
                    </a:lnL>
                    <a:lnR w="12700">
                      <a:miter lim="400000"/>
                    </a:lnR>
                    <a:lnT w="6350">
                      <a:solidFill>
                        <a:srgbClr val="000000"/>
                      </a:solidFill>
                    </a:lnT>
                    <a:lnB w="635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defRPr sz="1800"/>
                      </a:pPr>
                      <a:r>
                        <a:rPr sz="1300">
                          <a:latin typeface="Aptos Narrow"/>
                          <a:ea typeface="Aptos Narrow"/>
                          <a:cs typeface="Aptos Narrow"/>
                          <a:sym typeface="Aptos Narrow"/>
                        </a:rPr>
                        <a:t>2.4284377</a:t>
                      </a:r>
                    </a:p>
                  </a:txBody>
                  <a:tcPr marL="8714" marR="8714" marT="8714" marB="8714" anchor="b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6350">
                      <a:solidFill>
                        <a:srgbClr val="000000"/>
                      </a:solidFill>
                    </a:lnT>
                    <a:lnB w="635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defRPr sz="1800"/>
                      </a:pPr>
                      <a:r>
                        <a:rPr sz="1300">
                          <a:latin typeface="Aptos Narrow"/>
                          <a:ea typeface="Aptos Narrow"/>
                          <a:cs typeface="Aptos Narrow"/>
                          <a:sym typeface="Aptos Narrow"/>
                        </a:rPr>
                        <a:t>10</a:t>
                      </a:r>
                    </a:p>
                  </a:txBody>
                  <a:tcPr marL="8714" marR="8714" marT="8714" marB="8714" anchor="b" anchorCtr="0" horzOverflow="overflow">
                    <a:lnL w="12700">
                      <a:miter lim="400000"/>
                    </a:lnL>
                    <a:lnR w="6350">
                      <a:solidFill>
                        <a:srgbClr val="000000"/>
                      </a:solidFill>
                    </a:lnR>
                    <a:lnT w="6350">
                      <a:solidFill>
                        <a:srgbClr val="000000"/>
                      </a:solidFill>
                    </a:lnT>
                    <a:lnB w="6350">
                      <a:solidFill>
                        <a:srgbClr val="000000"/>
                      </a:solidFill>
                    </a:lnB>
                  </a:tcPr>
                </a:tc>
              </a:tr>
              <a:tr h="233948">
                <a:tc>
                  <a:txBody>
                    <a:bodyPr/>
                    <a:lstStyle/>
                    <a:p>
                      <a:pPr algn="r">
                        <a:defRPr sz="1800"/>
                      </a:pPr>
                      <a:r>
                        <a:rPr sz="1300">
                          <a:latin typeface="Aptos Narrow"/>
                          <a:ea typeface="Aptos Narrow"/>
                          <a:cs typeface="Aptos Narrow"/>
                          <a:sym typeface="Aptos Narrow"/>
                        </a:rPr>
                        <a:t>0.0000257</a:t>
                      </a:r>
                    </a:p>
                  </a:txBody>
                  <a:tcPr marL="8714" marR="8714" marT="8714" marB="8714" anchor="b" anchorCtr="0" horzOverflow="overflow">
                    <a:lnL w="6350">
                      <a:solidFill>
                        <a:srgbClr val="000000"/>
                      </a:solidFill>
                    </a:lnL>
                    <a:lnR w="12700">
                      <a:miter lim="400000"/>
                    </a:lnR>
                    <a:lnT w="6350">
                      <a:solidFill>
                        <a:srgbClr val="000000"/>
                      </a:solidFill>
                    </a:lnT>
                    <a:lnB w="635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defRPr sz="1800"/>
                      </a:pPr>
                      <a:r>
                        <a:rPr sz="1300">
                          <a:latin typeface="Aptos Narrow"/>
                          <a:ea typeface="Aptos Narrow"/>
                          <a:cs typeface="Aptos Narrow"/>
                          <a:sym typeface="Aptos Narrow"/>
                        </a:rPr>
                        <a:t>27.6510172</a:t>
                      </a:r>
                    </a:p>
                  </a:txBody>
                  <a:tcPr marL="8714" marR="8714" marT="8714" marB="8714" anchor="b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6350">
                      <a:solidFill>
                        <a:srgbClr val="000000"/>
                      </a:solidFill>
                    </a:lnT>
                    <a:lnB w="635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defRPr sz="1800"/>
                      </a:pPr>
                      <a:r>
                        <a:rPr sz="1300">
                          <a:latin typeface="Aptos Narrow"/>
                          <a:ea typeface="Aptos Narrow"/>
                          <a:cs typeface="Aptos Narrow"/>
                          <a:sym typeface="Aptos Narrow"/>
                        </a:rPr>
                        <a:t>11</a:t>
                      </a:r>
                    </a:p>
                  </a:txBody>
                  <a:tcPr marL="8714" marR="8714" marT="8714" marB="8714" anchor="b" anchorCtr="0" horzOverflow="overflow">
                    <a:lnL w="12700">
                      <a:miter lim="400000"/>
                    </a:lnL>
                    <a:lnR w="6350">
                      <a:solidFill>
                        <a:srgbClr val="000000"/>
                      </a:solidFill>
                    </a:lnR>
                    <a:lnT w="6350">
                      <a:solidFill>
                        <a:srgbClr val="000000"/>
                      </a:solidFill>
                    </a:lnT>
                    <a:lnB w="6350">
                      <a:solidFill>
                        <a:srgbClr val="000000"/>
                      </a:solidFill>
                    </a:lnB>
                  </a:tcPr>
                </a:tc>
              </a:tr>
              <a:tr h="233948">
                <a:tc>
                  <a:txBody>
                    <a:bodyPr/>
                    <a:lstStyle/>
                    <a:p>
                      <a:pPr algn="r">
                        <a:defRPr sz="1800"/>
                      </a:pPr>
                      <a:r>
                        <a:rPr sz="1300">
                          <a:latin typeface="Aptos Narrow"/>
                          <a:ea typeface="Aptos Narrow"/>
                          <a:cs typeface="Aptos Narrow"/>
                          <a:sym typeface="Aptos Narrow"/>
                        </a:rPr>
                        <a:t>0.0000294</a:t>
                      </a:r>
                    </a:p>
                  </a:txBody>
                  <a:tcPr marL="8714" marR="8714" marT="8714" marB="8714" anchor="b" anchorCtr="0" horzOverflow="overflow">
                    <a:lnL w="6350">
                      <a:solidFill>
                        <a:srgbClr val="000000"/>
                      </a:solidFill>
                    </a:lnL>
                    <a:lnR w="12700">
                      <a:miter lim="400000"/>
                    </a:lnR>
                    <a:lnT w="6350">
                      <a:solidFill>
                        <a:srgbClr val="000000"/>
                      </a:solidFill>
                    </a:lnT>
                    <a:lnB w="635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defRPr sz="1800"/>
                      </a:pPr>
                      <a:r>
                        <a:rPr sz="1300">
                          <a:latin typeface="Aptos Narrow"/>
                          <a:ea typeface="Aptos Narrow"/>
                          <a:cs typeface="Aptos Narrow"/>
                          <a:sym typeface="Aptos Narrow"/>
                        </a:rPr>
                        <a:t>410.1124702</a:t>
                      </a:r>
                    </a:p>
                  </a:txBody>
                  <a:tcPr marL="8714" marR="8714" marT="8714" marB="8714" anchor="b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6350">
                      <a:solidFill>
                        <a:srgbClr val="000000"/>
                      </a:solidFill>
                    </a:lnT>
                    <a:lnB w="635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defRPr sz="1800"/>
                      </a:pPr>
                      <a:r>
                        <a:rPr sz="1300">
                          <a:latin typeface="Aptos Narrow"/>
                          <a:ea typeface="Aptos Narrow"/>
                          <a:cs typeface="Aptos Narrow"/>
                          <a:sym typeface="Aptos Narrow"/>
                        </a:rPr>
                        <a:t>12</a:t>
                      </a:r>
                    </a:p>
                  </a:txBody>
                  <a:tcPr marL="8714" marR="8714" marT="8714" marB="8714" anchor="b" anchorCtr="0" horzOverflow="overflow">
                    <a:lnL w="12700">
                      <a:miter lim="400000"/>
                    </a:lnL>
                    <a:lnR w="6350">
                      <a:solidFill>
                        <a:srgbClr val="000000"/>
                      </a:solidFill>
                    </a:lnR>
                    <a:lnT w="6350">
                      <a:solidFill>
                        <a:srgbClr val="000000"/>
                      </a:solidFill>
                    </a:lnT>
                    <a:lnB w="6350">
                      <a:solidFill>
                        <a:srgbClr val="000000"/>
                      </a:solidFill>
                    </a:lnB>
                  </a:tcPr>
                </a:tc>
              </a:tr>
              <a:tr h="233948">
                <a:tc>
                  <a:txBody>
                    <a:bodyPr/>
                    <a:lstStyle/>
                    <a:p>
                      <a:pPr algn="r">
                        <a:defRPr sz="1800"/>
                      </a:pPr>
                      <a:r>
                        <a:rPr sz="1300">
                          <a:latin typeface="Aptos Narrow"/>
                          <a:ea typeface="Aptos Narrow"/>
                          <a:cs typeface="Aptos Narrow"/>
                          <a:sym typeface="Aptos Narrow"/>
                        </a:rPr>
                        <a:t>0.0000302</a:t>
                      </a:r>
                    </a:p>
                  </a:txBody>
                  <a:tcPr marL="8714" marR="8714" marT="8714" marB="8714" anchor="b" anchorCtr="0" horzOverflow="overflow">
                    <a:lnL w="6350">
                      <a:solidFill>
                        <a:srgbClr val="000000"/>
                      </a:solidFill>
                    </a:lnL>
                    <a:lnR w="12700">
                      <a:miter lim="400000"/>
                    </a:lnR>
                    <a:lnT w="6350">
                      <a:solidFill>
                        <a:srgbClr val="000000"/>
                      </a:solidFill>
                    </a:lnT>
                    <a:lnB w="635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defRPr sz="1800"/>
                      </a:pPr>
                      <a:r>
                        <a:rPr sz="1300">
                          <a:latin typeface="Aptos Narrow"/>
                          <a:ea typeface="Aptos Narrow"/>
                          <a:cs typeface="Aptos Narrow"/>
                          <a:sym typeface="Aptos Narrow"/>
                        </a:rPr>
                        <a:t>9600.488107</a:t>
                      </a:r>
                    </a:p>
                  </a:txBody>
                  <a:tcPr marL="8714" marR="8714" marT="8714" marB="8714" anchor="b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6350">
                      <a:solidFill>
                        <a:srgbClr val="000000"/>
                      </a:solidFill>
                    </a:lnT>
                    <a:lnB w="635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defRPr sz="1800"/>
                      </a:pPr>
                      <a:r>
                        <a:rPr sz="1300">
                          <a:latin typeface="Aptos Narrow"/>
                          <a:ea typeface="Aptos Narrow"/>
                          <a:cs typeface="Aptos Narrow"/>
                          <a:sym typeface="Aptos Narrow"/>
                        </a:rPr>
                        <a:t>13</a:t>
                      </a:r>
                    </a:p>
                  </a:txBody>
                  <a:tcPr marL="8714" marR="8714" marT="8714" marB="8714" anchor="b" anchorCtr="0" horzOverflow="overflow">
                    <a:lnL w="12700">
                      <a:miter lim="400000"/>
                    </a:lnL>
                    <a:lnR w="6350">
                      <a:solidFill>
                        <a:srgbClr val="000000"/>
                      </a:solidFill>
                    </a:lnR>
                    <a:lnT w="6350">
                      <a:solidFill>
                        <a:srgbClr val="000000"/>
                      </a:solidFill>
                    </a:lnT>
                    <a:lnB w="6350">
                      <a:solidFill>
                        <a:srgbClr val="000000"/>
                      </a:solidFill>
                    </a:lnB>
                  </a:tcPr>
                </a:tc>
              </a:tr>
              <a:tr h="233948">
                <a:tc>
                  <a:txBody>
                    <a:bodyPr/>
                    <a:lstStyle/>
                    <a:p>
                      <a:pPr algn="r">
                        <a:defRPr sz="1800"/>
                      </a:pPr>
                      <a:r>
                        <a:rPr sz="1300">
                          <a:latin typeface="Aptos Narrow"/>
                          <a:ea typeface="Aptos Narrow"/>
                          <a:cs typeface="Aptos Narrow"/>
                          <a:sym typeface="Aptos Narrow"/>
                        </a:rPr>
                        <a:t>0.0000327</a:t>
                      </a:r>
                    </a:p>
                  </a:txBody>
                  <a:tcPr marL="8714" marR="8714" marT="8714" marB="8714" anchor="b" anchorCtr="0" horzOverflow="overflow">
                    <a:lnL w="6350">
                      <a:solidFill>
                        <a:srgbClr val="000000"/>
                      </a:solidFill>
                    </a:lnL>
                    <a:lnR w="12700">
                      <a:miter lim="400000"/>
                    </a:lnR>
                    <a:lnT w="6350">
                      <a:solidFill>
                        <a:srgbClr val="000000"/>
                      </a:solidFill>
                    </a:lnT>
                    <a:lnB w="635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defRPr sz="1800"/>
                      </a:pPr>
                      <a:r>
                        <a:rPr sz="1300">
                          <a:latin typeface="Aptos Narrow"/>
                          <a:ea typeface="Aptos Narrow"/>
                          <a:cs typeface="Aptos Narrow"/>
                          <a:sym typeface="Aptos Narrow"/>
                        </a:rPr>
                        <a:t>244000</a:t>
                      </a:r>
                    </a:p>
                  </a:txBody>
                  <a:tcPr marL="8714" marR="8714" marT="8714" marB="8714" anchor="b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6350">
                      <a:solidFill>
                        <a:srgbClr val="000000"/>
                      </a:solidFill>
                    </a:lnT>
                    <a:lnB w="635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defRPr sz="1800"/>
                      </a:pPr>
                      <a:r>
                        <a:rPr sz="1300">
                          <a:latin typeface="Aptos Narrow"/>
                          <a:ea typeface="Aptos Narrow"/>
                          <a:cs typeface="Aptos Narrow"/>
                          <a:sym typeface="Aptos Narrow"/>
                        </a:rPr>
                        <a:t>14</a:t>
                      </a:r>
                    </a:p>
                  </a:txBody>
                  <a:tcPr marL="8714" marR="8714" marT="8714" marB="8714" anchor="b" anchorCtr="0" horzOverflow="overflow">
                    <a:lnL w="12700">
                      <a:miter lim="400000"/>
                    </a:lnL>
                    <a:lnR w="6350">
                      <a:solidFill>
                        <a:srgbClr val="000000"/>
                      </a:solidFill>
                    </a:lnR>
                    <a:lnT w="6350">
                      <a:solidFill>
                        <a:srgbClr val="000000"/>
                      </a:solidFill>
                    </a:lnT>
                    <a:lnB w="6350">
                      <a:solidFill>
                        <a:srgbClr val="000000"/>
                      </a:solidFill>
                    </a:lnB>
                  </a:tcPr>
                </a:tc>
              </a:tr>
              <a:tr h="233948">
                <a:tc>
                  <a:txBody>
                    <a:bodyPr/>
                    <a:lstStyle/>
                    <a:p>
                      <a:pPr algn="r">
                        <a:defRPr sz="1800"/>
                      </a:pPr>
                      <a:r>
                        <a:rPr sz="1300">
                          <a:latin typeface="Aptos Narrow"/>
                          <a:ea typeface="Aptos Narrow"/>
                          <a:cs typeface="Aptos Narrow"/>
                          <a:sym typeface="Aptos Narrow"/>
                        </a:rPr>
                        <a:t>0.0000576</a:t>
                      </a:r>
                    </a:p>
                  </a:txBody>
                  <a:tcPr marL="8714" marR="8714" marT="8714" marB="8714" anchor="b" anchorCtr="0" horzOverflow="overflow">
                    <a:lnL w="6350">
                      <a:solidFill>
                        <a:srgbClr val="000000"/>
                      </a:solidFill>
                    </a:lnL>
                    <a:lnR w="12700">
                      <a:miter lim="400000"/>
                    </a:lnR>
                    <a:lnT w="6350">
                      <a:solidFill>
                        <a:srgbClr val="000000"/>
                      </a:solidFill>
                    </a:lnT>
                    <a:lnB w="635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defRPr sz="1800"/>
                      </a:pPr>
                      <a:r>
                        <a:rPr sz="1300">
                          <a:latin typeface="Aptos Narrow"/>
                          <a:ea typeface="Aptos Narrow"/>
                          <a:cs typeface="Aptos Narrow"/>
                          <a:sym typeface="Aptos Narrow"/>
                        </a:rPr>
                        <a:t>3.92E+06</a:t>
                      </a:r>
                    </a:p>
                  </a:txBody>
                  <a:tcPr marL="8714" marR="8714" marT="8714" marB="8714" anchor="b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6350">
                      <a:solidFill>
                        <a:srgbClr val="000000"/>
                      </a:solidFill>
                    </a:lnT>
                    <a:lnB w="635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defRPr sz="1800"/>
                      </a:pPr>
                      <a:r>
                        <a:rPr sz="1300">
                          <a:latin typeface="Aptos Narrow"/>
                          <a:ea typeface="Aptos Narrow"/>
                          <a:cs typeface="Aptos Narrow"/>
                          <a:sym typeface="Aptos Narrow"/>
                        </a:rPr>
                        <a:t>15</a:t>
                      </a:r>
                    </a:p>
                  </a:txBody>
                  <a:tcPr marL="8714" marR="8714" marT="8714" marB="8714" anchor="b" anchorCtr="0" horzOverflow="overflow">
                    <a:lnL w="12700">
                      <a:miter lim="400000"/>
                    </a:lnL>
                    <a:lnR w="6350">
                      <a:solidFill>
                        <a:srgbClr val="000000"/>
                      </a:solidFill>
                    </a:lnR>
                    <a:lnT w="6350">
                      <a:solidFill>
                        <a:srgbClr val="000000"/>
                      </a:solidFill>
                    </a:lnT>
                    <a:lnB w="6350">
                      <a:solidFill>
                        <a:srgbClr val="000000"/>
                      </a:solidFill>
                    </a:lnB>
                  </a:tcPr>
                </a:tc>
              </a:tr>
              <a:tr h="233948">
                <a:tc>
                  <a:txBody>
                    <a:bodyPr/>
                    <a:lstStyle/>
                    <a:p>
                      <a:pPr algn="r">
                        <a:defRPr sz="1800"/>
                      </a:pPr>
                      <a:r>
                        <a:rPr sz="1300">
                          <a:latin typeface="Aptos Narrow"/>
                          <a:ea typeface="Aptos Narrow"/>
                          <a:cs typeface="Aptos Narrow"/>
                          <a:sym typeface="Aptos Narrow"/>
                        </a:rPr>
                        <a:t>0.0000879</a:t>
                      </a:r>
                    </a:p>
                  </a:txBody>
                  <a:tcPr marL="8714" marR="8714" marT="8714" marB="8714" anchor="b" anchorCtr="0" horzOverflow="overflow">
                    <a:lnL w="6350">
                      <a:solidFill>
                        <a:srgbClr val="000000"/>
                      </a:solidFill>
                    </a:lnL>
                    <a:lnR w="12700">
                      <a:miter lim="400000"/>
                    </a:lnR>
                    <a:lnT w="6350">
                      <a:solidFill>
                        <a:srgbClr val="000000"/>
                      </a:solidFill>
                    </a:lnT>
                    <a:lnB w="635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defRPr sz="1800"/>
                      </a:pPr>
                      <a:r>
                        <a:rPr sz="1300">
                          <a:latin typeface="Aptos Narrow"/>
                          <a:ea typeface="Aptos Narrow"/>
                          <a:cs typeface="Aptos Narrow"/>
                          <a:sym typeface="Aptos Narrow"/>
                        </a:rPr>
                        <a:t>7.76E+19</a:t>
                      </a:r>
                    </a:p>
                  </a:txBody>
                  <a:tcPr marL="8714" marR="8714" marT="8714" marB="8714" anchor="b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6350">
                      <a:solidFill>
                        <a:srgbClr val="000000"/>
                      </a:solidFill>
                    </a:lnT>
                    <a:lnB w="635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defRPr sz="1800"/>
                      </a:pPr>
                      <a:r>
                        <a:rPr sz="1300">
                          <a:latin typeface="Aptos Narrow"/>
                          <a:ea typeface="Aptos Narrow"/>
                          <a:cs typeface="Aptos Narrow"/>
                          <a:sym typeface="Aptos Narrow"/>
                        </a:rPr>
                        <a:t>25</a:t>
                      </a:r>
                    </a:p>
                  </a:txBody>
                  <a:tcPr marL="8714" marR="8714" marT="8714" marB="8714" anchor="b" anchorCtr="0" horzOverflow="overflow">
                    <a:lnL w="12700">
                      <a:miter lim="400000"/>
                    </a:lnL>
                    <a:lnR w="6350">
                      <a:solidFill>
                        <a:srgbClr val="000000"/>
                      </a:solidFill>
                    </a:lnR>
                    <a:lnT w="6350">
                      <a:solidFill>
                        <a:srgbClr val="000000"/>
                      </a:solidFill>
                    </a:lnT>
                    <a:lnB w="6350">
                      <a:solidFill>
                        <a:srgbClr val="000000"/>
                      </a:solidFill>
                    </a:lnB>
                  </a:tcPr>
                </a:tc>
              </a:tr>
              <a:tr h="233948">
                <a:tc>
                  <a:txBody>
                    <a:bodyPr/>
                    <a:lstStyle/>
                    <a:p>
                      <a:pPr algn="r">
                        <a:defRPr sz="1800"/>
                      </a:pPr>
                      <a:r>
                        <a:rPr sz="1300">
                          <a:latin typeface="Aptos Narrow"/>
                          <a:ea typeface="Aptos Narrow"/>
                          <a:cs typeface="Aptos Narrow"/>
                          <a:sym typeface="Aptos Narrow"/>
                        </a:rPr>
                        <a:t>0.0003045</a:t>
                      </a:r>
                    </a:p>
                  </a:txBody>
                  <a:tcPr marL="8714" marR="8714" marT="8714" marB="8714" anchor="b" anchorCtr="0" horzOverflow="overflow">
                    <a:lnL w="6350">
                      <a:solidFill>
                        <a:srgbClr val="000000"/>
                      </a:solidFill>
                    </a:lnL>
                    <a:lnR w="12700">
                      <a:miter lim="400000"/>
                    </a:lnR>
                    <a:lnT w="6350">
                      <a:solidFill>
                        <a:srgbClr val="000000"/>
                      </a:solidFill>
                    </a:lnT>
                    <a:lnB w="635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defRPr sz="1800"/>
                      </a:pPr>
                      <a:r>
                        <a:rPr sz="1300">
                          <a:latin typeface="Aptos Narrow"/>
                          <a:ea typeface="Aptos Narrow"/>
                          <a:cs typeface="Aptos Narrow"/>
                          <a:sym typeface="Aptos Narrow"/>
                        </a:rPr>
                        <a:t>3.04E+59</a:t>
                      </a:r>
                    </a:p>
                  </a:txBody>
                  <a:tcPr marL="8714" marR="8714" marT="8714" marB="8714" anchor="b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6350">
                      <a:solidFill>
                        <a:srgbClr val="000000"/>
                      </a:solidFill>
                    </a:lnT>
                    <a:lnB w="635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defRPr sz="1800"/>
                      </a:pPr>
                      <a:r>
                        <a:rPr sz="1300">
                          <a:latin typeface="Aptos Narrow"/>
                          <a:ea typeface="Aptos Narrow"/>
                          <a:cs typeface="Aptos Narrow"/>
                          <a:sym typeface="Aptos Narrow"/>
                        </a:rPr>
                        <a:t>50</a:t>
                      </a:r>
                    </a:p>
                  </a:txBody>
                  <a:tcPr marL="8714" marR="8714" marT="8714" marB="8714" anchor="b" anchorCtr="0" horzOverflow="overflow">
                    <a:lnL w="12700">
                      <a:miter lim="400000"/>
                    </a:lnL>
                    <a:lnR w="6350">
                      <a:solidFill>
                        <a:srgbClr val="000000"/>
                      </a:solidFill>
                    </a:lnR>
                    <a:lnT w="6350">
                      <a:solidFill>
                        <a:srgbClr val="000000"/>
                      </a:solidFill>
                    </a:lnT>
                    <a:lnB w="6350">
                      <a:solidFill>
                        <a:srgbClr val="000000"/>
                      </a:solidFill>
                    </a:lnB>
                  </a:tcPr>
                </a:tc>
              </a:tr>
              <a:tr h="233948">
                <a:tc>
                  <a:txBody>
                    <a:bodyPr/>
                    <a:lstStyle/>
                    <a:p>
                      <a:pPr algn="r">
                        <a:defRPr sz="1800"/>
                      </a:pPr>
                      <a:r>
                        <a:rPr sz="1300">
                          <a:latin typeface="Aptos Narrow"/>
                          <a:ea typeface="Aptos Narrow"/>
                          <a:cs typeface="Aptos Narrow"/>
                          <a:sym typeface="Aptos Narrow"/>
                        </a:rPr>
                        <a:t>0.001417</a:t>
                      </a:r>
                    </a:p>
                  </a:txBody>
                  <a:tcPr marL="8714" marR="8714" marT="8714" marB="8714" anchor="b" anchorCtr="0" horzOverflow="overflow">
                    <a:lnL w="6350">
                      <a:solidFill>
                        <a:srgbClr val="000000"/>
                      </a:solidFill>
                    </a:lnL>
                    <a:lnR w="12700">
                      <a:miter lim="400000"/>
                    </a:lnR>
                    <a:lnT w="6350">
                      <a:solidFill>
                        <a:srgbClr val="000000"/>
                      </a:solidFill>
                    </a:lnT>
                    <a:lnB w="635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defRPr sz="1800"/>
                      </a:pPr>
                      <a:r>
                        <a:rPr sz="1300">
                          <a:latin typeface="Aptos Narrow"/>
                          <a:ea typeface="Aptos Narrow"/>
                          <a:cs typeface="Aptos Narrow"/>
                          <a:sym typeface="Aptos Narrow"/>
                        </a:rPr>
                        <a:t>1.87E+153</a:t>
                      </a:r>
                    </a:p>
                  </a:txBody>
                  <a:tcPr marL="8714" marR="8714" marT="8714" marB="8714" anchor="b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6350">
                      <a:solidFill>
                        <a:srgbClr val="000000"/>
                      </a:solidFill>
                    </a:lnT>
                    <a:lnB w="635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defRPr sz="1800"/>
                      </a:pPr>
                      <a:r>
                        <a:rPr sz="1300">
                          <a:latin typeface="Aptos Narrow"/>
                          <a:ea typeface="Aptos Narrow"/>
                          <a:cs typeface="Aptos Narrow"/>
                          <a:sym typeface="Aptos Narrow"/>
                        </a:rPr>
                        <a:t>100</a:t>
                      </a:r>
                    </a:p>
                  </a:txBody>
                  <a:tcPr marL="8714" marR="8714" marT="8714" marB="8714" anchor="b" anchorCtr="0" horzOverflow="overflow">
                    <a:lnL w="12700">
                      <a:miter lim="400000"/>
                    </a:lnL>
                    <a:lnR w="6350">
                      <a:solidFill>
                        <a:srgbClr val="000000"/>
                      </a:solidFill>
                    </a:lnR>
                    <a:lnT w="6350">
                      <a:solidFill>
                        <a:srgbClr val="000000"/>
                      </a:solidFill>
                    </a:lnT>
                    <a:lnB w="6350">
                      <a:solidFill>
                        <a:srgbClr val="000000"/>
                      </a:solidFill>
                    </a:lnB>
                  </a:tcPr>
                </a:tc>
              </a:tr>
              <a:tr h="233948">
                <a:tc>
                  <a:txBody>
                    <a:bodyPr/>
                    <a:lstStyle/>
                    <a:p>
                      <a:pPr algn="r">
                        <a:defRPr sz="1800"/>
                      </a:pPr>
                      <a:r>
                        <a:rPr sz="1300">
                          <a:latin typeface="Aptos Narrow"/>
                          <a:ea typeface="Aptos Narrow"/>
                          <a:cs typeface="Aptos Narrow"/>
                          <a:sym typeface="Aptos Narrow"/>
                        </a:rPr>
                        <a:t>0.2630184</a:t>
                      </a:r>
                    </a:p>
                  </a:txBody>
                  <a:tcPr marL="8714" marR="8714" marT="8714" marB="8714" anchor="b" anchorCtr="0" horzOverflow="overflow">
                    <a:lnL w="6350">
                      <a:solidFill>
                        <a:srgbClr val="000000"/>
                      </a:solidFill>
                    </a:lnL>
                    <a:lnR w="12700">
                      <a:miter lim="400000"/>
                    </a:lnR>
                    <a:lnT w="6350">
                      <a:solidFill>
                        <a:srgbClr val="000000"/>
                      </a:solidFill>
                    </a:lnT>
                    <a:lnB w="635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defRPr sz="1800"/>
                      </a:pPr>
                      <a:r>
                        <a:rPr sz="1300">
                          <a:latin typeface="Aptos Narrow"/>
                          <a:ea typeface="Aptos Narrow"/>
                          <a:cs typeface="Aptos Narrow"/>
                          <a:sym typeface="Aptos Narrow"/>
                        </a:rPr>
                        <a:t>8.04E+269</a:t>
                      </a:r>
                    </a:p>
                  </a:txBody>
                  <a:tcPr marL="8714" marR="8714" marT="8714" marB="8714" anchor="b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6350">
                      <a:solidFill>
                        <a:srgbClr val="000000"/>
                      </a:solidFill>
                    </a:lnT>
                    <a:lnB w="635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defRPr sz="1800"/>
                      </a:pPr>
                      <a:r>
                        <a:rPr sz="1300">
                          <a:latin typeface="Aptos Narrow"/>
                          <a:ea typeface="Aptos Narrow"/>
                          <a:cs typeface="Aptos Narrow"/>
                          <a:sym typeface="Aptos Narrow"/>
                        </a:rPr>
                        <a:t>1000</a:t>
                      </a:r>
                    </a:p>
                  </a:txBody>
                  <a:tcPr marL="8714" marR="8714" marT="8714" marB="8714" anchor="b" anchorCtr="0" horzOverflow="overflow">
                    <a:lnL w="12700">
                      <a:miter lim="400000"/>
                    </a:lnL>
                    <a:lnR w="6350">
                      <a:solidFill>
                        <a:srgbClr val="000000"/>
                      </a:solidFill>
                    </a:lnR>
                    <a:lnT w="6350">
                      <a:solidFill>
                        <a:srgbClr val="000000"/>
                      </a:solidFill>
                    </a:lnT>
                    <a:lnB w="635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  <p:graphicFrame>
        <p:nvGraphicFramePr>
          <p:cNvPr id="377" name="Chart 2"/>
          <p:cNvGraphicFramePr/>
          <p:nvPr/>
        </p:nvGraphicFramePr>
        <p:xfrm>
          <a:off x="249754" y="2056723"/>
          <a:ext cx="6696181" cy="346133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  <p:transition xmlns:p14="http://schemas.microsoft.com/office/powerpoint/2010/main" spd="med" advClick="1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Title 1"/>
          <p:cNvSpPr txBox="1"/>
          <p:nvPr>
            <p:ph type="title"/>
          </p:nvPr>
        </p:nvSpPr>
        <p:spPr>
          <a:xfrm>
            <a:off x="421104" y="418785"/>
            <a:ext cx="11947360" cy="1603466"/>
          </a:xfrm>
          <a:prstGeom prst="rect">
            <a:avLst/>
          </a:prstGeom>
        </p:spPr>
        <p:txBody>
          <a:bodyPr/>
          <a:lstStyle/>
          <a:p>
            <a:pPr/>
            <a:r>
              <a:t>Approximate vs exact solution – </a:t>
            </a:r>
            <a:r>
              <a:t>Time Complexity</a:t>
            </a:r>
          </a:p>
        </p:txBody>
      </p:sp>
      <p:sp>
        <p:nvSpPr>
          <p:cNvPr id="380" name="TextBox 2"/>
          <p:cNvSpPr txBox="1"/>
          <p:nvPr/>
        </p:nvSpPr>
        <p:spPr>
          <a:xfrm>
            <a:off x="4320940" y="2468895"/>
            <a:ext cx="6910940" cy="401948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defRPr sz="2000">
                <a:latin typeface="Tenorite"/>
                <a:ea typeface="Tenorite"/>
                <a:cs typeface="Tenorite"/>
                <a:sym typeface="Tenorite"/>
              </a:defRPr>
            </a:pPr>
            <a:r>
              <a:t>Every TSP tour </a:t>
            </a:r>
            <a:r>
              <a:rPr u="sng"/>
              <a:t>must connect all nodes</a:t>
            </a:r>
            <a:r>
              <a:t>, and MST is the minimal total edge weight connecting all nodes, so the MST’s length is our lower bound for TSP.</a:t>
            </a:r>
          </a:p>
          <a:p>
            <a:pPr>
              <a:defRPr>
                <a:latin typeface="Tenorite"/>
                <a:ea typeface="Tenorite"/>
                <a:cs typeface="Tenorite"/>
                <a:sym typeface="Tenorite"/>
              </a:defRPr>
            </a:pPr>
          </a:p>
          <a:p>
            <a:pPr>
              <a:defRPr>
                <a:latin typeface="Tenorite"/>
                <a:ea typeface="Tenorite"/>
                <a:cs typeface="Tenorite"/>
                <a:sym typeface="Tenorite"/>
              </a:defRPr>
            </a:pPr>
          </a:p>
          <a:p>
            <a:pPr>
              <a:defRPr sz="2400">
                <a:solidFill>
                  <a:srgbClr val="7030A0"/>
                </a:solidFill>
              </a:defRPr>
            </a:pPr>
            <a:r>
              <a:t>Δ</a:t>
            </a:r>
            <a:r>
              <a:t> = Tour length found by our algorithm – Lower Bound</a:t>
            </a:r>
          </a:p>
          <a:p>
            <a:pPr>
              <a:defRPr sz="2400">
                <a:solidFill>
                  <a:srgbClr val="7030A0"/>
                </a:solidFill>
                <a:latin typeface="Tenorite"/>
                <a:ea typeface="Tenorite"/>
                <a:cs typeface="Tenorite"/>
                <a:sym typeface="Tenorite"/>
              </a:defRPr>
            </a:pPr>
            <a:r>
              <a:t>                                           </a:t>
            </a:r>
          </a:p>
          <a:p>
            <a:pPr>
              <a:defRPr b="1" sz="2000">
                <a:latin typeface="Tenorite"/>
                <a:ea typeface="Tenorite"/>
                <a:cs typeface="Tenorite"/>
                <a:sym typeface="Tenorite"/>
              </a:defRPr>
            </a:pPr>
            <a:r>
              <a:t>Example (test case ’14.txt’): (14 nodes)</a:t>
            </a:r>
          </a:p>
          <a:p>
            <a:pPr>
              <a:defRPr sz="2000">
                <a:latin typeface="Tenorite"/>
                <a:ea typeface="Tenorite"/>
                <a:cs typeface="Tenorite"/>
                <a:sym typeface="Tenorite"/>
              </a:defRPr>
            </a:pPr>
            <a:r>
              <a:t>MST Length calculation </a:t>
            </a:r>
            <a:r>
              <a:rPr>
                <a:latin typeface="+mn-lt"/>
                <a:ea typeface="+mn-ea"/>
                <a:cs typeface="+mn-cs"/>
                <a:sym typeface="Calibri"/>
              </a:rPr>
              <a:t>≈ 2565.36</a:t>
            </a:r>
          </a:p>
          <a:p>
            <a:pPr>
              <a:defRPr sz="2000">
                <a:latin typeface="Tenorite"/>
                <a:ea typeface="Tenorite"/>
                <a:cs typeface="Tenorite"/>
                <a:sym typeface="Tenorite"/>
              </a:defRPr>
            </a:pPr>
            <a:r>
              <a:t>Tour length printed by our algorithm = 2727.8113</a:t>
            </a:r>
          </a:p>
          <a:p>
            <a:pPr>
              <a:defRPr sz="2400">
                <a:solidFill>
                  <a:srgbClr val="7030A0"/>
                </a:solidFill>
                <a:latin typeface="Tenorite"/>
                <a:ea typeface="Tenorite"/>
                <a:cs typeface="Tenorite"/>
                <a:sym typeface="Tenorite"/>
              </a:defRPr>
            </a:pPr>
          </a:p>
          <a:p>
            <a:pPr>
              <a:defRPr sz="2400">
                <a:solidFill>
                  <a:srgbClr val="7030A0"/>
                </a:solidFill>
              </a:defRPr>
            </a:pPr>
            <a:r>
              <a:t>Δ</a:t>
            </a:r>
            <a:r>
              <a:rPr>
                <a:latin typeface="Tenorite"/>
                <a:ea typeface="Tenorite"/>
                <a:cs typeface="Tenorite"/>
                <a:sym typeface="Tenorite"/>
              </a:rPr>
              <a:t> = 2727.8113 </a:t>
            </a:r>
            <a:r>
              <a:t>–</a:t>
            </a:r>
            <a:r>
              <a:rPr>
                <a:latin typeface="Tenorite"/>
                <a:ea typeface="Tenorite"/>
                <a:cs typeface="Tenorite"/>
                <a:sym typeface="Tenorite"/>
              </a:rPr>
              <a:t> 2565.36 </a:t>
            </a:r>
            <a:r>
              <a:t>≈ 144.4513</a:t>
            </a:r>
            <a:r>
              <a:rPr>
                <a:latin typeface="Tenorite"/>
                <a:ea typeface="Tenorite"/>
                <a:cs typeface="Tenorite"/>
                <a:sym typeface="Tenorite"/>
              </a:rPr>
              <a:t> </a:t>
            </a:r>
          </a:p>
        </p:txBody>
      </p:sp>
      <p:sp>
        <p:nvSpPr>
          <p:cNvPr id="381" name="TextBox 4"/>
          <p:cNvSpPr txBox="1"/>
          <p:nvPr/>
        </p:nvSpPr>
        <p:spPr>
          <a:xfrm>
            <a:off x="928035" y="1897468"/>
            <a:ext cx="2495351" cy="4597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2400">
                <a:latin typeface="Tenorite"/>
                <a:ea typeface="Tenorite"/>
                <a:cs typeface="Tenorite"/>
                <a:sym typeface="Tenorite"/>
              </a:defRPr>
            </a:lvl1pPr>
          </a:lstStyle>
          <a:p>
            <a:pPr/>
            <a:r>
              <a:t>Worst Case</a:t>
            </a:r>
          </a:p>
        </p:txBody>
      </p:sp>
      <p:sp>
        <p:nvSpPr>
          <p:cNvPr id="382" name="TextBox 5"/>
          <p:cNvSpPr txBox="1"/>
          <p:nvPr/>
        </p:nvSpPr>
        <p:spPr>
          <a:xfrm>
            <a:off x="6671108" y="1897466"/>
            <a:ext cx="2495351" cy="4597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2400">
                <a:latin typeface="Tenorite"/>
                <a:ea typeface="Tenorite"/>
                <a:cs typeface="Tenorite"/>
                <a:sym typeface="Tenorite"/>
              </a:defRPr>
            </a:lvl1pPr>
          </a:lstStyle>
          <a:p>
            <a:pPr/>
            <a:r>
              <a:t>Lower Bound</a:t>
            </a:r>
          </a:p>
        </p:txBody>
      </p:sp>
      <p:sp>
        <p:nvSpPr>
          <p:cNvPr id="383" name="TextBox 9"/>
          <p:cNvSpPr txBox="1"/>
          <p:nvPr/>
        </p:nvSpPr>
        <p:spPr>
          <a:xfrm>
            <a:off x="314426" y="2683653"/>
            <a:ext cx="3634339" cy="243704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defRPr b="1">
                <a:latin typeface="Tenorite"/>
                <a:ea typeface="Tenorite"/>
                <a:cs typeface="Tenorite"/>
                <a:sym typeface="Tenorite"/>
              </a:defRPr>
            </a:pPr>
            <a:r>
              <a:t>Still Polynomial Time!</a:t>
            </a:r>
          </a:p>
          <a:p>
            <a:pPr>
              <a:defRPr>
                <a:latin typeface="Tenorite"/>
                <a:ea typeface="Tenorite"/>
                <a:cs typeface="Tenorite"/>
                <a:sym typeface="Tenorite"/>
              </a:defRPr>
            </a:pPr>
          </a:p>
          <a:p>
            <a:pPr/>
            <a:r>
              <a:t>O(n)</a:t>
            </a:r>
            <a:r>
              <a:rPr>
                <a:latin typeface="Tenorite"/>
                <a:ea typeface="Tenorite"/>
                <a:cs typeface="Tenorite"/>
                <a:sym typeface="Tenorite"/>
              </a:rPr>
              <a:t> (build adjacency dictionary)</a:t>
            </a:r>
            <a:endParaRPr>
              <a:latin typeface="Tenorite"/>
              <a:ea typeface="Tenorite"/>
              <a:cs typeface="Tenorite"/>
              <a:sym typeface="Tenorite"/>
            </a:endParaRPr>
          </a:p>
          <a:p>
            <a:pPr>
              <a:defRPr>
                <a:latin typeface="Tenorite"/>
                <a:ea typeface="Tenorite"/>
                <a:cs typeface="Tenorite"/>
                <a:sym typeface="Tenorite"/>
              </a:defRPr>
            </a:pPr>
            <a:r>
              <a:t>+ </a:t>
            </a:r>
            <a:r>
              <a:rPr>
                <a:latin typeface="+mn-lt"/>
                <a:ea typeface="+mn-ea"/>
                <a:cs typeface="+mn-cs"/>
                <a:sym typeface="Calibri"/>
              </a:rPr>
              <a:t>O(n²) (Nearest Neighbor)</a:t>
            </a:r>
            <a:endParaRPr>
              <a:latin typeface="+mn-lt"/>
              <a:ea typeface="+mn-ea"/>
              <a:cs typeface="+mn-cs"/>
              <a:sym typeface="Calibri"/>
            </a:endParaRPr>
          </a:p>
          <a:p>
            <a:pPr/>
            <a:r>
              <a:t>+ O(n²) (Two-Opt pair checks)</a:t>
            </a:r>
          </a:p>
          <a:p>
            <a:pPr/>
            <a:r>
              <a:t>+ O(n³) (Two-opt worst case switch)</a:t>
            </a:r>
          </a:p>
          <a:p>
            <a:pPr/>
            <a:r>
              <a:t>+ O(n) (Calculate tour length)</a:t>
            </a:r>
          </a:p>
          <a:p>
            <a:pPr/>
            <a:r>
              <a:t> = </a:t>
            </a:r>
            <a:r>
              <a:rPr b="1"/>
              <a:t>O(n³) 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Title 1"/>
          <p:cNvSpPr txBox="1"/>
          <p:nvPr>
            <p:ph type="title"/>
          </p:nvPr>
        </p:nvSpPr>
        <p:spPr>
          <a:xfrm>
            <a:off x="149329" y="387551"/>
            <a:ext cx="4896685" cy="3625003"/>
          </a:xfrm>
          <a:prstGeom prst="rect">
            <a:avLst/>
          </a:prstGeom>
        </p:spPr>
        <p:txBody>
          <a:bodyPr/>
          <a:lstStyle/>
          <a:p>
            <a:pPr/>
            <a:r>
              <a:t>Enhancing the Approximate Solution</a:t>
            </a:r>
          </a:p>
        </p:txBody>
      </p:sp>
      <p:sp>
        <p:nvSpPr>
          <p:cNvPr id="386" name="Content Placeholder 2"/>
          <p:cNvSpPr txBox="1"/>
          <p:nvPr>
            <p:ph type="body" sz="quarter" idx="1"/>
          </p:nvPr>
        </p:nvSpPr>
        <p:spPr>
          <a:xfrm>
            <a:off x="149329" y="3964334"/>
            <a:ext cx="4896685" cy="2309737"/>
          </a:xfrm>
          <a:prstGeom prst="rect">
            <a:avLst/>
          </a:prstGeom>
        </p:spPr>
        <p:txBody>
          <a:bodyPr/>
          <a:lstStyle/>
          <a:p>
            <a:pPr/>
            <a:r>
              <a:t>Featuring randomness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Title 1"/>
          <p:cNvSpPr txBox="1"/>
          <p:nvPr>
            <p:ph type="title"/>
          </p:nvPr>
        </p:nvSpPr>
        <p:spPr>
          <a:xfrm>
            <a:off x="914399" y="365125"/>
            <a:ext cx="7273636" cy="1646554"/>
          </a:xfrm>
          <a:prstGeom prst="rect">
            <a:avLst/>
          </a:prstGeom>
        </p:spPr>
        <p:txBody>
          <a:bodyPr/>
          <a:lstStyle/>
          <a:p>
            <a:pPr/>
            <a:r>
              <a:t>Where DO We Fall Short?</a:t>
            </a:r>
          </a:p>
        </p:txBody>
      </p:sp>
      <p:sp>
        <p:nvSpPr>
          <p:cNvPr id="389" name="TextBox 1"/>
          <p:cNvSpPr txBox="1"/>
          <p:nvPr/>
        </p:nvSpPr>
        <p:spPr>
          <a:xfrm>
            <a:off x="914399" y="1822536"/>
            <a:ext cx="7496827" cy="20218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 marL="285750" indent="-285750">
              <a:buSzPct val="100000"/>
              <a:buFont typeface="Arial"/>
              <a:buChar char="•"/>
              <a:defRPr b="1" sz="3200">
                <a:latin typeface="Tenorite"/>
                <a:ea typeface="Tenorite"/>
                <a:cs typeface="Tenorite"/>
                <a:sym typeface="Tenorite"/>
              </a:defRPr>
            </a:pPr>
            <a:r>
              <a:t>No randomness </a:t>
            </a:r>
            <a:r>
              <a:rPr b="0"/>
              <a:t>limits graph exploration</a:t>
            </a:r>
            <a:endParaRPr>
              <a:latin typeface="+mj-lt"/>
              <a:ea typeface="+mj-ea"/>
              <a:cs typeface="+mj-cs"/>
              <a:sym typeface="Helvetica"/>
            </a:endParaRPr>
          </a:p>
          <a:p>
            <a:pPr marL="285750" indent="-285750">
              <a:buSzPct val="100000"/>
              <a:buFont typeface="Arial"/>
              <a:buChar char="•"/>
              <a:defRPr b="1" sz="3200">
                <a:latin typeface="Tenorite"/>
                <a:ea typeface="Tenorite"/>
                <a:cs typeface="Tenorite"/>
                <a:sym typeface="Tenorite"/>
              </a:defRPr>
            </a:pPr>
            <a:r>
              <a:t>Dependent </a:t>
            </a:r>
            <a:r>
              <a:rPr b="0"/>
              <a:t>on </a:t>
            </a:r>
            <a:r>
              <a:t>starting node</a:t>
            </a:r>
            <a:endParaRPr>
              <a:latin typeface="+mj-lt"/>
              <a:ea typeface="+mj-ea"/>
              <a:cs typeface="+mj-cs"/>
              <a:sym typeface="Helvetica"/>
            </a:endParaRPr>
          </a:p>
          <a:p>
            <a:pPr marL="285750" indent="-285750">
              <a:buSzPct val="100000"/>
              <a:buFont typeface="Arial"/>
              <a:buChar char="•"/>
              <a:defRPr b="1" sz="3200">
                <a:latin typeface="Tenorite"/>
                <a:ea typeface="Tenorite"/>
                <a:cs typeface="Tenorite"/>
                <a:sym typeface="Tenorite"/>
              </a:defRPr>
            </a:pPr>
            <a:r>
              <a:t>Mutates a list</a:t>
            </a:r>
            <a:r>
              <a:rPr b="0"/>
              <a:t> while iterating through it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Title 1"/>
          <p:cNvSpPr txBox="1"/>
          <p:nvPr>
            <p:ph type="title"/>
          </p:nvPr>
        </p:nvSpPr>
        <p:spPr>
          <a:xfrm>
            <a:off x="914396" y="365125"/>
            <a:ext cx="10439404" cy="1617017"/>
          </a:xfrm>
          <a:prstGeom prst="rect">
            <a:avLst/>
          </a:prstGeom>
        </p:spPr>
        <p:txBody>
          <a:bodyPr/>
          <a:lstStyle/>
          <a:p>
            <a:pPr/>
            <a:r>
              <a:t>Making Version 3.5, “Zenith”</a:t>
            </a:r>
          </a:p>
        </p:txBody>
      </p:sp>
      <p:sp>
        <p:nvSpPr>
          <p:cNvPr id="392" name="Text Placeholder 2"/>
          <p:cNvSpPr txBox="1"/>
          <p:nvPr>
            <p:ph type="body" sz="half" idx="1"/>
          </p:nvPr>
        </p:nvSpPr>
        <p:spPr>
          <a:xfrm>
            <a:off x="914395" y="2022248"/>
            <a:ext cx="6413084" cy="3580756"/>
          </a:xfrm>
          <a:prstGeom prst="rect">
            <a:avLst/>
          </a:prstGeom>
        </p:spPr>
        <p:txBody>
          <a:bodyPr/>
          <a:lstStyle/>
          <a:p>
            <a:pPr marL="224026" indent="-224026" defTabSz="896111">
              <a:lnSpc>
                <a:spcPct val="72000"/>
              </a:lnSpc>
              <a:spcBef>
                <a:spcPts val="1100"/>
              </a:spcBef>
              <a:defRPr b="0" sz="2600"/>
            </a:pPr>
            <a:r>
              <a:t>It was – and is – </a:t>
            </a:r>
            <a:r>
              <a:rPr b="1"/>
              <a:t>an iterative process</a:t>
            </a:r>
            <a:endParaRPr sz="1600"/>
          </a:p>
          <a:p>
            <a:pPr marL="224026" indent="-224026" defTabSz="896111">
              <a:lnSpc>
                <a:spcPct val="72000"/>
              </a:lnSpc>
              <a:spcBef>
                <a:spcPts val="1100"/>
              </a:spcBef>
              <a:defRPr sz="2600"/>
            </a:pPr>
            <a:r>
              <a:t>Randomly </a:t>
            </a:r>
            <a:r>
              <a:rPr b="0"/>
              <a:t>determines:</a:t>
            </a:r>
            <a:endParaRPr sz="1600"/>
          </a:p>
          <a:p>
            <a:pPr lvl="1" marL="696976" indent="-248920" defTabSz="896111">
              <a:lnSpc>
                <a:spcPct val="72000"/>
              </a:lnSpc>
              <a:spcBef>
                <a:spcPts val="1100"/>
              </a:spcBef>
              <a:defRPr b="0" sz="2600"/>
            </a:pPr>
            <a:r>
              <a:t>Starting node</a:t>
            </a:r>
            <a:endParaRPr sz="1600"/>
          </a:p>
          <a:p>
            <a:pPr lvl="1" marL="696976" indent="-248920" defTabSz="896111">
              <a:lnSpc>
                <a:spcPct val="72000"/>
              </a:lnSpc>
              <a:spcBef>
                <a:spcPts val="1100"/>
              </a:spcBef>
              <a:defRPr b="0" sz="2600"/>
            </a:pPr>
            <a:r>
              <a:t>Min-weight neighbor to choose</a:t>
            </a:r>
            <a:endParaRPr sz="1600"/>
          </a:p>
          <a:p>
            <a:pPr lvl="1" marL="696976" indent="-248920" defTabSz="896111">
              <a:lnSpc>
                <a:spcPct val="72000"/>
              </a:lnSpc>
              <a:spcBef>
                <a:spcPts val="1100"/>
              </a:spcBef>
              <a:defRPr b="0" sz="2600"/>
            </a:pPr>
            <a:r>
              <a:t>Swapping endpoints in a segment.</a:t>
            </a:r>
            <a:endParaRPr sz="1600"/>
          </a:p>
          <a:p>
            <a:pPr marL="224026" indent="-224026" defTabSz="896111">
              <a:lnSpc>
                <a:spcPct val="72000"/>
              </a:lnSpc>
              <a:spcBef>
                <a:spcPts val="1100"/>
              </a:spcBef>
              <a:defRPr sz="2600"/>
            </a:pPr>
            <a:r>
              <a:t>Reorders output </a:t>
            </a:r>
            <a:r>
              <a:rPr b="0"/>
              <a:t>path to be </a:t>
            </a:r>
            <a:r>
              <a:t>consistent.</a:t>
            </a:r>
            <a:endParaRPr sz="1600"/>
          </a:p>
          <a:p>
            <a:pPr marL="224026" indent="-224026" defTabSz="896111">
              <a:lnSpc>
                <a:spcPct val="72000"/>
              </a:lnSpc>
              <a:spcBef>
                <a:spcPts val="1100"/>
              </a:spcBef>
              <a:defRPr sz="2600"/>
            </a:pPr>
            <a:r>
              <a:t>Iterates</a:t>
            </a:r>
            <a:r>
              <a:rPr b="0"/>
              <a:t> on solution </a:t>
            </a:r>
            <a:r>
              <a:t>by looping </a:t>
            </a:r>
            <a:r>
              <a:rPr b="0"/>
              <a:t>several times.</a:t>
            </a:r>
          </a:p>
        </p:txBody>
      </p:sp>
      <p:sp>
        <p:nvSpPr>
          <p:cNvPr id="393" name="Straight Connector 8"/>
          <p:cNvSpPr/>
          <p:nvPr/>
        </p:nvSpPr>
        <p:spPr>
          <a:xfrm>
            <a:off x="9438568" y="2945717"/>
            <a:ext cx="1834940" cy="5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394" name="Straight Connector 9"/>
          <p:cNvSpPr/>
          <p:nvPr/>
        </p:nvSpPr>
        <p:spPr>
          <a:xfrm>
            <a:off x="7855246" y="2380096"/>
            <a:ext cx="1834940" cy="5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395" name="Straight Connector 10"/>
          <p:cNvSpPr/>
          <p:nvPr/>
        </p:nvSpPr>
        <p:spPr>
          <a:xfrm>
            <a:off x="7805125" y="3592276"/>
            <a:ext cx="1834940" cy="5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396" name="Straight Connector 11"/>
          <p:cNvSpPr/>
          <p:nvPr/>
        </p:nvSpPr>
        <p:spPr>
          <a:xfrm>
            <a:off x="9518863" y="4321545"/>
            <a:ext cx="1834940" cy="5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397" name="Straight Connector 12"/>
          <p:cNvSpPr/>
          <p:nvPr/>
        </p:nvSpPr>
        <p:spPr>
          <a:xfrm>
            <a:off x="7805125" y="4829885"/>
            <a:ext cx="1834940" cy="5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398" name="TextBox 14"/>
          <p:cNvSpPr txBox="1"/>
          <p:nvPr/>
        </p:nvSpPr>
        <p:spPr>
          <a:xfrm>
            <a:off x="7724326" y="1977444"/>
            <a:ext cx="1915738" cy="3330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/>
            <a:r>
              <a:t>Approx. Solution</a:t>
            </a:r>
          </a:p>
        </p:txBody>
      </p:sp>
      <p:sp>
        <p:nvSpPr>
          <p:cNvPr id="399" name="TextBox 15"/>
          <p:cNvSpPr txBox="1"/>
          <p:nvPr/>
        </p:nvSpPr>
        <p:spPr>
          <a:xfrm>
            <a:off x="9561307" y="2560066"/>
            <a:ext cx="2535568" cy="3330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/>
            <a:r>
              <a:t>v2, limited randomness</a:t>
            </a:r>
          </a:p>
        </p:txBody>
      </p:sp>
      <p:sp>
        <p:nvSpPr>
          <p:cNvPr id="400" name="TextBox 16"/>
          <p:cNvSpPr txBox="1"/>
          <p:nvPr/>
        </p:nvSpPr>
        <p:spPr>
          <a:xfrm>
            <a:off x="8037306" y="3174737"/>
            <a:ext cx="1602763" cy="3330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/>
            <a:r>
              <a:t>v2.5, iteration</a:t>
            </a:r>
          </a:p>
        </p:txBody>
      </p:sp>
      <p:sp>
        <p:nvSpPr>
          <p:cNvPr id="401" name="TextBox 18"/>
          <p:cNvSpPr txBox="1"/>
          <p:nvPr/>
        </p:nvSpPr>
        <p:spPr>
          <a:xfrm>
            <a:off x="9603753" y="3935896"/>
            <a:ext cx="2240492" cy="3330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/>
            <a:r>
              <a:t>v3, more randomess</a:t>
            </a:r>
          </a:p>
        </p:txBody>
      </p:sp>
      <p:sp>
        <p:nvSpPr>
          <p:cNvPr id="402" name="TextBox 19"/>
          <p:cNvSpPr txBox="1"/>
          <p:nvPr/>
        </p:nvSpPr>
        <p:spPr>
          <a:xfrm>
            <a:off x="7449694" y="4468450"/>
            <a:ext cx="2240492" cy="3330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/>
            <a:r>
              <a:t>v3.5, more iteration</a:t>
            </a:r>
          </a:p>
        </p:txBody>
      </p:sp>
      <p:sp>
        <p:nvSpPr>
          <p:cNvPr id="403" name="TextBox 20"/>
          <p:cNvSpPr txBox="1"/>
          <p:nvPr/>
        </p:nvSpPr>
        <p:spPr>
          <a:xfrm>
            <a:off x="8249022" y="4829885"/>
            <a:ext cx="756385" cy="3330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i="1"/>
            </a:lvl1pPr>
          </a:lstStyle>
          <a:p>
            <a:pPr/>
            <a:r>
              <a:t>Zenith</a:t>
            </a:r>
          </a:p>
        </p:txBody>
      </p:sp>
      <p:sp>
        <p:nvSpPr>
          <p:cNvPr id="404" name="Straight Arrow Connector 13"/>
          <p:cNvSpPr/>
          <p:nvPr/>
        </p:nvSpPr>
        <p:spPr>
          <a:xfrm>
            <a:off x="9549541" y="1669542"/>
            <a:ext cx="5" cy="3749047"/>
          </a:xfrm>
          <a:prstGeom prst="line">
            <a:avLst/>
          </a:prstGeom>
          <a:ln w="38100">
            <a:solidFill>
              <a:srgbClr val="000000"/>
            </a:solidFill>
            <a:tailEnd type="triangle"/>
          </a:ln>
        </p:spPr>
        <p:txBody>
          <a:bodyPr lIns="45718" tIns="45718" rIns="45718" bIns="45718"/>
          <a:lstStyle/>
          <a:p>
            <a:pPr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6" name="Title 6"/>
          <p:cNvSpPr txBox="1"/>
          <p:nvPr>
            <p:ph type="title"/>
          </p:nvPr>
        </p:nvSpPr>
        <p:spPr>
          <a:xfrm>
            <a:off x="60794" y="-379570"/>
            <a:ext cx="8875287" cy="2023699"/>
          </a:xfrm>
          <a:prstGeom prst="rect">
            <a:avLst/>
          </a:prstGeom>
        </p:spPr>
        <p:txBody>
          <a:bodyPr/>
          <a:lstStyle/>
          <a:p>
            <a:pPr/>
            <a:r>
              <a:t>Sample Problem: The GRaph</a:t>
            </a:r>
          </a:p>
        </p:txBody>
      </p:sp>
      <p:pic>
        <p:nvPicPr>
          <p:cNvPr id="407" name="Picture 2" descr="Picture 2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6965397" y="1552075"/>
            <a:ext cx="5127961" cy="5127955"/>
          </a:xfrm>
          <a:prstGeom prst="rect">
            <a:avLst/>
          </a:prstGeom>
          <a:ln w="12700">
            <a:miter lim="400000"/>
          </a:ln>
        </p:spPr>
      </p:pic>
      <p:sp>
        <p:nvSpPr>
          <p:cNvPr id="408" name="TextBox 9"/>
          <p:cNvSpPr txBox="1"/>
          <p:nvPr/>
        </p:nvSpPr>
        <p:spPr>
          <a:xfrm>
            <a:off x="294573" y="1933123"/>
            <a:ext cx="6670824" cy="38201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 marL="228600" indent="-228600">
              <a:lnSpc>
                <a:spcPct val="90000"/>
              </a:lnSpc>
              <a:spcBef>
                <a:spcPts val="1200"/>
              </a:spcBef>
              <a:buSzPct val="100000"/>
              <a:buFont typeface="Arial"/>
              <a:buChar char="•"/>
              <a:defRPr b="1" sz="2700">
                <a:latin typeface="Tenorite"/>
                <a:ea typeface="Tenorite"/>
                <a:cs typeface="Tenorite"/>
                <a:sym typeface="Tenorite"/>
              </a:defRPr>
            </a:pPr>
            <a:r>
              <a:t>Cheap</a:t>
            </a:r>
            <a:r>
              <a:rPr b="0"/>
              <a:t> edges </a:t>
            </a:r>
            <a:r>
              <a:t>inside</a:t>
            </a:r>
            <a:r>
              <a:rPr b="0"/>
              <a:t> each cluster</a:t>
            </a:r>
          </a:p>
          <a:p>
            <a:pPr marL="228600" indent="-228600">
              <a:lnSpc>
                <a:spcPct val="90000"/>
              </a:lnSpc>
              <a:spcBef>
                <a:spcPts val="1200"/>
              </a:spcBef>
              <a:buSzPct val="100000"/>
              <a:buFont typeface="Arial"/>
              <a:buChar char="•"/>
              <a:defRPr b="1" sz="2700">
                <a:latin typeface="Tenorite"/>
                <a:ea typeface="Tenorite"/>
                <a:cs typeface="Tenorite"/>
                <a:sym typeface="Tenorite"/>
              </a:defRPr>
            </a:pPr>
            <a:r>
              <a:t>Inter-cluster edges </a:t>
            </a:r>
            <a:r>
              <a:rPr b="0"/>
              <a:t>designed to </a:t>
            </a:r>
            <a:r>
              <a:t>mislead</a:t>
            </a:r>
            <a:r>
              <a:rPr b="0"/>
              <a:t>:</a:t>
            </a:r>
            <a:endParaRPr>
              <a:latin typeface="+mj-lt"/>
              <a:ea typeface="+mj-ea"/>
              <a:cs typeface="+mj-cs"/>
              <a:sym typeface="Helvetica"/>
            </a:endParaRPr>
          </a:p>
          <a:p>
            <a:pPr lvl="1" marL="711200" indent="-254000">
              <a:lnSpc>
                <a:spcPct val="90000"/>
              </a:lnSpc>
              <a:spcBef>
                <a:spcPts val="1200"/>
              </a:spcBef>
              <a:buSzPct val="100000"/>
              <a:buFont typeface="Arial"/>
              <a:buChar char="•"/>
              <a:defRPr b="1" sz="2700">
                <a:latin typeface="Tenorite"/>
                <a:ea typeface="Tenorite"/>
                <a:cs typeface="Tenorite"/>
                <a:sym typeface="Tenorite"/>
              </a:defRPr>
            </a:pPr>
            <a:r>
              <a:t>Cheap</a:t>
            </a:r>
            <a:r>
              <a:rPr b="0"/>
              <a:t> inter-cluster edges are </a:t>
            </a:r>
            <a:r>
              <a:t>bait</a:t>
            </a:r>
            <a:endParaRPr>
              <a:latin typeface="+mj-lt"/>
              <a:ea typeface="+mj-ea"/>
              <a:cs typeface="+mj-cs"/>
              <a:sym typeface="Helvetica"/>
            </a:endParaRPr>
          </a:p>
          <a:p>
            <a:pPr lvl="1" marL="711200" indent="-254000">
              <a:lnSpc>
                <a:spcPct val="90000"/>
              </a:lnSpc>
              <a:spcBef>
                <a:spcPts val="1200"/>
              </a:spcBef>
              <a:buSzPct val="100000"/>
              <a:buFont typeface="Arial"/>
              <a:buChar char="•"/>
              <a:defRPr sz="2700">
                <a:latin typeface="Tenorite"/>
                <a:ea typeface="Tenorite"/>
                <a:cs typeface="Tenorite"/>
                <a:sym typeface="Tenorite"/>
              </a:defRPr>
            </a:pPr>
            <a:r>
              <a:t>1000 weight </a:t>
            </a:r>
            <a:r>
              <a:rPr b="1"/>
              <a:t>trap edge</a:t>
            </a:r>
          </a:p>
          <a:p>
            <a:pPr lvl="1" marL="711200" indent="-254000">
              <a:lnSpc>
                <a:spcPct val="90000"/>
              </a:lnSpc>
              <a:spcBef>
                <a:spcPts val="1200"/>
              </a:spcBef>
              <a:buSzPct val="100000"/>
              <a:buFont typeface="Arial"/>
              <a:buChar char="•"/>
              <a:defRPr sz="2700">
                <a:latin typeface="Tenorite"/>
                <a:ea typeface="Tenorite"/>
                <a:cs typeface="Tenorite"/>
                <a:sym typeface="Tenorite"/>
              </a:defRPr>
            </a:pPr>
            <a:r>
              <a:t>All other inter-cluster edges are </a:t>
            </a:r>
            <a:r>
              <a:rPr b="1"/>
              <a:t>moderately expensive</a:t>
            </a:r>
          </a:p>
          <a:p>
            <a:pPr marL="228600" indent="-228600">
              <a:lnSpc>
                <a:spcPct val="90000"/>
              </a:lnSpc>
              <a:spcBef>
                <a:spcPts val="1200"/>
              </a:spcBef>
              <a:buSzPct val="100000"/>
              <a:buFont typeface="Arial"/>
              <a:buChar char="•"/>
              <a:defRPr b="1" sz="2700">
                <a:latin typeface="Tenorite"/>
                <a:ea typeface="Tenorite"/>
                <a:cs typeface="Tenorite"/>
                <a:sym typeface="Tenorite"/>
              </a:defRPr>
            </a:pPr>
            <a:r>
              <a:t>Optimal path: </a:t>
            </a:r>
            <a:r>
              <a:rPr b="0"/>
              <a:t>length of 12.6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Title 1"/>
          <p:cNvSpPr txBox="1"/>
          <p:nvPr>
            <p:ph type="title"/>
          </p:nvPr>
        </p:nvSpPr>
        <p:spPr>
          <a:xfrm>
            <a:off x="891990" y="434223"/>
            <a:ext cx="9524998" cy="1499630"/>
          </a:xfrm>
          <a:prstGeom prst="rect">
            <a:avLst/>
          </a:prstGeom>
        </p:spPr>
        <p:txBody>
          <a:bodyPr/>
          <a:lstStyle/>
          <a:p>
            <a:pPr/>
            <a:r>
              <a:t>Sample Problem: The Results</a:t>
            </a:r>
          </a:p>
        </p:txBody>
      </p:sp>
      <p:graphicFrame>
        <p:nvGraphicFramePr>
          <p:cNvPr id="411" name="Chart 2"/>
          <p:cNvGraphicFramePr/>
          <p:nvPr/>
        </p:nvGraphicFramePr>
        <p:xfrm>
          <a:off x="378405" y="1718161"/>
          <a:ext cx="6504941" cy="3951285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412" name="Chart 5"/>
          <p:cNvGraphicFramePr/>
          <p:nvPr/>
        </p:nvGraphicFramePr>
        <p:xfrm>
          <a:off x="7253685" y="1356213"/>
          <a:ext cx="4012797" cy="431043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  <p:transition xmlns:p14="http://schemas.microsoft.com/office/powerpoint/2010/main" spd="med" advClick="1"/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Title 1"/>
          <p:cNvSpPr txBox="1"/>
          <p:nvPr>
            <p:ph type="title"/>
          </p:nvPr>
        </p:nvSpPr>
        <p:spPr>
          <a:xfrm>
            <a:off x="891990" y="434223"/>
            <a:ext cx="9524998" cy="1499630"/>
          </a:xfrm>
          <a:prstGeom prst="rect">
            <a:avLst/>
          </a:prstGeom>
        </p:spPr>
        <p:txBody>
          <a:bodyPr/>
          <a:lstStyle/>
          <a:p>
            <a:pPr/>
            <a:r>
              <a:t>Sample Problem: The Runtimes</a:t>
            </a:r>
          </a:p>
        </p:txBody>
      </p:sp>
      <p:graphicFrame>
        <p:nvGraphicFramePr>
          <p:cNvPr id="415" name="Table 5"/>
          <p:cNvGraphicFramePr/>
          <p:nvPr/>
        </p:nvGraphicFramePr>
        <p:xfrm>
          <a:off x="3048902" y="1867979"/>
          <a:ext cx="6094196" cy="3122042"/>
        </p:xfrm>
        <a:graphic xmlns:a="http://schemas.openxmlformats.org/drawingml/2006/main">
          <a:graphicData uri="http://schemas.openxmlformats.org/drawingml/2006/table">
            <a:tbl>
              <a:tblPr firstCol="0" firstRow="0" lastCol="0" lastRow="0" bandCol="0" bandRow="0" rtl="0">
                <a:tableStyleId>{4C3C2611-4C71-4FC5-86AE-919BDF0F9419}</a:tableStyleId>
              </a:tblPr>
              <a:tblGrid>
                <a:gridCol w="2345055"/>
                <a:gridCol w="3749140"/>
              </a:tblGrid>
              <a:tr h="624408"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2000">
                          <a:sym typeface="Helvetica"/>
                        </a:rPr>
                        <a:t>Program</a:t>
                      </a:r>
                    </a:p>
                  </a:txBody>
                  <a:tcPr marL="45720" marR="45720" marT="45720" marB="45720" anchor="b" anchorCtr="0" horzOverflow="overflow">
                    <a:lnB w="28575">
                      <a:solidFill>
                        <a:srgbClr val="000000"/>
                      </a:solidFill>
                    </a:lnB>
                    <a:solidFill>
                      <a:srgbClr val="E2AC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2000">
                          <a:sym typeface="Helvetica"/>
                        </a:rPr>
                        <a:t>Average Runtime (Seconds)</a:t>
                      </a:r>
                    </a:p>
                  </a:txBody>
                  <a:tcPr marL="45720" marR="45720" marT="45720" marB="45720" anchor="b" anchorCtr="0" horzOverflow="overflow">
                    <a:lnB w="28575">
                      <a:solidFill>
                        <a:srgbClr val="000000"/>
                      </a:solidFill>
                    </a:lnB>
                    <a:solidFill>
                      <a:srgbClr val="E2AC00"/>
                    </a:solidFill>
                  </a:tcPr>
                </a:tc>
              </a:tr>
              <a:tr h="624408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2000">
                          <a:sym typeface="Helvetica"/>
                        </a:rPr>
                        <a:t>Exact</a:t>
                      </a:r>
                    </a:p>
                  </a:txBody>
                  <a:tcPr marL="45720" marR="45720" marT="45720" marB="45720" anchor="t" anchorCtr="0" horzOverflow="overflow">
                    <a:lnT w="28575">
                      <a:solidFill>
                        <a:srgbClr val="000000"/>
                      </a:solidFill>
                    </a:lnT>
                  </a:tcPr>
                </a:tc>
                <a:tc>
                  <a:txBody>
                    <a:bodyPr/>
                    <a:lstStyle/>
                    <a:p>
                      <a:pPr algn="r">
                        <a:defRPr sz="1800"/>
                      </a:pPr>
                      <a:r>
                        <a:rPr sz="2000">
                          <a:sym typeface="Helvetica"/>
                        </a:rPr>
                        <a:t>36.25096352</a:t>
                      </a:r>
                    </a:p>
                  </a:txBody>
                  <a:tcPr marL="45720" marR="45720" marT="45720" marB="45720" anchor="t" anchorCtr="0" horzOverflow="overflow">
                    <a:lnT w="28575">
                      <a:solidFill>
                        <a:srgbClr val="000000"/>
                      </a:solidFill>
                    </a:lnT>
                  </a:tcPr>
                </a:tc>
              </a:tr>
              <a:tr h="624408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2000">
                          <a:sym typeface="Helvetica"/>
                        </a:rPr>
                        <a:t>Approximate</a:t>
                      </a:r>
                    </a:p>
                  </a:txBody>
                  <a:tcPr marL="45720" marR="45720" marT="45720" marB="45720" anchor="t" anchorCtr="0" horzOverflow="overflow"/>
                </a:tc>
                <a:tc>
                  <a:txBody>
                    <a:bodyPr/>
                    <a:lstStyle/>
                    <a:p>
                      <a:pPr algn="r">
                        <a:defRPr sz="1800"/>
                      </a:pPr>
                      <a:r>
                        <a:rPr sz="2000">
                          <a:sym typeface="Helvetica"/>
                        </a:rPr>
                        <a:t>0.000046262</a:t>
                      </a:r>
                    </a:p>
                  </a:txBody>
                  <a:tcPr marL="45720" marR="45720" marT="45720" marB="45720" anchor="t" anchorCtr="0" horzOverflow="overflow"/>
                </a:tc>
              </a:tr>
              <a:tr h="624408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2000">
                          <a:sym typeface="Helvetica"/>
                        </a:rPr>
                        <a:t>Zenith</a:t>
                      </a:r>
                    </a:p>
                  </a:txBody>
                  <a:tcPr marL="45720" marR="45720" marT="45720" marB="45720" anchor="t" anchorCtr="0" horzOverflow="overflow"/>
                </a:tc>
                <a:tc>
                  <a:txBody>
                    <a:bodyPr/>
                    <a:lstStyle/>
                    <a:p>
                      <a:pPr algn="r">
                        <a:defRPr sz="1800"/>
                      </a:pPr>
                      <a:r>
                        <a:rPr sz="2000">
                          <a:sym typeface="Helvetica"/>
                        </a:rPr>
                        <a:t>0.017063243</a:t>
                      </a:r>
                    </a:p>
                  </a:txBody>
                  <a:tcPr marL="45720" marR="45720" marT="45720" marB="45720" anchor="t" anchorCtr="0" horzOverflow="overflow"/>
                </a:tc>
              </a:tr>
              <a:tr h="624408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2000">
                          <a:sym typeface="Helvetica"/>
                        </a:rPr>
                        <a:t>Parallelized Zenith</a:t>
                      </a:r>
                    </a:p>
                  </a:txBody>
                  <a:tcPr marL="45720" marR="45720" marT="45720" marB="45720" anchor="t" anchorCtr="0" horzOverflow="overflow"/>
                </a:tc>
                <a:tc>
                  <a:txBody>
                    <a:bodyPr/>
                    <a:lstStyle/>
                    <a:p>
                      <a:pPr algn="r">
                        <a:defRPr sz="1800"/>
                      </a:pPr>
                      <a:r>
                        <a:rPr sz="2000">
                          <a:sym typeface="Helvetica"/>
                        </a:rPr>
                        <a:t>0.755844638</a:t>
                      </a:r>
                    </a:p>
                  </a:txBody>
                  <a:tcPr marL="45720" marR="45720" marT="45720" marB="45720" anchor="t" anchorCtr="0" horzOverflow="overflow"/>
                </a:tc>
              </a:tr>
            </a:tbl>
          </a:graphicData>
        </a:graphic>
      </p:graphicFrame>
    </p:spTree>
  </p:cSld>
  <p:clrMapOvr>
    <a:masterClrMapping/>
  </p:clrMapOvr>
  <p:transition xmlns:p14="http://schemas.microsoft.com/office/powerpoint/2010/main" spd="med" advClick="1"/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Title 1"/>
          <p:cNvSpPr txBox="1"/>
          <p:nvPr>
            <p:ph type="title"/>
          </p:nvPr>
        </p:nvSpPr>
        <p:spPr>
          <a:xfrm>
            <a:off x="914399" y="365125"/>
            <a:ext cx="7273636" cy="1646554"/>
          </a:xfrm>
          <a:prstGeom prst="rect">
            <a:avLst/>
          </a:prstGeom>
        </p:spPr>
        <p:txBody>
          <a:bodyPr/>
          <a:lstStyle/>
          <a:p>
            <a:pPr/>
            <a:r>
              <a:t>Takeaways</a:t>
            </a:r>
          </a:p>
        </p:txBody>
      </p:sp>
      <p:sp>
        <p:nvSpPr>
          <p:cNvPr id="418" name="Text Placeholder 2"/>
          <p:cNvSpPr txBox="1"/>
          <p:nvPr>
            <p:ph type="body" sz="half" idx="1"/>
          </p:nvPr>
        </p:nvSpPr>
        <p:spPr>
          <a:xfrm>
            <a:off x="914399" y="2011363"/>
            <a:ext cx="7273640" cy="4155762"/>
          </a:xfrm>
          <a:prstGeom prst="rect">
            <a:avLst/>
          </a:prstGeom>
        </p:spPr>
        <p:txBody>
          <a:bodyPr/>
          <a:lstStyle/>
          <a:p>
            <a:pPr>
              <a:defRPr b="1"/>
            </a:pPr>
            <a:r>
              <a:t>Randomness and iterative improvement </a:t>
            </a:r>
            <a:r>
              <a:rPr b="0"/>
              <a:t>greatly increases accuracy</a:t>
            </a:r>
          </a:p>
          <a:p>
            <a:pPr/>
            <a:r>
              <a:t>However, it also </a:t>
            </a:r>
            <a:r>
              <a:rPr b="1"/>
              <a:t>greatly increases cost</a:t>
            </a:r>
            <a:endParaRPr b="1"/>
          </a:p>
          <a:p>
            <a:pPr/>
            <a:r>
              <a:t>Ultimately, the </a:t>
            </a:r>
            <a:r>
              <a:rPr b="1"/>
              <a:t>tradeoff is worth it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0" name="Graphic 2" descr="Graphic 2"/>
          <p:cNvPicPr>
            <a:picLocks noChangeAspect="1"/>
          </p:cNvPicPr>
          <p:nvPr/>
        </p:nvPicPr>
        <p:blipFill>
          <a:blip r:embed="rId2">
            <a:extLst/>
          </a:blip>
          <a:srcRect l="4151" t="0" r="18576" b="0"/>
          <a:stretch>
            <a:fillRect/>
          </a:stretch>
        </p:blipFill>
        <p:spPr>
          <a:xfrm flipH="1">
            <a:off x="-5" y="0"/>
            <a:ext cx="5181609" cy="6858000"/>
          </a:xfrm>
          <a:prstGeom prst="rect">
            <a:avLst/>
          </a:prstGeom>
          <a:ln w="12700">
            <a:miter lim="400000"/>
          </a:ln>
        </p:spPr>
      </p:pic>
      <p:sp>
        <p:nvSpPr>
          <p:cNvPr id="421" name="Title 6"/>
          <p:cNvSpPr txBox="1"/>
          <p:nvPr>
            <p:ph type="title"/>
          </p:nvPr>
        </p:nvSpPr>
        <p:spPr>
          <a:xfrm>
            <a:off x="6091515" y="374084"/>
            <a:ext cx="5057105" cy="3624997"/>
          </a:xfrm>
          <a:prstGeom prst="rect">
            <a:avLst/>
          </a:prstGeom>
        </p:spPr>
        <p:txBody>
          <a:bodyPr/>
          <a:lstStyle/>
          <a:p>
            <a:pPr/>
            <a:r>
              <a:t>Questions?</a:t>
            </a:r>
          </a:p>
        </p:txBody>
      </p:sp>
      <p:sp>
        <p:nvSpPr>
          <p:cNvPr id="422" name="Content Placeholder 9"/>
          <p:cNvSpPr txBox="1"/>
          <p:nvPr>
            <p:ph type="body" sz="quarter" idx="1"/>
          </p:nvPr>
        </p:nvSpPr>
        <p:spPr>
          <a:xfrm>
            <a:off x="6091513" y="4172989"/>
            <a:ext cx="5057107" cy="2519375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theme/theme1.xml><?xml version="1.0" encoding="utf-8"?>
<a:theme xmlns:a="http://schemas.openxmlformats.org/drawingml/2006/main" xmlns:r="http://schemas.openxmlformats.org/officeDocument/2006/relationships" name="Custom">
  <a:themeElements>
    <a:clrScheme name="Custom">
      <a:dk1>
        <a:srgbClr val="000000"/>
      </a:dk1>
      <a:lt1>
        <a:srgbClr val="000000"/>
      </a:lt1>
      <a:dk2>
        <a:srgbClr val="A7A7A7"/>
      </a:dk2>
      <a:lt2>
        <a:srgbClr val="535353"/>
      </a:lt2>
      <a:accent1>
        <a:srgbClr val="E9E6DF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Custom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Custom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000000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ctr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Custom">
  <a:themeElements>
    <a:clrScheme name="Custom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E9E6DF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Custom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Custom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000000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ctr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
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000000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_rels/chart3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3.xlsx"/></Relationships>

</file>

<file path=ppt/charts/_rels/chart4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4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400" u="none">
                <a:solidFill>
                  <a:srgbClr val="000000"/>
                </a:solidFill>
                <a:latin typeface="Calibri"/>
              </a:defRPr>
            </a:pPr>
            <a:r>
              <a:rPr b="0" i="0" strike="noStrike" sz="1400" u="none">
                <a:solidFill>
                  <a:srgbClr val="000000"/>
                </a:solidFill>
                <a:latin typeface="Calibri"/>
              </a:rPr>
              <a:t>Approximate Solution vs. Exact Solution Results</a:t>
            </a:r>
          </a:p>
        </c:rich>
      </c:tx>
      <c:layout>
        <c:manualLayout>
          <c:xMode val="edge"/>
          <c:yMode val="edge"/>
          <c:x val="0.239022"/>
          <c:y val="0"/>
          <c:w val="0.521956"/>
          <c:h val="0.0777957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851184"/>
          <c:y val="0.0777957"/>
          <c:w val="0.909882"/>
          <c:h val="0.74078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solidFill>
              <a:srgbClr val="156082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1031.485600</c:v>
                </c:pt>
                <c:pt idx="1">
                  <c:v>1273.300500</c:v>
                </c:pt>
                <c:pt idx="2">
                  <c:v>2276.662500</c:v>
                </c:pt>
                <c:pt idx="3">
                  <c:v>1718.395900</c:v>
                </c:pt>
                <c:pt idx="4">
                  <c:v>2344.758900</c:v>
                </c:pt>
                <c:pt idx="5">
                  <c:v>2203.593300</c:v>
                </c:pt>
                <c:pt idx="6">
                  <c:v>2884.234100</c:v>
                </c:pt>
                <c:pt idx="7">
                  <c:v>2304.299700</c:v>
                </c:pt>
                <c:pt idx="8">
                  <c:v>2661.431000</c:v>
                </c:pt>
                <c:pt idx="9">
                  <c:v>1623.903800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Solution</c:v>
                </c:pt>
              </c:strCache>
            </c:strRef>
          </c:tx>
          <c:spPr>
            <a:solidFill>
              <a:srgbClr val="E97132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ptCount val="10"/>
                <c:pt idx="0">
                  <c:v>1031.485600</c:v>
                </c:pt>
                <c:pt idx="1">
                  <c:v>1273.300500</c:v>
                </c:pt>
                <c:pt idx="2">
                  <c:v>1914.512300</c:v>
                </c:pt>
                <c:pt idx="3">
                  <c:v>1718.395900</c:v>
                </c:pt>
                <c:pt idx="4">
                  <c:v>1985.102300</c:v>
                </c:pt>
                <c:pt idx="5">
                  <c:v>1759.507300</c:v>
                </c:pt>
                <c:pt idx="6">
                  <c:v>2049.239300</c:v>
                </c:pt>
                <c:pt idx="7">
                  <c:v>2004.434700</c:v>
                </c:pt>
                <c:pt idx="8">
                  <c:v>2079.125400</c:v>
                </c:pt>
                <c:pt idx="9">
                  <c:v>1466.541800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Number of Nodes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595959"/>
                </a:solidFill>
                <a:latin typeface="Calibri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 Tour Length</a:t>
                </a:r>
              </a:p>
            </c:rich>
          </c:tx>
          <c:layout/>
          <c:overlay val="1"/>
        </c:title>
        <c:numFmt formatCode="0.####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Calibri"/>
              </a:defRPr>
            </a:pPr>
          </a:p>
        </c:txPr>
        <c:crossAx val="2094734552"/>
        <c:crosses val="autoZero"/>
        <c:crossBetween val="between"/>
        <c:majorUnit val="750"/>
        <c:minorUnit val="375"/>
      </c:valAx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0.318092"/>
          <c:y val="0.958189"/>
          <c:w val="0.368969"/>
          <c:h val="0.0418107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b="0" i="0" strike="noStrike" sz="900" u="non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400" u="none">
                <a:solidFill>
                  <a:srgbClr val="000000"/>
                </a:solidFill>
                <a:latin typeface="Calibri"/>
              </a:defRPr>
            </a:pPr>
            <a:r>
              <a:rPr b="0" i="0" strike="noStrike" sz="1400" u="none">
                <a:solidFill>
                  <a:srgbClr val="000000"/>
                </a:solidFill>
                <a:latin typeface="Calibri"/>
              </a:rPr>
              <a:t>Approximate Solution vs. Exact Solution Wall Clock</a:t>
            </a:r>
          </a:p>
        </c:rich>
      </c:tx>
      <c:layout>
        <c:manualLayout>
          <c:xMode val="edge"/>
          <c:yMode val="edge"/>
          <c:x val="0.225827"/>
          <c:y val="0"/>
          <c:w val="0.548347"/>
          <c:h val="0.0888902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96734"/>
          <c:y val="0.0888902"/>
          <c:w val="0.898266"/>
          <c:h val="0.70559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solidFill>
              <a:srgbClr val="156082"/>
            </a:solidFill>
            <a:ln w="28575" cap="rnd">
              <a:solidFill>
                <a:srgbClr val="156082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156082"/>
              </a:solidFill>
              <a:ln w="9525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Sheet1!$A$2:$A$18</c:f>
              <c:strCach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strCache>
            </c:strRef>
          </c:cat>
          <c:val>
            <c:numRef>
              <c:f>Sheet1!$B$2:$B$18</c:f>
              <c:numCache>
                <c:ptCount val="17"/>
                <c:pt idx="0">
                  <c:v>0.000009</c:v>
                </c:pt>
                <c:pt idx="1">
                  <c:v>0.000012</c:v>
                </c:pt>
                <c:pt idx="2">
                  <c:v>0.000013</c:v>
                </c:pt>
                <c:pt idx="3">
                  <c:v>0.000016</c:v>
                </c:pt>
                <c:pt idx="4">
                  <c:v>0.000017</c:v>
                </c:pt>
                <c:pt idx="5">
                  <c:v>0.000017</c:v>
                </c:pt>
                <c:pt idx="6">
                  <c:v>0.000037</c:v>
                </c:pt>
                <c:pt idx="7">
                  <c:v>0.000022</c:v>
                </c:pt>
                <c:pt idx="8">
                  <c:v>0.000026</c:v>
                </c:pt>
                <c:pt idx="9">
                  <c:v>0.000029</c:v>
                </c:pt>
                <c:pt idx="10">
                  <c:v>0.000030</c:v>
                </c:pt>
                <c:pt idx="11">
                  <c:v>0.000033</c:v>
                </c:pt>
                <c:pt idx="12">
                  <c:v>0.000058</c:v>
                </c:pt>
                <c:pt idx="13">
                  <c:v>0.000088</c:v>
                </c:pt>
                <c:pt idx="14">
                  <c:v>0.000304</c:v>
                </c:pt>
                <c:pt idx="15">
                  <c:v>0.001417</c:v>
                </c:pt>
                <c:pt idx="16">
                  <c:v>0.263018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Solution</c:v>
                </c:pt>
              </c:strCache>
            </c:strRef>
          </c:tx>
          <c:spPr>
            <a:solidFill>
              <a:srgbClr val="E97132"/>
            </a:solidFill>
            <a:ln w="28575" cap="rnd">
              <a:solidFill>
                <a:srgbClr val="E97132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E97132"/>
              </a:solidFill>
              <a:ln w="9525" cap="flat">
                <a:solidFill>
                  <a:srgbClr val="E97132"/>
                </a:solidFill>
                <a:prstDash val="solid"/>
                <a:round/>
              </a:ln>
              <a:effectLst/>
            </c:spPr>
          </c:marker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Sheet1!$A$2:$A$18</c:f>
              <c:strCach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strCache>
            </c:strRef>
          </c:cat>
          <c:val>
            <c:numRef>
              <c:f>Sheet1!$C$2:$C$18</c:f>
              <c:numCache>
                <c:ptCount val="17"/>
                <c:pt idx="0">
                  <c:v>0.000008</c:v>
                </c:pt>
                <c:pt idx="1">
                  <c:v>0.000015</c:v>
                </c:pt>
                <c:pt idx="2">
                  <c:v>0.000052</c:v>
                </c:pt>
                <c:pt idx="3">
                  <c:v>0.000311</c:v>
                </c:pt>
                <c:pt idx="4">
                  <c:v>0.002489</c:v>
                </c:pt>
                <c:pt idx="5">
                  <c:v>0.023088</c:v>
                </c:pt>
                <c:pt idx="6">
                  <c:v>0.228790</c:v>
                </c:pt>
                <c:pt idx="7">
                  <c:v>2.428438</c:v>
                </c:pt>
                <c:pt idx="8">
                  <c:v>27.651017</c:v>
                </c:pt>
                <c:pt idx="9">
                  <c:v>410.112470</c:v>
                </c:pt>
                <c:pt idx="10">
                  <c:v>9600.488107</c:v>
                </c:pt>
                <c:pt idx="11">
                  <c:v>244000.000000</c:v>
                </c:pt>
                <c:pt idx="12">
                  <c:v>3920000.000000</c:v>
                </c:pt>
                <c:pt idx="13">
                  <c:v>77600000000000000000.000000</c:v>
                </c:pt>
                <c:pt idx="14">
                  <c:v>303999999999999989609056054781361319260948976421309639557120.000000</c:v>
                </c:pt>
                <c:pt idx="15">
                  <c:v>1869999999999999856227014284560267237797148954868022791564736132921435258019584371840743477472741940230881821703859644400625891928832292253308066625224704.000000</c:v>
                </c:pt>
                <c:pt idx="16">
                  <c:v>803999999999999985975892185874412822256733610163508949102110152033352402612664627773644086569745890760572702819993896698809357325618538479624349544215329347765417247861820924938823413459180038872898797460283142093834213906313537150520040041325484854244321704477749936128.000000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Test Cases
 (# nodes per test case)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Calibri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logBase val="10"/>
          <c:orientation val="minMax"/>
          <c:max val="1e+10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Time (seconds)</a:t>
                </a:r>
              </a:p>
            </c:rich>
          </c:tx>
          <c:layout/>
          <c:overlay val="1"/>
        </c:title>
        <c:numFmt formatCode="0.####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Calibri"/>
              </a:defRPr>
            </a:pPr>
          </a:p>
        </c:txPr>
        <c:crossAx val="2094734552"/>
        <c:crosses val="autoZero"/>
        <c:crossBetween val="between"/>
      </c:valAx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0.319634"/>
          <c:y val="0.954009"/>
          <c:w val="0.39038"/>
          <c:h val="0.0459908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b="0" i="0" strike="noStrike" sz="900" u="non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2000" u="none">
                <a:solidFill>
                  <a:srgbClr val="000000"/>
                </a:solidFill>
                <a:latin typeface="Helvetica"/>
              </a:defRPr>
            </a:pPr>
            <a:r>
              <a:rPr b="0" i="0" strike="noStrike" sz="2000" u="none">
                <a:solidFill>
                  <a:srgbClr val="000000"/>
                </a:solidFill>
                <a:latin typeface="Helvetica"/>
              </a:rPr>
              <a:t>Lengths Produced from Approx. Solution</a:t>
            </a:r>
          </a:p>
        </c:rich>
      </c:tx>
      <c:layout>
        <c:manualLayout>
          <c:xMode val="edge"/>
          <c:yMode val="edge"/>
          <c:x val="0.146598"/>
          <c:y val="0"/>
          <c:w val="0.706804"/>
          <c:h val="0.113919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843946"/>
          <c:y val="0.113919"/>
          <c:w val="0.910605"/>
          <c:h val="0.754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Lengths Produced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Sheet1!$B$1:$I$1</c:f>
              <c:strCache>
                <c:ptCount val="8"/>
                <c:pt idx="0">
                  <c:v>12.6</c:v>
                </c:pt>
                <c:pt idx="1">
                  <c:v>13.6</c:v>
                </c:pt>
                <c:pt idx="2">
                  <c:v>14.6</c:v>
                </c:pt>
                <c:pt idx="3">
                  <c:v>60.7</c:v>
                </c:pt>
                <c:pt idx="4">
                  <c:v>61.7</c:v>
                </c:pt>
                <c:pt idx="5">
                  <c:v>62.7</c:v>
                </c:pt>
                <c:pt idx="6">
                  <c:v>1011.7</c:v>
                </c:pt>
                <c:pt idx="7">
                  <c:v>1012.7</c:v>
                </c:pt>
              </c:strCache>
            </c:strRef>
          </c:cat>
          <c:val>
            <c:numRef>
              <c:f>Sheet1!$B$2:$I$2</c:f>
              <c:numCache>
                <c:ptCount val="8"/>
                <c:pt idx="0">
                  <c:v>18.000000</c:v>
                </c:pt>
                <c:pt idx="1">
                  <c:v>15.000000</c:v>
                </c:pt>
                <c:pt idx="2">
                  <c:v>1.000000</c:v>
                </c:pt>
                <c:pt idx="3">
                  <c:v>7.000000</c:v>
                </c:pt>
                <c:pt idx="4">
                  <c:v>34.000000</c:v>
                </c:pt>
                <c:pt idx="5">
                  <c:v>11.000000</c:v>
                </c:pt>
                <c:pt idx="6">
                  <c:v>12.000000</c:v>
                </c:pt>
                <c:pt idx="7">
                  <c:v>2.000000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00000"/>
                    </a:solidFill>
                    <a:latin typeface="Helvetica"/>
                  </a:rPr>
                  <a:t>Lengths Produced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00000"/>
                    </a:solidFill>
                    <a:latin typeface="Helvetica"/>
                  </a:rPr>
                  <a:t>Frequency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2"/>
        <c:crosses val="autoZero"/>
        <c:crossBetween val="between"/>
        <c:majorUnit val="10"/>
        <c:minorUnit val="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2000" u="none">
                <a:solidFill>
                  <a:srgbClr val="0D0D0D"/>
                </a:solidFill>
                <a:latin typeface="Helvetica"/>
              </a:defRPr>
            </a:pPr>
            <a:r>
              <a:rPr b="0" i="0" strike="noStrike" sz="2000" u="none">
                <a:solidFill>
                  <a:srgbClr val="0D0D0D"/>
                </a:solidFill>
                <a:latin typeface="Helvetica"/>
              </a:rPr>
              <a:t>Lengths Produced from Zenith</a:t>
            </a:r>
          </a:p>
        </c:rich>
      </c:tx>
      <c:layout>
        <c:manualLayout>
          <c:xMode val="edge"/>
          <c:yMode val="edge"/>
          <c:x val="0.072117"/>
          <c:y val="0"/>
          <c:w val="0.855766"/>
          <c:h val="0.189461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152729"/>
          <c:y val="0.189461"/>
          <c:w val="0.842271"/>
          <c:h val="0.68913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0D0D"/>
                    </a:solidFill>
                    <a:latin typeface="Helvetica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12.6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100.000000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400" u="none">
                    <a:solidFill>
                      <a:srgbClr val="0D0D0D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D0D0D"/>
                    </a:solidFill>
                    <a:latin typeface="Helvetica"/>
                  </a:rPr>
                  <a:t>Lengths Produced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D0D0D"/>
                </a:solidFill>
                <a:latin typeface="Helvetica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400" u="none">
                    <a:solidFill>
                      <a:srgbClr val="0D0D0D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D0D0D"/>
                    </a:solidFill>
                    <a:latin typeface="Helvetica"/>
                  </a:rPr>
                  <a:t>Frequency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D0D0D"/>
                </a:solidFill>
                <a:latin typeface="Helvetica"/>
              </a:defRPr>
            </a:pPr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4" name="Shape 13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14" y="0"/>
            <a:ext cx="8265015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/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23" name="Picture Placeholder 8"/>
          <p:cNvSpPr/>
          <p:nvPr>
            <p:ph type="pic" idx="21"/>
          </p:nvPr>
        </p:nvSpPr>
        <p:spPr>
          <a:xfrm>
            <a:off x="6085840" y="-10165"/>
            <a:ext cx="6116328" cy="68681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6324598" y="-8"/>
            <a:ext cx="5867405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33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2" y="0"/>
            <a:ext cx="3056597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45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/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5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6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6" y="5950036"/>
            <a:ext cx="2513536" cy="914414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41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/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67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69" indent="-326569">
              <a:spcBef>
                <a:spcPts val="1200"/>
              </a:spcBef>
              <a:defRPr b="1" sz="2000"/>
            </a:lvl4pPr>
            <a:lvl5pPr marL="2155369" indent="-326569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7" y="-149658"/>
            <a:ext cx="1672379" cy="1971682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9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4" b="1"/>
          <a:stretch>
            <a:fillRect/>
          </a:stretch>
        </p:blipFill>
        <p:spPr>
          <a:xfrm rot="10800000">
            <a:off x="10506071" y="3984078"/>
            <a:ext cx="1685941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1"/>
          <a:stretch>
            <a:fillRect/>
          </a:stretch>
        </p:blipFill>
        <p:spPr>
          <a:xfrm flipH="1" rot="16200000">
            <a:off x="9781526" y="-311519"/>
            <a:ext cx="2098977" cy="2721999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/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0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07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5" cy="251937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8553446" y="-39575"/>
            <a:ext cx="5867406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125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50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xfrm>
            <a:off x="8506333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41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/>
          <p:nvPr>
            <p:ph type="title"/>
          </p:nvPr>
        </p:nvSpPr>
        <p:spPr>
          <a:xfrm>
            <a:off x="6095998" y="2773681"/>
            <a:ext cx="5674367" cy="320041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Traveling salesman problem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LAX"/>
          <p:cNvGrpSpPr/>
          <p:nvPr/>
        </p:nvGrpSpPr>
        <p:grpSpPr>
          <a:xfrm>
            <a:off x="1191307" y="3073268"/>
            <a:ext cx="694215" cy="694215"/>
            <a:chOff x="-1" y="-1"/>
            <a:chExt cx="694214" cy="694214"/>
          </a:xfrm>
        </p:grpSpPr>
        <p:sp>
          <p:nvSpPr>
            <p:cNvPr id="138" name="Circle"/>
            <p:cNvSpPr/>
            <p:nvPr/>
          </p:nvSpPr>
          <p:spPr>
            <a:xfrm>
              <a:off x="-2" y="-2"/>
              <a:ext cx="694216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9" name="LAX"/>
            <p:cNvSpPr txBox="1"/>
            <p:nvPr/>
          </p:nvSpPr>
          <p:spPr>
            <a:xfrm>
              <a:off x="106426" y="208098"/>
              <a:ext cx="48135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143" name="JFK"/>
          <p:cNvGrpSpPr/>
          <p:nvPr/>
        </p:nvGrpSpPr>
        <p:grpSpPr>
          <a:xfrm>
            <a:off x="2605998" y="1605410"/>
            <a:ext cx="694217" cy="694212"/>
            <a:chOff x="0" y="0"/>
            <a:chExt cx="694216" cy="694211"/>
          </a:xfrm>
        </p:grpSpPr>
        <p:sp>
          <p:nvSpPr>
            <p:cNvPr id="141" name="Circle"/>
            <p:cNvSpPr/>
            <p:nvPr/>
          </p:nvSpPr>
          <p:spPr>
            <a:xfrm>
              <a:off x="-1" y="-1"/>
              <a:ext cx="694217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2" name="JFK"/>
            <p:cNvSpPr txBox="1"/>
            <p:nvPr/>
          </p:nvSpPr>
          <p:spPr>
            <a:xfrm>
              <a:off x="106426" y="208097"/>
              <a:ext cx="48135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146" name="MIA"/>
          <p:cNvGrpSpPr/>
          <p:nvPr/>
        </p:nvGrpSpPr>
        <p:grpSpPr>
          <a:xfrm>
            <a:off x="4020686" y="3073268"/>
            <a:ext cx="694213" cy="694215"/>
            <a:chOff x="0" y="-1"/>
            <a:chExt cx="694211" cy="694214"/>
          </a:xfrm>
        </p:grpSpPr>
        <p:sp>
          <p:nvSpPr>
            <p:cNvPr id="144" name="Circle"/>
            <p:cNvSpPr/>
            <p:nvPr/>
          </p:nvSpPr>
          <p:spPr>
            <a:xfrm>
              <a:off x="-1" y="-2"/>
              <a:ext cx="694212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5" name="MIA"/>
            <p:cNvSpPr txBox="1"/>
            <p:nvPr/>
          </p:nvSpPr>
          <p:spPr>
            <a:xfrm>
              <a:off x="106425" y="208098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49" name="HOU"/>
          <p:cNvGrpSpPr/>
          <p:nvPr/>
        </p:nvGrpSpPr>
        <p:grpSpPr>
          <a:xfrm>
            <a:off x="2605998" y="4541126"/>
            <a:ext cx="694217" cy="694213"/>
            <a:chOff x="0" y="0"/>
            <a:chExt cx="694216" cy="694211"/>
          </a:xfrm>
        </p:grpSpPr>
        <p:sp>
          <p:nvSpPr>
            <p:cNvPr id="147" name="Circle"/>
            <p:cNvSpPr/>
            <p:nvPr/>
          </p:nvSpPr>
          <p:spPr>
            <a:xfrm>
              <a:off x="-1" y="-1"/>
              <a:ext cx="694217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HOU"/>
            <p:cNvSpPr txBox="1"/>
            <p:nvPr/>
          </p:nvSpPr>
          <p:spPr>
            <a:xfrm>
              <a:off x="106426" y="208097"/>
              <a:ext cx="48135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50" name="Line"/>
          <p:cNvSpPr/>
          <p:nvPr/>
        </p:nvSpPr>
        <p:spPr>
          <a:xfrm flipV="1">
            <a:off x="3183420" y="3663086"/>
            <a:ext cx="942989" cy="96710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1" name="Line"/>
          <p:cNvSpPr/>
          <p:nvPr/>
        </p:nvSpPr>
        <p:spPr>
          <a:xfrm flipV="1">
            <a:off x="1738265" y="2172368"/>
            <a:ext cx="945356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2" name="Line"/>
          <p:cNvSpPr/>
          <p:nvPr/>
        </p:nvSpPr>
        <p:spPr>
          <a:xfrm flipH="1" flipV="1">
            <a:off x="1797816" y="3652993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" name="Line"/>
          <p:cNvSpPr/>
          <p:nvPr/>
        </p:nvSpPr>
        <p:spPr>
          <a:xfrm flipH="1" flipV="1">
            <a:off x="3224068" y="2173196"/>
            <a:ext cx="893842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4" name="Line"/>
          <p:cNvSpPr/>
          <p:nvPr/>
        </p:nvSpPr>
        <p:spPr>
          <a:xfrm flipH="1" flipV="1">
            <a:off x="2968114" y="2299416"/>
            <a:ext cx="109" cy="223788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5" name="Line"/>
          <p:cNvSpPr/>
          <p:nvPr/>
        </p:nvSpPr>
        <p:spPr>
          <a:xfrm flipH="1">
            <a:off x="1889535" y="3406540"/>
            <a:ext cx="2127140" cy="1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" name="2.475"/>
          <p:cNvSpPr txBox="1"/>
          <p:nvPr/>
        </p:nvSpPr>
        <p:spPr>
          <a:xfrm>
            <a:off x="1651721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157" name="1.09"/>
          <p:cNvSpPr txBox="1"/>
          <p:nvPr/>
        </p:nvSpPr>
        <p:spPr>
          <a:xfrm>
            <a:off x="3775173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1.288</a:t>
            </a:r>
          </a:p>
        </p:txBody>
      </p:sp>
      <p:sp>
        <p:nvSpPr>
          <p:cNvPr id="158" name="1.39"/>
          <p:cNvSpPr txBox="1"/>
          <p:nvPr/>
        </p:nvSpPr>
        <p:spPr>
          <a:xfrm>
            <a:off x="1709651" y="416795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1.546</a:t>
            </a:r>
          </a:p>
        </p:txBody>
      </p:sp>
      <p:sp>
        <p:nvSpPr>
          <p:cNvPr id="159" name="1.1"/>
          <p:cNvSpPr txBox="1"/>
          <p:nvPr/>
        </p:nvSpPr>
        <p:spPr>
          <a:xfrm>
            <a:off x="3775173" y="414663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160" name="1.74"/>
          <p:cNvSpPr txBox="1"/>
          <p:nvPr/>
        </p:nvSpPr>
        <p:spPr>
          <a:xfrm>
            <a:off x="2949131" y="268256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161" name="2.342"/>
          <p:cNvSpPr txBox="1"/>
          <p:nvPr/>
        </p:nvSpPr>
        <p:spPr>
          <a:xfrm>
            <a:off x="2136699" y="3393840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  <p:sp>
        <p:nvSpPr>
          <p:cNvPr id="162" name="Weights in 1K air miles"/>
          <p:cNvSpPr txBox="1"/>
          <p:nvPr/>
        </p:nvSpPr>
        <p:spPr>
          <a:xfrm>
            <a:off x="5141083" y="6096677"/>
            <a:ext cx="190983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Weights in 1K miles</a:t>
            </a:r>
          </a:p>
        </p:txBody>
      </p:sp>
      <p:sp>
        <p:nvSpPr>
          <p:cNvPr id="163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164" name="Decision vs. Optimization"/>
          <p:cNvSpPr txBox="1"/>
          <p:nvPr/>
        </p:nvSpPr>
        <p:spPr>
          <a:xfrm>
            <a:off x="6541637" y="1314914"/>
            <a:ext cx="808001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300"/>
            </a:lvl1pPr>
          </a:lstStyle>
          <a:p>
            <a:pPr/>
            <a:r>
              <a:t>TSP-D</a:t>
            </a:r>
          </a:p>
        </p:txBody>
      </p:sp>
      <p:sp>
        <p:nvSpPr>
          <p:cNvPr id="165" name="Text"/>
          <p:cNvSpPr txBox="1"/>
          <p:nvPr/>
        </p:nvSpPr>
        <p:spPr>
          <a:xfrm>
            <a:off x="2080744" y="5445116"/>
            <a:ext cx="1628660" cy="22021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𝑝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𝑡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𝐺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6.799</m:t>
                  </m:r>
                </m:oMath>
              </m:oMathPara>
            </a14:m>
            <a:endParaRPr sz="2000"/>
          </a:p>
        </p:txBody>
      </p:sp>
      <p:sp>
        <p:nvSpPr>
          <p:cNvPr id="166" name="Decision vs. Optimization"/>
          <p:cNvSpPr txBox="1"/>
          <p:nvPr/>
        </p:nvSpPr>
        <p:spPr>
          <a:xfrm>
            <a:off x="9402680" y="1314914"/>
            <a:ext cx="821408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300"/>
            </a:lvl1pPr>
          </a:lstStyle>
          <a:p>
            <a:pPr/>
            <a:r>
              <a:t>TSP-O</a:t>
            </a:r>
          </a:p>
        </p:txBody>
      </p:sp>
      <p:sp>
        <p:nvSpPr>
          <p:cNvPr id="167" name="?"/>
          <p:cNvSpPr txBox="1"/>
          <p:nvPr/>
        </p:nvSpPr>
        <p:spPr>
          <a:xfrm>
            <a:off x="6402718" y="1926693"/>
            <a:ext cx="1085837" cy="402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100">
                <a:latin typeface="Cambria Math"/>
                <a:ea typeface="Cambria Math"/>
                <a:cs typeface="Cambria Math"/>
                <a:sym typeface="Cambria Math"/>
              </a:defRPr>
            </a:pPr>
            <a14:m>
              <m:oMath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</m:sub>
                </m:sSub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&lt;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𝑥</m:t>
                </m:r>
              </m:oMath>
            </a14:m>
            <a:r>
              <a:rPr sz="1800">
                <a:latin typeface="+mn-lt"/>
                <a:ea typeface="+mn-ea"/>
                <a:cs typeface="+mn-cs"/>
                <a:sym typeface="Helvetica"/>
              </a:rPr>
              <a:t> ?</a:t>
            </a:r>
            <a:endParaRPr sz="1981"/>
          </a:p>
        </p:txBody>
      </p:sp>
      <p:pic>
        <p:nvPicPr>
          <p:cNvPr id="168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4135" y="3441222"/>
            <a:ext cx="3829721" cy="2154225"/>
          </a:xfrm>
          <a:prstGeom prst="rect">
            <a:avLst/>
          </a:prstGeom>
          <a:ln w="25400">
            <a:solidFill>
              <a:srgbClr val="DDDDDD"/>
            </a:solidFill>
            <a:miter lim="400000"/>
          </a:ln>
        </p:spPr>
      </p:pic>
      <p:sp>
        <p:nvSpPr>
          <p:cNvPr id="169" name="vs."/>
          <p:cNvSpPr txBox="1"/>
          <p:nvPr/>
        </p:nvSpPr>
        <p:spPr>
          <a:xfrm>
            <a:off x="8178034" y="1320781"/>
            <a:ext cx="42192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vs.</a:t>
            </a:r>
          </a:p>
        </p:txBody>
      </p:sp>
      <p:sp>
        <p:nvSpPr>
          <p:cNvPr id="170" name="Text"/>
          <p:cNvSpPr txBox="1"/>
          <p:nvPr/>
        </p:nvSpPr>
        <p:spPr>
          <a:xfrm>
            <a:off x="9228507" y="2024820"/>
            <a:ext cx="1227253" cy="21666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𝐶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𝑛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𝑤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000"/>
          </a:p>
        </p:txBody>
      </p:sp>
      <p:sp>
        <p:nvSpPr>
          <p:cNvPr id="171" name="Applications"/>
          <p:cNvSpPr txBox="1"/>
          <p:nvPr/>
        </p:nvSpPr>
        <p:spPr>
          <a:xfrm>
            <a:off x="7750247" y="3005325"/>
            <a:ext cx="1277497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/>
            </a:lvl1pPr>
          </a:lstStyle>
          <a:p>
            <a:pPr/>
            <a:r>
              <a:t>Applications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LAX"/>
          <p:cNvGrpSpPr/>
          <p:nvPr/>
        </p:nvGrpSpPr>
        <p:grpSpPr>
          <a:xfrm>
            <a:off x="1772210" y="3076305"/>
            <a:ext cx="694215" cy="694215"/>
            <a:chOff x="-1" y="-1"/>
            <a:chExt cx="694214" cy="694214"/>
          </a:xfrm>
        </p:grpSpPr>
        <p:sp>
          <p:nvSpPr>
            <p:cNvPr id="173" name="Circle"/>
            <p:cNvSpPr/>
            <p:nvPr/>
          </p:nvSpPr>
          <p:spPr>
            <a:xfrm>
              <a:off x="-2" y="-2"/>
              <a:ext cx="694216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4" name="G"/>
            <p:cNvSpPr txBox="1"/>
            <p:nvPr/>
          </p:nvSpPr>
          <p:spPr>
            <a:xfrm>
              <a:off x="106427" y="180557"/>
              <a:ext cx="481355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G</a:t>
              </a:r>
            </a:p>
          </p:txBody>
        </p:sp>
      </p:grpSp>
      <p:grpSp>
        <p:nvGrpSpPr>
          <p:cNvPr id="178" name="JFK"/>
          <p:cNvGrpSpPr/>
          <p:nvPr/>
        </p:nvGrpSpPr>
        <p:grpSpPr>
          <a:xfrm>
            <a:off x="3972234" y="1130402"/>
            <a:ext cx="694213" cy="694215"/>
            <a:chOff x="0" y="-1"/>
            <a:chExt cx="694211" cy="694214"/>
          </a:xfrm>
        </p:grpSpPr>
        <p:sp>
          <p:nvSpPr>
            <p:cNvPr id="176" name="Circle"/>
            <p:cNvSpPr/>
            <p:nvPr/>
          </p:nvSpPr>
          <p:spPr>
            <a:xfrm>
              <a:off x="-1" y="-2"/>
              <a:ext cx="694213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7" name="A"/>
            <p:cNvSpPr txBox="1"/>
            <p:nvPr/>
          </p:nvSpPr>
          <p:spPr>
            <a:xfrm>
              <a:off x="106427" y="180557"/>
              <a:ext cx="481353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A</a:t>
              </a:r>
            </a:p>
          </p:txBody>
        </p:sp>
      </p:grpSp>
      <p:grpSp>
        <p:nvGrpSpPr>
          <p:cNvPr id="181" name="MIA"/>
          <p:cNvGrpSpPr/>
          <p:nvPr/>
        </p:nvGrpSpPr>
        <p:grpSpPr>
          <a:xfrm>
            <a:off x="6159386" y="3076305"/>
            <a:ext cx="694215" cy="694215"/>
            <a:chOff x="-1" y="-1"/>
            <a:chExt cx="694214" cy="694214"/>
          </a:xfrm>
        </p:grpSpPr>
        <p:sp>
          <p:nvSpPr>
            <p:cNvPr id="179" name="Circle"/>
            <p:cNvSpPr/>
            <p:nvPr/>
          </p:nvSpPr>
          <p:spPr>
            <a:xfrm>
              <a:off x="-2" y="-2"/>
              <a:ext cx="694216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0" name="C"/>
            <p:cNvSpPr txBox="1"/>
            <p:nvPr/>
          </p:nvSpPr>
          <p:spPr>
            <a:xfrm>
              <a:off x="106427" y="180557"/>
              <a:ext cx="481354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184" name="HOU"/>
          <p:cNvGrpSpPr/>
          <p:nvPr/>
        </p:nvGrpSpPr>
        <p:grpSpPr>
          <a:xfrm>
            <a:off x="3972234" y="5033387"/>
            <a:ext cx="694213" cy="694217"/>
            <a:chOff x="0" y="0"/>
            <a:chExt cx="694211" cy="694216"/>
          </a:xfrm>
        </p:grpSpPr>
        <p:sp>
          <p:nvSpPr>
            <p:cNvPr id="182" name="Circle"/>
            <p:cNvSpPr/>
            <p:nvPr/>
          </p:nvSpPr>
          <p:spPr>
            <a:xfrm>
              <a:off x="-1" y="-1"/>
              <a:ext cx="694213" cy="69421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3" name="E"/>
            <p:cNvSpPr txBox="1"/>
            <p:nvPr/>
          </p:nvSpPr>
          <p:spPr>
            <a:xfrm>
              <a:off x="106427" y="180557"/>
              <a:ext cx="481353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E</a:t>
              </a:r>
            </a:p>
          </p:txBody>
        </p:sp>
      </p:grpSp>
      <p:grpSp>
        <p:nvGrpSpPr>
          <p:cNvPr id="187" name="JFK"/>
          <p:cNvGrpSpPr/>
          <p:nvPr/>
        </p:nvGrpSpPr>
        <p:grpSpPr>
          <a:xfrm>
            <a:off x="2518921" y="1774119"/>
            <a:ext cx="694215" cy="694215"/>
            <a:chOff x="-1" y="-1"/>
            <a:chExt cx="694214" cy="694214"/>
          </a:xfrm>
        </p:grpSpPr>
        <p:sp>
          <p:nvSpPr>
            <p:cNvPr id="185" name="Circle"/>
            <p:cNvSpPr/>
            <p:nvPr/>
          </p:nvSpPr>
          <p:spPr>
            <a:xfrm>
              <a:off x="-2" y="-2"/>
              <a:ext cx="694216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6" name="H"/>
            <p:cNvSpPr txBox="1"/>
            <p:nvPr/>
          </p:nvSpPr>
          <p:spPr>
            <a:xfrm>
              <a:off x="106427" y="180557"/>
              <a:ext cx="481355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</a:t>
              </a:r>
            </a:p>
          </p:txBody>
        </p:sp>
      </p:grpSp>
      <p:grpSp>
        <p:nvGrpSpPr>
          <p:cNvPr id="190" name="JFK"/>
          <p:cNvGrpSpPr/>
          <p:nvPr/>
        </p:nvGrpSpPr>
        <p:grpSpPr>
          <a:xfrm>
            <a:off x="5425548" y="1774119"/>
            <a:ext cx="694213" cy="694215"/>
            <a:chOff x="0" y="-1"/>
            <a:chExt cx="694211" cy="694214"/>
          </a:xfrm>
        </p:grpSpPr>
        <p:sp>
          <p:nvSpPr>
            <p:cNvPr id="188" name="Circle"/>
            <p:cNvSpPr/>
            <p:nvPr/>
          </p:nvSpPr>
          <p:spPr>
            <a:xfrm>
              <a:off x="-1" y="-2"/>
              <a:ext cx="694213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9" name="B"/>
            <p:cNvSpPr txBox="1"/>
            <p:nvPr/>
          </p:nvSpPr>
          <p:spPr>
            <a:xfrm>
              <a:off x="106427" y="180557"/>
              <a:ext cx="481353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B</a:t>
              </a:r>
            </a:p>
          </p:txBody>
        </p:sp>
      </p:grpSp>
      <p:grpSp>
        <p:nvGrpSpPr>
          <p:cNvPr id="193" name="JFK"/>
          <p:cNvGrpSpPr/>
          <p:nvPr/>
        </p:nvGrpSpPr>
        <p:grpSpPr>
          <a:xfrm>
            <a:off x="5425548" y="4389670"/>
            <a:ext cx="694213" cy="694215"/>
            <a:chOff x="0" y="-1"/>
            <a:chExt cx="694211" cy="694214"/>
          </a:xfrm>
        </p:grpSpPr>
        <p:sp>
          <p:nvSpPr>
            <p:cNvPr id="191" name="Circle"/>
            <p:cNvSpPr/>
            <p:nvPr/>
          </p:nvSpPr>
          <p:spPr>
            <a:xfrm>
              <a:off x="-1" y="-2"/>
              <a:ext cx="694213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2" name="D"/>
            <p:cNvSpPr txBox="1"/>
            <p:nvPr/>
          </p:nvSpPr>
          <p:spPr>
            <a:xfrm>
              <a:off x="106427" y="180557"/>
              <a:ext cx="481353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D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2518921" y="4389670"/>
            <a:ext cx="694215" cy="694215"/>
            <a:chOff x="-1" y="-1"/>
            <a:chExt cx="694214" cy="694214"/>
          </a:xfrm>
        </p:grpSpPr>
        <p:sp>
          <p:nvSpPr>
            <p:cNvPr id="194" name="Circle"/>
            <p:cNvSpPr/>
            <p:nvPr/>
          </p:nvSpPr>
          <p:spPr>
            <a:xfrm>
              <a:off x="-2" y="-2"/>
              <a:ext cx="694216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5" name="F"/>
            <p:cNvSpPr txBox="1"/>
            <p:nvPr/>
          </p:nvSpPr>
          <p:spPr>
            <a:xfrm>
              <a:off x="106427" y="180557"/>
              <a:ext cx="481355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97" name="Text"/>
          <p:cNvSpPr txBox="1"/>
          <p:nvPr/>
        </p:nvSpPr>
        <p:spPr>
          <a:xfrm>
            <a:off x="8912952" y="2123970"/>
            <a:ext cx="1049555" cy="25486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𝐶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</m:oMath>
              </m:oMathPara>
            </a14:m>
            <a:endParaRPr sz="2900"/>
          </a:p>
        </p:txBody>
      </p:sp>
      <p:sp>
        <p:nvSpPr>
          <p:cNvPr id="198" name="Text"/>
          <p:cNvSpPr txBox="1"/>
          <p:nvPr/>
        </p:nvSpPr>
        <p:spPr>
          <a:xfrm>
            <a:off x="8830958" y="3385149"/>
            <a:ext cx="1184162" cy="22584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40,320</m:t>
                  </m:r>
                </m:oMath>
              </m:oMathPara>
            </a14:m>
            <a:endParaRPr sz="1900"/>
          </a:p>
        </p:txBody>
      </p:sp>
      <p:sp>
        <p:nvSpPr>
          <p:cNvPr id="199" name="Line"/>
          <p:cNvSpPr/>
          <p:nvPr/>
        </p:nvSpPr>
        <p:spPr>
          <a:xfrm>
            <a:off x="2281714" y="3731138"/>
            <a:ext cx="392074" cy="71831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0" name="Line"/>
          <p:cNvSpPr/>
          <p:nvPr/>
        </p:nvSpPr>
        <p:spPr>
          <a:xfrm flipH="1">
            <a:off x="5991914" y="3751553"/>
            <a:ext cx="392882" cy="7144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e"/>
          <p:cNvSpPr/>
          <p:nvPr/>
        </p:nvSpPr>
        <p:spPr>
          <a:xfrm>
            <a:off x="3170714" y="4912238"/>
            <a:ext cx="802470" cy="3983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Line"/>
          <p:cNvSpPr/>
          <p:nvPr/>
        </p:nvSpPr>
        <p:spPr>
          <a:xfrm flipH="1">
            <a:off x="4654729" y="4912240"/>
            <a:ext cx="812069" cy="3739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3" name="Hamiltonian Cycles"/>
          <p:cNvSpPr txBox="1"/>
          <p:nvPr/>
        </p:nvSpPr>
        <p:spPr>
          <a:xfrm>
            <a:off x="8432820" y="1592536"/>
            <a:ext cx="1975614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b="1" sz="20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Possible Tours</a:t>
            </a:r>
          </a:p>
        </p:txBody>
      </p:sp>
      <p:sp>
        <p:nvSpPr>
          <p:cNvPr id="204" name="Line"/>
          <p:cNvSpPr/>
          <p:nvPr/>
        </p:nvSpPr>
        <p:spPr>
          <a:xfrm flipH="1" flipV="1">
            <a:off x="2465609" y="3423408"/>
            <a:ext cx="3693510" cy="1118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Line"/>
          <p:cNvSpPr/>
          <p:nvPr/>
        </p:nvSpPr>
        <p:spPr>
          <a:xfrm flipH="1">
            <a:off x="2285849" y="2409288"/>
            <a:ext cx="387926" cy="7107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6" name="Line"/>
          <p:cNvSpPr/>
          <p:nvPr/>
        </p:nvSpPr>
        <p:spPr>
          <a:xfrm>
            <a:off x="5991914" y="2391991"/>
            <a:ext cx="402680" cy="6990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7" name="Line"/>
          <p:cNvSpPr/>
          <p:nvPr/>
        </p:nvSpPr>
        <p:spPr>
          <a:xfrm flipV="1">
            <a:off x="3170714" y="1540551"/>
            <a:ext cx="803785" cy="40171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8" name="Line"/>
          <p:cNvSpPr/>
          <p:nvPr/>
        </p:nvSpPr>
        <p:spPr>
          <a:xfrm flipH="1" flipV="1">
            <a:off x="4656616" y="1550884"/>
            <a:ext cx="806908" cy="40932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9" name="Line"/>
          <p:cNvSpPr/>
          <p:nvPr/>
        </p:nvSpPr>
        <p:spPr>
          <a:xfrm flipV="1">
            <a:off x="4317817" y="1819123"/>
            <a:ext cx="19455" cy="32089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Line"/>
          <p:cNvSpPr/>
          <p:nvPr/>
        </p:nvSpPr>
        <p:spPr>
          <a:xfrm flipH="1" flipV="1">
            <a:off x="3108236" y="2371492"/>
            <a:ext cx="2420559" cy="21196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1" name="Line"/>
          <p:cNvSpPr/>
          <p:nvPr/>
        </p:nvSpPr>
        <p:spPr>
          <a:xfrm flipH="1">
            <a:off x="3113880" y="2356531"/>
            <a:ext cx="2405162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2" name="Line"/>
          <p:cNvSpPr/>
          <p:nvPr/>
        </p:nvSpPr>
        <p:spPr>
          <a:xfrm>
            <a:off x="4522230" y="1756578"/>
            <a:ext cx="1717291" cy="144456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3" name="Line"/>
          <p:cNvSpPr/>
          <p:nvPr/>
        </p:nvSpPr>
        <p:spPr>
          <a:xfrm>
            <a:off x="4423340" y="1813921"/>
            <a:ext cx="1206977" cy="260685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4" name="Line"/>
          <p:cNvSpPr/>
          <p:nvPr/>
        </p:nvSpPr>
        <p:spPr>
          <a:xfrm flipH="1">
            <a:off x="3023814" y="1811095"/>
            <a:ext cx="1209156" cy="26184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5" name="Line"/>
          <p:cNvSpPr/>
          <p:nvPr/>
        </p:nvSpPr>
        <p:spPr>
          <a:xfrm flipH="1">
            <a:off x="2410390" y="1742948"/>
            <a:ext cx="1675111" cy="148358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6" name="Line"/>
          <p:cNvSpPr/>
          <p:nvPr/>
        </p:nvSpPr>
        <p:spPr>
          <a:xfrm flipH="1">
            <a:off x="5766999" y="2465079"/>
            <a:ext cx="4373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7" name="Line"/>
          <p:cNvSpPr/>
          <p:nvPr/>
        </p:nvSpPr>
        <p:spPr>
          <a:xfrm flipH="1">
            <a:off x="2863843" y="2471284"/>
            <a:ext cx="8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Line"/>
          <p:cNvSpPr/>
          <p:nvPr/>
        </p:nvSpPr>
        <p:spPr>
          <a:xfrm flipH="1">
            <a:off x="4523618" y="2455751"/>
            <a:ext cx="1153214" cy="263973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9" name="Line"/>
          <p:cNvSpPr/>
          <p:nvPr/>
        </p:nvSpPr>
        <p:spPr>
          <a:xfrm>
            <a:off x="2994211" y="2443594"/>
            <a:ext cx="1121865" cy="265530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0" name="Line"/>
          <p:cNvSpPr/>
          <p:nvPr/>
        </p:nvSpPr>
        <p:spPr>
          <a:xfrm flipH="1">
            <a:off x="2458295" y="2265876"/>
            <a:ext cx="3002943" cy="107267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1" name="Line"/>
          <p:cNvSpPr/>
          <p:nvPr/>
        </p:nvSpPr>
        <p:spPr>
          <a:xfrm>
            <a:off x="3192052" y="2253175"/>
            <a:ext cx="2976889" cy="107102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2" name="Line"/>
          <p:cNvSpPr/>
          <p:nvPr/>
        </p:nvSpPr>
        <p:spPr>
          <a:xfrm flipH="1" flipV="1">
            <a:off x="3211638" y="2109341"/>
            <a:ext cx="2215404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3" name="Line"/>
          <p:cNvSpPr/>
          <p:nvPr/>
        </p:nvSpPr>
        <p:spPr>
          <a:xfrm flipH="1" flipV="1">
            <a:off x="3210078" y="4724715"/>
            <a:ext cx="2216989" cy="21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4" name="Line"/>
          <p:cNvSpPr/>
          <p:nvPr/>
        </p:nvSpPr>
        <p:spPr>
          <a:xfrm flipH="1">
            <a:off x="3185752" y="3591900"/>
            <a:ext cx="3017770" cy="101296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Line"/>
          <p:cNvSpPr/>
          <p:nvPr/>
        </p:nvSpPr>
        <p:spPr>
          <a:xfrm>
            <a:off x="2429097" y="3581427"/>
            <a:ext cx="3026713" cy="101296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Line"/>
          <p:cNvSpPr/>
          <p:nvPr/>
        </p:nvSpPr>
        <p:spPr>
          <a:xfrm flipV="1">
            <a:off x="4616851" y="3693278"/>
            <a:ext cx="1665536" cy="149880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7" name="Line"/>
          <p:cNvSpPr/>
          <p:nvPr/>
        </p:nvSpPr>
        <p:spPr>
          <a:xfrm flipH="1" flipV="1">
            <a:off x="2373764" y="3660268"/>
            <a:ext cx="1672391" cy="150605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8" name="Text"/>
          <p:cNvSpPr txBox="1"/>
          <p:nvPr/>
        </p:nvSpPr>
        <p:spPr>
          <a:xfrm>
            <a:off x="8617208" y="3852519"/>
            <a:ext cx="1611664" cy="22777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3,628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800</m:t>
                  </m:r>
                </m:oMath>
              </m:oMathPara>
            </a14:m>
            <a:endParaRPr sz="1900"/>
          </a:p>
        </p:txBody>
      </p:sp>
      <p:sp>
        <p:nvSpPr>
          <p:cNvPr id="229" name="Text"/>
          <p:cNvSpPr txBox="1"/>
          <p:nvPr/>
        </p:nvSpPr>
        <p:spPr>
          <a:xfrm>
            <a:off x="8574337" y="4321819"/>
            <a:ext cx="1697648" cy="22873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9.332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157</m:t>
                  </m:r>
                </m:oMath>
              </m:oMathPara>
            </a14:m>
            <a:endParaRPr sz="1900"/>
          </a:p>
        </p:txBody>
      </p:sp>
      <p:sp>
        <p:nvSpPr>
          <p:cNvPr id="230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231" name="Equation"/>
          <p:cNvSpPr txBox="1"/>
          <p:nvPr/>
        </p:nvSpPr>
        <p:spPr>
          <a:xfrm>
            <a:off x="9042458" y="3005625"/>
            <a:ext cx="761163" cy="22344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24</m:t>
                  </m:r>
                </m:oMath>
              </m:oMathPara>
            </a14:m>
            <a:endParaRPr sz="19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✅ “MIA HOU NYC LA MIA“…"/>
          <p:cNvSpPr txBox="1"/>
          <p:nvPr/>
        </p:nvSpPr>
        <p:spPr>
          <a:xfrm>
            <a:off x="6710497" y="2561882"/>
            <a:ext cx="3683156" cy="2068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NYC HOU MIA”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MIA”</a:t>
            </a:r>
          </a:p>
        </p:txBody>
      </p:sp>
      <p:sp>
        <p:nvSpPr>
          <p:cNvPr id="234" name="Title 6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pPr/>
            <a:r>
              <a:t>Certificate verification</a:t>
            </a:r>
          </a:p>
        </p:txBody>
      </p:sp>
      <p:graphicFrame>
        <p:nvGraphicFramePr>
          <p:cNvPr id="235" name="Table 1"/>
          <p:cNvGraphicFramePr/>
          <p:nvPr/>
        </p:nvGraphicFramePr>
        <p:xfrm>
          <a:off x="1736730" y="1591445"/>
          <a:ext cx="3022726" cy="40098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{4C3C2611-4C71-4FC5-86AE-919BDF0F9419}</a:tableStyleId>
              </a:tblPr>
              <a:tblGrid>
                <a:gridCol w="1511362"/>
                <a:gridCol w="1511362"/>
              </a:tblGrid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MIA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1.288},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NYC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LA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1.546}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HOU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1.546},</a:t>
                      </a:r>
                      <a:br/>
                      <a:r>
                        <a:t>{NYC: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grpSp>
        <p:nvGrpSpPr>
          <p:cNvPr id="240" name="Hamiltonian Cycle"/>
          <p:cNvGrpSpPr/>
          <p:nvPr/>
        </p:nvGrpSpPr>
        <p:grpSpPr>
          <a:xfrm>
            <a:off x="2284984" y="5029548"/>
            <a:ext cx="1654592" cy="903732"/>
            <a:chOff x="-1" y="0"/>
            <a:chExt cx="1654591" cy="903730"/>
          </a:xfrm>
        </p:grpSpPr>
        <p:sp>
          <p:nvSpPr>
            <p:cNvPr id="238" name="Rectangle"/>
            <p:cNvSpPr/>
            <p:nvPr/>
          </p:nvSpPr>
          <p:spPr>
            <a:xfrm>
              <a:off x="-2" y="0"/>
              <a:ext cx="1654592" cy="903732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9" name="Hamiltonian Cycle"/>
            <p:cNvSpPr txBox="1"/>
            <p:nvPr/>
          </p:nvSpPr>
          <p:spPr>
            <a:xfrm>
              <a:off x="4761" y="139267"/>
              <a:ext cx="1645068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Hamiltonian Cycle</a:t>
              </a:r>
            </a:p>
          </p:txBody>
        </p:sp>
      </p:grpSp>
      <p:grpSp>
        <p:nvGrpSpPr>
          <p:cNvPr id="243" name="LAX"/>
          <p:cNvGrpSpPr/>
          <p:nvPr/>
        </p:nvGrpSpPr>
        <p:grpSpPr>
          <a:xfrm>
            <a:off x="1668924" y="2683303"/>
            <a:ext cx="694213" cy="694213"/>
            <a:chOff x="0" y="0"/>
            <a:chExt cx="694211" cy="694211"/>
          </a:xfrm>
        </p:grpSpPr>
        <p:sp>
          <p:nvSpPr>
            <p:cNvPr id="241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2" name="LAX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46" name="JFK"/>
          <p:cNvGrpSpPr/>
          <p:nvPr/>
        </p:nvGrpSpPr>
        <p:grpSpPr>
          <a:xfrm>
            <a:off x="2765176" y="1578609"/>
            <a:ext cx="694215" cy="694215"/>
            <a:chOff x="-1" y="-1"/>
            <a:chExt cx="694214" cy="694214"/>
          </a:xfrm>
        </p:grpSpPr>
        <p:sp>
          <p:nvSpPr>
            <p:cNvPr id="244" name="Circle"/>
            <p:cNvSpPr/>
            <p:nvPr/>
          </p:nvSpPr>
          <p:spPr>
            <a:xfrm>
              <a:off x="-2" y="-2"/>
              <a:ext cx="694216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5" name="JFK"/>
            <p:cNvSpPr txBox="1"/>
            <p:nvPr/>
          </p:nvSpPr>
          <p:spPr>
            <a:xfrm>
              <a:off x="106425" y="208097"/>
              <a:ext cx="48135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49" name="MIA"/>
          <p:cNvGrpSpPr/>
          <p:nvPr/>
        </p:nvGrpSpPr>
        <p:grpSpPr>
          <a:xfrm>
            <a:off x="3870696" y="2683303"/>
            <a:ext cx="694219" cy="694213"/>
            <a:chOff x="0" y="0"/>
            <a:chExt cx="694217" cy="694211"/>
          </a:xfrm>
        </p:grpSpPr>
        <p:sp>
          <p:nvSpPr>
            <p:cNvPr id="247" name="Circle"/>
            <p:cNvSpPr/>
            <p:nvPr/>
          </p:nvSpPr>
          <p:spPr>
            <a:xfrm>
              <a:off x="-1" y="-1"/>
              <a:ext cx="694219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8" name="MIA"/>
            <p:cNvSpPr txBox="1"/>
            <p:nvPr/>
          </p:nvSpPr>
          <p:spPr>
            <a:xfrm>
              <a:off x="106427" y="208097"/>
              <a:ext cx="48135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52" name="HOU"/>
          <p:cNvGrpSpPr/>
          <p:nvPr/>
        </p:nvGrpSpPr>
        <p:grpSpPr>
          <a:xfrm>
            <a:off x="2765176" y="3778426"/>
            <a:ext cx="694215" cy="694213"/>
            <a:chOff x="-1" y="0"/>
            <a:chExt cx="694214" cy="694211"/>
          </a:xfrm>
        </p:grpSpPr>
        <p:sp>
          <p:nvSpPr>
            <p:cNvPr id="250" name="Circle"/>
            <p:cNvSpPr/>
            <p:nvPr/>
          </p:nvSpPr>
          <p:spPr>
            <a:xfrm>
              <a:off x="-2" y="-1"/>
              <a:ext cx="694216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1" name="HOU"/>
            <p:cNvSpPr txBox="1"/>
            <p:nvPr/>
          </p:nvSpPr>
          <p:spPr>
            <a:xfrm>
              <a:off x="106425" y="208097"/>
              <a:ext cx="48135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53" name="Line"/>
          <p:cNvSpPr/>
          <p:nvPr/>
        </p:nvSpPr>
        <p:spPr>
          <a:xfrm flipV="1">
            <a:off x="2241618" y="2145980"/>
            <a:ext cx="587107" cy="61336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4" name="Line"/>
          <p:cNvSpPr/>
          <p:nvPr/>
        </p:nvSpPr>
        <p:spPr>
          <a:xfrm flipV="1">
            <a:off x="3100750" y="2278133"/>
            <a:ext cx="20532" cy="15000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5" name="Line"/>
          <p:cNvSpPr/>
          <p:nvPr/>
        </p:nvSpPr>
        <p:spPr>
          <a:xfrm flipV="1">
            <a:off x="3366160" y="3283158"/>
            <a:ext cx="610075" cy="61336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6" name="Line"/>
          <p:cNvSpPr/>
          <p:nvPr/>
        </p:nvSpPr>
        <p:spPr>
          <a:xfrm flipH="1" flipV="1">
            <a:off x="2362192" y="3030408"/>
            <a:ext cx="1500190" cy="1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59" name="LAX"/>
          <p:cNvGrpSpPr/>
          <p:nvPr/>
        </p:nvGrpSpPr>
        <p:grpSpPr>
          <a:xfrm>
            <a:off x="7627087" y="2688088"/>
            <a:ext cx="694213" cy="694212"/>
            <a:chOff x="0" y="0"/>
            <a:chExt cx="694211" cy="694211"/>
          </a:xfrm>
        </p:grpSpPr>
        <p:sp>
          <p:nvSpPr>
            <p:cNvPr id="257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8" name="LAX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62" name="JFK"/>
          <p:cNvGrpSpPr/>
          <p:nvPr/>
        </p:nvGrpSpPr>
        <p:grpSpPr>
          <a:xfrm>
            <a:off x="8723340" y="1583392"/>
            <a:ext cx="694213" cy="694213"/>
            <a:chOff x="0" y="0"/>
            <a:chExt cx="694211" cy="694211"/>
          </a:xfrm>
        </p:grpSpPr>
        <p:sp>
          <p:nvSpPr>
            <p:cNvPr id="260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1" name="JFK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65" name="MIA"/>
          <p:cNvGrpSpPr/>
          <p:nvPr/>
        </p:nvGrpSpPr>
        <p:grpSpPr>
          <a:xfrm>
            <a:off x="9828862" y="2688087"/>
            <a:ext cx="694213" cy="694219"/>
            <a:chOff x="0" y="0"/>
            <a:chExt cx="694211" cy="694217"/>
          </a:xfrm>
        </p:grpSpPr>
        <p:sp>
          <p:nvSpPr>
            <p:cNvPr id="263" name="Circle"/>
            <p:cNvSpPr/>
            <p:nvPr/>
          </p:nvSpPr>
          <p:spPr>
            <a:xfrm>
              <a:off x="-1" y="-1"/>
              <a:ext cx="694212" cy="694218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4" name="MIA"/>
            <p:cNvSpPr txBox="1"/>
            <p:nvPr/>
          </p:nvSpPr>
          <p:spPr>
            <a:xfrm>
              <a:off x="106425" y="208099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68" name="HOU"/>
          <p:cNvGrpSpPr/>
          <p:nvPr/>
        </p:nvGrpSpPr>
        <p:grpSpPr>
          <a:xfrm>
            <a:off x="8723340" y="3783211"/>
            <a:ext cx="694213" cy="694213"/>
            <a:chOff x="0" y="0"/>
            <a:chExt cx="694211" cy="694211"/>
          </a:xfrm>
        </p:grpSpPr>
        <p:sp>
          <p:nvSpPr>
            <p:cNvPr id="266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7" name="HOU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69" name="Line"/>
          <p:cNvSpPr/>
          <p:nvPr/>
        </p:nvSpPr>
        <p:spPr>
          <a:xfrm flipV="1">
            <a:off x="8199783" y="2150765"/>
            <a:ext cx="587107" cy="61336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0" name="Line"/>
          <p:cNvSpPr/>
          <p:nvPr/>
        </p:nvSpPr>
        <p:spPr>
          <a:xfrm flipV="1">
            <a:off x="9058912" y="2282917"/>
            <a:ext cx="20532" cy="15000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1" name="Line"/>
          <p:cNvSpPr/>
          <p:nvPr/>
        </p:nvSpPr>
        <p:spPr>
          <a:xfrm flipV="1">
            <a:off x="9324326" y="3287943"/>
            <a:ext cx="610075" cy="61336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2" name="Line"/>
          <p:cNvSpPr/>
          <p:nvPr/>
        </p:nvSpPr>
        <p:spPr>
          <a:xfrm flipH="1" flipV="1">
            <a:off x="8320354" y="3035193"/>
            <a:ext cx="1500190" cy="1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3" name="Line"/>
          <p:cNvSpPr/>
          <p:nvPr/>
        </p:nvSpPr>
        <p:spPr>
          <a:xfrm flipH="1" flipV="1">
            <a:off x="9352336" y="2145980"/>
            <a:ext cx="604908" cy="6126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4" name="1.74"/>
          <p:cNvSpPr txBox="1"/>
          <p:nvPr/>
        </p:nvSpPr>
        <p:spPr>
          <a:xfrm>
            <a:off x="9666027" y="2135639"/>
            <a:ext cx="189181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275" name="Line"/>
          <p:cNvSpPr/>
          <p:nvPr/>
        </p:nvSpPr>
        <p:spPr>
          <a:xfrm flipH="1" flipV="1">
            <a:off x="8182122" y="3305659"/>
            <a:ext cx="604908" cy="61261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6" name="1.74"/>
          <p:cNvSpPr txBox="1"/>
          <p:nvPr/>
        </p:nvSpPr>
        <p:spPr>
          <a:xfrm>
            <a:off x="8138522" y="3660121"/>
            <a:ext cx="189180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277" name="Line"/>
          <p:cNvSpPr/>
          <p:nvPr/>
        </p:nvSpPr>
        <p:spPr>
          <a:xfrm>
            <a:off x="5168212" y="3030409"/>
            <a:ext cx="1846312" cy="8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80" name="Traveling Salesman"/>
          <p:cNvGrpSpPr/>
          <p:nvPr/>
        </p:nvGrpSpPr>
        <p:grpSpPr>
          <a:xfrm>
            <a:off x="8243149" y="5029548"/>
            <a:ext cx="1654593" cy="903732"/>
            <a:chOff x="-1" y="0"/>
            <a:chExt cx="1654591" cy="903730"/>
          </a:xfrm>
        </p:grpSpPr>
        <p:sp>
          <p:nvSpPr>
            <p:cNvPr id="278" name="Rectangle"/>
            <p:cNvSpPr/>
            <p:nvPr/>
          </p:nvSpPr>
          <p:spPr>
            <a:xfrm>
              <a:off x="-2" y="0"/>
              <a:ext cx="1654592" cy="903732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9" name="Traveling Salesman"/>
            <p:cNvSpPr txBox="1"/>
            <p:nvPr/>
          </p:nvSpPr>
          <p:spPr>
            <a:xfrm>
              <a:off x="4761" y="139267"/>
              <a:ext cx="1645067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Traveling Salesman</a:t>
              </a:r>
            </a:p>
          </p:txBody>
        </p:sp>
      </p:grpSp>
      <p:sp>
        <p:nvSpPr>
          <p:cNvPr id="281" name="Text"/>
          <p:cNvSpPr txBox="1"/>
          <p:nvPr/>
        </p:nvSpPr>
        <p:spPr>
          <a:xfrm>
            <a:off x="5844516" y="3214627"/>
            <a:ext cx="255377" cy="26374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sub>
                  </m:sSub>
                </m:oMath>
              </m:oMathPara>
            </a14:m>
            <a:endParaRPr sz="2100"/>
          </a:p>
        </p:txBody>
      </p:sp>
      <p:sp>
        <p:nvSpPr>
          <p:cNvPr id="282" name="2.475"/>
          <p:cNvSpPr txBox="1"/>
          <p:nvPr/>
        </p:nvSpPr>
        <p:spPr>
          <a:xfrm>
            <a:off x="1920810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283" name="1.1"/>
          <p:cNvSpPr txBox="1"/>
          <p:nvPr/>
        </p:nvSpPr>
        <p:spPr>
          <a:xfrm>
            <a:off x="3671194" y="358983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284" name="1.74"/>
          <p:cNvSpPr txBox="1"/>
          <p:nvPr/>
        </p:nvSpPr>
        <p:spPr>
          <a:xfrm>
            <a:off x="3088051" y="244521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285" name="2.342"/>
          <p:cNvSpPr txBox="1"/>
          <p:nvPr/>
        </p:nvSpPr>
        <p:spPr>
          <a:xfrm>
            <a:off x="2362461" y="302815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  <p:sp>
        <p:nvSpPr>
          <p:cNvPr id="286" name="2.475"/>
          <p:cNvSpPr txBox="1"/>
          <p:nvPr/>
        </p:nvSpPr>
        <p:spPr>
          <a:xfrm>
            <a:off x="7882607" y="2134148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287" name="1.1"/>
          <p:cNvSpPr txBox="1"/>
          <p:nvPr/>
        </p:nvSpPr>
        <p:spPr>
          <a:xfrm>
            <a:off x="9632991" y="358907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288" name="1.74"/>
          <p:cNvSpPr txBox="1"/>
          <p:nvPr/>
        </p:nvSpPr>
        <p:spPr>
          <a:xfrm>
            <a:off x="9049846" y="244445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289" name="2.342"/>
          <p:cNvSpPr txBox="1"/>
          <p:nvPr/>
        </p:nvSpPr>
        <p:spPr>
          <a:xfrm>
            <a:off x="8324257" y="302739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pic>
        <p:nvPicPr>
          <p:cNvPr id="292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>
            <a:extLst/>
          </a:blip>
          <a:srcRect l="0" t="5399" r="0" b="19332"/>
          <a:stretch>
            <a:fillRect/>
          </a:stretch>
        </p:blipFill>
        <p:spPr>
          <a:xfrm>
            <a:off x="2548926" y="2202406"/>
            <a:ext cx="7094336" cy="2161863"/>
          </a:xfrm>
          <a:prstGeom prst="rect">
            <a:avLst/>
          </a:prstGeom>
          <a:ln w="12700">
            <a:miter lim="400000"/>
          </a:ln>
        </p:spPr>
      </p:pic>
      <p:sp>
        <p:nvSpPr>
          <p:cNvPr id="293" name="Equation"/>
          <p:cNvSpPr txBox="1"/>
          <p:nvPr/>
        </p:nvSpPr>
        <p:spPr>
          <a:xfrm>
            <a:off x="5597723" y="4880681"/>
            <a:ext cx="1036279" cy="44344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Equation"/>
          <p:cNvSpPr txBox="1"/>
          <p:nvPr/>
        </p:nvSpPr>
        <p:spPr>
          <a:xfrm>
            <a:off x="5276910" y="5792587"/>
            <a:ext cx="1707423" cy="36832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∙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  <p:sp>
        <p:nvSpPr>
          <p:cNvPr id="297" name="Title 1"/>
          <p:cNvSpPr txBox="1"/>
          <p:nvPr/>
        </p:nvSpPr>
        <p:spPr>
          <a:xfrm>
            <a:off x="151728" y="113540"/>
            <a:ext cx="8831799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>
            <a:lvl1pPr>
              <a:lnSpc>
                <a:spcPct val="90000"/>
              </a:lnSpc>
              <a:defRPr cap="all" sz="3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Analytical runtime OF exact solution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itle 1"/>
          <p:cNvSpPr txBox="1"/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pPr/>
            <a:r>
              <a:t>Test creation</a:t>
            </a:r>
          </a:p>
        </p:txBody>
      </p:sp>
      <p:pic>
        <p:nvPicPr>
          <p:cNvPr id="300" name="Screenshot 2025-12-02 at 9.44.47 PM.png" descr="Screenshot 2025-12-02 at 9.44.4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355873" y="1793064"/>
            <a:ext cx="7480256" cy="146248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Screenshot 2025-12-03 at 12.19.16 PM.png" descr="Screenshot 2025-12-03 at 12.19.16 P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50247" y="4111273"/>
            <a:ext cx="7491508" cy="1462491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generator.py"/>
          <p:cNvSpPr txBox="1"/>
          <p:nvPr/>
        </p:nvSpPr>
        <p:spPr>
          <a:xfrm>
            <a:off x="2354613" y="1390908"/>
            <a:ext cx="1375166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lvl="5"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generator.py</a:t>
            </a:r>
          </a:p>
        </p:txBody>
      </p:sp>
      <p:sp>
        <p:nvSpPr>
          <p:cNvPr id="303" name="run_tests.sh"/>
          <p:cNvSpPr txBox="1"/>
          <p:nvPr/>
        </p:nvSpPr>
        <p:spPr>
          <a:xfrm>
            <a:off x="2354614" y="3670472"/>
            <a:ext cx="1349381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run_tests.sh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itle 1"/>
          <p:cNvSpPr txBox="1"/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pPr/>
            <a:r>
              <a:t>Empirical analysis</a:t>
            </a:r>
          </a:p>
        </p:txBody>
      </p:sp>
      <p:pic>
        <p:nvPicPr>
          <p:cNvPr id="306" name="emperial.png" descr="emperial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12354" y="1293070"/>
            <a:ext cx="5983715" cy="4487785"/>
          </a:xfrm>
          <a:prstGeom prst="rect">
            <a:avLst/>
          </a:prstGeom>
          <a:ln w="12700">
            <a:miter lim="400000"/>
          </a:ln>
        </p:spPr>
      </p:pic>
      <p:sp>
        <p:nvSpPr>
          <p:cNvPr id="307" name="Text"/>
          <p:cNvSpPr txBox="1"/>
          <p:nvPr/>
        </p:nvSpPr>
        <p:spPr>
          <a:xfrm>
            <a:off x="7354747" y="3424859"/>
            <a:ext cx="1477171" cy="2496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𝑠</m:t>
                  </m:r>
                </m:oMath>
              </m:oMathPara>
            </a14:m>
            <a:endParaRPr sz="2100"/>
          </a:p>
        </p:txBody>
      </p:sp>
      <p:sp>
        <p:nvSpPr>
          <p:cNvPr id="308" name="Text"/>
          <p:cNvSpPr txBox="1"/>
          <p:nvPr/>
        </p:nvSpPr>
        <p:spPr>
          <a:xfrm>
            <a:off x="7348218" y="3886591"/>
            <a:ext cx="1295173" cy="25113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𝑠</m:t>
                  </m:r>
                </m:oMath>
              </m:oMathPara>
            </a14:m>
            <a:endParaRPr sz="2100"/>
          </a:p>
        </p:txBody>
      </p:sp>
      <p:sp>
        <p:nvSpPr>
          <p:cNvPr id="309" name="Text"/>
          <p:cNvSpPr txBox="1"/>
          <p:nvPr/>
        </p:nvSpPr>
        <p:spPr>
          <a:xfrm>
            <a:off x="7352218" y="4349913"/>
            <a:ext cx="1543381" cy="2496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</m:oMath>
              </m:oMathPara>
            </a14:m>
            <a:endParaRPr sz="2100"/>
          </a:p>
        </p:txBody>
      </p:sp>
      <p:sp>
        <p:nvSpPr>
          <p:cNvPr id="310" name="Text"/>
          <p:cNvSpPr txBox="1"/>
          <p:nvPr/>
        </p:nvSpPr>
        <p:spPr>
          <a:xfrm>
            <a:off x="7353952" y="4817197"/>
            <a:ext cx="950098" cy="24696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12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8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</m:oMath>
              </m:oMathPara>
            </a14:m>
            <a:endParaRPr sz="2100"/>
          </a:p>
        </p:txBody>
      </p:sp>
      <p:sp>
        <p:nvSpPr>
          <p:cNvPr id="311" name="Text"/>
          <p:cNvSpPr txBox="1"/>
          <p:nvPr/>
        </p:nvSpPr>
        <p:spPr>
          <a:xfrm>
            <a:off x="7350752" y="5267033"/>
            <a:ext cx="1096250" cy="25174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13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2.6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h</m:t>
                  </m:r>
                </m:oMath>
              </m:oMathPara>
            </a14:m>
            <a:endParaRPr sz="2100"/>
          </a:p>
        </p:txBody>
      </p:sp>
      <p:sp>
        <p:nvSpPr>
          <p:cNvPr id="312" name="Text"/>
          <p:cNvSpPr txBox="1"/>
          <p:nvPr/>
        </p:nvSpPr>
        <p:spPr>
          <a:xfrm>
            <a:off x="9625366" y="3432045"/>
            <a:ext cx="1229600" cy="24909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36.4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h</m:t>
                  </m:r>
                </m:oMath>
              </m:oMathPara>
            </a14:m>
            <a:endParaRPr sz="2100"/>
          </a:p>
        </p:txBody>
      </p:sp>
      <p:sp>
        <p:nvSpPr>
          <p:cNvPr id="313" name="Text"/>
          <p:cNvSpPr txBox="1"/>
          <p:nvPr/>
        </p:nvSpPr>
        <p:spPr>
          <a:xfrm>
            <a:off x="9622832" y="3919163"/>
            <a:ext cx="1250136" cy="2528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&gt;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1.5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𝑀</m:t>
                  </m:r>
                </m:oMath>
              </m:oMathPara>
            </a14:m>
            <a:endParaRPr sz="2100"/>
          </a:p>
        </p:txBody>
      </p:sp>
      <p:sp>
        <p:nvSpPr>
          <p:cNvPr id="314" name="Text"/>
          <p:cNvSpPr txBox="1"/>
          <p:nvPr/>
        </p:nvSpPr>
        <p:spPr>
          <a:xfrm>
            <a:off x="9622832" y="4346388"/>
            <a:ext cx="1328821" cy="24588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𝑌</m:t>
                  </m:r>
                </m:oMath>
              </m:oMathPara>
            </a14:m>
            <a:endParaRPr sz="2100"/>
          </a:p>
        </p:txBody>
      </p:sp>
      <p:sp>
        <p:nvSpPr>
          <p:cNvPr id="315" name="Text"/>
          <p:cNvSpPr txBox="1"/>
          <p:nvPr/>
        </p:nvSpPr>
        <p:spPr>
          <a:xfrm>
            <a:off x="8556286" y="1588787"/>
            <a:ext cx="1370851" cy="633701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num>
                    <m:den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den>
                  </m:f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∗</m:t>
                  </m:r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sub>
                  </m:sSub>
                </m:oMath>
              </m:oMathPara>
            </a14:m>
            <a:endParaRPr sz="1792"/>
          </a:p>
        </p:txBody>
      </p:sp>
      <p:sp>
        <p:nvSpPr>
          <p:cNvPr id="316" name="Line"/>
          <p:cNvSpPr/>
          <p:nvPr/>
        </p:nvSpPr>
        <p:spPr>
          <a:xfrm flipV="1">
            <a:off x="9232123" y="2526417"/>
            <a:ext cx="5" cy="30383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7" name="Text"/>
          <p:cNvSpPr txBox="1"/>
          <p:nvPr/>
        </p:nvSpPr>
        <p:spPr>
          <a:xfrm>
            <a:off x="7989126" y="2665813"/>
            <a:ext cx="313407" cy="374243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𝐾</m:t>
                  </m:r>
                </m:oMath>
              </m:oMathPara>
            </a14:m>
            <a:endParaRPr sz="1792"/>
          </a:p>
        </p:txBody>
      </p:sp>
      <p:sp>
        <p:nvSpPr>
          <p:cNvPr id="318" name="Text"/>
          <p:cNvSpPr txBox="1"/>
          <p:nvPr/>
        </p:nvSpPr>
        <p:spPr>
          <a:xfrm>
            <a:off x="10013543" y="2665813"/>
            <a:ext cx="299653" cy="374243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𝑈</m:t>
                  </m:r>
                </m:oMath>
              </m:oMathPara>
            </a14:m>
            <a:endParaRPr sz="1792"/>
          </a:p>
        </p:txBody>
      </p:sp>
      <p:sp>
        <p:nvSpPr>
          <p:cNvPr id="319" name="Line"/>
          <p:cNvSpPr/>
          <p:nvPr/>
        </p:nvSpPr>
        <p:spPr>
          <a:xfrm flipH="1" flipV="1">
            <a:off x="7393244" y="3173914"/>
            <a:ext cx="3677759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itle 1"/>
          <p:cNvSpPr txBox="1"/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22" name="Text Placeholder 2"/>
          <p:cNvSpPr txBox="1"/>
          <p:nvPr>
            <p:ph type="body" idx="1"/>
          </p:nvPr>
        </p:nvSpPr>
        <p:spPr>
          <a:xfrm>
            <a:off x="222701" y="1158581"/>
            <a:ext cx="10701974" cy="558512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main():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graph and nodes initialized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each edge in the graph:  </a:t>
            </a:r>
            <a:r>
              <a:rPr b="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t> </a:t>
            </a:r>
            <a:r>
              <a:rPr sz="2000">
                <a:solidFill>
                  <a:srgbClr val="002060"/>
                </a:solidFill>
              </a:rPr>
              <a:t>O(n)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	adjacency dictionary is built here</a:t>
            </a: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Step 1: Build initial path using Nearest Neighbor heuristic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path_1</a:t>
            </a:r>
            <a:r>
              <a:rPr>
                <a:solidFill>
                  <a:srgbClr val="000000"/>
                </a:solidFill>
              </a:rPr>
              <a:t> is calculated through nearest neighbor </a:t>
            </a:r>
            <a:r>
              <a:rPr b="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>
                <a:solidFill>
                  <a:srgbClr val="000000"/>
                </a:solidFill>
              </a:rPr>
              <a:t> </a:t>
            </a:r>
            <a:r>
              <a:rPr sz="2000">
                <a:solidFill>
                  <a:srgbClr val="002060"/>
                </a:solidFill>
              </a:rPr>
              <a:t>O(n²)</a:t>
            </a:r>
            <a:endParaRPr>
              <a:solidFill>
                <a:srgbClr val="002060"/>
              </a:solidFill>
              <a:latin typeface="Tenorite"/>
              <a:ea typeface="Tenorite"/>
              <a:cs typeface="Tenorite"/>
              <a:sym typeface="Tenorite"/>
            </a:endParaRP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Step 2: Run 2-opt heuristic for local improvement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path_2</a:t>
            </a:r>
            <a:r>
              <a:rPr>
                <a:solidFill>
                  <a:srgbClr val="000000"/>
                </a:solidFill>
              </a:rPr>
              <a:t> is calculated using path_1 with</a:t>
            </a:r>
            <a:br>
              <a:rPr>
                <a:solidFill>
                  <a:srgbClr val="000000"/>
                </a:solidFill>
              </a:rPr>
            </a:br>
            <a:r>
              <a:rPr>
                <a:solidFill>
                  <a:srgbClr val="000000"/>
                </a:solidFill>
              </a:rPr>
              <a:t>				two-opt </a:t>
            </a:r>
            <a:r>
              <a:rPr b="0" sz="160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 sz="1600">
                <a:solidFill>
                  <a:srgbClr val="000000"/>
                </a:solidFill>
              </a:rPr>
              <a:t> </a:t>
            </a:r>
            <a:r>
              <a:rPr>
                <a:solidFill>
                  <a:srgbClr val="002060"/>
                </a:solidFill>
              </a:rPr>
              <a:t>O(n³) worst case</a:t>
            </a: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Compute final path length and cycle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tour_length is calculated from path_2 </a:t>
            </a:r>
            <a:r>
              <a:rPr b="0" sz="160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 sz="1600"/>
              <a:t> </a:t>
            </a:r>
            <a:r>
              <a:rPr sz="2000">
                <a:solidFill>
                  <a:srgbClr val="002060"/>
                </a:solidFill>
              </a:rPr>
              <a:t>O(n)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path_3</a:t>
            </a:r>
            <a:r>
              <a:rPr>
                <a:solidFill>
                  <a:srgbClr val="000000"/>
                </a:solidFill>
              </a:rPr>
              <a:t> is calculated as: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	 path_2 + the first node of path_2 </a:t>
            </a:r>
            <a:r>
              <a:rPr b="0">
                <a:solidFill>
                  <a:srgbClr val="7030A0"/>
                </a:solidFill>
                <a:latin typeface="Wingdings"/>
                <a:ea typeface="Wingdings"/>
                <a:cs typeface="Wingdings"/>
                <a:sym typeface="Wingdings"/>
              </a:rPr>
              <a:t> </a:t>
            </a:r>
            <a:r>
              <a:rPr>
                <a:solidFill>
                  <a:srgbClr val="7030A0"/>
                </a:solidFill>
              </a:rPr>
              <a:t>turn into a cycle</a:t>
            </a:r>
          </a:p>
        </p:txBody>
      </p:sp>
      <p:sp>
        <p:nvSpPr>
          <p:cNvPr id="323" name="TextBox 9"/>
          <p:cNvSpPr txBox="1"/>
          <p:nvPr/>
        </p:nvSpPr>
        <p:spPr>
          <a:xfrm>
            <a:off x="7131049" y="1158582"/>
            <a:ext cx="3793627" cy="1513837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Two heuristics used in combination:</a:t>
            </a:r>
            <a:endParaRPr>
              <a:latin typeface="+mj-lt"/>
              <a:ea typeface="+mj-ea"/>
              <a:cs typeface="+mj-cs"/>
              <a:sym typeface="Calibri"/>
            </a:endParaRPr>
          </a:p>
          <a:p>
            <a:pPr>
              <a:defRPr b="1"/>
            </a:pPr>
            <a:br/>
            <a:r>
              <a:rPr b="0">
                <a:latin typeface="Tenorite"/>
                <a:ea typeface="Tenorite"/>
                <a:cs typeface="Tenorite"/>
                <a:sym typeface="Tenorite"/>
              </a:rPr>
              <a:t>1. Nearest Neighbor (Greedy)</a:t>
            </a:r>
            <a:br>
              <a:rPr b="0">
                <a:latin typeface="Tenorite"/>
                <a:ea typeface="Tenorite"/>
                <a:cs typeface="Tenorite"/>
                <a:sym typeface="Tenorite"/>
              </a:rPr>
            </a:br>
            <a:r>
              <a:rPr b="0">
                <a:latin typeface="Tenorite"/>
                <a:ea typeface="Tenorite"/>
                <a:cs typeface="Tenorite"/>
                <a:sym typeface="Tenorite"/>
              </a:rPr>
              <a:t>2. Two-Opt (Local optimal swap)</a:t>
            </a:r>
          </a:p>
        </p:txBody>
      </p:sp>
      <p:sp>
        <p:nvSpPr>
          <p:cNvPr id="324" name="TextBox 1"/>
          <p:cNvSpPr txBox="1"/>
          <p:nvPr/>
        </p:nvSpPr>
        <p:spPr>
          <a:xfrm>
            <a:off x="8050044" y="3628506"/>
            <a:ext cx="3316457" cy="2243231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700"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Polynomial Time:</a:t>
            </a:r>
          </a:p>
          <a:p>
            <a:pPr>
              <a:defRPr sz="1700"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O(n)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(build adjacency dictionary)</a:t>
            </a:r>
            <a:endParaRPr>
              <a:latin typeface="Tenorite"/>
              <a:ea typeface="Tenorite"/>
              <a:cs typeface="Tenorite"/>
              <a:sym typeface="Tenorite"/>
            </a:endParaRPr>
          </a:p>
          <a:p>
            <a:pPr>
              <a:defRPr sz="1700"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+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O(n²) (Nearest Neighbor)</a:t>
            </a: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+ O(n²) (Two-Opt pair checks)</a:t>
            </a: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+ O(n³) (Two-opt worst case switch)</a:t>
            </a: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+ O(n) (Calculate tour length)</a:t>
            </a: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 = </a:t>
            </a:r>
            <a:r>
              <a:rPr b="1"/>
              <a:t>O(n³)  worst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itle 1"/>
          <p:cNvSpPr txBox="1"/>
          <p:nvPr>
            <p:ph type="title"/>
          </p:nvPr>
        </p:nvSpPr>
        <p:spPr>
          <a:xfrm>
            <a:off x="361949" y="126361"/>
            <a:ext cx="7273636" cy="96393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27" name="Text Placeholder 2"/>
          <p:cNvSpPr txBox="1"/>
          <p:nvPr>
            <p:ph type="body" sz="half" idx="1"/>
          </p:nvPr>
        </p:nvSpPr>
        <p:spPr>
          <a:xfrm>
            <a:off x="361947" y="1619247"/>
            <a:ext cx="5645155" cy="4984755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81000"/>
              </a:lnSpc>
              <a:buSzTx/>
              <a:buNone/>
              <a:defRPr b="1"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nearest_neighbor(graph, nodes):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start</a:t>
            </a:r>
            <a:r>
              <a:rPr b="0">
                <a:solidFill>
                  <a:srgbClr val="000000"/>
                </a:solidFill>
              </a:rPr>
              <a:t> = arbitrary node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00206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unvisited</a:t>
            </a:r>
            <a:r>
              <a:rPr b="0">
                <a:solidFill>
                  <a:srgbClr val="000000"/>
                </a:solidFill>
              </a:rPr>
              <a:t> = copy of all nodes that still need to be visited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mark </a:t>
            </a:r>
            <a:r>
              <a:rPr b="1">
                <a:solidFill>
                  <a:srgbClr val="FF0000"/>
                </a:solidFill>
              </a:rPr>
              <a:t>start</a:t>
            </a:r>
            <a:r>
              <a:t> as visited by removing it from </a:t>
            </a:r>
            <a:r>
              <a:rPr b="1">
                <a:solidFill>
                  <a:srgbClr val="002060"/>
                </a:solidFill>
              </a:rPr>
              <a:t>unvisited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7030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tour</a:t>
            </a:r>
            <a:r>
              <a:rPr b="0">
                <a:solidFill>
                  <a:srgbClr val="000000"/>
                </a:solidFill>
              </a:rPr>
              <a:t> initialized only containing </a:t>
            </a:r>
            <a:r>
              <a:rPr>
                <a:solidFill>
                  <a:srgbClr val="FF0000"/>
                </a:solidFill>
              </a:rPr>
              <a:t>start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current_node </a:t>
            </a:r>
            <a:r>
              <a:rPr b="0">
                <a:solidFill>
                  <a:srgbClr val="000000"/>
                </a:solidFill>
              </a:rPr>
              <a:t>= </a:t>
            </a:r>
            <a:r>
              <a:rPr>
                <a:solidFill>
                  <a:srgbClr val="FF0000"/>
                </a:solidFill>
              </a:rPr>
              <a:t>start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</a:t>
            </a:r>
            <a:r>
              <a:rPr b="0"/>
              <a:t> there are still unvisited nodes:</a:t>
            </a:r>
            <a:endParaRPr sz="1800"/>
          </a:p>
          <a:p>
            <a:pPr lvl="2" marL="0" indent="971550">
              <a:lnSpc>
                <a:spcPct val="81000"/>
              </a:lnSpc>
              <a:buSzTx/>
              <a:buNone/>
              <a:defRPr b="1" sz="1600">
                <a:solidFill>
                  <a:srgbClr val="385724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next_node </a:t>
            </a:r>
            <a:r>
              <a:rPr b="0">
                <a:solidFill>
                  <a:srgbClr val="000000"/>
                </a:solidFill>
              </a:rPr>
              <a:t>= closest to </a:t>
            </a:r>
            <a:r>
              <a:rPr>
                <a:solidFill>
                  <a:srgbClr val="0070C0"/>
                </a:solidFill>
              </a:rPr>
              <a:t>current_node</a:t>
            </a:r>
            <a:endParaRPr sz="1800">
              <a:solidFill>
                <a:srgbClr val="0070C0"/>
              </a:solidFill>
            </a:endParaRPr>
          </a:p>
          <a:p>
            <a:pPr lvl="2" marL="0" indent="971550">
              <a:lnSpc>
                <a:spcPct val="81000"/>
              </a:lnSpc>
              <a:buSzTx/>
              <a:buNone/>
              <a:defRPr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add </a:t>
            </a:r>
            <a:r>
              <a:rPr b="1">
                <a:solidFill>
                  <a:srgbClr val="385724"/>
                </a:solidFill>
              </a:rPr>
              <a:t>next_node </a:t>
            </a:r>
            <a:r>
              <a:t>to the </a:t>
            </a:r>
            <a:r>
              <a:rPr b="1">
                <a:solidFill>
                  <a:srgbClr val="7030A0"/>
                </a:solidFill>
              </a:rPr>
              <a:t>tour</a:t>
            </a:r>
            <a:endParaRPr sz="1800"/>
          </a:p>
          <a:p>
            <a:pPr lvl="2" marL="0" indent="971550">
              <a:lnSpc>
                <a:spcPct val="81000"/>
              </a:lnSpc>
              <a:buSzTx/>
              <a:buNone/>
              <a:defRPr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mark </a:t>
            </a:r>
            <a:r>
              <a:rPr b="1">
                <a:solidFill>
                  <a:srgbClr val="385724"/>
                </a:solidFill>
              </a:rPr>
              <a:t>next_node </a:t>
            </a:r>
            <a:r>
              <a:t>as visited by removing it from </a:t>
            </a:r>
            <a:r>
              <a:rPr b="1">
                <a:solidFill>
                  <a:srgbClr val="002060"/>
                </a:solidFill>
              </a:rPr>
              <a:t>unvisited</a:t>
            </a:r>
            <a:endParaRPr sz="1800"/>
          </a:p>
          <a:p>
            <a:pPr lvl="2" marL="0" indent="971550">
              <a:lnSpc>
                <a:spcPct val="81000"/>
              </a:lnSpc>
              <a:buSzTx/>
              <a:buNone/>
              <a:defRPr b="1" sz="1600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current_node </a:t>
            </a:r>
            <a:r>
              <a:rPr b="0">
                <a:solidFill>
                  <a:srgbClr val="002060"/>
                </a:solidFill>
              </a:rPr>
              <a:t>= </a:t>
            </a:r>
            <a:r>
              <a:rPr>
                <a:solidFill>
                  <a:srgbClr val="385724"/>
                </a:solidFill>
              </a:rPr>
              <a:t>next_node</a:t>
            </a:r>
            <a:endParaRPr sz="1800">
              <a:solidFill>
                <a:srgbClr val="385724"/>
              </a:solidFill>
            </a:endParaRPr>
          </a:p>
          <a:p>
            <a:pPr marL="0" indent="0">
              <a:lnSpc>
                <a:spcPct val="81000"/>
              </a:lnSpc>
              <a:buSzTx/>
              <a:buNone/>
              <a:defRPr b="1"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return</a:t>
            </a:r>
            <a:r>
              <a:rPr b="0">
                <a:solidFill>
                  <a:srgbClr val="385724"/>
                </a:solidFill>
              </a:rPr>
              <a:t> </a:t>
            </a:r>
            <a:r>
              <a:rPr>
                <a:solidFill>
                  <a:srgbClr val="7030A0"/>
                </a:solidFill>
              </a:rPr>
              <a:t>tour</a:t>
            </a:r>
          </a:p>
        </p:txBody>
      </p:sp>
      <p:sp>
        <p:nvSpPr>
          <p:cNvPr id="328" name="TextBox 3"/>
          <p:cNvSpPr txBox="1"/>
          <p:nvPr/>
        </p:nvSpPr>
        <p:spPr>
          <a:xfrm>
            <a:off x="450850" y="990599"/>
            <a:ext cx="5397500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Heuristic #1: Nearest Neighbor</a:t>
            </a:r>
          </a:p>
        </p:txBody>
      </p:sp>
      <p:sp>
        <p:nvSpPr>
          <p:cNvPr id="329" name="TextBox 5"/>
          <p:cNvSpPr txBox="1"/>
          <p:nvPr/>
        </p:nvSpPr>
        <p:spPr>
          <a:xfrm>
            <a:off x="5692876" y="701775"/>
            <a:ext cx="6002556" cy="929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Nearest Neighbor heuristic </a:t>
            </a:r>
            <a:r>
              <a:rPr>
                <a:solidFill>
                  <a:srgbClr val="B4009A"/>
                </a:solidFill>
              </a:rPr>
              <a:t>picks the smallest cost edge first</a:t>
            </a:r>
            <a:r>
              <a:t>.</a:t>
            </a:r>
            <a:br/>
            <a:r>
              <a:t>This is considered a greedy approach.</a:t>
            </a:r>
          </a:p>
        </p:txBody>
      </p:sp>
      <p:sp>
        <p:nvSpPr>
          <p:cNvPr id="330" name="TextBox 6"/>
          <p:cNvSpPr txBox="1"/>
          <p:nvPr/>
        </p:nvSpPr>
        <p:spPr>
          <a:xfrm>
            <a:off x="5894068" y="1738853"/>
            <a:ext cx="5452113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Example of Nearest Neighbor:</a:t>
            </a:r>
          </a:p>
        </p:txBody>
      </p:sp>
      <p:sp>
        <p:nvSpPr>
          <p:cNvPr id="331" name="TextBox 3"/>
          <p:cNvSpPr txBox="1"/>
          <p:nvPr/>
        </p:nvSpPr>
        <p:spPr>
          <a:xfrm>
            <a:off x="6539496" y="4777086"/>
            <a:ext cx="3377936" cy="176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Nearest Neighbor heuristic would choose this order starting from D for example: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D </a:t>
            </a:r>
            <a:r>
              <a:rPr>
                <a:latin typeface="Wingdings"/>
                <a:ea typeface="Wingdings"/>
                <a:cs typeface="Wingdings"/>
                <a:sym typeface="Wingdings"/>
              </a:rPr>
              <a:t></a:t>
            </a:r>
            <a:r>
              <a:t> A </a:t>
            </a:r>
            <a:r>
              <a:rPr>
                <a:latin typeface="Wingdings"/>
                <a:ea typeface="Wingdings"/>
                <a:cs typeface="Wingdings"/>
                <a:sym typeface="Wingdings"/>
              </a:rPr>
              <a:t></a:t>
            </a:r>
            <a:r>
              <a:t> E </a:t>
            </a:r>
            <a:r>
              <a:rPr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C ….. And so on</a:t>
            </a:r>
          </a:p>
        </p:txBody>
      </p:sp>
      <p:pic>
        <p:nvPicPr>
          <p:cNvPr id="33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11683" t="9223" r="12328" b="12518"/>
          <a:stretch>
            <a:fillRect/>
          </a:stretch>
        </p:blipFill>
        <p:spPr>
          <a:xfrm>
            <a:off x="6794499" y="2280194"/>
            <a:ext cx="2397966" cy="24696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/>
          <p:nvPr>
            <p:ph type="title"/>
          </p:nvPr>
        </p:nvSpPr>
        <p:spPr>
          <a:xfrm>
            <a:off x="361949" y="126361"/>
            <a:ext cx="7273636" cy="96393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35" name="Text Placeholder 2"/>
          <p:cNvSpPr txBox="1"/>
          <p:nvPr>
            <p:ph type="body" sz="half" idx="1"/>
          </p:nvPr>
        </p:nvSpPr>
        <p:spPr>
          <a:xfrm>
            <a:off x="126999" y="1492886"/>
            <a:ext cx="6065842" cy="5238755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72000"/>
              </a:lnSpc>
              <a:buSzTx/>
              <a:buNone/>
              <a:defRPr b="1"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two-opt(graph, path):</a:t>
            </a:r>
            <a:endParaRPr sz="1400"/>
          </a:p>
          <a:p>
            <a:pPr marL="0" indent="0">
              <a:lnSpc>
                <a:spcPct val="72000"/>
              </a:lnSpc>
              <a:buSzTx/>
              <a:buNone/>
              <a:defRPr b="1"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</a:t>
            </a:r>
            <a:r>
              <a:rPr>
                <a:solidFill>
                  <a:srgbClr val="CC00CC"/>
                </a:solidFill>
              </a:rPr>
              <a:t>best_path </a:t>
            </a:r>
            <a:r>
              <a:rPr b="0"/>
              <a:t>= path // will be optimized</a:t>
            </a:r>
            <a:endParaRPr sz="1400"/>
          </a:p>
          <a:p>
            <a:pPr lvl="1" marL="0" indent="482600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</a:t>
            </a:r>
            <a:r>
              <a:rPr b="1">
                <a:solidFill>
                  <a:srgbClr val="385724"/>
                </a:solidFill>
              </a:rPr>
              <a:t>i</a:t>
            </a:r>
            <a:r>
              <a:t> from 1 to n-3: // 1</a:t>
            </a:r>
            <a:r>
              <a:rPr baseline="30000"/>
              <a:t>st</a:t>
            </a:r>
            <a:r>
              <a:t> cut point</a:t>
            </a:r>
            <a:endParaRPr sz="1400"/>
          </a:p>
          <a:p>
            <a:pPr lvl="2" marL="0" indent="971550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</a:t>
            </a:r>
            <a:r>
              <a:rPr b="1">
                <a:solidFill>
                  <a:srgbClr val="385724"/>
                </a:solidFill>
              </a:rPr>
              <a:t>j</a:t>
            </a:r>
            <a:r>
              <a:t> from </a:t>
            </a:r>
            <a:r>
              <a:rPr b="1">
                <a:solidFill>
                  <a:srgbClr val="385724"/>
                </a:solidFill>
              </a:rPr>
              <a:t>i</a:t>
            </a:r>
            <a:r>
              <a:t>+1 to n-2: // 2</a:t>
            </a:r>
            <a:r>
              <a:rPr baseline="30000"/>
              <a:t>nd</a:t>
            </a:r>
            <a:r>
              <a:t> cut point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if </a:t>
            </a:r>
            <a:r>
              <a:rPr b="1">
                <a:solidFill>
                  <a:srgbClr val="385724"/>
                </a:solidFill>
              </a:rPr>
              <a:t>start(i)</a:t>
            </a:r>
            <a:r>
              <a:rPr b="1"/>
              <a:t> </a:t>
            </a:r>
            <a:r>
              <a:t>– </a:t>
            </a:r>
            <a:r>
              <a:rPr b="1">
                <a:solidFill>
                  <a:srgbClr val="385724"/>
                </a:solidFill>
              </a:rPr>
              <a:t>end(j)</a:t>
            </a:r>
            <a:r>
              <a:rPr b="1"/>
              <a:t> </a:t>
            </a:r>
            <a:r>
              <a:t>= 1: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skip if too small to reverse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a, b = two edges to be removed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c, d = two edges to be added in their place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b="1" sz="1200">
                <a:solidFill>
                  <a:srgbClr val="C55A11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old_cost </a:t>
            </a:r>
            <a:r>
              <a:rPr b="0">
                <a:solidFill>
                  <a:srgbClr val="000000"/>
                </a:solidFill>
              </a:rPr>
              <a:t>= cost of old edges being replaced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b="1" sz="1200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new_cost </a:t>
            </a:r>
            <a:r>
              <a:rPr b="0">
                <a:solidFill>
                  <a:srgbClr val="000000"/>
                </a:solidFill>
              </a:rPr>
              <a:t>= cost of new edges being added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if </a:t>
            </a:r>
            <a:r>
              <a:rPr b="1">
                <a:solidFill>
                  <a:srgbClr val="0070C0"/>
                </a:solidFill>
              </a:rPr>
              <a:t>new_cost </a:t>
            </a:r>
            <a:r>
              <a:t>is greater than </a:t>
            </a:r>
            <a:r>
              <a:rPr b="1">
                <a:solidFill>
                  <a:srgbClr val="C55A11"/>
                </a:solidFill>
              </a:rPr>
              <a:t>old_cost</a:t>
            </a:r>
            <a:r>
              <a:t>: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skip if no improvement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</a:t>
            </a:r>
            <a:r>
              <a:rPr b="1">
                <a:solidFill>
                  <a:srgbClr val="385724"/>
                </a:solidFill>
              </a:rPr>
              <a:t>start(i)</a:t>
            </a:r>
            <a:r>
              <a:rPr b="1"/>
              <a:t> </a:t>
            </a:r>
            <a:r>
              <a:t>is less than </a:t>
            </a:r>
            <a:r>
              <a:rPr b="1">
                <a:solidFill>
                  <a:srgbClr val="385724"/>
                </a:solidFill>
              </a:rPr>
              <a:t>end(i)</a:t>
            </a:r>
            <a:r>
              <a:t>: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b="1" sz="1200">
                <a:solidFill>
                  <a:srgbClr val="CC00CC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i</a:t>
            </a:r>
            <a:r>
              <a:rPr b="0">
                <a:solidFill>
                  <a:srgbClr val="000000"/>
                </a:solidFill>
              </a:rPr>
              <a:t>], </a:t>
            </a: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j</a:t>
            </a:r>
            <a:r>
              <a:rPr b="0">
                <a:solidFill>
                  <a:srgbClr val="000000"/>
                </a:solidFill>
              </a:rPr>
              <a:t>] = </a:t>
            </a: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j</a:t>
            </a:r>
            <a:r>
              <a:rPr b="0">
                <a:solidFill>
                  <a:srgbClr val="000000"/>
                </a:solidFill>
              </a:rPr>
              <a:t>], </a:t>
            </a: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i</a:t>
            </a:r>
            <a:r>
              <a:rPr b="0">
                <a:solidFill>
                  <a:srgbClr val="000000"/>
                </a:solidFill>
              </a:rPr>
              <a:t>]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</a:t>
            </a:r>
            <a:r>
              <a:rPr b="1">
                <a:solidFill>
                  <a:srgbClr val="385724"/>
                </a:solidFill>
              </a:rPr>
              <a:t>start(i) </a:t>
            </a:r>
            <a:r>
              <a:t>+= 1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</a:t>
            </a:r>
            <a:r>
              <a:rPr b="1">
                <a:solidFill>
                  <a:srgbClr val="385724"/>
                </a:solidFill>
              </a:rPr>
              <a:t>start(j) </a:t>
            </a:r>
            <a:r>
              <a:t>-= 1</a:t>
            </a:r>
            <a:endParaRPr sz="1400"/>
          </a:p>
          <a:p>
            <a:pPr lvl="1" marL="0" indent="482600">
              <a:lnSpc>
                <a:spcPct val="72000"/>
              </a:lnSpc>
              <a:buSzTx/>
              <a:buNone/>
              <a:defRPr b="1"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return</a:t>
            </a:r>
            <a:r>
              <a:rPr b="0">
                <a:solidFill>
                  <a:srgbClr val="385724"/>
                </a:solidFill>
              </a:rPr>
              <a:t> </a:t>
            </a:r>
            <a:r>
              <a:rPr>
                <a:solidFill>
                  <a:srgbClr val="CC00CC"/>
                </a:solidFill>
              </a:rPr>
              <a:t>best_path</a:t>
            </a:r>
          </a:p>
        </p:txBody>
      </p:sp>
      <p:sp>
        <p:nvSpPr>
          <p:cNvPr id="336" name="TextBox 3"/>
          <p:cNvSpPr txBox="1"/>
          <p:nvPr/>
        </p:nvSpPr>
        <p:spPr>
          <a:xfrm>
            <a:off x="450850" y="990599"/>
            <a:ext cx="5397500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Heuristic #2: Two-Opt</a:t>
            </a:r>
          </a:p>
        </p:txBody>
      </p:sp>
      <p:sp>
        <p:nvSpPr>
          <p:cNvPr id="337" name="TextBox 1"/>
          <p:cNvSpPr txBox="1"/>
          <p:nvPr/>
        </p:nvSpPr>
        <p:spPr>
          <a:xfrm>
            <a:off x="5692873" y="701775"/>
            <a:ext cx="6091457" cy="1209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Two-opt heuristic </a:t>
            </a:r>
            <a:r>
              <a:rPr>
                <a:solidFill>
                  <a:srgbClr val="2E75B6"/>
                </a:solidFill>
              </a:rPr>
              <a:t>removes edge crossings IF the switch would result in a shorter total tour length</a:t>
            </a:r>
            <a:r>
              <a:t>.</a:t>
            </a:r>
            <a:br/>
            <a:r>
              <a:t>In TSP, crossed edges </a:t>
            </a:r>
            <a:r>
              <a:rPr i="1"/>
              <a:t>usually</a:t>
            </a:r>
            <a:r>
              <a:t> means the path is suboptimal.</a:t>
            </a:r>
          </a:p>
        </p:txBody>
      </p:sp>
      <p:sp>
        <p:nvSpPr>
          <p:cNvPr id="338" name="TextBox 2"/>
          <p:cNvSpPr txBox="1"/>
          <p:nvPr/>
        </p:nvSpPr>
        <p:spPr>
          <a:xfrm>
            <a:off x="5894068" y="1738853"/>
            <a:ext cx="5452113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Example of a simple Two-opt:</a:t>
            </a:r>
          </a:p>
        </p:txBody>
      </p:sp>
      <p:pic>
        <p:nvPicPr>
          <p:cNvPr id="339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rcRect l="0" t="0" r="58534" b="0"/>
          <a:stretch>
            <a:fillRect/>
          </a:stretch>
        </p:blipFill>
        <p:spPr>
          <a:xfrm>
            <a:off x="6375398" y="2239124"/>
            <a:ext cx="2413003" cy="15814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40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42235" t="0" r="39958" b="0"/>
          <a:stretch>
            <a:fillRect/>
          </a:stretch>
        </p:blipFill>
        <p:spPr>
          <a:xfrm rot="5400000">
            <a:off x="7303795" y="3616045"/>
            <a:ext cx="897529" cy="1370014"/>
          </a:xfrm>
          <a:prstGeom prst="rect">
            <a:avLst/>
          </a:prstGeom>
          <a:ln w="12700">
            <a:miter lim="400000"/>
          </a:ln>
        </p:spPr>
      </p:pic>
      <p:pic>
        <p:nvPicPr>
          <p:cNvPr id="341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61007" t="0" r="0" b="0"/>
          <a:stretch>
            <a:fillRect/>
          </a:stretch>
        </p:blipFill>
        <p:spPr>
          <a:xfrm>
            <a:off x="6375398" y="4749815"/>
            <a:ext cx="2244728" cy="156449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itle 1"/>
          <p:cNvSpPr txBox="1"/>
          <p:nvPr>
            <p:ph type="title"/>
          </p:nvPr>
        </p:nvSpPr>
        <p:spPr>
          <a:xfrm>
            <a:off x="50796" y="102258"/>
            <a:ext cx="10439404" cy="161702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pic>
        <p:nvPicPr>
          <p:cNvPr id="344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rcRect l="0" t="3908" r="0" b="3017"/>
          <a:stretch>
            <a:fillRect/>
          </a:stretch>
        </p:blipFill>
        <p:spPr>
          <a:xfrm>
            <a:off x="1819961" y="1188098"/>
            <a:ext cx="7541754" cy="56156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1"/>
          <p:cNvSpPr txBox="1"/>
          <p:nvPr>
            <p:ph type="title"/>
          </p:nvPr>
        </p:nvSpPr>
        <p:spPr>
          <a:xfrm>
            <a:off x="228596" y="280058"/>
            <a:ext cx="10439404" cy="161702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47" name="TextBox 4"/>
          <p:cNvSpPr txBox="1"/>
          <p:nvPr/>
        </p:nvSpPr>
        <p:spPr>
          <a:xfrm>
            <a:off x="6321511" y="1605143"/>
            <a:ext cx="5148074" cy="1488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**Optimal cycle**: </a:t>
            </a:r>
            <a:br/>
            <a:r>
              <a:rPr b="0"/>
              <a:t>A → E (60.0) → F (1.0) → D (1.0) → C (40.0) → B (1.0) → A (1.0).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E F D C B A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60 + 1 + 1 + 40 + 1 + 1 = 104.0</a:t>
            </a:r>
          </a:p>
        </p:txBody>
      </p:sp>
      <p:sp>
        <p:nvSpPr>
          <p:cNvPr id="348" name="TextBox 5"/>
          <p:cNvSpPr txBox="1"/>
          <p:nvPr/>
        </p:nvSpPr>
        <p:spPr>
          <a:xfrm>
            <a:off x="6357216" y="3370108"/>
            <a:ext cx="5419388" cy="1488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EDEDED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**Nearest neighbor from a**: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A → B (1.0) → C (1.0) → D (40.0) → E (1.0) → F (1.0) → A (100.0)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B C D E F A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1 + 1 + 40 + 1 + 1 + 100 = 143.0</a:t>
            </a:r>
          </a:p>
        </p:txBody>
      </p:sp>
      <p:pic>
        <p:nvPicPr>
          <p:cNvPr id="349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39" y="1646751"/>
            <a:ext cx="5811062" cy="4648850"/>
          </a:xfrm>
          <a:prstGeom prst="rect">
            <a:avLst/>
          </a:prstGeom>
          <a:ln w="12700">
            <a:miter lim="400000"/>
          </a:ln>
        </p:spPr>
      </p:pic>
      <p:sp>
        <p:nvSpPr>
          <p:cNvPr id="350" name="Arrow: Right 2"/>
          <p:cNvSpPr/>
          <p:nvPr/>
        </p:nvSpPr>
        <p:spPr>
          <a:xfrm rot="10186203">
            <a:off x="932045" y="5672332"/>
            <a:ext cx="1758650" cy="14088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1" name="Arrow: Right 3"/>
          <p:cNvSpPr/>
          <p:nvPr/>
        </p:nvSpPr>
        <p:spPr>
          <a:xfrm rot="11215856">
            <a:off x="2955057" y="5672849"/>
            <a:ext cx="2411134" cy="13147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2" name="Arrow: Right 6"/>
          <p:cNvSpPr/>
          <p:nvPr/>
        </p:nvSpPr>
        <p:spPr>
          <a:xfrm rot="5400000">
            <a:off x="4229298" y="4421113"/>
            <a:ext cx="2495389" cy="11067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3" name="Arrow: Right 7"/>
          <p:cNvSpPr/>
          <p:nvPr/>
        </p:nvSpPr>
        <p:spPr>
          <a:xfrm rot="2336117">
            <a:off x="4303538" y="2518250"/>
            <a:ext cx="1165644" cy="106425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4" name="Arrow: Right 8"/>
          <p:cNvSpPr/>
          <p:nvPr/>
        </p:nvSpPr>
        <p:spPr>
          <a:xfrm rot="21431375">
            <a:off x="732038" y="2095774"/>
            <a:ext cx="3418136" cy="987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5" name="Arrow: Right 9"/>
          <p:cNvSpPr/>
          <p:nvPr/>
        </p:nvSpPr>
        <p:spPr>
          <a:xfrm rot="15917001">
            <a:off x="-1010611" y="4059978"/>
            <a:ext cx="3398828" cy="9758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6" name="TextBox 11"/>
          <p:cNvSpPr txBox="1"/>
          <p:nvPr/>
        </p:nvSpPr>
        <p:spPr>
          <a:xfrm>
            <a:off x="6227688" y="5327288"/>
            <a:ext cx="6016755" cy="819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1400"/>
              </a:lnSpc>
              <a:defRPr>
                <a:solidFill>
                  <a:srgbClr val="FF0000"/>
                </a:solidFill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** Any single 2‑edge swap in A B C D E F A increases cost (e.g., replacing (B,C) + (F,A) = 1 + 100 with (B,F) + (C,A) = 40 + 100), so the algorithm remains at 143.0 rather than reaching 104.0.</a:t>
            </a:r>
          </a:p>
        </p:txBody>
      </p:sp>
      <p:sp>
        <p:nvSpPr>
          <p:cNvPr id="357" name="TextBox 13"/>
          <p:cNvSpPr txBox="1"/>
          <p:nvPr/>
        </p:nvSpPr>
        <p:spPr>
          <a:xfrm>
            <a:off x="6213981" y="4991890"/>
            <a:ext cx="2807210" cy="464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1400"/>
              </a:lnSpc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WHAT ABOUT TWO-OPT?</a:t>
            </a:r>
          </a:p>
        </p:txBody>
      </p:sp>
      <p:sp>
        <p:nvSpPr>
          <p:cNvPr id="358" name="TextBox 1"/>
          <p:cNvSpPr txBox="1"/>
          <p:nvPr/>
        </p:nvSpPr>
        <p:spPr>
          <a:xfrm>
            <a:off x="3994484" y="6295599"/>
            <a:ext cx="312821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/>
            </a:lvl1pPr>
          </a:lstStyle>
          <a:p>
            <a:pPr/>
            <a:r>
              <a:t>NOT BAD…..BUT NOT OPTIMAL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itle 1"/>
          <p:cNvSpPr txBox="1"/>
          <p:nvPr>
            <p:ph type="title"/>
          </p:nvPr>
        </p:nvSpPr>
        <p:spPr>
          <a:xfrm>
            <a:off x="228596" y="280058"/>
            <a:ext cx="10439404" cy="161702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61" name="TextBox 4"/>
          <p:cNvSpPr txBox="1"/>
          <p:nvPr/>
        </p:nvSpPr>
        <p:spPr>
          <a:xfrm>
            <a:off x="6333718" y="2235137"/>
            <a:ext cx="5148074" cy="1488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**Optimal cycle**: </a:t>
            </a:r>
            <a:br/>
            <a:r>
              <a:rPr b="0"/>
              <a:t>A → E (60.0) → F (1.0) → D (1.0) → C (40.0) → B (1.0) → A (1.0).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E F D C B A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60 + 1 + 1 + 40 + 1 + 1 = 104.0</a:t>
            </a:r>
          </a:p>
        </p:txBody>
      </p:sp>
      <p:sp>
        <p:nvSpPr>
          <p:cNvPr id="362" name="TextBox 5"/>
          <p:cNvSpPr txBox="1"/>
          <p:nvPr/>
        </p:nvSpPr>
        <p:spPr>
          <a:xfrm>
            <a:off x="6333718" y="4050523"/>
            <a:ext cx="5419390" cy="1488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**Nearest neighbor from a**: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A → B (1.0) → C (1.0) → D (40.0) → E (1.0) → F (1.0) → A (100.0)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b c d e f a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1 + 1 + 40 + 1 + 1 + 100 = 143.0</a:t>
            </a:r>
          </a:p>
        </p:txBody>
      </p:sp>
      <p:pic>
        <p:nvPicPr>
          <p:cNvPr id="363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39" y="1646751"/>
            <a:ext cx="5811062" cy="4648850"/>
          </a:xfrm>
          <a:prstGeom prst="rect">
            <a:avLst/>
          </a:prstGeom>
          <a:ln w="12700">
            <a:miter lim="400000"/>
          </a:ln>
        </p:spPr>
      </p:pic>
      <p:sp>
        <p:nvSpPr>
          <p:cNvPr id="364" name="Arrow: Right 2"/>
          <p:cNvSpPr/>
          <p:nvPr/>
        </p:nvSpPr>
        <p:spPr>
          <a:xfrm>
            <a:off x="996696" y="5900184"/>
            <a:ext cx="4361690" cy="982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5" name="Arrow: Right 3"/>
          <p:cNvSpPr/>
          <p:nvPr/>
        </p:nvSpPr>
        <p:spPr>
          <a:xfrm rot="11215856">
            <a:off x="2955057" y="5672849"/>
            <a:ext cx="2411134" cy="13147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6" name="Arrow: Right 6"/>
          <p:cNvSpPr/>
          <p:nvPr/>
        </p:nvSpPr>
        <p:spPr>
          <a:xfrm rot="19024860">
            <a:off x="2520358" y="4265114"/>
            <a:ext cx="3349187" cy="11067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7" name="Arrow: Right 7"/>
          <p:cNvSpPr/>
          <p:nvPr/>
        </p:nvSpPr>
        <p:spPr>
          <a:xfrm rot="13217629">
            <a:off x="4303538" y="2518250"/>
            <a:ext cx="1165644" cy="106425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8" name="Arrow: Right 8"/>
          <p:cNvSpPr/>
          <p:nvPr/>
        </p:nvSpPr>
        <p:spPr>
          <a:xfrm rot="10648709">
            <a:off x="732038" y="2095774"/>
            <a:ext cx="3418136" cy="987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9" name="Arrow: Right 9"/>
          <p:cNvSpPr/>
          <p:nvPr/>
        </p:nvSpPr>
        <p:spPr>
          <a:xfrm rot="5097061">
            <a:off x="-1010611" y="4059978"/>
            <a:ext cx="3398828" cy="9758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itle 1"/>
          <p:cNvSpPr txBox="1"/>
          <p:nvPr>
            <p:ph type="title"/>
          </p:nvPr>
        </p:nvSpPr>
        <p:spPr>
          <a:xfrm>
            <a:off x="1291385" y="-1"/>
            <a:ext cx="10900617" cy="1603466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compare results</a:t>
            </a:r>
          </a:p>
        </p:txBody>
      </p:sp>
      <p:sp>
        <p:nvSpPr>
          <p:cNvPr id="372" name="Text Placeholder 2"/>
          <p:cNvSpPr txBox="1"/>
          <p:nvPr>
            <p:ph type="body" sz="quarter" idx="1"/>
          </p:nvPr>
        </p:nvSpPr>
        <p:spPr>
          <a:xfrm>
            <a:off x="927100" y="6237489"/>
            <a:ext cx="8680451" cy="45425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Average amount the approximate tour length was off by: </a:t>
            </a:r>
            <a:r>
              <a:rPr b="1"/>
              <a:t>253.36835</a:t>
            </a:r>
          </a:p>
        </p:txBody>
      </p:sp>
      <p:graphicFrame>
        <p:nvGraphicFramePr>
          <p:cNvPr id="373" name="Chart 1"/>
          <p:cNvGraphicFramePr/>
          <p:nvPr/>
        </p:nvGraphicFramePr>
        <p:xfrm>
          <a:off x="303954" y="1825411"/>
          <a:ext cx="6571822" cy="390552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74" name="Table 2"/>
          <p:cNvGraphicFramePr/>
          <p:nvPr/>
        </p:nvGraphicFramePr>
        <p:xfrm>
          <a:off x="7378700" y="1203087"/>
          <a:ext cx="3746502" cy="470241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96323"/>
                <a:gridCol w="1184303"/>
                <a:gridCol w="1065874"/>
              </a:tblGrid>
              <a:tr h="427491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Approximate Solution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Exact Solution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# of nodes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1031.4856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1031.4856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1273.3005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1273.3005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2276.6625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1914.5123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1718.3959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1718.3959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2344.7589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1985.1023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2203.5933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1759.5073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2884.2341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2049.2393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2304.2997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2004.4347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2661.431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2079.1254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1623.9038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1466.5418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tle 1"/>
          <p:cNvSpPr txBox="1"/>
          <p:nvPr>
            <p:ph type="title"/>
          </p:nvPr>
        </p:nvSpPr>
        <p:spPr>
          <a:xfrm>
            <a:off x="421104" y="418785"/>
            <a:ext cx="11947360" cy="1603466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run time (wall clock)</a:t>
            </a:r>
          </a:p>
        </p:txBody>
      </p:sp>
      <p:graphicFrame>
        <p:nvGraphicFramePr>
          <p:cNvPr id="377" name="Table 10"/>
          <p:cNvGraphicFramePr/>
          <p:nvPr/>
        </p:nvGraphicFramePr>
        <p:xfrm>
          <a:off x="7279105" y="1612232"/>
          <a:ext cx="3645571" cy="421106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56012"/>
                <a:gridCol w="1152398"/>
                <a:gridCol w="1037159"/>
              </a:tblGrid>
              <a:tr h="23394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Approximate Solution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Exact Solution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# of nodes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0.0000088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0.0000077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0.0000115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0.0000153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0.0000128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0.000052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0.0000158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0.0003112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0.0000166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0.0024893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0.0000175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0.0230878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0.0000373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0.2287903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0.0000223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2.4284377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0.0000257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27.6510172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0.0000294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410.1124702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0.0000302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9600.488107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0.0000327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244000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0.0000576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3.92E+06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0.0000879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7.76E+19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0.0003045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3.04E+59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0.001417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1.87E+153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0.2630184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8.04E+269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378" name="Chart 2"/>
          <p:cNvGraphicFramePr/>
          <p:nvPr/>
        </p:nvGraphicFramePr>
        <p:xfrm>
          <a:off x="249753" y="2056722"/>
          <a:ext cx="6679847" cy="34180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itle 1"/>
          <p:cNvSpPr txBox="1"/>
          <p:nvPr>
            <p:ph type="title"/>
          </p:nvPr>
        </p:nvSpPr>
        <p:spPr>
          <a:xfrm>
            <a:off x="421104" y="418785"/>
            <a:ext cx="11947360" cy="1603466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Time Complexity</a:t>
            </a:r>
          </a:p>
        </p:txBody>
      </p:sp>
      <p:sp>
        <p:nvSpPr>
          <p:cNvPr id="381" name="TextBox 2"/>
          <p:cNvSpPr txBox="1"/>
          <p:nvPr/>
        </p:nvSpPr>
        <p:spPr>
          <a:xfrm>
            <a:off x="4320940" y="2468896"/>
            <a:ext cx="6910941" cy="40194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Every TSP tour </a:t>
            </a:r>
            <a:r>
              <a:rPr u="sng"/>
              <a:t>must connect all nodes</a:t>
            </a:r>
            <a:r>
              <a:t>, and MST is the minimal total edge weight connecting all nodes, so the MST’s length is our lower bound for TSP.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2400">
                <a:solidFill>
                  <a:srgbClr val="7030A0"/>
                </a:solidFill>
              </a:defRPr>
            </a:pPr>
            <a:r>
              <a:t>Δ = Tour length found by our algorithm – Lower Bound</a:t>
            </a:r>
          </a:p>
          <a:p>
            <a:pPr>
              <a:defRPr sz="2400">
                <a:solidFill>
                  <a:srgbClr val="7030A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                                           </a:t>
            </a:r>
          </a:p>
          <a:p>
            <a:pPr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Example (test case ’14.txt’): (14 nodes)</a:t>
            </a:r>
          </a:p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MST Length calculation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≈ 2565.36</a:t>
            </a:r>
          </a:p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Tour length printed by our algorithm = 2727.8113</a:t>
            </a:r>
          </a:p>
          <a:p>
            <a:pPr>
              <a:defRPr sz="2400">
                <a:solidFill>
                  <a:srgbClr val="7030A0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2400">
                <a:solidFill>
                  <a:srgbClr val="7030A0"/>
                </a:solidFill>
              </a:defRPr>
            </a:pPr>
            <a:r>
              <a:t>Δ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= 2727.8113 </a:t>
            </a:r>
            <a:r>
              <a:t>–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2565.36 </a:t>
            </a:r>
            <a:r>
              <a:t>≈ 144.4513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</a:t>
            </a:r>
          </a:p>
        </p:txBody>
      </p:sp>
      <p:sp>
        <p:nvSpPr>
          <p:cNvPr id="382" name="TextBox 4"/>
          <p:cNvSpPr txBox="1"/>
          <p:nvPr/>
        </p:nvSpPr>
        <p:spPr>
          <a:xfrm>
            <a:off x="928035" y="1897469"/>
            <a:ext cx="2495352" cy="459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Worst Case</a:t>
            </a:r>
          </a:p>
        </p:txBody>
      </p:sp>
      <p:sp>
        <p:nvSpPr>
          <p:cNvPr id="383" name="TextBox 5"/>
          <p:cNvSpPr txBox="1"/>
          <p:nvPr/>
        </p:nvSpPr>
        <p:spPr>
          <a:xfrm>
            <a:off x="6671108" y="1897466"/>
            <a:ext cx="2495352" cy="459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Lower Bound</a:t>
            </a:r>
          </a:p>
        </p:txBody>
      </p:sp>
      <p:sp>
        <p:nvSpPr>
          <p:cNvPr id="384" name="TextBox 9"/>
          <p:cNvSpPr txBox="1"/>
          <p:nvPr/>
        </p:nvSpPr>
        <p:spPr>
          <a:xfrm>
            <a:off x="314426" y="2683654"/>
            <a:ext cx="3634340" cy="2437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Still Polynomial Time!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/>
            <a:r>
              <a:t>O(n)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(build adjacency dictionary)</a:t>
            </a:r>
            <a:endParaRPr>
              <a:latin typeface="Tenorite"/>
              <a:ea typeface="Tenorite"/>
              <a:cs typeface="Tenorite"/>
              <a:sym typeface="Tenorite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+ </a:t>
            </a:r>
            <a:r>
              <a:rPr>
                <a:latin typeface="+mj-lt"/>
                <a:ea typeface="+mj-ea"/>
                <a:cs typeface="+mj-cs"/>
                <a:sym typeface="Calibri"/>
              </a:rPr>
              <a:t>O(n²) (Nearest Neighbor)</a:t>
            </a:r>
            <a:endParaRPr>
              <a:latin typeface="+mj-lt"/>
              <a:ea typeface="+mj-ea"/>
              <a:cs typeface="+mj-cs"/>
              <a:sym typeface="Calibri"/>
            </a:endParaRPr>
          </a:p>
          <a:p>
            <a:pPr/>
            <a:r>
              <a:t>+ O(n²) (Two-Opt pair checks)</a:t>
            </a:r>
          </a:p>
          <a:p>
            <a:pPr/>
            <a:r>
              <a:t>+ O(n³) (Two-opt worst case switch)</a:t>
            </a:r>
          </a:p>
          <a:p>
            <a:pPr/>
            <a:r>
              <a:t>+ O(n) (Calculate tour length)</a:t>
            </a:r>
          </a:p>
          <a:p>
            <a:pPr/>
            <a:r>
              <a:t> = </a:t>
            </a:r>
            <a:r>
              <a:rPr b="1"/>
              <a:t>O(n³)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itle 1"/>
          <p:cNvSpPr txBox="1"/>
          <p:nvPr>
            <p:ph type="title"/>
          </p:nvPr>
        </p:nvSpPr>
        <p:spPr>
          <a:xfrm>
            <a:off x="149329" y="387550"/>
            <a:ext cx="4896685" cy="3625005"/>
          </a:xfrm>
          <a:prstGeom prst="rect">
            <a:avLst/>
          </a:prstGeom>
        </p:spPr>
        <p:txBody>
          <a:bodyPr/>
          <a:lstStyle/>
          <a:p>
            <a:pPr/>
            <a:r>
              <a:t>Enhancing the Approximate Solution</a:t>
            </a:r>
          </a:p>
        </p:txBody>
      </p:sp>
      <p:sp>
        <p:nvSpPr>
          <p:cNvPr id="387" name="Content Placeholder 2"/>
          <p:cNvSpPr txBox="1"/>
          <p:nvPr>
            <p:ph type="body" sz="quarter" idx="1"/>
          </p:nvPr>
        </p:nvSpPr>
        <p:spPr>
          <a:xfrm>
            <a:off x="149329" y="3964334"/>
            <a:ext cx="4896685" cy="2309737"/>
          </a:xfrm>
          <a:prstGeom prst="rect">
            <a:avLst/>
          </a:prstGeom>
        </p:spPr>
        <p:txBody>
          <a:bodyPr/>
          <a:lstStyle/>
          <a:p>
            <a:pPr/>
            <a:r>
              <a:t>Featuring randomness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Where DO We Fall Short?</a:t>
            </a:r>
          </a:p>
        </p:txBody>
      </p:sp>
      <p:sp>
        <p:nvSpPr>
          <p:cNvPr id="390" name="TextBox 1"/>
          <p:cNvSpPr txBox="1"/>
          <p:nvPr/>
        </p:nvSpPr>
        <p:spPr>
          <a:xfrm>
            <a:off x="914399" y="1822536"/>
            <a:ext cx="7496827" cy="2021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itle 1"/>
          <p:cNvSpPr txBox="1"/>
          <p:nvPr>
            <p:ph type="title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Making Version 3.5, “Zenith”</a:t>
            </a:r>
          </a:p>
        </p:txBody>
      </p:sp>
      <p:sp>
        <p:nvSpPr>
          <p:cNvPr id="393" name="Text Placeholder 2"/>
          <p:cNvSpPr txBox="1"/>
          <p:nvPr>
            <p:ph type="body" sz="half" idx="1"/>
          </p:nvPr>
        </p:nvSpPr>
        <p:spPr>
          <a:xfrm>
            <a:off x="914394" y="2022248"/>
            <a:ext cx="6413086" cy="3580756"/>
          </a:xfrm>
          <a:prstGeom prst="rect">
            <a:avLst/>
          </a:prstGeom>
        </p:spPr>
        <p:txBody>
          <a:bodyPr/>
          <a:lstStyle/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It was – and is – </a:t>
            </a:r>
            <a:r>
              <a:rPr b="1"/>
              <a:t>an iterative process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Randomly </a:t>
            </a:r>
            <a:r>
              <a:rPr b="0"/>
              <a:t>determines: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Starting node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Min-weight neighbor to choose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Swapping endpoints in a segment.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Reorders output </a:t>
            </a:r>
            <a:r>
              <a:rPr b="0"/>
              <a:t>path to be </a:t>
            </a:r>
            <a:r>
              <a:t>consistent.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Iterates</a:t>
            </a:r>
            <a:r>
              <a:rPr b="0"/>
              <a:t> on solution </a:t>
            </a:r>
            <a:r>
              <a:t>by looping </a:t>
            </a:r>
            <a:r>
              <a:rPr b="0"/>
              <a:t>several times.</a:t>
            </a:r>
          </a:p>
        </p:txBody>
      </p:sp>
      <p:sp>
        <p:nvSpPr>
          <p:cNvPr id="394" name="Straight Connector 8"/>
          <p:cNvSpPr/>
          <p:nvPr/>
        </p:nvSpPr>
        <p:spPr>
          <a:xfrm>
            <a:off x="9438568" y="2945717"/>
            <a:ext cx="1834940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5" name="Straight Connector 9"/>
          <p:cNvSpPr/>
          <p:nvPr/>
        </p:nvSpPr>
        <p:spPr>
          <a:xfrm>
            <a:off x="7855246" y="2380096"/>
            <a:ext cx="1834940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6" name="Straight Connector 10"/>
          <p:cNvSpPr/>
          <p:nvPr/>
        </p:nvSpPr>
        <p:spPr>
          <a:xfrm>
            <a:off x="7805125" y="3592276"/>
            <a:ext cx="1834940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7" name="Straight Connector 11"/>
          <p:cNvSpPr/>
          <p:nvPr/>
        </p:nvSpPr>
        <p:spPr>
          <a:xfrm>
            <a:off x="9518863" y="4321545"/>
            <a:ext cx="1834940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8" name="Straight Connector 12"/>
          <p:cNvSpPr/>
          <p:nvPr/>
        </p:nvSpPr>
        <p:spPr>
          <a:xfrm>
            <a:off x="7805125" y="4829885"/>
            <a:ext cx="1834940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9" name="TextBox 14"/>
          <p:cNvSpPr txBox="1"/>
          <p:nvPr/>
        </p:nvSpPr>
        <p:spPr>
          <a:xfrm>
            <a:off x="7724326" y="1977444"/>
            <a:ext cx="1915738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Approx. Solution</a:t>
            </a:r>
          </a:p>
        </p:txBody>
      </p:sp>
      <p:sp>
        <p:nvSpPr>
          <p:cNvPr id="400" name="TextBox 15"/>
          <p:cNvSpPr txBox="1"/>
          <p:nvPr/>
        </p:nvSpPr>
        <p:spPr>
          <a:xfrm>
            <a:off x="9561307" y="2560066"/>
            <a:ext cx="2535568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v2, limited randomness</a:t>
            </a:r>
          </a:p>
        </p:txBody>
      </p:sp>
      <p:sp>
        <p:nvSpPr>
          <p:cNvPr id="401" name="TextBox 16"/>
          <p:cNvSpPr txBox="1"/>
          <p:nvPr/>
        </p:nvSpPr>
        <p:spPr>
          <a:xfrm>
            <a:off x="8037306" y="3174737"/>
            <a:ext cx="160276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v2.5, iteration</a:t>
            </a:r>
          </a:p>
        </p:txBody>
      </p:sp>
      <p:sp>
        <p:nvSpPr>
          <p:cNvPr id="402" name="TextBox 18"/>
          <p:cNvSpPr txBox="1"/>
          <p:nvPr/>
        </p:nvSpPr>
        <p:spPr>
          <a:xfrm>
            <a:off x="9603753" y="3935896"/>
            <a:ext cx="224049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v3, more randomess</a:t>
            </a:r>
          </a:p>
        </p:txBody>
      </p:sp>
      <p:sp>
        <p:nvSpPr>
          <p:cNvPr id="403" name="TextBox 19"/>
          <p:cNvSpPr txBox="1"/>
          <p:nvPr/>
        </p:nvSpPr>
        <p:spPr>
          <a:xfrm>
            <a:off x="7449694" y="4468450"/>
            <a:ext cx="2240492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v3.5, more iteration</a:t>
            </a:r>
          </a:p>
        </p:txBody>
      </p:sp>
      <p:sp>
        <p:nvSpPr>
          <p:cNvPr id="404" name="TextBox 20"/>
          <p:cNvSpPr txBox="1"/>
          <p:nvPr/>
        </p:nvSpPr>
        <p:spPr>
          <a:xfrm>
            <a:off x="8249022" y="4829885"/>
            <a:ext cx="75638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i="1"/>
            </a:lvl1pPr>
          </a:lstStyle>
          <a:p>
            <a:pPr/>
            <a:r>
              <a:t>Zenith</a:t>
            </a:r>
          </a:p>
        </p:txBody>
      </p:sp>
      <p:sp>
        <p:nvSpPr>
          <p:cNvPr id="405" name="Straight Arrow Connector 13"/>
          <p:cNvSpPr/>
          <p:nvPr/>
        </p:nvSpPr>
        <p:spPr>
          <a:xfrm>
            <a:off x="9549541" y="1669542"/>
            <a:ext cx="6" cy="3749047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itle 6"/>
          <p:cNvSpPr txBox="1"/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GRaph</a:t>
            </a:r>
          </a:p>
        </p:txBody>
      </p:sp>
      <p:pic>
        <p:nvPicPr>
          <p:cNvPr id="408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65397" y="1552075"/>
            <a:ext cx="5127962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TextBox 9"/>
          <p:cNvSpPr txBox="1"/>
          <p:nvPr/>
        </p:nvSpPr>
        <p:spPr>
          <a:xfrm>
            <a:off x="294573" y="1933123"/>
            <a:ext cx="6670824" cy="38201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Results</a:t>
            </a:r>
          </a:p>
        </p:txBody>
      </p:sp>
      <p:graphicFrame>
        <p:nvGraphicFramePr>
          <p:cNvPr id="412" name="Chart 2"/>
          <p:cNvGraphicFramePr/>
          <p:nvPr/>
        </p:nvGraphicFramePr>
        <p:xfrm>
          <a:off x="378404" y="1718160"/>
          <a:ext cx="6472414" cy="390189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13" name="Chart 5"/>
          <p:cNvGraphicFramePr/>
          <p:nvPr/>
        </p:nvGraphicFramePr>
        <p:xfrm>
          <a:off x="7253685" y="1356214"/>
          <a:ext cx="3992734" cy="425655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Runtimes</a:t>
            </a:r>
          </a:p>
        </p:txBody>
      </p:sp>
      <p:graphicFrame>
        <p:nvGraphicFramePr>
          <p:cNvPr id="416" name="Table 5"/>
          <p:cNvGraphicFramePr/>
          <p:nvPr/>
        </p:nvGraphicFramePr>
        <p:xfrm>
          <a:off x="3048902" y="1867979"/>
          <a:ext cx="6094196" cy="31220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5055"/>
                <a:gridCol w="3749140"/>
              </a:tblGrid>
              <a:tr h="62440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2000">
                          <a:sym typeface="Helvetica"/>
                        </a:rPr>
                        <a:t>Program</a:t>
                      </a:r>
                    </a:p>
                  </a:txBody>
                  <a:tcPr marL="45720" marR="45720" marT="45720" marB="45720" anchor="b" anchorCtr="0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2000">
                          <a:sym typeface="Helvetica"/>
                        </a:rPr>
                        <a:t>Average Runtime (Seconds)</a:t>
                      </a:r>
                    </a:p>
                  </a:txBody>
                  <a:tcPr marL="45720" marR="45720" marT="45720" marB="45720" anchor="b" anchorCtr="0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Exact</a:t>
                      </a:r>
                    </a:p>
                  </a:txBody>
                  <a:tcPr marL="45720" marR="45720" marT="45720" marB="45720" anchor="t" anchorCtr="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36.25096352</a:t>
                      </a:r>
                    </a:p>
                  </a:txBody>
                  <a:tcPr marL="45720" marR="45720" marT="45720" marB="45720" anchor="t" anchorCtr="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Approximate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0.000046262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Zenith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0.017063243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Parallelized Zenith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0.755844638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Takeaways</a:t>
            </a:r>
          </a:p>
        </p:txBody>
      </p:sp>
      <p:sp>
        <p:nvSpPr>
          <p:cNvPr id="419" name="Text Placeholder 2"/>
          <p:cNvSpPr txBox="1"/>
          <p:nvPr>
            <p:ph type="body" sz="half" idx="1"/>
          </p:nvPr>
        </p:nvSpPr>
        <p:spPr>
          <a:xfrm>
            <a:off x="914399" y="2011363"/>
            <a:ext cx="7273640" cy="4155762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Randomness and iterative improvement </a:t>
            </a:r>
            <a:r>
              <a:rPr b="0"/>
              <a:t>greatly increases accuracy</a:t>
            </a:r>
          </a:p>
          <a:p>
            <a:pPr/>
            <a:r>
              <a:t>However, it also </a:t>
            </a:r>
            <a:r>
              <a:rPr b="1"/>
              <a:t>greatly increases cost</a:t>
            </a:r>
            <a:endParaRPr b="1"/>
          </a:p>
          <a:p>
            <a:pPr/>
            <a:r>
              <a:t>Ultimately, the </a:t>
            </a:r>
            <a:r>
              <a:rPr b="1"/>
              <a:t>tradeoff is worth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22" name="Title 6"/>
          <p:cNvSpPr txBox="1"/>
          <p:nvPr>
            <p:ph type="title"/>
          </p:nvPr>
        </p:nvSpPr>
        <p:spPr>
          <a:xfrm>
            <a:off x="6091515" y="374084"/>
            <a:ext cx="5057105" cy="3624997"/>
          </a:xfrm>
          <a:prstGeom prst="rect">
            <a:avLst/>
          </a:prstGeom>
        </p:spPr>
        <p:txBody>
          <a:bodyPr/>
          <a:lstStyle/>
          <a:p>
            <a:pPr/>
            <a:r>
              <a:t>Questions?</a:t>
            </a:r>
          </a:p>
        </p:txBody>
      </p:sp>
      <p:sp>
        <p:nvSpPr>
          <p:cNvPr id="423" name="Content Placeholder 9"/>
          <p:cNvSpPr txBox="1"/>
          <p:nvPr>
            <p:ph type="body" sz="quarter" idx="1"/>
          </p:nvPr>
        </p:nvSpPr>
        <p:spPr>
          <a:xfrm>
            <a:off x="6091513" y="4172989"/>
            <a:ext cx="5057107" cy="2519376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